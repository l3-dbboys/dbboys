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60"/>
  </p:notesMasterIdLst>
  <p:handoutMasterIdLst>
    <p:handoutMasterId r:id="rId61"/>
  </p:handoutMasterIdLst>
  <p:sldIdLst>
    <p:sldId id="417" r:id="rId2"/>
    <p:sldId id="418" r:id="rId3"/>
    <p:sldId id="419" r:id="rId4"/>
    <p:sldId id="420" r:id="rId5"/>
    <p:sldId id="421" r:id="rId6"/>
    <p:sldId id="422" r:id="rId7"/>
    <p:sldId id="423" r:id="rId8"/>
    <p:sldId id="424" r:id="rId9"/>
    <p:sldId id="425" r:id="rId10"/>
    <p:sldId id="426" r:id="rId11"/>
    <p:sldId id="427" r:id="rId12"/>
    <p:sldId id="428" r:id="rId13"/>
    <p:sldId id="429" r:id="rId14"/>
    <p:sldId id="430" r:id="rId15"/>
    <p:sldId id="431" r:id="rId16"/>
    <p:sldId id="432"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 id="447" r:id="rId32"/>
    <p:sldId id="448" r:id="rId33"/>
    <p:sldId id="449" r:id="rId34"/>
    <p:sldId id="450" r:id="rId35"/>
    <p:sldId id="451" r:id="rId36"/>
    <p:sldId id="452" r:id="rId37"/>
    <p:sldId id="453" r:id="rId38"/>
    <p:sldId id="454" r:id="rId39"/>
    <p:sldId id="455" r:id="rId40"/>
    <p:sldId id="456" r:id="rId41"/>
    <p:sldId id="457" r:id="rId42"/>
    <p:sldId id="458" r:id="rId43"/>
    <p:sldId id="459" r:id="rId44"/>
    <p:sldId id="460" r:id="rId45"/>
    <p:sldId id="461" r:id="rId46"/>
    <p:sldId id="462" r:id="rId47"/>
    <p:sldId id="463" r:id="rId48"/>
    <p:sldId id="464" r:id="rId49"/>
    <p:sldId id="465" r:id="rId50"/>
    <p:sldId id="466" r:id="rId51"/>
    <p:sldId id="467" r:id="rId52"/>
    <p:sldId id="468" r:id="rId53"/>
    <p:sldId id="469" r:id="rId54"/>
    <p:sldId id="470" r:id="rId55"/>
    <p:sldId id="471" r:id="rId56"/>
    <p:sldId id="472" r:id="rId57"/>
    <p:sldId id="473" r:id="rId58"/>
    <p:sldId id="475" r:id="rId59"/>
  </p:sldIdLst>
  <p:sldSz cx="12192000" cy="6858000"/>
  <p:notesSz cx="6858000" cy="9144000"/>
  <p:embeddedFontLst>
    <p:embeddedFont>
      <p:font typeface="微软雅黑" pitchFamily="34" charset="-122"/>
      <p:regular r:id="rId62"/>
      <p:bold r:id="rId63"/>
    </p:embeddedFont>
    <p:embeddedFont>
      <p:font typeface="Verdana" pitchFamily="34" charset="0"/>
      <p:regular r:id="rId64"/>
      <p:bold r:id="rId65"/>
      <p:italic r:id="rId66"/>
      <p:boldItalic r:id="rId67"/>
    </p:embeddedFont>
    <p:embeddedFont>
      <p:font typeface="Calibri Light" pitchFamily="34" charset="0"/>
      <p:regular r:id="rId68"/>
      <p:italic r:id="rId69"/>
    </p:embeddedFont>
    <p:embeddedFont>
      <p:font typeface="Calibri" pitchFamily="34" charset="0"/>
      <p:regular r:id="rId70"/>
      <p:bold r:id="rId71"/>
      <p:italic r:id="rId72"/>
      <p:boldItalic r:id="rId73"/>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1094">
          <p15:clr>
            <a:srgbClr val="A4A3A4"/>
          </p15:clr>
        </p15:guide>
        <p15:guide id="2" orient="horz" pos="4065">
          <p15:clr>
            <a:srgbClr val="A4A3A4"/>
          </p15:clr>
        </p15:guide>
        <p15:guide id="3" pos="325">
          <p15:clr>
            <a:srgbClr val="A4A3A4"/>
          </p15:clr>
        </p15:guide>
        <p15:guide id="4" pos="7106">
          <p15:clr>
            <a:srgbClr val="A4A3A4"/>
          </p15:clr>
        </p15:guide>
        <p15:guide id="5" pos="189">
          <p15:clr>
            <a:srgbClr val="A4A3A4"/>
          </p15:clr>
        </p15:guide>
        <p15:guide id="6" pos="384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1" autoAdjust="0"/>
    <p:restoredTop sz="99878" autoAdjust="0"/>
  </p:normalViewPr>
  <p:slideViewPr>
    <p:cSldViewPr snapToGrid="0">
      <p:cViewPr varScale="1">
        <p:scale>
          <a:sx n="80" d="100"/>
          <a:sy n="80" d="100"/>
        </p:scale>
        <p:origin x="-78" y="-120"/>
      </p:cViewPr>
      <p:guideLst>
        <p:guide orient="horz" pos="1094"/>
        <p:guide orient="horz" pos="4065"/>
        <p:guide pos="32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notesMasters/notesMaster1.xml" Type="http://schemas.openxmlformats.org/officeDocument/2006/relationships/notesMaster"/><Relationship Id="rId61" Target="handoutMasters/handoutMaster1.xml" Type="http://schemas.openxmlformats.org/officeDocument/2006/relationships/handoutMaster"/><Relationship Id="rId62" Target="fonts/font1.fntdata" Type="http://schemas.openxmlformats.org/officeDocument/2006/relationships/font"/><Relationship Id="rId63" Target="fonts/font2.fntdata" Type="http://schemas.openxmlformats.org/officeDocument/2006/relationships/font"/><Relationship Id="rId64" Target="fonts/font3.fntdata" Type="http://schemas.openxmlformats.org/officeDocument/2006/relationships/font"/><Relationship Id="rId65" Target="fonts/font4.fntdata" Type="http://schemas.openxmlformats.org/officeDocument/2006/relationships/font"/><Relationship Id="rId66" Target="fonts/font5.fntdata" Type="http://schemas.openxmlformats.org/officeDocument/2006/relationships/font"/><Relationship Id="rId67" Target="fonts/font6.fntdata" Type="http://schemas.openxmlformats.org/officeDocument/2006/relationships/font"/><Relationship Id="rId68" Target="fonts/font7.fntdata" Type="http://schemas.openxmlformats.org/officeDocument/2006/relationships/font"/><Relationship Id="rId69" Target="fonts/font8.fntdata" Type="http://schemas.openxmlformats.org/officeDocument/2006/relationships/font"/><Relationship Id="rId7" Target="slides/slide6.xml" Type="http://schemas.openxmlformats.org/officeDocument/2006/relationships/slide"/><Relationship Id="rId70" Target="fonts/font9.fntdata" Type="http://schemas.openxmlformats.org/officeDocument/2006/relationships/font"/><Relationship Id="rId71" Target="fonts/font10.fntdata" Type="http://schemas.openxmlformats.org/officeDocument/2006/relationships/font"/><Relationship Id="rId72" Target="fonts/font11.fntdata" Type="http://schemas.openxmlformats.org/officeDocument/2006/relationships/font"/><Relationship Id="rId73" Target="fonts/font12.fntdata" Type="http://schemas.openxmlformats.org/officeDocument/2006/relationships/font"/><Relationship Id="rId74" Target="presProps.xml" Type="http://schemas.openxmlformats.org/officeDocument/2006/relationships/presProps"/><Relationship Id="rId75" Target="viewProps.xml" Type="http://schemas.openxmlformats.org/officeDocument/2006/relationships/viewProps"/><Relationship Id="rId76" Target="theme/theme1.xml" Type="http://schemas.openxmlformats.org/officeDocument/2006/relationships/theme"/><Relationship Id="rId77" Target="tableStyles.xml" Type="http://schemas.openxmlformats.org/officeDocument/2006/relationships/tableStyles"/><Relationship Id="rId78" Target="revisionInfo.xml" Type="http://schemas.microsoft.com/office/2015/10/relationships/revisionInfo"/><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5546056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4281641921"/>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8E2537-6EF2-4B38-B437-3A990DAF8DA9}" type="slidenum">
              <a:rPr lang="en-US" altLang="zh-CN" smtClean="0"/>
              <a:t>0</a:t>
            </a:fld>
            <a:endParaRPr lang="en-US" altLang="zh-CN"/>
          </a:p>
        </p:txBody>
      </p:sp>
    </p:spTree>
    <p:extLst>
      <p:ext uri="{BB962C8B-B14F-4D97-AF65-F5344CB8AC3E}">
        <p14:creationId xmlns:p14="http://schemas.microsoft.com/office/powerpoint/2010/main" val="1261456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CA2B30C-36BB-F64F-AECE-ADDF92BF93CC}" type="slidenum">
              <a:rPr lang="zh-CN" altLang="en-US"/>
              <a:t>1</a:t>
            </a:fld>
            <a:endParaRPr lang="en-US" altLang="zh-CN"/>
          </a:p>
        </p:txBody>
      </p:sp>
      <p:sp>
        <p:nvSpPr>
          <p:cNvPr id="7170" name="Rectangle 2"/>
          <p:cNvSpPr>
            <a:spLocks noGrp="1" noRot="1" noChangeAspect="1" noChangeArrowheads="1" noTextEdit="1"/>
          </p:cNvSpPr>
          <p:nvPr>
            <p:ph type="sldImg"/>
          </p:nvPr>
        </p:nvSpPr>
        <p:spPr/>
      </p:sp>
      <p:sp>
        <p:nvSpPr>
          <p:cNvPr id="717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2515233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1AE871B-F080-6846-B142-7E2D898F20E3}" type="slidenum">
              <a:rPr lang="zh-CN" altLang="en-US"/>
              <a:t>2</a:t>
            </a:fld>
            <a:endParaRPr lang="en-US" altLang="zh-CN"/>
          </a:p>
        </p:txBody>
      </p:sp>
      <p:sp>
        <p:nvSpPr>
          <p:cNvPr id="828418" name="Rectangle 2"/>
          <p:cNvSpPr>
            <a:spLocks noGrp="1" noRot="1" noChangeAspect="1" noChangeArrowheads="1" noTextEdit="1"/>
          </p:cNvSpPr>
          <p:nvPr>
            <p:ph type="sldImg"/>
          </p:nvPr>
        </p:nvSpPr>
        <p:spPr/>
      </p:sp>
      <p:sp>
        <p:nvSpPr>
          <p:cNvPr id="828419" name="Rectangle 3"/>
          <p:cNvSpPr>
            <a:spLocks noGrp="1" noChangeArrowheads="1"/>
          </p:cNvSpPr>
          <p:nvPr>
            <p:ph type="body" idx="1"/>
          </p:nvPr>
        </p:nvSpPr>
        <p:spPr/>
        <p:txBody>
          <a:bodyPr/>
          <a:lstStyle/>
          <a:p>
            <a:endParaRPr lang="zh-CN" altLang="en-US" dirty="0">
              <a:cs typeface="宋体" panose="02010600030101010101" pitchFamily="2" charset="-122"/>
            </a:endParaRPr>
          </a:p>
        </p:txBody>
      </p:sp>
    </p:spTree>
    <p:extLst>
      <p:ext uri="{BB962C8B-B14F-4D97-AF65-F5344CB8AC3E}">
        <p14:creationId xmlns:p14="http://schemas.microsoft.com/office/powerpoint/2010/main" val="1769155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1AE871B-F080-6846-B142-7E2D898F20E3}" type="slidenum">
              <a:rPr lang="zh-CN" altLang="en-US"/>
              <a:t>3</a:t>
            </a:fld>
            <a:endParaRPr lang="en-US" altLang="zh-CN"/>
          </a:p>
        </p:txBody>
      </p:sp>
      <p:sp>
        <p:nvSpPr>
          <p:cNvPr id="828418" name="Rectangle 2"/>
          <p:cNvSpPr>
            <a:spLocks noGrp="1" noRot="1" noChangeAspect="1" noChangeArrowheads="1" noTextEdit="1"/>
          </p:cNvSpPr>
          <p:nvPr>
            <p:ph type="sldImg"/>
          </p:nvPr>
        </p:nvSpPr>
        <p:spPr/>
      </p:sp>
      <p:sp>
        <p:nvSpPr>
          <p:cNvPr id="828419" name="Rectangle 3"/>
          <p:cNvSpPr>
            <a:spLocks noGrp="1" noChangeArrowheads="1"/>
          </p:cNvSpPr>
          <p:nvPr>
            <p:ph type="body" idx="1"/>
          </p:nvPr>
        </p:nvSpPr>
        <p:spPr/>
        <p:txBody>
          <a:bodyPr/>
          <a:lstStyle/>
          <a:p>
            <a:endParaRPr lang="zh-CN" altLang="en-US" dirty="0">
              <a:cs typeface="宋体" panose="02010600030101010101" pitchFamily="2" charset="-122"/>
            </a:endParaRPr>
          </a:p>
        </p:txBody>
      </p:sp>
    </p:spTree>
    <p:extLst>
      <p:ext uri="{BB962C8B-B14F-4D97-AF65-F5344CB8AC3E}">
        <p14:creationId xmlns:p14="http://schemas.microsoft.com/office/powerpoint/2010/main" val="3073043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B784405-F22F-0240-8128-982CD411DF4B}" type="slidenum">
              <a:rPr lang="zh-CN" altLang="en-US"/>
              <a:t>4</a:t>
            </a:fld>
            <a:endParaRPr lang="en-US" altLang="zh-CN"/>
          </a:p>
        </p:txBody>
      </p:sp>
      <p:sp>
        <p:nvSpPr>
          <p:cNvPr id="970754" name="Rectangle 2"/>
          <p:cNvSpPr>
            <a:spLocks noGrp="1" noRot="1" noChangeAspect="1" noChangeArrowheads="1" noTextEdit="1"/>
          </p:cNvSpPr>
          <p:nvPr>
            <p:ph type="sldImg"/>
          </p:nvPr>
        </p:nvSpPr>
        <p:spPr/>
      </p:sp>
      <p:sp>
        <p:nvSpPr>
          <p:cNvPr id="970755" name="Rectangle 3"/>
          <p:cNvSpPr>
            <a:spLocks noGrp="1" noChangeArrowheads="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如果数据库支持事务的并发控制能力，用户和程序员就可以不用担心多个事务的同时运行了。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cs typeface="宋体" panose="02010600030101010101" pitchFamily="2" charset="-122"/>
            </a:endParaRPr>
          </a:p>
        </p:txBody>
      </p:sp>
    </p:spTree>
    <p:extLst>
      <p:ext uri="{BB962C8B-B14F-4D97-AF65-F5344CB8AC3E}">
        <p14:creationId xmlns:p14="http://schemas.microsoft.com/office/powerpoint/2010/main" val="2785263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685E913-0C88-EE43-BB39-A0569D3A252F}" type="slidenum">
              <a:rPr lang="zh-CN" altLang="en-US"/>
              <a:t>5</a:t>
            </a:fld>
            <a:endParaRPr lang="en-US" altLang="zh-CN"/>
          </a:p>
        </p:txBody>
      </p:sp>
      <p:sp>
        <p:nvSpPr>
          <p:cNvPr id="967682" name="Rectangle 2"/>
          <p:cNvSpPr>
            <a:spLocks noGrp="1" noRot="1" noChangeAspect="1" noChangeArrowheads="1" noTextEdit="1"/>
          </p:cNvSpPr>
          <p:nvPr>
            <p:ph type="sldImg"/>
          </p:nvPr>
        </p:nvSpPr>
        <p:spPr/>
      </p:sp>
      <p:sp>
        <p:nvSpPr>
          <p:cNvPr id="967683"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97391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27162CA-86F7-8046-ADA3-FB843DC498C2}" type="slidenum">
              <a:rPr lang="zh-CN" altLang="en-US"/>
              <a:t>6</a:t>
            </a:fld>
            <a:endParaRPr lang="en-US" altLang="zh-CN"/>
          </a:p>
        </p:txBody>
      </p:sp>
      <p:sp>
        <p:nvSpPr>
          <p:cNvPr id="831490" name="Rectangle 2"/>
          <p:cNvSpPr>
            <a:spLocks noGrp="1" noRot="1" noChangeAspect="1" noChangeArrowheads="1" noTextEdit="1"/>
          </p:cNvSpPr>
          <p:nvPr>
            <p:ph type="sldImg"/>
          </p:nvPr>
        </p:nvSpPr>
        <p:spPr/>
      </p:sp>
      <p:sp>
        <p:nvSpPr>
          <p:cNvPr id="83149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74495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34FD387-9214-144A-9B92-B1D332E00383}" type="slidenum">
              <a:rPr lang="zh-CN" altLang="en-US"/>
              <a:t>7</a:t>
            </a:fld>
            <a:endParaRPr lang="en-US" altLang="zh-CN"/>
          </a:p>
        </p:txBody>
      </p:sp>
      <p:sp>
        <p:nvSpPr>
          <p:cNvPr id="833538" name="Rectangle 2"/>
          <p:cNvSpPr>
            <a:spLocks noGrp="1" noRot="1" noChangeAspect="1" noChangeArrowheads="1" noTextEdit="1"/>
          </p:cNvSpPr>
          <p:nvPr>
            <p:ph type="sldImg"/>
          </p:nvPr>
        </p:nvSpPr>
        <p:spPr/>
      </p:sp>
      <p:sp>
        <p:nvSpPr>
          <p:cNvPr id="833539"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555946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130FDDD-08B5-3647-93A0-A35919D1A382}" type="slidenum">
              <a:rPr lang="zh-CN" altLang="en-US"/>
              <a:t>8</a:t>
            </a:fld>
            <a:endParaRPr lang="en-US" altLang="zh-CN"/>
          </a:p>
        </p:txBody>
      </p:sp>
      <p:sp>
        <p:nvSpPr>
          <p:cNvPr id="836610" name="Rectangle 2"/>
          <p:cNvSpPr>
            <a:spLocks noGrp="1" noRot="1" noChangeAspect="1" noChangeArrowheads="1" noTextEdit="1"/>
          </p:cNvSpPr>
          <p:nvPr>
            <p:ph type="sldImg"/>
          </p:nvPr>
        </p:nvSpPr>
        <p:spPr/>
      </p:sp>
      <p:sp>
        <p:nvSpPr>
          <p:cNvPr id="83661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4074043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49527A0-78C1-A847-A899-60332759A7B4}" type="slidenum">
              <a:rPr lang="zh-CN" altLang="en-US"/>
              <a:t>9</a:t>
            </a:fld>
            <a:endParaRPr lang="en-US" altLang="zh-CN"/>
          </a:p>
        </p:txBody>
      </p:sp>
      <p:sp>
        <p:nvSpPr>
          <p:cNvPr id="837634" name="Rectangle 2"/>
          <p:cNvSpPr>
            <a:spLocks noGrp="1" noRot="1" noChangeAspect="1" noChangeArrowheads="1" noTextEdit="1"/>
          </p:cNvSpPr>
          <p:nvPr>
            <p:ph type="sldImg"/>
          </p:nvPr>
        </p:nvSpPr>
        <p:spPr/>
      </p:sp>
      <p:sp>
        <p:nvSpPr>
          <p:cNvPr id="83763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809083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270947-B742-6148-8BC0-250F0753E39A}" type="slidenum">
              <a:rPr lang="zh-CN" altLang="en-US"/>
              <a:t>10</a:t>
            </a:fld>
            <a:endParaRPr lang="en-US" altLang="zh-CN"/>
          </a:p>
        </p:txBody>
      </p:sp>
      <p:sp>
        <p:nvSpPr>
          <p:cNvPr id="839682" name="Rectangle 2"/>
          <p:cNvSpPr>
            <a:spLocks noGrp="1" noRot="1" noChangeAspect="1" noChangeArrowheads="1" noTextEdit="1"/>
          </p:cNvSpPr>
          <p:nvPr>
            <p:ph type="sldImg"/>
          </p:nvPr>
        </p:nvSpPr>
        <p:spPr/>
      </p:sp>
      <p:sp>
        <p:nvSpPr>
          <p:cNvPr id="839683"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937080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FFF629-F3A3-7341-A92F-91F17A092D3D}" type="slidenum">
              <a:rPr lang="zh-CN" altLang="en-US"/>
              <a:t>11</a:t>
            </a:fld>
            <a:endParaRPr lang="en-US" altLang="zh-CN"/>
          </a:p>
        </p:txBody>
      </p:sp>
      <p:sp>
        <p:nvSpPr>
          <p:cNvPr id="851970" name="Rectangle 2"/>
          <p:cNvSpPr>
            <a:spLocks noGrp="1" noRot="1" noChangeAspect="1" noChangeArrowheads="1" noTextEdit="1"/>
          </p:cNvSpPr>
          <p:nvPr>
            <p:ph type="sldImg"/>
          </p:nvPr>
        </p:nvSpPr>
        <p:spPr/>
      </p:sp>
      <p:sp>
        <p:nvSpPr>
          <p:cNvPr id="85197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2919387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C75960-26C2-AC4A-BBAD-27A15469B3FA}" type="slidenum">
              <a:rPr lang="zh-CN" altLang="en-US"/>
              <a:t>12</a:t>
            </a:fld>
            <a:endParaRPr lang="en-US" altLang="zh-CN"/>
          </a:p>
        </p:txBody>
      </p:sp>
      <p:sp>
        <p:nvSpPr>
          <p:cNvPr id="858114" name="Rectangle 2"/>
          <p:cNvSpPr>
            <a:spLocks noGrp="1" noRot="1" noChangeAspect="1" noChangeArrowheads="1" noTextEdit="1"/>
          </p:cNvSpPr>
          <p:nvPr>
            <p:ph type="sldImg"/>
          </p:nvPr>
        </p:nvSpPr>
        <p:spPr/>
      </p:sp>
      <p:sp>
        <p:nvSpPr>
          <p:cNvPr id="85811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584779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96242DE-D7DC-3544-AC49-B7D48AC4BB4C}" type="slidenum">
              <a:rPr lang="zh-CN" altLang="en-US"/>
              <a:t>13</a:t>
            </a:fld>
            <a:endParaRPr lang="en-US" altLang="zh-CN"/>
          </a:p>
        </p:txBody>
      </p:sp>
      <p:sp>
        <p:nvSpPr>
          <p:cNvPr id="1030146" name="Rectangle 2"/>
          <p:cNvSpPr>
            <a:spLocks noGrp="1" noRot="1" noChangeAspect="1" noChangeArrowheads="1" noTextEdit="1"/>
          </p:cNvSpPr>
          <p:nvPr>
            <p:ph type="sldImg"/>
          </p:nvPr>
        </p:nvSpPr>
        <p:spPr/>
      </p:sp>
      <p:sp>
        <p:nvSpPr>
          <p:cNvPr id="1030147" name="Rectangle 3"/>
          <p:cNvSpPr>
            <a:spLocks noGrp="1" noChangeArrowheads="1"/>
          </p:cNvSpPr>
          <p:nvPr>
            <p:ph type="body" idx="1"/>
          </p:nvPr>
        </p:nvSpPr>
        <p:spPr/>
        <p:txBody>
          <a:bodyPr/>
          <a:lstStyle/>
          <a:p>
            <a:r>
              <a:rPr lang="en-US" altLang="zh-CN" dirty="0">
                <a:cs typeface="宋体" panose="02010600030101010101" pitchFamily="2" charset="-122"/>
              </a:rPr>
              <a:t>Source: </a:t>
            </a:r>
          </a:p>
          <a:p>
            <a:r>
              <a:rPr lang="en-US" altLang="zh-CN" dirty="0">
                <a:cs typeface="宋体" panose="02010600030101010101" pitchFamily="2" charset="-122"/>
              </a:rPr>
              <a:t>Book: </a:t>
            </a:r>
            <a:r>
              <a:rPr lang="en-US" altLang="zh-CN" b="1" dirty="0">
                <a:solidFill>
                  <a:srgbClr val="000077"/>
                </a:solidFill>
                <a:cs typeface="宋体" panose="02010600030101010101" pitchFamily="2" charset="-122"/>
              </a:rPr>
              <a:t>Informix Unleashed</a:t>
            </a:r>
            <a:endParaRPr lang="en-US" altLang="zh-CN" b="1" dirty="0">
              <a:cs typeface="宋体" panose="02010600030101010101" pitchFamily="2" charset="-122"/>
            </a:endParaRPr>
          </a:p>
          <a:p>
            <a:r>
              <a:rPr lang="en-US" altLang="zh-CN" dirty="0">
                <a:cs typeface="宋体" panose="02010600030101010101" pitchFamily="2" charset="-122"/>
              </a:rPr>
              <a:t>Macmillan Computer Publishing. </a:t>
            </a:r>
          </a:p>
          <a:p>
            <a:r>
              <a:rPr lang="en-US" altLang="zh-CN" dirty="0">
                <a:cs typeface="宋体" panose="02010600030101010101" pitchFamily="2" charset="-122"/>
              </a:rPr>
              <a:t>http://</a:t>
            </a:r>
            <a:r>
              <a:rPr lang="en-US" altLang="zh-CN" dirty="0" err="1">
                <a:cs typeface="宋体" panose="02010600030101010101" pitchFamily="2" charset="-122"/>
              </a:rPr>
              <a:t>docs.rinet.ru</a:t>
            </a:r>
            <a:r>
              <a:rPr lang="en-US" altLang="zh-CN" dirty="0">
                <a:cs typeface="宋体" panose="02010600030101010101" pitchFamily="2" charset="-122"/>
              </a:rPr>
              <a:t>/</a:t>
            </a:r>
            <a:r>
              <a:rPr lang="en-US" altLang="zh-CN" dirty="0" err="1">
                <a:cs typeface="宋体" panose="02010600030101010101" pitchFamily="2" charset="-122"/>
              </a:rPr>
              <a:t>InforSmes</a:t>
            </a:r>
            <a:r>
              <a:rPr lang="en-US" altLang="zh-CN" dirty="0">
                <a:cs typeface="宋体" panose="02010600030101010101" pitchFamily="2" charset="-122"/>
              </a:rPr>
              <a:t>/</a:t>
            </a:r>
            <a:r>
              <a:rPr lang="en-US" altLang="zh-CN" dirty="0" err="1">
                <a:cs typeface="宋体" panose="02010600030101010101" pitchFamily="2" charset="-122"/>
              </a:rPr>
              <a:t>index.htm</a:t>
            </a:r>
            <a:endParaRPr lang="en-US" altLang="zh-CN" dirty="0">
              <a:cs typeface="宋体" panose="02010600030101010101" pitchFamily="2" charset="-122"/>
            </a:endParaRPr>
          </a:p>
          <a:p>
            <a:endParaRPr lang="zh-CN" altLang="en-US" dirty="0">
              <a:cs typeface="宋体" panose="02010600030101010101" pitchFamily="2" charset="-122"/>
            </a:endParaRPr>
          </a:p>
        </p:txBody>
      </p:sp>
    </p:spTree>
    <p:extLst>
      <p:ext uri="{BB962C8B-B14F-4D97-AF65-F5344CB8AC3E}">
        <p14:creationId xmlns:p14="http://schemas.microsoft.com/office/powerpoint/2010/main" val="203196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6BB0607-D332-AF4B-B934-6EBFC8B98FB8}" type="slidenum">
              <a:rPr lang="zh-CN" altLang="en-US"/>
              <a:t>14</a:t>
            </a:fld>
            <a:endParaRPr lang="en-US" altLang="zh-CN"/>
          </a:p>
        </p:txBody>
      </p:sp>
      <p:sp>
        <p:nvSpPr>
          <p:cNvPr id="1009666" name="Rectangle 2"/>
          <p:cNvSpPr>
            <a:spLocks noGrp="1" noRot="1" noChangeAspect="1" noChangeArrowheads="1" noTextEdit="1"/>
          </p:cNvSpPr>
          <p:nvPr>
            <p:ph type="sldImg"/>
          </p:nvPr>
        </p:nvSpPr>
        <p:spPr/>
      </p:sp>
      <p:sp>
        <p:nvSpPr>
          <p:cNvPr id="1009667" name="Rectangle 3"/>
          <p:cNvSpPr>
            <a:spLocks noGrp="1" noChangeArrowheads="1"/>
          </p:cNvSpPr>
          <p:nvPr>
            <p:ph type="body" idx="1"/>
          </p:nvPr>
        </p:nvSpPr>
        <p:spPr/>
        <p:txBody>
          <a:bodyPr/>
          <a:lstStyle/>
          <a:p>
            <a:r>
              <a:rPr lang="en-US" altLang="zh-CN">
                <a:cs typeface="宋体" panose="02010600030101010101" pitchFamily="2" charset="-122"/>
              </a:rPr>
              <a:t>To ensure data consistency and integrity in a multiuser (concurrent access) environment, a database</a:t>
            </a:r>
          </a:p>
          <a:p>
            <a:r>
              <a:rPr lang="en-US" altLang="zh-CN">
                <a:cs typeface="宋体" panose="02010600030101010101" pitchFamily="2" charset="-122"/>
              </a:rPr>
              <a:t>server must place locks on data being modified.</a:t>
            </a:r>
          </a:p>
          <a:p>
            <a:endParaRPr lang="en-US" altLang="zh-CN">
              <a:cs typeface="宋体" panose="02010600030101010101" pitchFamily="2" charset="-122"/>
            </a:endParaRPr>
          </a:p>
          <a:p>
            <a:r>
              <a:rPr lang="en-US" altLang="zh-CN">
                <a:cs typeface="宋体" panose="02010600030101010101" pitchFamily="2" charset="-122"/>
              </a:rPr>
              <a:t>Shared</a:t>
            </a:r>
          </a:p>
          <a:p>
            <a:pPr lvl="1"/>
            <a:r>
              <a:rPr lang="en-US" altLang="zh-CN">
                <a:ea typeface="宋体" panose="02010600030101010101" pitchFamily="2" charset="-122"/>
                <a:cs typeface="宋体" panose="02010600030101010101" pitchFamily="2" charset="-122"/>
              </a:rPr>
              <a:t>A shared lock reserves its object for reading only. It prevents the object from changing while the lock remains. More than one program can place a shared lock on the same object. More than one object can read the record while it is locked in shared mode. </a:t>
            </a:r>
          </a:p>
          <a:p>
            <a:r>
              <a:rPr lang="en-US" altLang="zh-CN">
                <a:cs typeface="宋体" panose="02010600030101010101" pitchFamily="2" charset="-122"/>
              </a:rPr>
              <a:t>Exclusive</a:t>
            </a:r>
          </a:p>
          <a:p>
            <a:pPr lvl="1"/>
            <a:r>
              <a:rPr lang="en-US" altLang="zh-CN">
                <a:ea typeface="宋体" panose="02010600030101010101" pitchFamily="2" charset="-122"/>
                <a:cs typeface="宋体" panose="02010600030101010101" pitchFamily="2" charset="-122"/>
              </a:rPr>
              <a:t>An exclusive lock reserves its object for the use of a single program. This lock is used when the program intends to change the object. You cannot place an exclusive lock where any other kind of lock exists. After you place an exclusive lock, you cannot place another lock on the same object.</a:t>
            </a:r>
          </a:p>
          <a:p>
            <a:r>
              <a:rPr lang="en-US" altLang="zh-CN">
                <a:cs typeface="宋体" panose="02010600030101010101" pitchFamily="2" charset="-122"/>
              </a:rPr>
              <a:t>Promotable/Update</a:t>
            </a:r>
          </a:p>
          <a:p>
            <a:pPr lvl="1"/>
            <a:r>
              <a:rPr lang="en-US" altLang="zh-CN">
                <a:ea typeface="宋体" panose="02010600030101010101" pitchFamily="2" charset="-122"/>
                <a:cs typeface="宋体" panose="02010600030101010101" pitchFamily="2" charset="-122"/>
              </a:rPr>
              <a:t>A promotable (or update) lock establishes the intent to update. You can only place it where no other promotable or exclusive lock exists. You can place promotable locks on records that already have shared locks. When the program is about to change the locked object, you can promote the promotable lock to an exclusive lock, but only if no other locks, including shared locks, are on the record at the time the lock would change from promotable to exclusive. If a shared lock was on the record when the promotable lock was set, you must drop the shared lock before the promotable lock can be promoted to an exclusive lock. </a:t>
            </a:r>
          </a:p>
          <a:p>
            <a:endParaRPr lang="en-US" altLang="zh-CN">
              <a:cs typeface="宋体" panose="02010600030101010101" pitchFamily="2" charset="-122"/>
            </a:endParaRPr>
          </a:p>
          <a:p>
            <a:endParaRPr lang="en-US" altLang="zh-CN">
              <a:cs typeface="宋体" panose="02010600030101010101" pitchFamily="2" charset="-122"/>
            </a:endParaRPr>
          </a:p>
        </p:txBody>
      </p:sp>
    </p:spTree>
    <p:extLst>
      <p:ext uri="{BB962C8B-B14F-4D97-AF65-F5344CB8AC3E}">
        <p14:creationId xmlns:p14="http://schemas.microsoft.com/office/powerpoint/2010/main" val="287547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51B4A63-5206-6943-8A19-EEEEE1507FCA}" type="slidenum">
              <a:rPr lang="zh-CN" altLang="en-US"/>
              <a:t>15</a:t>
            </a:fld>
            <a:endParaRPr lang="en-US" altLang="zh-CN"/>
          </a:p>
        </p:txBody>
      </p:sp>
      <p:sp>
        <p:nvSpPr>
          <p:cNvPr id="1011714" name="Rectangle 2"/>
          <p:cNvSpPr>
            <a:spLocks noGrp="1" noRot="1" noChangeAspect="1" noChangeArrowheads="1" noTextEdit="1"/>
          </p:cNvSpPr>
          <p:nvPr>
            <p:ph type="sldImg"/>
          </p:nvPr>
        </p:nvSpPr>
        <p:spPr/>
      </p:sp>
      <p:sp>
        <p:nvSpPr>
          <p:cNvPr id="1011715" name="Rectangle 3"/>
          <p:cNvSpPr>
            <a:spLocks noGrp="1" noChangeArrowheads="1"/>
          </p:cNvSpPr>
          <p:nvPr>
            <p:ph type="body" idx="1"/>
          </p:nvPr>
        </p:nvSpPr>
        <p:spPr>
          <a:xfrm>
            <a:off x="686456" y="4344105"/>
            <a:ext cx="5485089" cy="4113984"/>
          </a:xfrm>
        </p:spPr>
        <p:txBody>
          <a:bodyPr/>
          <a:lstStyle/>
          <a:p>
            <a:r>
              <a:rPr lang="en-US" altLang="zh-CN" i="1">
                <a:cs typeface="宋体" panose="02010600030101010101" pitchFamily="2" charset="-122"/>
              </a:rPr>
              <a:t>Shared locks </a:t>
            </a:r>
            <a:r>
              <a:rPr lang="en-US" altLang="zh-CN">
                <a:cs typeface="宋体" panose="02010600030101010101" pitchFamily="2" charset="-122"/>
              </a:rPr>
              <a:t>prevent other processes from updating the locked object. Other users maintain read</a:t>
            </a:r>
          </a:p>
          <a:p>
            <a:r>
              <a:rPr lang="en-US" altLang="zh-CN">
                <a:cs typeface="宋体" panose="02010600030101010101" pitchFamily="2" charset="-122"/>
              </a:rPr>
              <a:t>access to the object. Multiple share locks can be placed on a single object.</a:t>
            </a:r>
          </a:p>
          <a:p>
            <a:endParaRPr lang="en-US" altLang="zh-CN">
              <a:cs typeface="宋体" panose="02010600030101010101" pitchFamily="2" charset="-122"/>
            </a:endParaRPr>
          </a:p>
          <a:p>
            <a:r>
              <a:rPr lang="en-US" altLang="zh-CN" i="1">
                <a:cs typeface="宋体" panose="02010600030101010101" pitchFamily="2" charset="-122"/>
              </a:rPr>
              <a:t>Exclusive locks </a:t>
            </a:r>
            <a:r>
              <a:rPr lang="en-US" altLang="zh-CN">
                <a:cs typeface="宋体" panose="02010600030101010101" pitchFamily="2" charset="-122"/>
              </a:rPr>
              <a:t>are automatically placed by the database server on any object actively being</a:t>
            </a:r>
          </a:p>
          <a:p>
            <a:r>
              <a:rPr lang="en-US" altLang="zh-CN">
                <a:cs typeface="宋体" panose="02010600030101010101" pitchFamily="2" charset="-122"/>
              </a:rPr>
              <a:t>modified. Exclusive locks prevent all reads except dirty reads. A DBA or user can also explicitly</a:t>
            </a:r>
          </a:p>
          <a:p>
            <a:r>
              <a:rPr lang="en-US" altLang="zh-CN">
                <a:cs typeface="宋体" panose="02010600030101010101" pitchFamily="2" charset="-122"/>
              </a:rPr>
              <a:t>request an exclusive lock on a database or table to perform administrative or batch operations.</a:t>
            </a:r>
          </a:p>
          <a:p>
            <a:endParaRPr lang="en-US" altLang="zh-CN">
              <a:latin typeface="Wingdings" panose="05000000000000000000" charset="0"/>
              <a:cs typeface="宋体" panose="02010600030101010101" pitchFamily="2" charset="-122"/>
            </a:endParaRPr>
          </a:p>
          <a:p>
            <a:endParaRPr lang="en-US" altLang="zh-CN">
              <a:cs typeface="宋体" panose="02010600030101010101" pitchFamily="2" charset="-122"/>
            </a:endParaRPr>
          </a:p>
        </p:txBody>
      </p:sp>
    </p:spTree>
    <p:extLst>
      <p:ext uri="{BB962C8B-B14F-4D97-AF65-F5344CB8AC3E}">
        <p14:creationId xmlns:p14="http://schemas.microsoft.com/office/powerpoint/2010/main" val="3678665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9A6748E-723D-2A49-8904-43CD8F1755B6}" type="slidenum">
              <a:rPr lang="zh-CN" altLang="en-US"/>
              <a:t>16</a:t>
            </a:fld>
            <a:endParaRPr lang="en-US" altLang="zh-CN"/>
          </a:p>
        </p:txBody>
      </p:sp>
      <p:sp>
        <p:nvSpPr>
          <p:cNvPr id="1013762" name="Rectangle 2"/>
          <p:cNvSpPr>
            <a:spLocks noGrp="1" noRot="1" noChangeAspect="1" noChangeArrowheads="1" noTextEdit="1"/>
          </p:cNvSpPr>
          <p:nvPr>
            <p:ph type="sldImg"/>
          </p:nvPr>
        </p:nvSpPr>
        <p:spPr/>
      </p:sp>
      <p:sp>
        <p:nvSpPr>
          <p:cNvPr id="1013763" name="Rectangle 3"/>
          <p:cNvSpPr>
            <a:spLocks noGrp="1" noChangeArrowheads="1"/>
          </p:cNvSpPr>
          <p:nvPr>
            <p:ph type="body" idx="1"/>
          </p:nvPr>
        </p:nvSpPr>
        <p:spPr>
          <a:xfrm>
            <a:off x="686456" y="4344105"/>
            <a:ext cx="5485089" cy="4113984"/>
          </a:xfrm>
        </p:spPr>
        <p:txBody>
          <a:bodyPr/>
          <a:lstStyle/>
          <a:p>
            <a:r>
              <a:rPr lang="en-US" altLang="zh-CN" i="1" dirty="0">
                <a:cs typeface="宋体" panose="02010600030101010101" pitchFamily="2" charset="-122"/>
              </a:rPr>
              <a:t>Promotable </a:t>
            </a:r>
            <a:r>
              <a:rPr lang="en-US" altLang="zh-CN" dirty="0">
                <a:cs typeface="宋体" panose="02010600030101010101" pitchFamily="2" charset="-122"/>
              </a:rPr>
              <a:t>or </a:t>
            </a:r>
            <a:r>
              <a:rPr lang="en-US" altLang="zh-CN" i="1" dirty="0">
                <a:cs typeface="宋体" panose="02010600030101010101" pitchFamily="2" charset="-122"/>
              </a:rPr>
              <a:t>update locks </a:t>
            </a:r>
            <a:r>
              <a:rPr lang="en-US" altLang="zh-CN" dirty="0">
                <a:cs typeface="宋体" panose="02010600030101010101" pitchFamily="2" charset="-122"/>
              </a:rPr>
              <a:t>are placed on objects that are retrieved for update but are not yet</a:t>
            </a:r>
          </a:p>
          <a:p>
            <a:r>
              <a:rPr lang="en-US" altLang="zh-CN" dirty="0">
                <a:cs typeface="宋体" panose="02010600030101010101" pitchFamily="2" charset="-122"/>
              </a:rPr>
              <a:t>being updated. They prevent other users from acquiring exclusive or promotable locks on the</a:t>
            </a:r>
          </a:p>
          <a:p>
            <a:r>
              <a:rPr lang="en-US" altLang="zh-CN" dirty="0">
                <a:cs typeface="宋体" panose="02010600030101010101" pitchFamily="2" charset="-122"/>
              </a:rPr>
              <a:t>object. As an example, when you open a cursor with the FOR UPDATE clause, the database</a:t>
            </a:r>
          </a:p>
          <a:p>
            <a:r>
              <a:rPr lang="en-US" altLang="zh-CN" dirty="0">
                <a:cs typeface="宋体" panose="02010600030101010101" pitchFamily="2" charset="-122"/>
              </a:rPr>
              <a:t>server acquires an update lock on each row fetched. The lock is </a:t>
            </a:r>
            <a:r>
              <a:rPr lang="en-US" altLang="zh-CN" i="1" dirty="0">
                <a:cs typeface="宋体" panose="02010600030101010101" pitchFamily="2" charset="-122"/>
              </a:rPr>
              <a:t>promoted </a:t>
            </a:r>
            <a:r>
              <a:rPr lang="en-US" altLang="zh-CN" dirty="0">
                <a:cs typeface="宋体" panose="02010600030101010101" pitchFamily="2" charset="-122"/>
              </a:rPr>
              <a:t>to an exclusive lock</a:t>
            </a:r>
          </a:p>
          <a:p>
            <a:r>
              <a:rPr lang="en-US" altLang="zh-CN" dirty="0">
                <a:cs typeface="宋体" panose="02010600030101010101" pitchFamily="2" charset="-122"/>
              </a:rPr>
              <a:t>when the UPDATE WHERE CURRENT statement is executed.</a:t>
            </a:r>
          </a:p>
          <a:p>
            <a:endParaRPr lang="en-US" altLang="zh-CN" dirty="0">
              <a:cs typeface="宋体" panose="02010600030101010101" pitchFamily="2" charset="-122"/>
            </a:endParaRPr>
          </a:p>
          <a:p>
            <a:r>
              <a:rPr lang="en-US" altLang="zh-CN" dirty="0">
                <a:cs typeface="宋体" panose="02010600030101010101" pitchFamily="2" charset="-122"/>
              </a:rPr>
              <a:t>Intent locks are </a:t>
            </a:r>
            <a:r>
              <a:rPr lang="en-US" altLang="zh-CN" b="1" dirty="0">
                <a:cs typeface="宋体" panose="02010600030101010101" pitchFamily="2" charset="-122"/>
              </a:rPr>
              <a:t>automatically</a:t>
            </a:r>
            <a:r>
              <a:rPr lang="en-US" altLang="zh-CN" dirty="0">
                <a:cs typeface="宋体" panose="02010600030101010101" pitchFamily="2" charset="-122"/>
              </a:rPr>
              <a:t> set by IDS. If a row in a table is updated, an exclusive lock is placed on the row and an </a:t>
            </a:r>
            <a:r>
              <a:rPr lang="en-US" altLang="zh-CN" b="1" dirty="0">
                <a:cs typeface="宋体" panose="02010600030101010101" pitchFamily="2" charset="-122"/>
              </a:rPr>
              <a:t>intent-exclusive</a:t>
            </a:r>
            <a:r>
              <a:rPr lang="en-US" altLang="zh-CN" dirty="0">
                <a:cs typeface="宋体" panose="02010600030101010101" pitchFamily="2" charset="-122"/>
              </a:rPr>
              <a:t> lock is placed on the table. This ensures that </a:t>
            </a:r>
            <a:r>
              <a:rPr lang="en-US" altLang="zh-CN" b="1" dirty="0">
                <a:cs typeface="宋体" panose="02010600030101010101" pitchFamily="2" charset="-122"/>
              </a:rPr>
              <a:t>no </a:t>
            </a:r>
            <a:r>
              <a:rPr lang="en-US" altLang="zh-CN" dirty="0">
                <a:cs typeface="宋体" panose="02010600030101010101" pitchFamily="2" charset="-122"/>
              </a:rPr>
              <a:t>other session could place a share or exclusive lock on the table as long as an individual row is locked exclusively</a:t>
            </a:r>
          </a:p>
        </p:txBody>
      </p:sp>
    </p:spTree>
    <p:extLst>
      <p:ext uri="{BB962C8B-B14F-4D97-AF65-F5344CB8AC3E}">
        <p14:creationId xmlns:p14="http://schemas.microsoft.com/office/powerpoint/2010/main" val="1351219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9A6748E-723D-2A49-8904-43CD8F1755B6}" type="slidenum">
              <a:rPr lang="zh-CN" altLang="en-US"/>
              <a:t>17</a:t>
            </a:fld>
            <a:endParaRPr lang="en-US" altLang="zh-CN"/>
          </a:p>
        </p:txBody>
      </p:sp>
      <p:sp>
        <p:nvSpPr>
          <p:cNvPr id="1013762" name="Rectangle 2"/>
          <p:cNvSpPr>
            <a:spLocks noGrp="1" noRot="1" noChangeAspect="1" noChangeArrowheads="1" noTextEdit="1"/>
          </p:cNvSpPr>
          <p:nvPr>
            <p:ph type="sldImg"/>
          </p:nvPr>
        </p:nvSpPr>
        <p:spPr/>
      </p:sp>
      <p:sp>
        <p:nvSpPr>
          <p:cNvPr id="1013763" name="Rectangle 3"/>
          <p:cNvSpPr>
            <a:spLocks noGrp="1" noChangeArrowheads="1"/>
          </p:cNvSpPr>
          <p:nvPr>
            <p:ph type="body" idx="1"/>
          </p:nvPr>
        </p:nvSpPr>
        <p:spPr>
          <a:xfrm>
            <a:off x="686456" y="4344105"/>
            <a:ext cx="5485089" cy="4113984"/>
          </a:xfrm>
        </p:spPr>
        <p:txBody>
          <a:bodyPr/>
          <a:lstStyle/>
          <a:p>
            <a:r>
              <a:rPr lang="en-US" altLang="zh-CN" i="1" dirty="0">
                <a:cs typeface="宋体" panose="02010600030101010101" pitchFamily="2" charset="-122"/>
              </a:rPr>
              <a:t>Promotable </a:t>
            </a:r>
            <a:r>
              <a:rPr lang="en-US" altLang="zh-CN" dirty="0">
                <a:cs typeface="宋体" panose="02010600030101010101" pitchFamily="2" charset="-122"/>
              </a:rPr>
              <a:t>or </a:t>
            </a:r>
            <a:r>
              <a:rPr lang="en-US" altLang="zh-CN" i="1" dirty="0">
                <a:cs typeface="宋体" panose="02010600030101010101" pitchFamily="2" charset="-122"/>
              </a:rPr>
              <a:t>update locks </a:t>
            </a:r>
            <a:r>
              <a:rPr lang="en-US" altLang="zh-CN" dirty="0">
                <a:cs typeface="宋体" panose="02010600030101010101" pitchFamily="2" charset="-122"/>
              </a:rPr>
              <a:t>are placed on objects that are retrieved for update but are not yet</a:t>
            </a:r>
          </a:p>
          <a:p>
            <a:r>
              <a:rPr lang="en-US" altLang="zh-CN" dirty="0">
                <a:cs typeface="宋体" panose="02010600030101010101" pitchFamily="2" charset="-122"/>
              </a:rPr>
              <a:t>being updated. They prevent other users from acquiring exclusive or promotable locks on the</a:t>
            </a:r>
          </a:p>
          <a:p>
            <a:r>
              <a:rPr lang="en-US" altLang="zh-CN" dirty="0">
                <a:cs typeface="宋体" panose="02010600030101010101" pitchFamily="2" charset="-122"/>
              </a:rPr>
              <a:t>object. As an example, when you open a cursor with the FOR UPDATE clause, the database</a:t>
            </a:r>
          </a:p>
          <a:p>
            <a:r>
              <a:rPr lang="en-US" altLang="zh-CN" dirty="0">
                <a:cs typeface="宋体" panose="02010600030101010101" pitchFamily="2" charset="-122"/>
              </a:rPr>
              <a:t>server acquires an update lock on each row fetched. The lock is </a:t>
            </a:r>
            <a:r>
              <a:rPr lang="en-US" altLang="zh-CN" i="1" dirty="0">
                <a:cs typeface="宋体" panose="02010600030101010101" pitchFamily="2" charset="-122"/>
              </a:rPr>
              <a:t>promoted </a:t>
            </a:r>
            <a:r>
              <a:rPr lang="en-US" altLang="zh-CN" dirty="0">
                <a:cs typeface="宋体" panose="02010600030101010101" pitchFamily="2" charset="-122"/>
              </a:rPr>
              <a:t>to an exclusive lock</a:t>
            </a:r>
          </a:p>
          <a:p>
            <a:r>
              <a:rPr lang="en-US" altLang="zh-CN" dirty="0">
                <a:cs typeface="宋体" panose="02010600030101010101" pitchFamily="2" charset="-122"/>
              </a:rPr>
              <a:t>when the UPDATE WHERE CURRENT statement is executed.</a:t>
            </a:r>
          </a:p>
          <a:p>
            <a:endParaRPr lang="en-US" altLang="zh-CN" dirty="0">
              <a:cs typeface="宋体" panose="02010600030101010101" pitchFamily="2" charset="-122"/>
            </a:endParaRPr>
          </a:p>
          <a:p>
            <a:r>
              <a:rPr lang="en-US" altLang="zh-CN" dirty="0">
                <a:cs typeface="宋体" panose="02010600030101010101" pitchFamily="2" charset="-122"/>
              </a:rPr>
              <a:t>Intent locks are </a:t>
            </a:r>
            <a:r>
              <a:rPr lang="en-US" altLang="zh-CN" b="1" dirty="0">
                <a:cs typeface="宋体" panose="02010600030101010101" pitchFamily="2" charset="-122"/>
              </a:rPr>
              <a:t>automatically</a:t>
            </a:r>
            <a:r>
              <a:rPr lang="en-US" altLang="zh-CN" dirty="0">
                <a:cs typeface="宋体" panose="02010600030101010101" pitchFamily="2" charset="-122"/>
              </a:rPr>
              <a:t> set by IDS. If a row in a table is updated, an exclusive lock is placed on the row and an </a:t>
            </a:r>
            <a:r>
              <a:rPr lang="en-US" altLang="zh-CN" b="1" dirty="0">
                <a:cs typeface="宋体" panose="02010600030101010101" pitchFamily="2" charset="-122"/>
              </a:rPr>
              <a:t>intent-exclusive</a:t>
            </a:r>
            <a:r>
              <a:rPr lang="en-US" altLang="zh-CN" dirty="0">
                <a:cs typeface="宋体" panose="02010600030101010101" pitchFamily="2" charset="-122"/>
              </a:rPr>
              <a:t> lock is placed on the table. This ensures that </a:t>
            </a:r>
            <a:r>
              <a:rPr lang="en-US" altLang="zh-CN" b="1" dirty="0">
                <a:cs typeface="宋体" panose="02010600030101010101" pitchFamily="2" charset="-122"/>
              </a:rPr>
              <a:t>no </a:t>
            </a:r>
            <a:r>
              <a:rPr lang="en-US" altLang="zh-CN" dirty="0">
                <a:cs typeface="宋体" panose="02010600030101010101" pitchFamily="2" charset="-122"/>
              </a:rPr>
              <a:t>other session could place a share or exclusive lock on the table as long as an individual row is locked exclusively</a:t>
            </a:r>
          </a:p>
        </p:txBody>
      </p:sp>
    </p:spTree>
    <p:extLst>
      <p:ext uri="{BB962C8B-B14F-4D97-AF65-F5344CB8AC3E}">
        <p14:creationId xmlns:p14="http://schemas.microsoft.com/office/powerpoint/2010/main" val="3398207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874D17E-BC96-8D45-BFDD-B6CF78CA904C}" type="slidenum">
              <a:rPr lang="zh-CN" altLang="en-US"/>
              <a:t>18</a:t>
            </a:fld>
            <a:endParaRPr lang="en-US" altLang="zh-CN"/>
          </a:p>
        </p:txBody>
      </p:sp>
      <p:sp>
        <p:nvSpPr>
          <p:cNvPr id="1063938" name="Rectangle 2"/>
          <p:cNvSpPr>
            <a:spLocks noGrp="1" noRot="1" noChangeAspect="1" noChangeArrowheads="1" noTextEdit="1"/>
          </p:cNvSpPr>
          <p:nvPr>
            <p:ph type="sldImg"/>
          </p:nvPr>
        </p:nvSpPr>
        <p:spPr/>
      </p:sp>
      <p:sp>
        <p:nvSpPr>
          <p:cNvPr id="1063939"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602482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ECDBAA3-4DC6-8545-9D9C-9BC3E3994D25}" type="slidenum">
              <a:rPr lang="zh-CN" altLang="en-US"/>
              <a:t>19</a:t>
            </a:fld>
            <a:endParaRPr lang="en-US" altLang="zh-CN"/>
          </a:p>
        </p:txBody>
      </p:sp>
      <p:sp>
        <p:nvSpPr>
          <p:cNvPr id="1015810" name="Rectangle 2"/>
          <p:cNvSpPr>
            <a:spLocks noGrp="1" noRot="1" noChangeAspect="1" noChangeArrowheads="1" noTextEdit="1"/>
          </p:cNvSpPr>
          <p:nvPr>
            <p:ph type="sldImg"/>
          </p:nvPr>
        </p:nvSpPr>
        <p:spPr/>
      </p:sp>
      <p:sp>
        <p:nvSpPr>
          <p:cNvPr id="1015811" name="Rectangle 3"/>
          <p:cNvSpPr>
            <a:spLocks noGrp="1" noChangeArrowheads="1"/>
          </p:cNvSpPr>
          <p:nvPr>
            <p:ph type="body" idx="1"/>
          </p:nvPr>
        </p:nvSpPr>
        <p:spPr>
          <a:xfrm>
            <a:off x="686456" y="4344105"/>
            <a:ext cx="5485089" cy="4113984"/>
          </a:xfrm>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96818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CD93B2D-09C6-D84C-ACD0-74BD7D46269B}" type="slidenum">
              <a:rPr lang="zh-CN" altLang="en-US"/>
              <a:t>20</a:t>
            </a:fld>
            <a:endParaRPr lang="en-US" altLang="zh-CN"/>
          </a:p>
        </p:txBody>
      </p:sp>
      <p:sp>
        <p:nvSpPr>
          <p:cNvPr id="1026050" name="Rectangle 2"/>
          <p:cNvSpPr>
            <a:spLocks noGrp="1" noRot="1" noChangeAspect="1" noChangeArrowheads="1" noTextEdit="1"/>
          </p:cNvSpPr>
          <p:nvPr>
            <p:ph type="sldImg"/>
          </p:nvPr>
        </p:nvSpPr>
        <p:spPr/>
      </p:sp>
      <p:sp>
        <p:nvSpPr>
          <p:cNvPr id="102605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220227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C769A99-2C2B-9948-919C-FA3A81524E78}" type="slidenum">
              <a:rPr lang="zh-CN" altLang="en-US"/>
              <a:t>21</a:t>
            </a:fld>
            <a:endParaRPr lang="en-US" altLang="zh-CN"/>
          </a:p>
        </p:txBody>
      </p:sp>
      <p:sp>
        <p:nvSpPr>
          <p:cNvPr id="1037314" name="Rectangle 2"/>
          <p:cNvSpPr>
            <a:spLocks noGrp="1" noRot="1" noChangeAspect="1" noChangeArrowheads="1" noTextEdit="1"/>
          </p:cNvSpPr>
          <p:nvPr>
            <p:ph type="sldImg"/>
          </p:nvPr>
        </p:nvSpPr>
        <p:spPr/>
      </p:sp>
      <p:sp>
        <p:nvSpPr>
          <p:cNvPr id="103731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2403826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C769A99-2C2B-9948-919C-FA3A81524E78}" type="slidenum">
              <a:rPr lang="zh-CN" altLang="en-US"/>
              <a:t>22</a:t>
            </a:fld>
            <a:endParaRPr lang="en-US" altLang="zh-CN"/>
          </a:p>
        </p:txBody>
      </p:sp>
      <p:sp>
        <p:nvSpPr>
          <p:cNvPr id="1037314" name="Rectangle 2"/>
          <p:cNvSpPr>
            <a:spLocks noGrp="1" noRot="1" noChangeAspect="1" noChangeArrowheads="1" noTextEdit="1"/>
          </p:cNvSpPr>
          <p:nvPr>
            <p:ph type="sldImg"/>
          </p:nvPr>
        </p:nvSpPr>
        <p:spPr/>
      </p:sp>
      <p:sp>
        <p:nvSpPr>
          <p:cNvPr id="103731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624074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29D75A8-C69E-0E4F-B63F-394FF0EF3C90}" type="slidenum">
              <a:rPr lang="zh-CN" altLang="en-US"/>
              <a:t>23</a:t>
            </a:fld>
            <a:endParaRPr lang="en-US" altLang="zh-CN"/>
          </a:p>
        </p:txBody>
      </p:sp>
      <p:sp>
        <p:nvSpPr>
          <p:cNvPr id="1042434" name="Rectangle 2"/>
          <p:cNvSpPr>
            <a:spLocks noGrp="1" noRot="1" noChangeAspect="1" noChangeArrowheads="1" noTextEdit="1"/>
          </p:cNvSpPr>
          <p:nvPr>
            <p:ph type="sldImg"/>
          </p:nvPr>
        </p:nvSpPr>
        <p:spPr/>
      </p:sp>
      <p:sp>
        <p:nvSpPr>
          <p:cNvPr id="104243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542224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30CF825-ACAB-6A40-8BB4-3DD139FF8FB3}" type="slidenum">
              <a:rPr lang="zh-CN" altLang="en-US"/>
              <a:t>24</a:t>
            </a:fld>
            <a:endParaRPr lang="en-US" altLang="zh-CN"/>
          </a:p>
        </p:txBody>
      </p:sp>
      <p:sp>
        <p:nvSpPr>
          <p:cNvPr id="1033218" name="Rectangle 2"/>
          <p:cNvSpPr>
            <a:spLocks noGrp="1" noRot="1" noChangeAspect="1" noChangeArrowheads="1" noTextEdit="1"/>
          </p:cNvSpPr>
          <p:nvPr>
            <p:ph type="sldImg"/>
          </p:nvPr>
        </p:nvSpPr>
        <p:spPr/>
      </p:sp>
      <p:sp>
        <p:nvSpPr>
          <p:cNvPr id="1033219" name="Rectangle 3"/>
          <p:cNvSpPr>
            <a:spLocks noGrp="1" noChangeArrowheads="1"/>
          </p:cNvSpPr>
          <p:nvPr>
            <p:ph type="body" idx="1"/>
          </p:nvPr>
        </p:nvSpPr>
        <p:spPr/>
        <p:txBody>
          <a:bodyPr/>
          <a:lstStyle/>
          <a:p>
            <a:endParaRPr lang="zh-CN" altLang="en-US" dirty="0">
              <a:cs typeface="宋体" panose="02010600030101010101" pitchFamily="2" charset="-122"/>
            </a:endParaRPr>
          </a:p>
        </p:txBody>
      </p:sp>
    </p:spTree>
    <p:extLst>
      <p:ext uri="{BB962C8B-B14F-4D97-AF65-F5344CB8AC3E}">
        <p14:creationId xmlns:p14="http://schemas.microsoft.com/office/powerpoint/2010/main" val="3639375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880CAB7-0FB3-8C4A-8E58-68FDA063715A}" type="slidenum">
              <a:rPr lang="zh-CN" altLang="en-US"/>
              <a:t>25</a:t>
            </a:fld>
            <a:endParaRPr lang="en-US" altLang="zh-CN"/>
          </a:p>
        </p:txBody>
      </p:sp>
      <p:sp>
        <p:nvSpPr>
          <p:cNvPr id="1028098" name="Rectangle 2"/>
          <p:cNvSpPr>
            <a:spLocks noGrp="1" noRot="1" noChangeAspect="1" noChangeArrowheads="1" noTextEdit="1"/>
          </p:cNvSpPr>
          <p:nvPr>
            <p:ph type="sldImg"/>
          </p:nvPr>
        </p:nvSpPr>
        <p:spPr/>
      </p:sp>
      <p:sp>
        <p:nvSpPr>
          <p:cNvPr id="1028099"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785794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8FE9EE-783D-4547-A098-D9E450AA13E6}" type="slidenum">
              <a:rPr lang="zh-CN" altLang="en-US"/>
              <a:t>26</a:t>
            </a:fld>
            <a:endParaRPr lang="en-US" altLang="zh-CN"/>
          </a:p>
        </p:txBody>
      </p:sp>
      <p:sp>
        <p:nvSpPr>
          <p:cNvPr id="976898" name="Rectangle 2"/>
          <p:cNvSpPr>
            <a:spLocks noGrp="1" noRot="1" noChangeAspect="1" noChangeArrowheads="1" noTextEdit="1"/>
          </p:cNvSpPr>
          <p:nvPr>
            <p:ph type="sldImg"/>
          </p:nvPr>
        </p:nvSpPr>
        <p:spPr/>
      </p:sp>
      <p:sp>
        <p:nvSpPr>
          <p:cNvPr id="976899"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6735330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D3107DE-9B98-DD4F-B17D-4F51CD01B549}" type="slidenum">
              <a:rPr lang="zh-CN" altLang="en-US"/>
              <a:t>27</a:t>
            </a:fld>
            <a:endParaRPr lang="en-US" altLang="zh-CN"/>
          </a:p>
        </p:txBody>
      </p:sp>
      <p:sp>
        <p:nvSpPr>
          <p:cNvPr id="1003522" name="Rectangle 2"/>
          <p:cNvSpPr>
            <a:spLocks noGrp="1" noRot="1" noChangeAspect="1" noChangeArrowheads="1" noTextEdit="1"/>
          </p:cNvSpPr>
          <p:nvPr>
            <p:ph type="sldImg"/>
          </p:nvPr>
        </p:nvSpPr>
        <p:spPr/>
      </p:sp>
      <p:sp>
        <p:nvSpPr>
          <p:cNvPr id="1003523" name="Rectangle 3"/>
          <p:cNvSpPr>
            <a:spLocks noGrp="1" noChangeArrowheads="1"/>
          </p:cNvSpPr>
          <p:nvPr>
            <p:ph type="body" idx="1"/>
          </p:nvPr>
        </p:nvSpPr>
        <p:spPr/>
        <p:txBody>
          <a:bodyPr/>
          <a:lstStyle/>
          <a:p>
            <a:r>
              <a:rPr lang="en-US" altLang="zh-CN">
                <a:cs typeface="宋体" panose="02010600030101010101" pitchFamily="2" charset="-122"/>
              </a:rPr>
              <a:t>When the isolation level is read uncommitted or dirty read, the database server does not place any locks</a:t>
            </a:r>
          </a:p>
          <a:p>
            <a:r>
              <a:rPr lang="en-US" altLang="zh-CN">
                <a:cs typeface="宋体" panose="02010600030101010101" pitchFamily="2" charset="-122"/>
              </a:rPr>
              <a:t>or check for existing locks when resolving your query. During retrieval, you can look at any row, even</a:t>
            </a:r>
          </a:p>
          <a:p>
            <a:r>
              <a:rPr lang="en-US" altLang="zh-CN">
                <a:cs typeface="宋体" panose="02010600030101010101" pitchFamily="2" charset="-122"/>
              </a:rPr>
              <a:t>those that contain uncommitted changes.</a:t>
            </a:r>
          </a:p>
          <a:p>
            <a:r>
              <a:rPr lang="en-US" altLang="zh-CN">
                <a:cs typeface="宋体" panose="02010600030101010101" pitchFamily="2" charset="-122"/>
              </a:rPr>
              <a:t>Dirty-read isolation makes it possible for your query to retrieve </a:t>
            </a:r>
            <a:r>
              <a:rPr lang="en-US" altLang="zh-CN" i="1">
                <a:cs typeface="宋体" panose="02010600030101010101" pitchFamily="2" charset="-122"/>
              </a:rPr>
              <a:t>phantom </a:t>
            </a:r>
            <a:r>
              <a:rPr lang="en-US" altLang="zh-CN">
                <a:cs typeface="宋体" panose="02010600030101010101" pitchFamily="2" charset="-122"/>
              </a:rPr>
              <a:t>rows.</a:t>
            </a:r>
          </a:p>
          <a:p>
            <a:r>
              <a:rPr lang="en-US" altLang="zh-CN">
                <a:cs typeface="宋体" panose="02010600030101010101" pitchFamily="2" charset="-122"/>
              </a:rPr>
              <a:t>A phantom row is a row that a transaction inserts, but the transaction is rolled back rather than</a:t>
            </a:r>
          </a:p>
          <a:p>
            <a:r>
              <a:rPr lang="en-US" altLang="zh-CN">
                <a:cs typeface="宋体" panose="02010600030101010101" pitchFamily="2" charset="-122"/>
              </a:rPr>
              <a:t>committed. Although the phantom row is never committed to the database and therefore never truly</a:t>
            </a:r>
          </a:p>
          <a:p>
            <a:r>
              <a:rPr lang="en-US" altLang="zh-CN" i="1">
                <a:cs typeface="宋体" panose="02010600030101010101" pitchFamily="2" charset="-122"/>
              </a:rPr>
              <a:t>exists </a:t>
            </a:r>
            <a:r>
              <a:rPr lang="en-US" altLang="zh-CN">
                <a:cs typeface="宋体" panose="02010600030101010101" pitchFamily="2" charset="-122"/>
              </a:rPr>
              <a:t>in the database, it is visible to any process using dirty-read isolation.</a:t>
            </a:r>
          </a:p>
          <a:p>
            <a:endParaRPr lang="en-US" altLang="zh-CN">
              <a:cs typeface="宋体" panose="02010600030101010101" pitchFamily="2" charset="-122"/>
            </a:endParaRPr>
          </a:p>
          <a:p>
            <a:r>
              <a:rPr lang="en-US" altLang="zh-CN">
                <a:cs typeface="宋体" panose="02010600030101010101" pitchFamily="2" charset="-122"/>
              </a:rPr>
              <a:t>Dirty-read isolation can be useful when:</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The table is static</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100 percent accuracy is not as important as speed and freedom from contention</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You cannot wait for locks to be released</a:t>
            </a:r>
          </a:p>
          <a:p>
            <a:endParaRPr lang="en-US" altLang="zh-CN">
              <a:cs typeface="宋体" panose="02010600030101010101" pitchFamily="2" charset="-122"/>
            </a:endParaRPr>
          </a:p>
          <a:p>
            <a:r>
              <a:rPr lang="en-US" altLang="zh-CN">
                <a:cs typeface="宋体" panose="02010600030101010101" pitchFamily="2" charset="-122"/>
              </a:rPr>
              <a:t>Dirty-read isolation is the only isolation level available for non-logging databases.</a:t>
            </a:r>
          </a:p>
        </p:txBody>
      </p:sp>
    </p:spTree>
    <p:extLst>
      <p:ext uri="{BB962C8B-B14F-4D97-AF65-F5344CB8AC3E}">
        <p14:creationId xmlns:p14="http://schemas.microsoft.com/office/powerpoint/2010/main" val="27430958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E46CD75-FB7B-1347-97DA-CA5174E955ED}" type="slidenum">
              <a:rPr lang="zh-CN" altLang="en-US"/>
              <a:t>28</a:t>
            </a:fld>
            <a:endParaRPr lang="en-US" altLang="zh-CN"/>
          </a:p>
        </p:txBody>
      </p:sp>
      <p:sp>
        <p:nvSpPr>
          <p:cNvPr id="1047554" name="Rectangle 2"/>
          <p:cNvSpPr>
            <a:spLocks noGrp="1" noRot="1" noChangeAspect="1" noChangeArrowheads="1" noTextEdit="1"/>
          </p:cNvSpPr>
          <p:nvPr>
            <p:ph type="sldImg"/>
          </p:nvPr>
        </p:nvSpPr>
        <p:spPr/>
      </p:sp>
      <p:sp>
        <p:nvSpPr>
          <p:cNvPr id="1047555" name="Rectangle 3"/>
          <p:cNvSpPr>
            <a:spLocks noGrp="1" noChangeArrowheads="1"/>
          </p:cNvSpPr>
          <p:nvPr>
            <p:ph type="body" idx="1"/>
          </p:nvPr>
        </p:nvSpPr>
        <p:spPr/>
        <p:txBody>
          <a:bodyPr/>
          <a:lstStyle/>
          <a:p>
            <a:r>
              <a:rPr lang="en-US" altLang="zh-CN">
                <a:cs typeface="宋体" panose="02010600030101010101" pitchFamily="2" charset="-122"/>
              </a:rPr>
              <a:t>When the isolation level is read uncommitted or dirty read, the database server does not place any locks</a:t>
            </a:r>
          </a:p>
          <a:p>
            <a:r>
              <a:rPr lang="en-US" altLang="zh-CN">
                <a:cs typeface="宋体" panose="02010600030101010101" pitchFamily="2" charset="-122"/>
              </a:rPr>
              <a:t>or check for existing locks when resolving your query. During retrieval, you can look at any row, even</a:t>
            </a:r>
          </a:p>
          <a:p>
            <a:r>
              <a:rPr lang="en-US" altLang="zh-CN">
                <a:cs typeface="宋体" panose="02010600030101010101" pitchFamily="2" charset="-122"/>
              </a:rPr>
              <a:t>those that contain uncommitted changes.</a:t>
            </a:r>
          </a:p>
          <a:p>
            <a:r>
              <a:rPr lang="en-US" altLang="zh-CN">
                <a:cs typeface="宋体" panose="02010600030101010101" pitchFamily="2" charset="-122"/>
              </a:rPr>
              <a:t>Dirty-read isolation makes it possible for your query to retrieve </a:t>
            </a:r>
            <a:r>
              <a:rPr lang="en-US" altLang="zh-CN" i="1">
                <a:cs typeface="宋体" panose="02010600030101010101" pitchFamily="2" charset="-122"/>
              </a:rPr>
              <a:t>phantom </a:t>
            </a:r>
            <a:r>
              <a:rPr lang="en-US" altLang="zh-CN">
                <a:cs typeface="宋体" panose="02010600030101010101" pitchFamily="2" charset="-122"/>
              </a:rPr>
              <a:t>rows.</a:t>
            </a:r>
          </a:p>
          <a:p>
            <a:r>
              <a:rPr lang="en-US" altLang="zh-CN">
                <a:cs typeface="宋体" panose="02010600030101010101" pitchFamily="2" charset="-122"/>
              </a:rPr>
              <a:t>A phantom row is a row that a transaction inserts, but the transaction is rolled back rather than</a:t>
            </a:r>
          </a:p>
          <a:p>
            <a:r>
              <a:rPr lang="en-US" altLang="zh-CN">
                <a:cs typeface="宋体" panose="02010600030101010101" pitchFamily="2" charset="-122"/>
              </a:rPr>
              <a:t>committed. Although the phantom row is never committed to the database and therefore never truly</a:t>
            </a:r>
          </a:p>
          <a:p>
            <a:r>
              <a:rPr lang="en-US" altLang="zh-CN" i="1">
                <a:cs typeface="宋体" panose="02010600030101010101" pitchFamily="2" charset="-122"/>
              </a:rPr>
              <a:t>exists </a:t>
            </a:r>
            <a:r>
              <a:rPr lang="en-US" altLang="zh-CN">
                <a:cs typeface="宋体" panose="02010600030101010101" pitchFamily="2" charset="-122"/>
              </a:rPr>
              <a:t>in the database, it is visible to any process using dirty-read isolation.</a:t>
            </a:r>
          </a:p>
          <a:p>
            <a:endParaRPr lang="en-US" altLang="zh-CN">
              <a:cs typeface="宋体" panose="02010600030101010101" pitchFamily="2" charset="-122"/>
            </a:endParaRPr>
          </a:p>
          <a:p>
            <a:r>
              <a:rPr lang="en-US" altLang="zh-CN">
                <a:cs typeface="宋体" panose="02010600030101010101" pitchFamily="2" charset="-122"/>
              </a:rPr>
              <a:t>Dirty-read isolation can be useful when:</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The table is static</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100 percent accuracy is not as important as speed and freedom from contention</a:t>
            </a:r>
          </a:p>
          <a:p>
            <a:r>
              <a:rPr lang="en-US" altLang="zh-CN">
                <a:latin typeface="Wingdings" panose="05000000000000000000" charset="0"/>
                <a:cs typeface="宋体" panose="02010600030101010101" pitchFamily="2" charset="-122"/>
              </a:rPr>
              <a:t>- </a:t>
            </a:r>
            <a:r>
              <a:rPr lang="en-US" altLang="zh-CN">
                <a:cs typeface="宋体" panose="02010600030101010101" pitchFamily="2" charset="-122"/>
              </a:rPr>
              <a:t>You cannot wait for locks to be released</a:t>
            </a:r>
          </a:p>
          <a:p>
            <a:endParaRPr lang="en-US" altLang="zh-CN">
              <a:cs typeface="宋体" panose="02010600030101010101" pitchFamily="2" charset="-122"/>
            </a:endParaRPr>
          </a:p>
          <a:p>
            <a:r>
              <a:rPr lang="en-US" altLang="zh-CN">
                <a:cs typeface="宋体" panose="02010600030101010101" pitchFamily="2" charset="-122"/>
              </a:rPr>
              <a:t>Dirty-read isolation is the only isolation level available for non-logging databases.</a:t>
            </a:r>
          </a:p>
        </p:txBody>
      </p:sp>
    </p:spTree>
    <p:extLst>
      <p:ext uri="{BB962C8B-B14F-4D97-AF65-F5344CB8AC3E}">
        <p14:creationId xmlns:p14="http://schemas.microsoft.com/office/powerpoint/2010/main" val="1619344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3FA412-72C7-2643-ADA3-4D147FD48434}" type="slidenum">
              <a:rPr lang="zh-CN" altLang="en-US"/>
              <a:t>29</a:t>
            </a:fld>
            <a:endParaRPr lang="en-US" altLang="zh-CN"/>
          </a:p>
        </p:txBody>
      </p:sp>
      <p:sp>
        <p:nvSpPr>
          <p:cNvPr id="1004546" name="Rectangle 2"/>
          <p:cNvSpPr>
            <a:spLocks noGrp="1" noRot="1" noChangeAspect="1" noChangeArrowheads="1" noTextEdit="1"/>
          </p:cNvSpPr>
          <p:nvPr>
            <p:ph type="sldImg"/>
          </p:nvPr>
        </p:nvSpPr>
        <p:spPr/>
      </p:sp>
      <p:sp>
        <p:nvSpPr>
          <p:cNvPr id="1004547" name="Rectangle 3"/>
          <p:cNvSpPr>
            <a:spLocks noGrp="1" noChangeArrowheads="1"/>
          </p:cNvSpPr>
          <p:nvPr>
            <p:ph type="body" idx="1"/>
          </p:nvPr>
        </p:nvSpPr>
        <p:spPr/>
        <p:txBody>
          <a:bodyPr/>
          <a:lstStyle/>
          <a:p>
            <a:r>
              <a:rPr lang="en-US" altLang="zh-CN" dirty="0">
                <a:cs typeface="宋体" panose="02010600030101010101" pitchFamily="2" charset="-122"/>
              </a:rPr>
              <a:t>Queries in logged databases default to ANSI </a:t>
            </a:r>
            <a:r>
              <a:rPr lang="en-US" altLang="zh-CN" i="1" dirty="0">
                <a:cs typeface="宋体" panose="02010600030101010101" pitchFamily="2" charset="-122"/>
              </a:rPr>
              <a:t>read</a:t>
            </a:r>
            <a:r>
              <a:rPr lang="en-US" altLang="zh-CN" dirty="0">
                <a:cs typeface="宋体" panose="02010600030101010101" pitchFamily="2" charset="-122"/>
              </a:rPr>
              <a:t>-</a:t>
            </a:r>
            <a:r>
              <a:rPr lang="en-US" altLang="zh-CN" i="1" dirty="0">
                <a:cs typeface="宋体" panose="02010600030101010101" pitchFamily="2" charset="-122"/>
              </a:rPr>
              <a:t>committed </a:t>
            </a:r>
            <a:r>
              <a:rPr lang="en-US" altLang="zh-CN" dirty="0">
                <a:cs typeface="宋体" panose="02010600030101010101" pitchFamily="2" charset="-122"/>
              </a:rPr>
              <a:t>isolation. Read-committed isolation is</a:t>
            </a:r>
          </a:p>
          <a:p>
            <a:r>
              <a:rPr lang="en-US" altLang="zh-CN" dirty="0">
                <a:cs typeface="宋体" panose="02010600030101010101" pitchFamily="2" charset="-122"/>
              </a:rPr>
              <a:t>synonymous with the IBM Informix committed-read isolation. Read-committed isolation ensures that all</a:t>
            </a:r>
          </a:p>
          <a:p>
            <a:r>
              <a:rPr lang="en-US" altLang="zh-CN" dirty="0">
                <a:cs typeface="宋体" panose="02010600030101010101" pitchFamily="2" charset="-122"/>
              </a:rPr>
              <a:t>rows read are committed to the database. To perform a committed read, the database server </a:t>
            </a:r>
            <a:r>
              <a:rPr lang="en-US" altLang="zh-CN" i="1" dirty="0">
                <a:cs typeface="宋体" panose="02010600030101010101" pitchFamily="2" charset="-122"/>
              </a:rPr>
              <a:t>attempts </a:t>
            </a:r>
            <a:r>
              <a:rPr lang="en-US" altLang="zh-CN" dirty="0">
                <a:cs typeface="宋体" panose="02010600030101010101" pitchFamily="2" charset="-122"/>
              </a:rPr>
              <a:t>to</a:t>
            </a:r>
          </a:p>
          <a:p>
            <a:r>
              <a:rPr lang="en-US" altLang="zh-CN" dirty="0">
                <a:cs typeface="宋体" panose="02010600030101010101" pitchFamily="2" charset="-122"/>
              </a:rPr>
              <a:t>acquire a shared lock on a row before trying to read it. It does not place the lock rather, it checks</a:t>
            </a:r>
          </a:p>
          <a:p>
            <a:r>
              <a:rPr lang="en-US" altLang="zh-CN" dirty="0">
                <a:cs typeface="宋体" panose="02010600030101010101" pitchFamily="2" charset="-122"/>
              </a:rPr>
              <a:t>whether it </a:t>
            </a:r>
            <a:r>
              <a:rPr lang="en-US" altLang="zh-CN" i="1" dirty="0">
                <a:cs typeface="宋体" panose="02010600030101010101" pitchFamily="2" charset="-122"/>
              </a:rPr>
              <a:t>can </a:t>
            </a:r>
            <a:r>
              <a:rPr lang="en-US" altLang="zh-CN" dirty="0">
                <a:cs typeface="宋体" panose="02010600030101010101" pitchFamily="2" charset="-122"/>
              </a:rPr>
              <a:t>acquire the lock. If it can, it is guaranteed that the row exists and is not being updated by</a:t>
            </a:r>
          </a:p>
          <a:p>
            <a:r>
              <a:rPr lang="en-US" altLang="zh-CN" dirty="0">
                <a:cs typeface="宋体" panose="02010600030101010101" pitchFamily="2" charset="-122"/>
              </a:rPr>
              <a:t>another process while it is being read. Remember, a shared lock cannot be acquired on a row that is</a:t>
            </a:r>
          </a:p>
          <a:p>
            <a:r>
              <a:rPr lang="en-US" altLang="zh-CN" dirty="0">
                <a:cs typeface="宋体" panose="02010600030101010101" pitchFamily="2" charset="-122"/>
              </a:rPr>
              <a:t>locked exclusively, which is always the case when a row is being updated.</a:t>
            </a:r>
          </a:p>
          <a:p>
            <a:r>
              <a:rPr lang="en-US" altLang="zh-CN" dirty="0">
                <a:cs typeface="宋体" panose="02010600030101010101" pitchFamily="2" charset="-122"/>
              </a:rPr>
              <a:t>As you are scanning rows using committed read, you are not looking at any phantoms rows or dirty data.</a:t>
            </a:r>
          </a:p>
          <a:p>
            <a:r>
              <a:rPr lang="en-US" altLang="zh-CN" dirty="0">
                <a:cs typeface="宋体" panose="02010600030101010101" pitchFamily="2" charset="-122"/>
              </a:rPr>
              <a:t>You know that the current row was committed (at least when your process read it). After your process</a:t>
            </a:r>
          </a:p>
          <a:p>
            <a:r>
              <a:rPr lang="en-US" altLang="zh-CN" dirty="0">
                <a:cs typeface="宋体" panose="02010600030101010101" pitchFamily="2" charset="-122"/>
              </a:rPr>
              <a:t>reads the row, however, other processes can change it.</a:t>
            </a:r>
          </a:p>
          <a:p>
            <a:endParaRPr lang="en-US" altLang="zh-CN" dirty="0">
              <a:cs typeface="宋体" panose="02010600030101010101" pitchFamily="2" charset="-122"/>
            </a:endParaRPr>
          </a:p>
          <a:p>
            <a:r>
              <a:rPr lang="en-US" altLang="zh-CN" dirty="0">
                <a:cs typeface="宋体" panose="02010600030101010101" pitchFamily="2" charset="-122"/>
              </a:rPr>
              <a:t>Committed reads can be useful for:</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Lookups</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Queries</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Reports that yield general information</a:t>
            </a:r>
          </a:p>
        </p:txBody>
      </p:sp>
    </p:spTree>
    <p:extLst>
      <p:ext uri="{BB962C8B-B14F-4D97-AF65-F5344CB8AC3E}">
        <p14:creationId xmlns:p14="http://schemas.microsoft.com/office/powerpoint/2010/main" val="22556508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480A7B6-F641-7B42-B1DA-4B1787D3E4F8}" type="slidenum">
              <a:rPr lang="zh-CN" altLang="en-US"/>
              <a:t>30</a:t>
            </a:fld>
            <a:endParaRPr lang="en-US" altLang="zh-CN"/>
          </a:p>
        </p:txBody>
      </p:sp>
      <p:sp>
        <p:nvSpPr>
          <p:cNvPr id="1054722" name="Rectangle 2"/>
          <p:cNvSpPr>
            <a:spLocks noGrp="1" noRot="1" noChangeAspect="1" noChangeArrowheads="1" noTextEdit="1"/>
          </p:cNvSpPr>
          <p:nvPr>
            <p:ph type="sldImg"/>
          </p:nvPr>
        </p:nvSpPr>
        <p:spPr/>
      </p:sp>
      <p:sp>
        <p:nvSpPr>
          <p:cNvPr id="1054723" name="Rectangle 3"/>
          <p:cNvSpPr>
            <a:spLocks noGrp="1" noChangeArrowheads="1"/>
          </p:cNvSpPr>
          <p:nvPr>
            <p:ph type="body" idx="1"/>
          </p:nvPr>
        </p:nvSpPr>
        <p:spPr/>
        <p:txBody>
          <a:bodyPr/>
          <a:lstStyle/>
          <a:p>
            <a:r>
              <a:rPr lang="en-US" altLang="zh-CN" dirty="0">
                <a:cs typeface="宋体" panose="02010600030101010101" pitchFamily="2" charset="-122"/>
              </a:rPr>
              <a:t>Queries in logged databases default to ANSI </a:t>
            </a:r>
            <a:r>
              <a:rPr lang="en-US" altLang="zh-CN" i="1" dirty="0">
                <a:cs typeface="宋体" panose="02010600030101010101" pitchFamily="2" charset="-122"/>
              </a:rPr>
              <a:t>read</a:t>
            </a:r>
            <a:r>
              <a:rPr lang="en-US" altLang="zh-CN" dirty="0">
                <a:cs typeface="宋体" panose="02010600030101010101" pitchFamily="2" charset="-122"/>
              </a:rPr>
              <a:t>-</a:t>
            </a:r>
            <a:r>
              <a:rPr lang="en-US" altLang="zh-CN" i="1" dirty="0">
                <a:cs typeface="宋体" panose="02010600030101010101" pitchFamily="2" charset="-122"/>
              </a:rPr>
              <a:t>committed </a:t>
            </a:r>
            <a:r>
              <a:rPr lang="en-US" altLang="zh-CN" dirty="0">
                <a:cs typeface="宋体" panose="02010600030101010101" pitchFamily="2" charset="-122"/>
              </a:rPr>
              <a:t>isolation. Read-committed isolation is</a:t>
            </a:r>
          </a:p>
          <a:p>
            <a:r>
              <a:rPr lang="en-US" altLang="zh-CN" dirty="0">
                <a:cs typeface="宋体" panose="02010600030101010101" pitchFamily="2" charset="-122"/>
              </a:rPr>
              <a:t>synonymous with the IBM Informix committed-read isolation. Read-committed isolation ensures that all</a:t>
            </a:r>
          </a:p>
          <a:p>
            <a:r>
              <a:rPr lang="en-US" altLang="zh-CN" dirty="0">
                <a:cs typeface="宋体" panose="02010600030101010101" pitchFamily="2" charset="-122"/>
              </a:rPr>
              <a:t>rows read are committed to the database. To perform a committed read, the database server </a:t>
            </a:r>
            <a:r>
              <a:rPr lang="en-US" altLang="zh-CN" i="1" dirty="0">
                <a:cs typeface="宋体" panose="02010600030101010101" pitchFamily="2" charset="-122"/>
              </a:rPr>
              <a:t>attempts </a:t>
            </a:r>
            <a:r>
              <a:rPr lang="en-US" altLang="zh-CN" dirty="0">
                <a:cs typeface="宋体" panose="02010600030101010101" pitchFamily="2" charset="-122"/>
              </a:rPr>
              <a:t>to</a:t>
            </a:r>
          </a:p>
          <a:p>
            <a:r>
              <a:rPr lang="en-US" altLang="zh-CN" dirty="0">
                <a:cs typeface="宋体" panose="02010600030101010101" pitchFamily="2" charset="-122"/>
              </a:rPr>
              <a:t>acquire a shared lock on a row before trying to read it. It does not place the lock rather, it checks</a:t>
            </a:r>
          </a:p>
          <a:p>
            <a:r>
              <a:rPr lang="en-US" altLang="zh-CN" dirty="0">
                <a:cs typeface="宋体" panose="02010600030101010101" pitchFamily="2" charset="-122"/>
              </a:rPr>
              <a:t>whether it </a:t>
            </a:r>
            <a:r>
              <a:rPr lang="en-US" altLang="zh-CN" i="1" dirty="0">
                <a:cs typeface="宋体" panose="02010600030101010101" pitchFamily="2" charset="-122"/>
              </a:rPr>
              <a:t>can </a:t>
            </a:r>
            <a:r>
              <a:rPr lang="en-US" altLang="zh-CN" dirty="0">
                <a:cs typeface="宋体" panose="02010600030101010101" pitchFamily="2" charset="-122"/>
              </a:rPr>
              <a:t>acquire the lock. If it can, it is guaranteed that the row exists and is not being updated by</a:t>
            </a:r>
          </a:p>
          <a:p>
            <a:r>
              <a:rPr lang="en-US" altLang="zh-CN" dirty="0">
                <a:cs typeface="宋体" panose="02010600030101010101" pitchFamily="2" charset="-122"/>
              </a:rPr>
              <a:t>another process while it is being read. Remember, a shared lock cannot be acquired on a row that is</a:t>
            </a:r>
          </a:p>
          <a:p>
            <a:r>
              <a:rPr lang="en-US" altLang="zh-CN" dirty="0">
                <a:cs typeface="宋体" panose="02010600030101010101" pitchFamily="2" charset="-122"/>
              </a:rPr>
              <a:t>locked exclusively, which is always the case when a row is being updated.</a:t>
            </a:r>
          </a:p>
          <a:p>
            <a:r>
              <a:rPr lang="en-US" altLang="zh-CN" dirty="0">
                <a:cs typeface="宋体" panose="02010600030101010101" pitchFamily="2" charset="-122"/>
              </a:rPr>
              <a:t>As you are scanning rows using committed read, you are not looking at any phantoms rows or dirty data.</a:t>
            </a:r>
          </a:p>
          <a:p>
            <a:r>
              <a:rPr lang="en-US" altLang="zh-CN" dirty="0">
                <a:cs typeface="宋体" panose="02010600030101010101" pitchFamily="2" charset="-122"/>
              </a:rPr>
              <a:t>You know that the current row was committed (at least when your process read it). After your process</a:t>
            </a:r>
          </a:p>
          <a:p>
            <a:r>
              <a:rPr lang="en-US" altLang="zh-CN" dirty="0">
                <a:cs typeface="宋体" panose="02010600030101010101" pitchFamily="2" charset="-122"/>
              </a:rPr>
              <a:t>reads the row, however, other processes can change it.</a:t>
            </a:r>
          </a:p>
          <a:p>
            <a:endParaRPr lang="en-US" altLang="zh-CN" dirty="0">
              <a:cs typeface="宋体" panose="02010600030101010101" pitchFamily="2" charset="-122"/>
            </a:endParaRPr>
          </a:p>
          <a:p>
            <a:r>
              <a:rPr lang="en-US" altLang="zh-CN" dirty="0">
                <a:cs typeface="宋体" panose="02010600030101010101" pitchFamily="2" charset="-122"/>
              </a:rPr>
              <a:t>Committed reads can be useful for:</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Lookups</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Queries</a:t>
            </a:r>
          </a:p>
          <a:p>
            <a:r>
              <a:rPr lang="en-US" altLang="zh-CN" dirty="0">
                <a:latin typeface="Wingdings" panose="05000000000000000000" charset="0"/>
                <a:cs typeface="宋体" panose="02010600030101010101" pitchFamily="2" charset="-122"/>
              </a:rPr>
              <a:t>- </a:t>
            </a:r>
            <a:r>
              <a:rPr lang="en-US" altLang="zh-CN" dirty="0">
                <a:cs typeface="宋体" panose="02010600030101010101" pitchFamily="2" charset="-122"/>
              </a:rPr>
              <a:t>Reports that yield general information</a:t>
            </a:r>
          </a:p>
          <a:p>
            <a:endParaRPr lang="en-US" altLang="zh-CN" dirty="0">
              <a:cs typeface="宋体" panose="02010600030101010101" pitchFamily="2" charset="-122"/>
            </a:endParaRPr>
          </a:p>
        </p:txBody>
      </p:sp>
    </p:spTree>
    <p:extLst>
      <p:ext uri="{BB962C8B-B14F-4D97-AF65-F5344CB8AC3E}">
        <p14:creationId xmlns:p14="http://schemas.microsoft.com/office/powerpoint/2010/main" val="1043486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470D8C9-53AA-374B-B666-6428C01B9C6D}" type="slidenum">
              <a:rPr lang="zh-CN" altLang="en-US"/>
              <a:t>31</a:t>
            </a:fld>
            <a:endParaRPr lang="en-US" altLang="zh-CN"/>
          </a:p>
        </p:txBody>
      </p:sp>
      <p:sp>
        <p:nvSpPr>
          <p:cNvPr id="1006594" name="Rectangle 2"/>
          <p:cNvSpPr>
            <a:spLocks noGrp="1" noRot="1" noChangeAspect="1" noChangeArrowheads="1" noTextEdit="1"/>
          </p:cNvSpPr>
          <p:nvPr>
            <p:ph type="sldImg"/>
          </p:nvPr>
        </p:nvSpPr>
        <p:spPr/>
      </p:sp>
      <p:sp>
        <p:nvSpPr>
          <p:cNvPr id="1006595" name="Rectangle 3"/>
          <p:cNvSpPr>
            <a:spLocks noGrp="1" noChangeArrowheads="1"/>
          </p:cNvSpPr>
          <p:nvPr>
            <p:ph type="body" idx="1"/>
          </p:nvPr>
        </p:nvSpPr>
        <p:spPr/>
        <p:txBody>
          <a:bodyPr/>
          <a:lstStyle/>
          <a:p>
            <a:r>
              <a:rPr lang="en-US" altLang="zh-CN">
                <a:cs typeface="宋体" panose="02010600030101010101" pitchFamily="2" charset="-122"/>
              </a:rPr>
              <a:t>With CURSOR STABILITY, a shared lock is acquired on each row as it is read by a cursor. This shared</a:t>
            </a:r>
          </a:p>
          <a:p>
            <a:r>
              <a:rPr lang="en-US" altLang="zh-CN">
                <a:cs typeface="宋体" panose="02010600030101010101" pitchFamily="2" charset="-122"/>
              </a:rPr>
              <a:t>lock is held until the next row is retrieved. If data is retrieved by using a cursor, the shared lock is held</a:t>
            </a:r>
          </a:p>
          <a:p>
            <a:r>
              <a:rPr lang="en-US" altLang="zh-CN">
                <a:cs typeface="宋体" panose="02010600030101010101" pitchFamily="2" charset="-122"/>
              </a:rPr>
              <a:t>until the next FETCH is executed.</a:t>
            </a:r>
          </a:p>
          <a:p>
            <a:r>
              <a:rPr lang="en-US" altLang="zh-CN">
                <a:cs typeface="宋体" panose="02010600030101010101" pitchFamily="2" charset="-122"/>
              </a:rPr>
              <a:t>At this level, not only can you look at committed rows, but you are assured the row will continue to exist</a:t>
            </a:r>
          </a:p>
          <a:p>
            <a:r>
              <a:rPr lang="en-US" altLang="zh-CN">
                <a:cs typeface="宋体" panose="02010600030101010101" pitchFamily="2" charset="-122"/>
              </a:rPr>
              <a:t>while you are looking at it. No other process (UPDATE or DELETE) can change that row while you are</a:t>
            </a:r>
          </a:p>
          <a:p>
            <a:r>
              <a:rPr lang="en-US" altLang="zh-CN">
                <a:cs typeface="宋体" panose="02010600030101010101" pitchFamily="2" charset="-122"/>
              </a:rPr>
              <a:t>looking at it.</a:t>
            </a:r>
          </a:p>
          <a:p>
            <a:endParaRPr lang="en-US" altLang="zh-CN">
              <a:cs typeface="宋体" panose="02010600030101010101" pitchFamily="2" charset="-122"/>
            </a:endParaRPr>
          </a:p>
        </p:txBody>
      </p:sp>
    </p:spTree>
    <p:extLst>
      <p:ext uri="{BB962C8B-B14F-4D97-AF65-F5344CB8AC3E}">
        <p14:creationId xmlns:p14="http://schemas.microsoft.com/office/powerpoint/2010/main" val="28456602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684388C-247D-3445-9976-E0CC637B57C6}" type="slidenum">
              <a:rPr lang="zh-CN" altLang="en-US"/>
              <a:t>32</a:t>
            </a:fld>
            <a:endParaRPr lang="en-US" altLang="zh-CN"/>
          </a:p>
        </p:txBody>
      </p:sp>
      <p:sp>
        <p:nvSpPr>
          <p:cNvPr id="1059842" name="Rectangle 2"/>
          <p:cNvSpPr>
            <a:spLocks noGrp="1" noRot="1" noChangeAspect="1" noChangeArrowheads="1" noTextEdit="1"/>
          </p:cNvSpPr>
          <p:nvPr>
            <p:ph type="sldImg"/>
          </p:nvPr>
        </p:nvSpPr>
        <p:spPr/>
      </p:sp>
      <p:sp>
        <p:nvSpPr>
          <p:cNvPr id="1059843"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1005297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0E08816-EDA0-1242-BEDC-9157849407F8}" type="slidenum">
              <a:rPr lang="zh-CN" altLang="en-US"/>
              <a:t>33</a:t>
            </a:fld>
            <a:endParaRPr lang="en-US" altLang="zh-CN"/>
          </a:p>
        </p:txBody>
      </p:sp>
      <p:sp>
        <p:nvSpPr>
          <p:cNvPr id="1007618" name="Rectangle 2"/>
          <p:cNvSpPr>
            <a:spLocks noGrp="1" noRot="1" noChangeAspect="1" noChangeArrowheads="1" noTextEdit="1"/>
          </p:cNvSpPr>
          <p:nvPr>
            <p:ph type="sldImg"/>
          </p:nvPr>
        </p:nvSpPr>
        <p:spPr/>
      </p:sp>
      <p:sp>
        <p:nvSpPr>
          <p:cNvPr id="1007619"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581883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732FB82-DB62-B14C-B365-46F0A35C658F}" type="slidenum">
              <a:rPr lang="zh-CN" altLang="en-US"/>
              <a:t>34</a:t>
            </a:fld>
            <a:endParaRPr lang="en-US" altLang="zh-CN"/>
          </a:p>
        </p:txBody>
      </p:sp>
      <p:sp>
        <p:nvSpPr>
          <p:cNvPr id="1061890" name="Rectangle 2"/>
          <p:cNvSpPr>
            <a:spLocks noGrp="1" noRot="1" noChangeAspect="1" noChangeArrowheads="1" noTextEdit="1"/>
          </p:cNvSpPr>
          <p:nvPr>
            <p:ph type="sldImg"/>
          </p:nvPr>
        </p:nvSpPr>
        <p:spPr/>
      </p:sp>
      <p:sp>
        <p:nvSpPr>
          <p:cNvPr id="1061891"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9198393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4B93EA-8CAE-6A42-BDFE-279D9112BC81}" type="slidenum">
              <a:rPr lang="zh-CN" altLang="en-US"/>
              <a:t>35</a:t>
            </a:fld>
            <a:endParaRPr lang="en-US" altLang="zh-CN"/>
          </a:p>
        </p:txBody>
      </p:sp>
      <p:sp>
        <p:nvSpPr>
          <p:cNvPr id="1005570" name="Rectangle 2"/>
          <p:cNvSpPr>
            <a:spLocks noGrp="1" noRot="1" noChangeAspect="1" noChangeArrowheads="1" noTextEdit="1"/>
          </p:cNvSpPr>
          <p:nvPr>
            <p:ph type="sldImg"/>
          </p:nvPr>
        </p:nvSpPr>
        <p:spPr/>
      </p:sp>
      <p:sp>
        <p:nvSpPr>
          <p:cNvPr id="1005571" name="Rectangle 3"/>
          <p:cNvSpPr>
            <a:spLocks noGrp="1" noChangeArrowheads="1"/>
          </p:cNvSpPr>
          <p:nvPr>
            <p:ph type="body" idx="1"/>
          </p:nvPr>
        </p:nvSpPr>
        <p:spPr/>
        <p:txBody>
          <a:bodyPr/>
          <a:lstStyle/>
          <a:p>
            <a:r>
              <a:rPr lang="en-US" altLang="zh-CN" dirty="0">
                <a:cs typeface="宋体" panose="02010600030101010101" pitchFamily="2" charset="-122"/>
              </a:rPr>
              <a:t>Deadlock error in Informix: error -143 </a:t>
            </a:r>
            <a:r>
              <a:rPr lang="en-US" altLang="zh-CN" dirty="0" err="1">
                <a:cs typeface="宋体" panose="02010600030101010101" pitchFamily="2" charset="-122"/>
              </a:rPr>
              <a:t>ISAM</a:t>
            </a:r>
            <a:r>
              <a:rPr lang="en-US" altLang="zh-CN" dirty="0">
                <a:cs typeface="宋体" panose="02010600030101010101" pitchFamily="2" charset="-122"/>
              </a:rPr>
              <a:t> error: deadlock detected </a:t>
            </a:r>
          </a:p>
        </p:txBody>
      </p:sp>
    </p:spTree>
    <p:extLst>
      <p:ext uri="{BB962C8B-B14F-4D97-AF65-F5344CB8AC3E}">
        <p14:creationId xmlns:p14="http://schemas.microsoft.com/office/powerpoint/2010/main" val="29208293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D20123-1FA2-DE4A-909A-8AAEA6C9E535}" type="slidenum">
              <a:rPr lang="zh-CN" altLang="en-US"/>
              <a:t>36</a:t>
            </a:fld>
            <a:endParaRPr lang="en-US" altLang="zh-CN"/>
          </a:p>
        </p:txBody>
      </p:sp>
      <p:sp>
        <p:nvSpPr>
          <p:cNvPr id="1068034" name="Rectangle 2"/>
          <p:cNvSpPr>
            <a:spLocks noGrp="1" noRot="1" noChangeAspect="1" noChangeArrowheads="1" noTextEdit="1"/>
          </p:cNvSpPr>
          <p:nvPr>
            <p:ph type="sldImg"/>
          </p:nvPr>
        </p:nvSpPr>
        <p:spPr/>
      </p:sp>
      <p:sp>
        <p:nvSpPr>
          <p:cNvPr id="1068035"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22442760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5ADC2B8-9B36-EE44-B7CB-5DF2C3E61587}" type="slidenum">
              <a:rPr lang="zh-CN" altLang="en-US"/>
              <a:t>37</a:t>
            </a:fld>
            <a:endParaRPr lang="en-US" altLang="zh-CN"/>
          </a:p>
        </p:txBody>
      </p:sp>
      <p:sp>
        <p:nvSpPr>
          <p:cNvPr id="1065986" name="Rectangle 2"/>
          <p:cNvSpPr>
            <a:spLocks noGrp="1" noRot="1" noChangeAspect="1" noChangeArrowheads="1" noTextEdit="1"/>
          </p:cNvSpPr>
          <p:nvPr>
            <p:ph type="sldImg"/>
          </p:nvPr>
        </p:nvSpPr>
        <p:spPr/>
      </p:sp>
      <p:sp>
        <p:nvSpPr>
          <p:cNvPr id="1065987"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3765077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5ADC2B8-9B36-EE44-B7CB-5DF2C3E61587}" type="slidenum">
              <a:rPr lang="zh-CN" altLang="en-US"/>
              <a:t>38</a:t>
            </a:fld>
            <a:endParaRPr lang="en-US" altLang="zh-CN"/>
          </a:p>
        </p:txBody>
      </p:sp>
      <p:sp>
        <p:nvSpPr>
          <p:cNvPr id="1065986" name="Rectangle 2"/>
          <p:cNvSpPr>
            <a:spLocks noGrp="1" noRot="1" noChangeAspect="1" noChangeArrowheads="1" noTextEdit="1"/>
          </p:cNvSpPr>
          <p:nvPr>
            <p:ph type="sldImg"/>
          </p:nvPr>
        </p:nvSpPr>
        <p:spPr/>
      </p:sp>
      <p:sp>
        <p:nvSpPr>
          <p:cNvPr id="1065987" name="Rectangle 3"/>
          <p:cNvSpPr>
            <a:spLocks noGrp="1" noChangeArrowheads="1"/>
          </p:cNvSpPr>
          <p:nvPr>
            <p:ph type="body" idx="1"/>
          </p:nvPr>
        </p:nvSpPr>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6485360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0292568-74E5-D843-83DD-F51162628736}" type="slidenum">
              <a:rPr lang="zh-CN" altLang="en-US"/>
              <a:t>39</a:t>
            </a:fld>
            <a:endParaRPr lang="en-US" altLang="zh-CN"/>
          </a:p>
        </p:txBody>
      </p:sp>
      <p:sp>
        <p:nvSpPr>
          <p:cNvPr id="978946" name="Rectangle 2"/>
          <p:cNvSpPr>
            <a:spLocks noGrp="1" noRot="1" noChangeAspect="1" noChangeArrowheads="1" noTextEdit="1"/>
          </p:cNvSpPr>
          <p:nvPr>
            <p:ph type="sldImg"/>
          </p:nvPr>
        </p:nvSpPr>
        <p:spPr/>
      </p:sp>
      <p:sp>
        <p:nvSpPr>
          <p:cNvPr id="978947" name="Rectangle 3"/>
          <p:cNvSpPr>
            <a:spLocks noGrp="1" noChangeArrowheads="1"/>
          </p:cNvSpPr>
          <p:nvPr>
            <p:ph type="body" idx="1"/>
          </p:nvPr>
        </p:nvSpPr>
        <p:spPr>
          <a:xfrm>
            <a:off x="686456" y="4344105"/>
            <a:ext cx="5485089" cy="4113984"/>
          </a:xfrm>
        </p:spPr>
        <p:txBody>
          <a:bodyPr/>
          <a:lstStyle/>
          <a:p>
            <a:r>
              <a:rPr lang="de-DE" sz="900" b="1"/>
              <a:t>Dirty read</a:t>
            </a:r>
          </a:p>
          <a:p>
            <a:r>
              <a:rPr lang="de-DE" sz="800"/>
              <a:t>No locks are placed during reading data and no locks from other sessions will block this reader</a:t>
            </a:r>
          </a:p>
          <a:p>
            <a:endParaRPr lang="zh-CN" altLang="en-US">
              <a:cs typeface="宋体" panose="02010600030101010101" pitchFamily="2" charset="-122"/>
            </a:endParaRPr>
          </a:p>
          <a:p>
            <a:r>
              <a:rPr lang="de-DE" sz="900" b="1"/>
              <a:t>Last Committed read</a:t>
            </a:r>
          </a:p>
          <a:p>
            <a:r>
              <a:rPr lang="de-DE" sz="800"/>
              <a:t>Returns the most recently committed version of the rows, even if another concurrent session holds an exclusive lock</a:t>
            </a:r>
            <a:endParaRPr lang="de-DE" altLang="zh-CN" sz="800">
              <a:cs typeface="宋体" panose="02010600030101010101" pitchFamily="2" charset="-122"/>
            </a:endParaRPr>
          </a:p>
          <a:p>
            <a:endParaRPr lang="zh-CN" altLang="de-DE" sz="800">
              <a:cs typeface="宋体" panose="02010600030101010101" pitchFamily="2" charset="-122"/>
            </a:endParaRPr>
          </a:p>
          <a:p>
            <a:r>
              <a:rPr lang="de-DE" sz="900" b="1"/>
              <a:t>Committed read</a:t>
            </a:r>
          </a:p>
          <a:p>
            <a:r>
              <a:rPr lang="de-DE" sz="800"/>
              <a:t>Checks for locks being held by other sessions, but does not place a lock itself</a:t>
            </a:r>
          </a:p>
          <a:p>
            <a:endParaRPr lang="zh-CN" altLang="en-US" sz="800">
              <a:cs typeface="宋体" panose="02010600030101010101" pitchFamily="2" charset="-122"/>
            </a:endParaRPr>
          </a:p>
          <a:p>
            <a:r>
              <a:rPr lang="de-DE" sz="900" b="1"/>
              <a:t>Cursor stability</a:t>
            </a:r>
          </a:p>
          <a:p>
            <a:r>
              <a:rPr lang="de-DE" sz="800"/>
              <a:t>An update lock is placed on the current fetched row. It will be promoted to an exclusive lock as soon an update is executed</a:t>
            </a:r>
          </a:p>
          <a:p>
            <a:endParaRPr lang="zh-CN" altLang="en-US" sz="800">
              <a:cs typeface="宋体" panose="02010600030101010101" pitchFamily="2" charset="-122"/>
            </a:endParaRPr>
          </a:p>
          <a:p>
            <a:r>
              <a:rPr lang="de-DE" sz="900" b="1"/>
              <a:t>Repeatable read</a:t>
            </a:r>
          </a:p>
          <a:p>
            <a:r>
              <a:rPr lang="de-DE" sz="800"/>
              <a:t>A share lock is placed on every row read to make sure that this query returns the same result set if it is being re-executed in this transaction</a:t>
            </a:r>
          </a:p>
          <a:p>
            <a:endParaRPr lang="zh-CN" altLang="en-US" sz="800">
              <a:cs typeface="宋体" panose="02010600030101010101" pitchFamily="2" charset="-122"/>
            </a:endParaRPr>
          </a:p>
        </p:txBody>
      </p:sp>
    </p:spTree>
    <p:extLst>
      <p:ext uri="{BB962C8B-B14F-4D97-AF65-F5344CB8AC3E}">
        <p14:creationId xmlns:p14="http://schemas.microsoft.com/office/powerpoint/2010/main" val="28344502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A1C5FF-0A32-5340-A159-5187835CD241}" type="slidenum">
              <a:rPr lang="zh-CN" altLang="en-US"/>
              <a:t>40</a:t>
            </a:fld>
            <a:endParaRPr lang="en-US" altLang="zh-CN"/>
          </a:p>
        </p:txBody>
      </p:sp>
      <p:sp>
        <p:nvSpPr>
          <p:cNvPr id="980994" name="Rectangle 2"/>
          <p:cNvSpPr>
            <a:spLocks noGrp="1" noRot="1" noChangeAspect="1" noChangeArrowheads="1" noTextEdit="1"/>
          </p:cNvSpPr>
          <p:nvPr>
            <p:ph type="sldImg"/>
          </p:nvPr>
        </p:nvSpPr>
        <p:spPr/>
      </p:sp>
      <p:sp>
        <p:nvSpPr>
          <p:cNvPr id="980995" name="Rectangle 3"/>
          <p:cNvSpPr>
            <a:spLocks noGrp="1" noChangeArrowheads="1"/>
          </p:cNvSpPr>
          <p:nvPr>
            <p:ph type="body" idx="1"/>
          </p:nvPr>
        </p:nvSpPr>
        <p:spPr>
          <a:xfrm>
            <a:off x="686456" y="4344105"/>
            <a:ext cx="5485089" cy="4113984"/>
          </a:xfrm>
        </p:spPr>
        <p:txBody>
          <a:bodyPr/>
          <a:lstStyle/>
          <a:p>
            <a:endParaRPr lang="zh-CN" altLang="en-US" dirty="0">
              <a:cs typeface="宋体" panose="02010600030101010101" pitchFamily="2" charset="-122"/>
            </a:endParaRPr>
          </a:p>
        </p:txBody>
      </p:sp>
    </p:spTree>
    <p:extLst>
      <p:ext uri="{BB962C8B-B14F-4D97-AF65-F5344CB8AC3E}">
        <p14:creationId xmlns:p14="http://schemas.microsoft.com/office/powerpoint/2010/main" val="12170255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421C7E2-CCB4-5140-AE5C-A2CF0B1790A1}" type="slidenum">
              <a:rPr lang="zh-CN" altLang="en-US"/>
              <a:t>41</a:t>
            </a:fld>
            <a:endParaRPr lang="en-US" altLang="zh-CN"/>
          </a:p>
        </p:txBody>
      </p:sp>
      <p:sp>
        <p:nvSpPr>
          <p:cNvPr id="1078274" name="Rectangle 2"/>
          <p:cNvSpPr>
            <a:spLocks noGrp="1" noRot="1" noChangeAspect="1" noChangeArrowheads="1" noTextEdit="1"/>
          </p:cNvSpPr>
          <p:nvPr>
            <p:ph type="sldImg"/>
          </p:nvPr>
        </p:nvSpPr>
        <p:spPr/>
      </p:sp>
      <p:sp>
        <p:nvSpPr>
          <p:cNvPr id="1078275" name="Rectangle 3"/>
          <p:cNvSpPr>
            <a:spLocks noGrp="1" noChangeArrowheads="1"/>
          </p:cNvSpPr>
          <p:nvPr>
            <p:ph type="body" idx="1"/>
          </p:nvPr>
        </p:nvSpPr>
        <p:spPr/>
        <p:txBody>
          <a:bodyPr/>
          <a:lstStyle/>
          <a:p>
            <a:endParaRPr lang="zh-CN" altLang="en-US">
              <a:latin typeface="Courier" charset="0"/>
              <a:cs typeface="宋体" panose="02010600030101010101" pitchFamily="2" charset="-122"/>
            </a:endParaRPr>
          </a:p>
        </p:txBody>
      </p:sp>
    </p:spTree>
    <p:extLst>
      <p:ext uri="{BB962C8B-B14F-4D97-AF65-F5344CB8AC3E}">
        <p14:creationId xmlns:p14="http://schemas.microsoft.com/office/powerpoint/2010/main" val="21664490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0C8DC54-F057-B24F-8560-3DE6A9713F77}" type="slidenum">
              <a:rPr lang="zh-CN" altLang="en-US"/>
              <a:t>42</a:t>
            </a:fld>
            <a:endParaRPr lang="en-US" altLang="zh-CN"/>
          </a:p>
        </p:txBody>
      </p:sp>
      <p:sp>
        <p:nvSpPr>
          <p:cNvPr id="872450" name="Rectangle 2"/>
          <p:cNvSpPr>
            <a:spLocks noGrp="1" noRot="1" noChangeAspect="1" noChangeArrowheads="1" noTextEdit="1"/>
          </p:cNvSpPr>
          <p:nvPr>
            <p:ph type="sldImg"/>
          </p:nvPr>
        </p:nvSpPr>
        <p:spPr/>
      </p:sp>
      <p:sp>
        <p:nvSpPr>
          <p:cNvPr id="872451" name="Rectangle 3"/>
          <p:cNvSpPr>
            <a:spLocks noGrp="1" noChangeArrowheads="1"/>
          </p:cNvSpPr>
          <p:nvPr>
            <p:ph type="body" idx="1"/>
          </p:nvPr>
        </p:nvSpPr>
        <p:spPr/>
        <p:txBody>
          <a:bodyPr/>
          <a:lstStyle/>
          <a:p>
            <a:r>
              <a:rPr lang="en-US" altLang="zh-CN" dirty="0">
                <a:cs typeface="宋体" panose="02010600030101010101" pitchFamily="2" charset="-122"/>
              </a:rPr>
              <a:t>In some databases, when multiple users request locks on the same resources, deadlocks can occur.</a:t>
            </a:r>
          </a:p>
          <a:p>
            <a:r>
              <a:rPr lang="en-US" altLang="zh-CN" dirty="0">
                <a:cs typeface="宋体" panose="02010600030101010101" pitchFamily="2" charset="-122"/>
              </a:rPr>
              <a:t>Deadlocks are serious problems, as they can halt a major portion of the activity in a database system.</a:t>
            </a:r>
          </a:p>
          <a:p>
            <a:r>
              <a:rPr lang="en-US" altLang="zh-CN" dirty="0">
                <a:cs typeface="宋体" panose="02010600030101010101" pitchFamily="2" charset="-122"/>
              </a:rPr>
              <a:t>IBM Informix Dynamic Server has a built-in, sophisticated mechanism that detects potential deadlocks</a:t>
            </a:r>
          </a:p>
          <a:p>
            <a:r>
              <a:rPr lang="en-US" altLang="zh-CN" dirty="0">
                <a:cs typeface="宋体" panose="02010600030101010101" pitchFamily="2" charset="-122"/>
              </a:rPr>
              <a:t>and prevents them from happening. To prevent local deadlocks from occurring, the database server</a:t>
            </a:r>
          </a:p>
          <a:p>
            <a:r>
              <a:rPr lang="en-US" altLang="zh-CN" dirty="0">
                <a:cs typeface="宋体" panose="02010600030101010101" pitchFamily="2" charset="-122"/>
              </a:rPr>
              <a:t>maintains a list of locks for every user on the system. Before a lock is granted, the lock list for each user</a:t>
            </a:r>
          </a:p>
          <a:p>
            <a:r>
              <a:rPr lang="en-US" altLang="zh-CN" dirty="0">
                <a:cs typeface="宋体" panose="02010600030101010101" pitchFamily="2" charset="-122"/>
              </a:rPr>
              <a:t>is examined. If a lock is currently held on the resource that the process requests to lock, the owner of</a:t>
            </a:r>
          </a:p>
          <a:p>
            <a:r>
              <a:rPr lang="en-US" altLang="zh-CN" dirty="0">
                <a:cs typeface="宋体" panose="02010600030101010101" pitchFamily="2" charset="-122"/>
              </a:rPr>
              <a:t>that lock is identified and their lock list is traversed to see if waits on any locks are held by the user who</a:t>
            </a:r>
          </a:p>
          <a:p>
            <a:r>
              <a:rPr lang="en-US" altLang="zh-CN" dirty="0">
                <a:cs typeface="宋体" panose="02010600030101010101" pitchFamily="2" charset="-122"/>
              </a:rPr>
              <a:t>wants the new lock. If so, the deadlock is detected at that point and an error message is returned to the</a:t>
            </a:r>
          </a:p>
          <a:p>
            <a:r>
              <a:rPr lang="en-US" altLang="zh-CN" dirty="0">
                <a:cs typeface="宋体" panose="02010600030101010101" pitchFamily="2" charset="-122"/>
              </a:rPr>
              <a:t>user who requested the lock.</a:t>
            </a:r>
          </a:p>
          <a:p>
            <a:r>
              <a:rPr lang="en-US" altLang="zh-CN" dirty="0">
                <a:cs typeface="宋体" panose="02010600030101010101" pitchFamily="2" charset="-122"/>
              </a:rPr>
              <a:t>The </a:t>
            </a:r>
            <a:r>
              <a:rPr lang="en-US" altLang="zh-CN" dirty="0" err="1">
                <a:cs typeface="宋体" panose="02010600030101010101" pitchFamily="2" charset="-122"/>
              </a:rPr>
              <a:t>ISAM</a:t>
            </a:r>
            <a:r>
              <a:rPr lang="en-US" altLang="zh-CN" dirty="0">
                <a:cs typeface="宋体" panose="02010600030101010101" pitchFamily="2" charset="-122"/>
              </a:rPr>
              <a:t> error code returned is:</a:t>
            </a:r>
          </a:p>
          <a:p>
            <a:r>
              <a:rPr lang="en-US" altLang="zh-CN" dirty="0">
                <a:latin typeface="Courier" charset="0"/>
                <a:cs typeface="宋体" panose="02010600030101010101" pitchFamily="2" charset="-122"/>
              </a:rPr>
              <a:t>-143 </a:t>
            </a:r>
            <a:r>
              <a:rPr lang="en-US" altLang="zh-CN" dirty="0" err="1">
                <a:latin typeface="Courier" charset="0"/>
                <a:cs typeface="宋体" panose="02010600030101010101" pitchFamily="2" charset="-122"/>
              </a:rPr>
              <a:t>ISAM</a:t>
            </a:r>
            <a:r>
              <a:rPr lang="en-US" altLang="zh-CN" dirty="0">
                <a:latin typeface="Courier" charset="0"/>
                <a:cs typeface="宋体" panose="02010600030101010101" pitchFamily="2" charset="-122"/>
              </a:rPr>
              <a:t> error: deadlock detected</a:t>
            </a:r>
          </a:p>
        </p:txBody>
      </p:sp>
    </p:spTree>
    <p:extLst>
      <p:ext uri="{BB962C8B-B14F-4D97-AF65-F5344CB8AC3E}">
        <p14:creationId xmlns:p14="http://schemas.microsoft.com/office/powerpoint/2010/main" val="22874847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62CB887-E758-D44A-BEE0-928E88696783}" type="slidenum">
              <a:rPr lang="zh-CN" altLang="en-US"/>
              <a:t>43</a:t>
            </a:fld>
            <a:endParaRPr lang="en-US" altLang="zh-CN"/>
          </a:p>
        </p:txBody>
      </p:sp>
      <p:sp>
        <p:nvSpPr>
          <p:cNvPr id="736258" name="Rectangle 2"/>
          <p:cNvSpPr>
            <a:spLocks noGrp="1" noRot="1" noChangeAspect="1" noChangeArrowheads="1" noTextEdit="1"/>
          </p:cNvSpPr>
          <p:nvPr>
            <p:ph type="sldImg"/>
          </p:nvPr>
        </p:nvSpPr>
        <p:spPr/>
      </p:sp>
      <p:sp>
        <p:nvSpPr>
          <p:cNvPr id="736259" name="Rectangle 3"/>
          <p:cNvSpPr>
            <a:spLocks noGrp="1" noChangeArrowheads="1"/>
          </p:cNvSpPr>
          <p:nvPr>
            <p:ph type="body" idx="1"/>
          </p:nvPr>
        </p:nvSpPr>
        <p:spPr>
          <a:xfrm>
            <a:off x="686456" y="4344105"/>
            <a:ext cx="5485089" cy="4113984"/>
          </a:xfrm>
        </p:spPr>
        <p:txBody>
          <a:bodyPr/>
          <a:lstStyle/>
          <a:p>
            <a:endParaRPr lang="zh-CN" altLang="en-US">
              <a:cs typeface="宋体" panose="02010600030101010101" pitchFamily="2" charset="-122"/>
            </a:endParaRPr>
          </a:p>
        </p:txBody>
      </p:sp>
    </p:spTree>
    <p:extLst>
      <p:ext uri="{BB962C8B-B14F-4D97-AF65-F5344CB8AC3E}">
        <p14:creationId xmlns:p14="http://schemas.microsoft.com/office/powerpoint/2010/main" val="14567548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FE2E4FC-DFBA-3B4B-B00A-EACAECF2FAFA}" type="slidenum">
              <a:rPr lang="zh-CN" altLang="en-US"/>
              <a:t>45</a:t>
            </a:fld>
            <a:endParaRPr lang="en-US" altLang="zh-CN"/>
          </a:p>
        </p:txBody>
      </p:sp>
      <p:sp>
        <p:nvSpPr>
          <p:cNvPr id="1094658" name="Rectangle 2"/>
          <p:cNvSpPr>
            <a:spLocks noGrp="1" noRot="1" noChangeAspect="1" noChangeArrowheads="1" noTextEdit="1"/>
          </p:cNvSpPr>
          <p:nvPr>
            <p:ph type="sldImg"/>
          </p:nvPr>
        </p:nvSpPr>
        <p:spPr/>
      </p:sp>
      <p:sp>
        <p:nvSpPr>
          <p:cNvPr id="1094659" name="Rectangle 3"/>
          <p:cNvSpPr>
            <a:spLocks noGrp="1" noChangeArrowheads="1"/>
          </p:cNvSpPr>
          <p:nvPr>
            <p:ph type="body" idx="1"/>
          </p:nvPr>
        </p:nvSpPr>
        <p:spPr/>
        <p:txBody>
          <a:bodyPr/>
          <a:lstStyle/>
          <a:p>
            <a:r>
              <a:rPr lang="en-US" altLang="zh-CN">
                <a:cs typeface="宋体" panose="02010600030101010101" pitchFamily="2" charset="-122"/>
              </a:rPr>
              <a:t>Session 1</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 update test_lock set c2 ='qwer' where c1=1;</a:t>
            </a:r>
          </a:p>
          <a:p>
            <a:r>
              <a:rPr lang="en-US" altLang="zh-CN">
                <a:cs typeface="宋体" panose="02010600030101010101" pitchFamily="2" charset="-122"/>
              </a:rPr>
              <a:t>--commit work;</a:t>
            </a:r>
          </a:p>
          <a:p>
            <a:r>
              <a:rPr lang="en-US" altLang="zh-CN">
                <a:cs typeface="宋体" panose="02010600030101010101" pitchFamily="2" charset="-122"/>
              </a:rPr>
              <a:t>--------------------------------</a:t>
            </a:r>
          </a:p>
          <a:p>
            <a:r>
              <a:rPr lang="en-US" altLang="zh-CN">
                <a:cs typeface="宋体" panose="02010600030101010101" pitchFamily="2" charset="-122"/>
              </a:rPr>
              <a:t>Session 2</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set isolation committed read;</a:t>
            </a:r>
          </a:p>
          <a:p>
            <a:r>
              <a:rPr lang="en-US" altLang="zh-CN">
                <a:cs typeface="宋体" panose="02010600030101010101" pitchFamily="2" charset="-122"/>
              </a:rPr>
              <a:t>select * from test_lock;</a:t>
            </a:r>
          </a:p>
          <a:p>
            <a:r>
              <a:rPr lang="en-US" altLang="zh-CN">
                <a:cs typeface="宋体" panose="02010600030101010101" pitchFamily="2" charset="-122"/>
              </a:rPr>
              <a:t>commit work;</a:t>
            </a:r>
          </a:p>
          <a:p>
            <a:endParaRPr lang="en-US" altLang="zh-CN">
              <a:cs typeface="宋体" panose="02010600030101010101" pitchFamily="2" charset="-122"/>
            </a:endParaRPr>
          </a:p>
          <a:p>
            <a:endParaRPr lang="zh-CN" altLang="en-US">
              <a:cs typeface="宋体" panose="02010600030101010101" pitchFamily="2" charset="-122"/>
            </a:endParaRPr>
          </a:p>
        </p:txBody>
      </p:sp>
    </p:spTree>
    <p:extLst>
      <p:ext uri="{BB962C8B-B14F-4D97-AF65-F5344CB8AC3E}">
        <p14:creationId xmlns:p14="http://schemas.microsoft.com/office/powerpoint/2010/main" val="6643559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113FEE7-E239-4DC1-B4E9-796E72231CDE}" type="slidenum">
              <a:rPr lang="en-US" altLang="zh-CN" smtClean="0"/>
              <a:t>46</a:t>
            </a:fld>
            <a:endParaRPr lang="en-US" altLang="zh-CN"/>
          </a:p>
        </p:txBody>
      </p:sp>
    </p:spTree>
    <p:extLst>
      <p:ext uri="{BB962C8B-B14F-4D97-AF65-F5344CB8AC3E}">
        <p14:creationId xmlns:p14="http://schemas.microsoft.com/office/powerpoint/2010/main" val="14541603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90BD9D1-8047-4045-8F88-50DD1A88E3E6}" type="slidenum">
              <a:rPr lang="zh-CN" altLang="en-US"/>
              <a:t>54</a:t>
            </a:fld>
            <a:endParaRPr lang="en-US" altLang="zh-CN"/>
          </a:p>
        </p:txBody>
      </p:sp>
      <p:sp>
        <p:nvSpPr>
          <p:cNvPr id="1082370" name="Rectangle 2"/>
          <p:cNvSpPr>
            <a:spLocks noGrp="1" noRot="1" noChangeAspect="1" noChangeArrowheads="1" noTextEdit="1"/>
          </p:cNvSpPr>
          <p:nvPr>
            <p:ph type="sldImg"/>
          </p:nvPr>
        </p:nvSpPr>
        <p:spPr/>
      </p:sp>
      <p:sp>
        <p:nvSpPr>
          <p:cNvPr id="1082371" name="Rectangle 3"/>
          <p:cNvSpPr>
            <a:spLocks noGrp="1" noChangeArrowheads="1"/>
          </p:cNvSpPr>
          <p:nvPr>
            <p:ph type="body" idx="1"/>
          </p:nvPr>
        </p:nvSpPr>
        <p:spPr/>
        <p:txBody>
          <a:bodyPr/>
          <a:lstStyle/>
          <a:p>
            <a:endParaRPr lang="zh-CN" altLang="en-US">
              <a:latin typeface="Courier" charset="0"/>
              <a:cs typeface="宋体" panose="02010600030101010101" pitchFamily="2" charset="-122"/>
            </a:endParaRPr>
          </a:p>
        </p:txBody>
      </p:sp>
    </p:spTree>
    <p:extLst>
      <p:ext uri="{BB962C8B-B14F-4D97-AF65-F5344CB8AC3E}">
        <p14:creationId xmlns:p14="http://schemas.microsoft.com/office/powerpoint/2010/main" val="32926326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5D93504-780F-5B43-8C83-DEA46A66AD98}" type="slidenum">
              <a:rPr lang="zh-CN" altLang="en-US"/>
              <a:t>55</a:t>
            </a:fld>
            <a:endParaRPr lang="en-US" altLang="zh-CN"/>
          </a:p>
        </p:txBody>
      </p:sp>
      <p:sp>
        <p:nvSpPr>
          <p:cNvPr id="1092610" name="Rectangle 2"/>
          <p:cNvSpPr>
            <a:spLocks noGrp="1" noRot="1" noChangeAspect="1" noChangeArrowheads="1" noTextEdit="1"/>
          </p:cNvSpPr>
          <p:nvPr>
            <p:ph type="sldImg"/>
          </p:nvPr>
        </p:nvSpPr>
        <p:spPr/>
      </p:sp>
      <p:sp>
        <p:nvSpPr>
          <p:cNvPr id="1092611" name="Rectangle 3"/>
          <p:cNvSpPr>
            <a:spLocks noGrp="1" noChangeArrowheads="1"/>
          </p:cNvSpPr>
          <p:nvPr>
            <p:ph type="body" idx="1"/>
          </p:nvPr>
        </p:nvSpPr>
        <p:spPr/>
        <p:txBody>
          <a:bodyPr/>
          <a:lstStyle/>
          <a:p>
            <a:r>
              <a:rPr lang="en-US" altLang="zh-CN">
                <a:cs typeface="宋体" panose="02010600030101010101" pitchFamily="2" charset="-122"/>
              </a:rPr>
              <a:t>create table test_lock(c1 integer,c2 char(12));</a:t>
            </a:r>
          </a:p>
          <a:p>
            <a:r>
              <a:rPr lang="en-US" altLang="zh-CN">
                <a:cs typeface="宋体" panose="02010600030101010101" pitchFamily="2" charset="-122"/>
              </a:rPr>
              <a:t>insert into test_lock values(1,'abc');</a:t>
            </a:r>
          </a:p>
          <a:p>
            <a:r>
              <a:rPr lang="en-US" altLang="zh-CN">
                <a:cs typeface="宋体" panose="02010600030101010101" pitchFamily="2" charset="-122"/>
              </a:rPr>
              <a:t>insert into test_lock values(2,'def');</a:t>
            </a:r>
          </a:p>
          <a:p>
            <a:r>
              <a:rPr lang="en-US" altLang="zh-CN">
                <a:cs typeface="宋体" panose="02010600030101010101" pitchFamily="2" charset="-122"/>
              </a:rPr>
              <a:t>alter table test_lock lock mode (row);</a:t>
            </a:r>
          </a:p>
          <a:p>
            <a:r>
              <a:rPr lang="en-US" altLang="zh-CN">
                <a:cs typeface="宋体" panose="02010600030101010101" pitchFamily="2" charset="-122"/>
              </a:rPr>
              <a:t>--------------------------------</a:t>
            </a:r>
          </a:p>
          <a:p>
            <a:r>
              <a:rPr lang="en-US" altLang="zh-CN">
                <a:cs typeface="宋体" panose="02010600030101010101" pitchFamily="2" charset="-122"/>
              </a:rPr>
              <a:t>Session 1</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 update test_lock set c2 ='qwer' where c1=1;</a:t>
            </a:r>
          </a:p>
          <a:p>
            <a:r>
              <a:rPr lang="en-US" altLang="zh-CN">
                <a:cs typeface="宋体" panose="02010600030101010101" pitchFamily="2" charset="-122"/>
              </a:rPr>
              <a:t>--commit work;</a:t>
            </a:r>
          </a:p>
          <a:p>
            <a:r>
              <a:rPr lang="en-US" altLang="zh-CN">
                <a:cs typeface="宋体" panose="02010600030101010101" pitchFamily="2" charset="-122"/>
              </a:rPr>
              <a:t>--------------------------------</a:t>
            </a:r>
          </a:p>
          <a:p>
            <a:r>
              <a:rPr lang="en-US" altLang="zh-CN">
                <a:cs typeface="宋体" panose="02010600030101010101" pitchFamily="2" charset="-122"/>
              </a:rPr>
              <a:t>Session 2</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set isolation committed read;</a:t>
            </a:r>
          </a:p>
          <a:p>
            <a:r>
              <a:rPr lang="en-US" altLang="zh-CN">
                <a:cs typeface="宋体" panose="02010600030101010101" pitchFamily="2" charset="-122"/>
              </a:rPr>
              <a:t>select * from test_lock;</a:t>
            </a:r>
          </a:p>
          <a:p>
            <a:r>
              <a:rPr lang="en-US" altLang="zh-CN">
                <a:cs typeface="宋体" panose="02010600030101010101" pitchFamily="2" charset="-122"/>
              </a:rPr>
              <a:t>commit work;</a:t>
            </a:r>
          </a:p>
          <a:p>
            <a:endParaRPr lang="en-US" altLang="zh-CN">
              <a:cs typeface="宋体" panose="02010600030101010101" pitchFamily="2" charset="-122"/>
            </a:endParaRPr>
          </a:p>
        </p:txBody>
      </p:sp>
    </p:spTree>
    <p:extLst>
      <p:ext uri="{BB962C8B-B14F-4D97-AF65-F5344CB8AC3E}">
        <p14:creationId xmlns:p14="http://schemas.microsoft.com/office/powerpoint/2010/main" val="29244253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5D93504-780F-5B43-8C83-DEA46A66AD98}" type="slidenum">
              <a:rPr lang="zh-CN" altLang="en-US"/>
              <a:t>56</a:t>
            </a:fld>
            <a:endParaRPr lang="en-US" altLang="zh-CN"/>
          </a:p>
        </p:txBody>
      </p:sp>
      <p:sp>
        <p:nvSpPr>
          <p:cNvPr id="1092610" name="Rectangle 2"/>
          <p:cNvSpPr>
            <a:spLocks noGrp="1" noRot="1" noChangeAspect="1" noChangeArrowheads="1" noTextEdit="1"/>
          </p:cNvSpPr>
          <p:nvPr>
            <p:ph type="sldImg"/>
          </p:nvPr>
        </p:nvSpPr>
        <p:spPr/>
      </p:sp>
      <p:sp>
        <p:nvSpPr>
          <p:cNvPr id="1092611" name="Rectangle 3"/>
          <p:cNvSpPr>
            <a:spLocks noGrp="1" noChangeArrowheads="1"/>
          </p:cNvSpPr>
          <p:nvPr>
            <p:ph type="body" idx="1"/>
          </p:nvPr>
        </p:nvSpPr>
        <p:spPr/>
        <p:txBody>
          <a:bodyPr/>
          <a:lstStyle/>
          <a:p>
            <a:r>
              <a:rPr lang="en-US" altLang="zh-CN">
                <a:cs typeface="宋体" panose="02010600030101010101" pitchFamily="2" charset="-122"/>
              </a:rPr>
              <a:t>create table test_lock(c1 integer,c2 char(12));</a:t>
            </a:r>
          </a:p>
          <a:p>
            <a:r>
              <a:rPr lang="en-US" altLang="zh-CN">
                <a:cs typeface="宋体" panose="02010600030101010101" pitchFamily="2" charset="-122"/>
              </a:rPr>
              <a:t>insert into test_lock values(1,'abc');</a:t>
            </a:r>
          </a:p>
          <a:p>
            <a:r>
              <a:rPr lang="en-US" altLang="zh-CN">
                <a:cs typeface="宋体" panose="02010600030101010101" pitchFamily="2" charset="-122"/>
              </a:rPr>
              <a:t>insert into test_lock values(2,'def');</a:t>
            </a:r>
          </a:p>
          <a:p>
            <a:r>
              <a:rPr lang="en-US" altLang="zh-CN">
                <a:cs typeface="宋体" panose="02010600030101010101" pitchFamily="2" charset="-122"/>
              </a:rPr>
              <a:t>alter table test_lock lock mode (row);</a:t>
            </a:r>
          </a:p>
          <a:p>
            <a:r>
              <a:rPr lang="en-US" altLang="zh-CN">
                <a:cs typeface="宋体" panose="02010600030101010101" pitchFamily="2" charset="-122"/>
              </a:rPr>
              <a:t>--------------------------------</a:t>
            </a:r>
          </a:p>
          <a:p>
            <a:r>
              <a:rPr lang="en-US" altLang="zh-CN">
                <a:cs typeface="宋体" panose="02010600030101010101" pitchFamily="2" charset="-122"/>
              </a:rPr>
              <a:t>Session 1</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 update test_lock set c2 ='qwer' where c1=1;</a:t>
            </a:r>
          </a:p>
          <a:p>
            <a:r>
              <a:rPr lang="en-US" altLang="zh-CN">
                <a:cs typeface="宋体" panose="02010600030101010101" pitchFamily="2" charset="-122"/>
              </a:rPr>
              <a:t>--commit work;</a:t>
            </a:r>
          </a:p>
          <a:p>
            <a:r>
              <a:rPr lang="en-US" altLang="zh-CN">
                <a:cs typeface="宋体" panose="02010600030101010101" pitchFamily="2" charset="-122"/>
              </a:rPr>
              <a:t>--------------------------------</a:t>
            </a:r>
          </a:p>
          <a:p>
            <a:r>
              <a:rPr lang="en-US" altLang="zh-CN">
                <a:cs typeface="宋体" panose="02010600030101010101" pitchFamily="2" charset="-122"/>
              </a:rPr>
              <a:t>Session 2</a:t>
            </a:r>
          </a:p>
          <a:p>
            <a:r>
              <a:rPr lang="en-US" altLang="zh-CN">
                <a:cs typeface="宋体" panose="02010600030101010101" pitchFamily="2" charset="-122"/>
              </a:rPr>
              <a:t>----------------------------------------------</a:t>
            </a:r>
          </a:p>
          <a:p>
            <a:r>
              <a:rPr lang="en-US" altLang="zh-CN">
                <a:cs typeface="宋体" panose="02010600030101010101" pitchFamily="2" charset="-122"/>
              </a:rPr>
              <a:t>begin work;</a:t>
            </a:r>
          </a:p>
          <a:p>
            <a:r>
              <a:rPr lang="en-US" altLang="zh-CN">
                <a:cs typeface="宋体" panose="02010600030101010101" pitchFamily="2" charset="-122"/>
              </a:rPr>
              <a:t>set isolation committed read;</a:t>
            </a:r>
          </a:p>
          <a:p>
            <a:r>
              <a:rPr lang="en-US" altLang="zh-CN">
                <a:cs typeface="宋体" panose="02010600030101010101" pitchFamily="2" charset="-122"/>
              </a:rPr>
              <a:t>select * from test_lock;</a:t>
            </a:r>
          </a:p>
          <a:p>
            <a:r>
              <a:rPr lang="en-US" altLang="zh-CN">
                <a:cs typeface="宋体" panose="02010600030101010101" pitchFamily="2" charset="-122"/>
              </a:rPr>
              <a:t>commit work;</a:t>
            </a:r>
          </a:p>
          <a:p>
            <a:endParaRPr lang="en-US" altLang="zh-CN">
              <a:cs typeface="宋体" panose="02010600030101010101" pitchFamily="2" charset="-122"/>
            </a:endParaRPr>
          </a:p>
        </p:txBody>
      </p:sp>
    </p:spTree>
    <p:extLst>
      <p:ext uri="{BB962C8B-B14F-4D97-AF65-F5344CB8AC3E}">
        <p14:creationId xmlns:p14="http://schemas.microsoft.com/office/powerpoint/2010/main" val="322359272"/>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4" name="TextBox 3"/>
          <p:cNvSpPr txBox="1"/>
          <p:nvPr userDrawn="1"/>
        </p:nvSpPr>
        <p:spPr bwMode="auto">
          <a:xfrm>
            <a:off x="2681154" y="6533909"/>
            <a:ext cx="494045"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r>
              <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theme/theme1.xml" Type="http://schemas.openxmlformats.org/officeDocument/2006/relationships/theme"/><Relationship Id="rId6"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p:nvPicPr>
        <p:blipFill>
          <a:blip r:embed="rId6"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timing>
    <p:tnLst>
      <p:par>
        <p:cTn id="1" dur="indefinite" restart="never" nodeType="tmRoot"/>
      </p:par>
    </p:tnLst>
  </p:timing>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 Id="rId3" Target="../media/image1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8.xml" Type="http://schemas.openxmlformats.org/officeDocument/2006/relationships/notesSlide"/><Relationship Id="rId3" Target="../media/image1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0.xml" Type="http://schemas.openxmlformats.org/officeDocument/2006/relationships/notesSlide"/><Relationship Id="rId3" Target="../media/image1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2.xml" Type="http://schemas.openxmlformats.org/officeDocument/2006/relationships/notesSlide"/><Relationship Id="rId3" Target="../media/image1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4.xml" Type="http://schemas.openxmlformats.org/officeDocument/2006/relationships/notesSlide"/><Relationship Id="rId3" Target="../media/image1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6.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7.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3.xml" Type="http://schemas.openxmlformats.org/officeDocument/2006/relationships/notesSlide"/><Relationship Id="rId3" Target="../media/image1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5.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46.xml" Type="http://schemas.openxmlformats.org/officeDocument/2006/relationships/notesSlide"/></Relationships>
</file>

<file path=ppt/slides/_rels/slide4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7.xml" Type="http://schemas.openxmlformats.org/officeDocument/2006/relationships/notesSlide"/></Relationships>
</file>

<file path=ppt/slides/_rels/slide5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8.xml" Type="http://schemas.openxmlformats.org/officeDocument/2006/relationships/notesSlide"/></Relationships>
</file>

<file path=ppt/slides/_rels/slide5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9.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4.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xmlns="" id="{08B61847-5F4F-4BC3-8C92-68647D2DF2E2}"/>
              </a:ext>
            </a:extLst>
          </p:cNvPr>
          <p:cNvSpPr>
            <a:spLocks noGrp="1"/>
          </p:cNvSpPr>
          <p:nvPr>
            <p:ph type="title"/>
          </p:nvPr>
        </p:nvSpPr>
        <p:spPr/>
        <p:txBody>
          <a:bodyPr/>
          <a:lstStyle/>
          <a:p>
            <a:r>
              <a:rPr lang="en-US" altLang="zh-CN" kern="0" dirty="0" err="1"/>
              <a:t>GBase</a:t>
            </a:r>
            <a:r>
              <a:rPr lang="en-US" altLang="zh-CN" kern="0" dirty="0"/>
              <a:t> 8s</a:t>
            </a:r>
            <a:r>
              <a:rPr lang="zh-CN" altLang="en-US" kern="0" dirty="0"/>
              <a:t>数据库锁与隔离级别</a:t>
            </a:r>
            <a:br>
              <a:rPr lang="zh-CN" altLang="en-US" kern="0" dirty="0"/>
            </a:br>
            <a:endParaRPr lang="zh-CN" altLang="en-US" dirty="0"/>
          </a:p>
        </p:txBody>
      </p:sp>
    </p:spTree>
    <p:extLst>
      <p:ext uri="{BB962C8B-B14F-4D97-AF65-F5344CB8AC3E}">
        <p14:creationId xmlns:p14="http://schemas.microsoft.com/office/powerpoint/2010/main" val="37996520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zh-CN" altLang="en-US" dirty="0">
                <a:cs typeface="宋体" panose="02010600030101010101" pitchFamily="2" charset="-122"/>
              </a:rPr>
              <a:t>目标</a:t>
            </a:r>
            <a:endParaRPr lang="en-US" altLang="zh-CN" dirty="0">
              <a:cs typeface="宋体" panose="02010600030101010101" pitchFamily="2" charset="-122"/>
            </a:endParaRPr>
          </a:p>
        </p:txBody>
      </p:sp>
      <p:sp>
        <p:nvSpPr>
          <p:cNvPr id="5123" name="Rectangle 3"/>
          <p:cNvSpPr>
            <a:spLocks noGrp="1" noChangeArrowheads="1"/>
          </p:cNvSpPr>
          <p:nvPr>
            <p:ph type="body" sz="quarter" idx="10"/>
          </p:nvPr>
        </p:nvSpPr>
        <p:spPr/>
        <p:txBody>
          <a:bodyPr>
            <a:normAutofit fontScale="92500" lnSpcReduction="20000"/>
          </a:bodyPr>
          <a:lstStyle/>
          <a:p>
            <a:pPr>
              <a:lnSpc>
                <a:spcPct val="170000"/>
              </a:lnSpc>
            </a:pPr>
            <a:r>
              <a:rPr lang="zh-CN" altLang="en-US" dirty="0">
                <a:cs typeface="宋体" panose="02010600030101010101" pitchFamily="2" charset="-122"/>
              </a:rPr>
              <a:t>理解为什么我们需要并发控制机制</a:t>
            </a:r>
            <a:endParaRPr lang="en-US" altLang="zh-CN" dirty="0">
              <a:cs typeface="宋体" panose="02010600030101010101" pitchFamily="2" charset="-122"/>
            </a:endParaRPr>
          </a:p>
          <a:p>
            <a:pPr>
              <a:lnSpc>
                <a:spcPct val="170000"/>
              </a:lnSpc>
            </a:pPr>
            <a:r>
              <a:rPr lang="zh-CN" altLang="en-US" dirty="0">
                <a:cs typeface="宋体" panose="02010600030101010101" pitchFamily="2" charset="-122"/>
              </a:rPr>
              <a:t>理解锁及锁的类型</a:t>
            </a:r>
            <a:endParaRPr lang="en-US" altLang="zh-CN" dirty="0">
              <a:cs typeface="宋体" panose="02010600030101010101" pitchFamily="2" charset="-122"/>
            </a:endParaRPr>
          </a:p>
          <a:p>
            <a:pPr>
              <a:lnSpc>
                <a:spcPct val="170000"/>
              </a:lnSpc>
            </a:pPr>
            <a:r>
              <a:rPr lang="zh-CN" altLang="en-US" dirty="0">
                <a:cs typeface="宋体" panose="02010600030101010101" pitchFamily="2" charset="-122"/>
              </a:rPr>
              <a:t>理解锁对性能的影响</a:t>
            </a:r>
            <a:endParaRPr lang="en-US" altLang="zh-CN" dirty="0">
              <a:cs typeface="宋体" panose="02010600030101010101" pitchFamily="2" charset="-122"/>
            </a:endParaRPr>
          </a:p>
          <a:p>
            <a:pPr>
              <a:lnSpc>
                <a:spcPct val="170000"/>
              </a:lnSpc>
            </a:pPr>
            <a:r>
              <a:rPr lang="zh-CN" altLang="en-US" dirty="0">
                <a:cs typeface="宋体" panose="02010600030101010101" pitchFamily="2" charset="-122"/>
              </a:rPr>
              <a:t>理解各种隔离级别（ </a:t>
            </a:r>
            <a:r>
              <a:rPr lang="en-US" altLang="zh-CN" dirty="0">
                <a:cs typeface="宋体" panose="02010600030101010101" pitchFamily="2" charset="-122"/>
              </a:rPr>
              <a:t>Isolation Levels</a:t>
            </a:r>
            <a:r>
              <a:rPr lang="zh-CN" altLang="en-US" dirty="0">
                <a:cs typeface="宋体" panose="02010600030101010101" pitchFamily="2" charset="-122"/>
              </a:rPr>
              <a:t>）</a:t>
            </a:r>
            <a:endParaRPr lang="en-US" altLang="zh-CN" dirty="0">
              <a:cs typeface="宋体" panose="02010600030101010101" pitchFamily="2" charset="-122"/>
            </a:endParaRPr>
          </a:p>
          <a:p>
            <a:pPr>
              <a:lnSpc>
                <a:spcPct val="170000"/>
              </a:lnSpc>
            </a:pPr>
            <a:r>
              <a:rPr lang="zh-CN" altLang="en-US" dirty="0">
                <a:cs typeface="宋体" panose="02010600030101010101" pitchFamily="2" charset="-122"/>
              </a:rPr>
              <a:t>理解调整锁机制的原则</a:t>
            </a:r>
            <a:r>
              <a:rPr lang="en-US" altLang="zh-CN" dirty="0">
                <a:cs typeface="宋体" panose="02010600030101010101" pitchFamily="2" charset="-122"/>
              </a:rPr>
              <a:t>:</a:t>
            </a:r>
          </a:p>
          <a:p>
            <a:pPr>
              <a:lnSpc>
                <a:spcPct val="170000"/>
              </a:lnSpc>
            </a:pPr>
            <a:r>
              <a:rPr lang="zh-CN" altLang="en-US" dirty="0">
                <a:cs typeface="宋体" panose="02010600030101010101" pitchFamily="2" charset="-122"/>
              </a:rPr>
              <a:t>掌握定义</a:t>
            </a:r>
            <a:r>
              <a:rPr lang="en-US" altLang="zh-CN" dirty="0" err="1">
                <a:cs typeface="宋体" panose="02010600030101010101" pitchFamily="2" charset="-122"/>
              </a:rPr>
              <a:t>onconfig</a:t>
            </a:r>
            <a:r>
              <a:rPr lang="zh-CN" altLang="en-US" dirty="0">
                <a:cs typeface="宋体" panose="02010600030101010101" pitchFamily="2" charset="-122"/>
              </a:rPr>
              <a:t>文件中锁相关的参数</a:t>
            </a:r>
            <a:endParaRPr lang="en-US" altLang="zh-CN" dirty="0">
              <a:cs typeface="宋体" panose="02010600030101010101" pitchFamily="2" charset="-122"/>
            </a:endParaRPr>
          </a:p>
          <a:p>
            <a:pPr>
              <a:lnSpc>
                <a:spcPct val="170000"/>
              </a:lnSpc>
            </a:pPr>
            <a:r>
              <a:rPr lang="zh-CN" altLang="en-US" dirty="0">
                <a:cs typeface="宋体" panose="02010600030101010101" pitchFamily="2" charset="-122"/>
              </a:rPr>
              <a:t>能够解决锁相关的一些潜在问题</a:t>
            </a:r>
            <a:r>
              <a:rPr lang="en-US" altLang="zh-CN" dirty="0">
                <a:cs typeface="宋体" panose="02010600030101010101" pitchFamily="2" charset="-122"/>
              </a:rPr>
              <a:t/>
            </a:r>
            <a:br>
              <a:rPr lang="en-US" altLang="zh-CN" dirty="0">
                <a:cs typeface="宋体" panose="02010600030101010101" pitchFamily="2" charset="-122"/>
              </a:rPr>
            </a:br>
            <a:r>
              <a:rPr lang="zh-CN" altLang="en-US" dirty="0">
                <a:cs typeface="宋体" panose="02010600030101010101" pitchFamily="2" charset="-122"/>
              </a:rPr>
              <a:t>（脏读、幻影读、不可重复读和死锁）</a:t>
            </a:r>
            <a:endParaRPr lang="en-US" altLang="zh-CN" dirty="0">
              <a:cs typeface="宋体" panose="02010600030101010101" pitchFamily="2" charset="-122"/>
            </a:endParaRPr>
          </a:p>
        </p:txBody>
      </p:sp>
    </p:spTree>
    <p:extLst>
      <p:ext uri="{BB962C8B-B14F-4D97-AF65-F5344CB8AC3E}">
        <p14:creationId xmlns:p14="http://schemas.microsoft.com/office/powerpoint/2010/main" val="35350019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6" name="Rectangle 4"/>
          <p:cNvSpPr>
            <a:spLocks noGrp="1" noChangeArrowheads="1"/>
          </p:cNvSpPr>
          <p:nvPr>
            <p:ph type="title"/>
          </p:nvPr>
        </p:nvSpPr>
        <p:spPr/>
        <p:txBody>
          <a:bodyPr/>
          <a:lstStyle/>
          <a:p>
            <a:r>
              <a:rPr lang="zh-CN" altLang="en-US" dirty="0">
                <a:cs typeface="宋体" panose="02010600030101010101" pitchFamily="2" charset="-122"/>
              </a:rPr>
              <a:t>事务（</a:t>
            </a:r>
            <a:r>
              <a:rPr lang="en-US" altLang="zh-CN" dirty="0">
                <a:cs typeface="宋体" panose="02010600030101010101" pitchFamily="2" charset="-122"/>
              </a:rPr>
              <a:t>Transactions </a:t>
            </a:r>
            <a:r>
              <a:rPr lang="zh-CN" altLang="en-US" dirty="0">
                <a:cs typeface="宋体" panose="02010600030101010101" pitchFamily="2" charset="-122"/>
              </a:rPr>
              <a:t>）</a:t>
            </a:r>
          </a:p>
        </p:txBody>
      </p:sp>
      <p:sp>
        <p:nvSpPr>
          <p:cNvPr id="760837" name="Rectangle 5"/>
          <p:cNvSpPr>
            <a:spLocks noGrp="1" noChangeArrowheads="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是指一个程序（语句序列），能保证数据库从一个一致状态到另外一个一致状态。</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事务是必须全部完成或根本就不执行的修改序列。</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数据库服务器保证在事务范围内执行的操作完整且正确地提交至磁盘，否则数据库会复原至事务启动之前的状态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事务具有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ACID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特性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Picture 6"/>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tretch>
            <a:fillRect/>
          </a:stretch>
        </p:blipFill>
        <p:spPr>
          <a:xfrm>
            <a:off x="0" y="3935413"/>
            <a:ext cx="6088063" cy="1733550"/>
          </a:xfrm>
        </p:spPr>
      </p:pic>
    </p:spTree>
    <p:extLst>
      <p:ext uri="{BB962C8B-B14F-4D97-AF65-F5344CB8AC3E}">
        <p14:creationId xmlns:p14="http://schemas.microsoft.com/office/powerpoint/2010/main" val="2783596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6" name="Rectangle 4"/>
          <p:cNvSpPr>
            <a:spLocks noGrp="1" noChangeArrowheads="1"/>
          </p:cNvSpPr>
          <p:nvPr>
            <p:ph type="title"/>
          </p:nvPr>
        </p:nvSpPr>
        <p:spPr/>
        <p:txBody>
          <a:bodyPr/>
          <a:lstStyle/>
          <a:p>
            <a:r>
              <a:rPr lang="zh-CN" altLang="en-US" dirty="0">
                <a:cs typeface="宋体" panose="02010600030101010101" pitchFamily="2" charset="-122"/>
              </a:rPr>
              <a:t>事务（</a:t>
            </a:r>
            <a:r>
              <a:rPr lang="en-US" altLang="zh-CN" dirty="0">
                <a:cs typeface="宋体" panose="02010600030101010101" pitchFamily="2" charset="-122"/>
              </a:rPr>
              <a:t>Transactions </a:t>
            </a:r>
            <a:r>
              <a:rPr lang="zh-CN" altLang="en-US" dirty="0">
                <a:cs typeface="宋体" panose="02010600030101010101" pitchFamily="2" charset="-122"/>
              </a:rPr>
              <a:t>）</a:t>
            </a:r>
          </a:p>
        </p:txBody>
      </p:sp>
      <p:sp>
        <p:nvSpPr>
          <p:cNvPr id="760837" name="Rectangle 5"/>
          <p:cNvSpPr>
            <a:spLocks noGrp="1" noChangeArrowheads="1"/>
          </p:cNvSpPr>
          <p:nvPr>
            <p:ph type="body" sz="quarter" idx="10"/>
          </p:nvPr>
        </p:nvSpPr>
        <p:spPr/>
        <p:txBody>
          <a:bodyPr>
            <a:normAutofit fontScale="92500" lnSpcReduction="10000"/>
          </a:bodyPr>
          <a:lstStyle/>
          <a:p>
            <a:pPr>
              <a:lnSpc>
                <a:spcPct val="16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ACID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特性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A – Atomicity</a:t>
            </a:r>
          </a:p>
          <a:p>
            <a:pPr lvl="2">
              <a:lnSpc>
                <a:spcPct val="16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操作序列要么完整的执行，否则什么也不做</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C – Consistency</a:t>
            </a:r>
          </a:p>
          <a:p>
            <a:pPr lvl="2">
              <a:lnSpc>
                <a:spcPct val="16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一致性，事务执行后，保证数据库从一个一致性状态到另外一个一致性状态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准确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完整</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I – Isolation</a:t>
            </a:r>
          </a:p>
          <a:p>
            <a:pPr lvl="2">
              <a:lnSpc>
                <a:spcPct val="16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隔离，一个事务的中间状态对其他事物不可见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换句话，每个用户感觉他们是在单独使用数据库</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6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 – Durability</a:t>
            </a:r>
          </a:p>
          <a:p>
            <a:pPr lvl="2">
              <a:lnSpc>
                <a:spcPct val="16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持久性，事务的有效性，不会应用硬件或者软件的失败而丢失</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0824695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30" name="Rectangle 2"/>
          <p:cNvSpPr>
            <a:spLocks noGrp="1" noChangeArrowheads="1"/>
          </p:cNvSpPr>
          <p:nvPr>
            <p:ph type="title"/>
          </p:nvPr>
        </p:nvSpPr>
        <p:spPr/>
        <p:txBody>
          <a:bodyPr/>
          <a:lstStyle/>
          <a:p>
            <a:r>
              <a:rPr lang="zh-CN" altLang="en-US" dirty="0">
                <a:cs typeface="宋体" panose="02010600030101010101" pitchFamily="2" charset="-122"/>
              </a:rPr>
              <a:t>事务 </a:t>
            </a:r>
            <a:r>
              <a:rPr lang="en-US" altLang="zh-CN" dirty="0">
                <a:cs typeface="宋体" panose="02010600030101010101" pitchFamily="2" charset="-122"/>
              </a:rPr>
              <a:t>– Isolation</a:t>
            </a:r>
          </a:p>
        </p:txBody>
      </p:sp>
      <p:sp>
        <p:nvSpPr>
          <p:cNvPr id="969731" name="Rectangle 3"/>
          <p:cNvSpPr>
            <a:spLocks noGrp="1" noChangeArrowheads="1"/>
          </p:cNvSpPr>
          <p:nvPr>
            <p:ph type="body" sz="quarter" idx="10"/>
          </p:nvPr>
        </p:nvSpPr>
        <p:spPr/>
        <p:txBody>
          <a:bodyPr>
            <a:noAutofit/>
          </a:bodyPr>
          <a:lstStyle/>
          <a:p>
            <a:pPr>
              <a:lnSpc>
                <a:spcPct val="1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隔离级别</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(Isolation)</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多个同时运行的事物之间不会互相影响彼此的执行</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每个用户感觉自己的事务都是排他的执行</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同时发生的其他事务应该出现在当前事务的</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前</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或者</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后</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类似一个事务中的</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序列</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隔离级别用来定义多大程度的隔离多个不同的事务</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rPr>
              <a:t>Dirty read </a:t>
            </a:r>
          </a:p>
          <a:p>
            <a:pPr lvl="2">
              <a:lnSpc>
                <a:spcPct val="15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rPr>
              <a:t>Last committed read </a:t>
            </a:r>
          </a:p>
          <a:p>
            <a:pPr lvl="2">
              <a:lnSpc>
                <a:spcPct val="15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rPr>
              <a:t>Committed read</a:t>
            </a:r>
          </a:p>
          <a:p>
            <a:pPr lvl="2">
              <a:lnSpc>
                <a:spcPct val="15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rPr>
              <a:t>Cursor stability</a:t>
            </a:r>
          </a:p>
          <a:p>
            <a:pPr lvl="2">
              <a:lnSpc>
                <a:spcPct val="150000"/>
              </a:lnSpc>
            </a:pPr>
            <a:r>
              <a:rPr lang="en-US" altLang="zh-CN" sz="1800" spc="100" dirty="0">
                <a:solidFill>
                  <a:schemeClr val="bg2">
                    <a:lumMod val="25000"/>
                  </a:schemeClr>
                </a:solidFill>
                <a:latin typeface="微软雅黑" panose="020B0503020204020204" pitchFamily="34" charset="-122"/>
                <a:ea typeface="微软雅黑" panose="020B0503020204020204" pitchFamily="34" charset="-122"/>
              </a:rPr>
              <a:t>Repeatable read</a:t>
            </a:r>
          </a:p>
          <a:p>
            <a:pPr>
              <a:lnSpc>
                <a:spcPct val="100000"/>
              </a:lnSpc>
              <a:buFont typeface="Wingdings" panose="05000000000000000000" charset="0"/>
              <a:buNone/>
            </a:pP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4</a:t>
            </a:fld>
            <a:endParaRPr lang="zh-CN" altLang="en-US" dirty="0"/>
          </a:p>
        </p:txBody>
      </p:sp>
    </p:spTree>
    <p:extLst>
      <p:ext uri="{BB962C8B-B14F-4D97-AF65-F5344CB8AC3E}">
        <p14:creationId xmlns:p14="http://schemas.microsoft.com/office/powerpoint/2010/main" val="31883173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p:nvPr>
        </p:nvSpPr>
        <p:spPr/>
        <p:txBody>
          <a:bodyPr/>
          <a:lstStyle/>
          <a:p>
            <a:r>
              <a:rPr lang="zh-CN" altLang="en-US" dirty="0">
                <a:cs typeface="宋体" panose="02010600030101010101" pitchFamily="2" charset="-122"/>
              </a:rPr>
              <a:t>并发控制</a:t>
            </a:r>
          </a:p>
        </p:txBody>
      </p:sp>
      <p:sp>
        <p:nvSpPr>
          <p:cNvPr id="966659" name="Rectangle 3"/>
          <p:cNvSpPr>
            <a:spLocks noGrp="1" noChangeArrowheads="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隔离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一致性</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并发控制</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多个事务可能访问和修改相同的资源</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只要多个进程共享资源，就需要对访问进程进行排队控制</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并发控制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考虑事务访问数据库对象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(database, table, page, row, index key)</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产生预期的结果</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数据库内部将生成多个并发事务访问资源的操作序列表，并且每一个事务内部的各个操作都需要序列化</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5</a:t>
            </a:fld>
            <a:endParaRPr lang="zh-CN" altLang="en-US"/>
          </a:p>
        </p:txBody>
      </p:sp>
    </p:spTree>
    <p:extLst>
      <p:ext uri="{BB962C8B-B14F-4D97-AF65-F5344CB8AC3E}">
        <p14:creationId xmlns:p14="http://schemas.microsoft.com/office/powerpoint/2010/main" val="40976959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p:cNvSpPr>
            <a:spLocks noGrp="1" noChangeArrowheads="1"/>
          </p:cNvSpPr>
          <p:nvPr>
            <p:ph type="title"/>
          </p:nvPr>
        </p:nvSpPr>
        <p:spPr/>
        <p:txBody>
          <a:bodyPr/>
          <a:lstStyle/>
          <a:p>
            <a:r>
              <a:rPr lang="zh-CN" altLang="en-US" dirty="0">
                <a:cs typeface="宋体" panose="02010600030101010101" pitchFamily="2" charset="-122"/>
              </a:rPr>
              <a:t>事务的串行调度</a:t>
            </a:r>
            <a:endParaRPr lang="en-US" altLang="zh-CN" dirty="0">
              <a:cs typeface="宋体" panose="02010600030101010101" pitchFamily="2" charset="-122"/>
            </a:endParaRPr>
          </a:p>
        </p:txBody>
      </p:sp>
      <p:sp>
        <p:nvSpPr>
          <p:cNvPr id="763907" name="Rectangle 3"/>
          <p:cNvSpPr>
            <a:spLocks noGrp="1" noChangeArrowheads="1"/>
          </p:cNvSpPr>
          <p:nvPr>
            <p:ph type="body" sz="quarter" idx="10"/>
          </p:nvPr>
        </p:nvSpPr>
        <p:spPr/>
        <p:txBody>
          <a:bodyPr>
            <a:normAutofit fontScale="85000" lnSpcReduction="20000"/>
          </a:bodyPr>
          <a:lstStyle/>
          <a:p>
            <a:pPr>
              <a:lnSpc>
                <a:spcPct val="150000"/>
              </a:lnSpc>
            </a:pPr>
            <a:r>
              <a:rPr lang="zh-CN" altLang="en-US" dirty="0">
                <a:cs typeface="宋体" panose="02010600030101010101" pitchFamily="2" charset="-122"/>
              </a:rPr>
              <a:t>串行调度</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一个事务内的所有操作必须在另外一个事务开始前完成</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每一个事务中的操作序列都必须是独立于其他事务的</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事务之间不能有重叠</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示例：</a:t>
            </a:r>
          </a:p>
          <a:p>
            <a:pPr lvl="1">
              <a:lnSpc>
                <a:spcPct val="150000"/>
              </a:lnSpc>
            </a:pPr>
            <a:r>
              <a:rPr lang="zh-CN" altLang="en-US" dirty="0">
                <a:cs typeface="宋体" panose="02010600030101010101" pitchFamily="2" charset="-122"/>
              </a:rPr>
              <a:t>假设事务 </a:t>
            </a:r>
            <a:r>
              <a:rPr lang="en-US" altLang="zh-CN" dirty="0">
                <a:cs typeface="宋体" panose="02010600030101010101" pitchFamily="2" charset="-122"/>
              </a:rPr>
              <a:t>T1 </a:t>
            </a:r>
            <a:r>
              <a:rPr lang="zh-CN" altLang="en-US" dirty="0">
                <a:cs typeface="宋体" panose="02010600030101010101" pitchFamily="2" charset="-122"/>
              </a:rPr>
              <a:t>有如下操作</a:t>
            </a:r>
          </a:p>
          <a:p>
            <a:pPr lvl="2">
              <a:lnSpc>
                <a:spcPct val="150000"/>
              </a:lnSpc>
              <a:buFont typeface="Wingdings" panose="05000000000000000000" charset="0"/>
              <a:buNone/>
            </a:pPr>
            <a:r>
              <a:rPr lang="en-US" altLang="zh-CN" dirty="0">
                <a:solidFill>
                  <a:srgbClr val="FF0000"/>
                </a:solidFill>
                <a:cs typeface="宋体" panose="02010600030101010101" pitchFamily="2" charset="-122"/>
              </a:rPr>
              <a:t>O1 O2 O3</a:t>
            </a:r>
          </a:p>
          <a:p>
            <a:pPr lvl="1">
              <a:lnSpc>
                <a:spcPct val="150000"/>
              </a:lnSpc>
            </a:pPr>
            <a:r>
              <a:rPr lang="zh-CN" altLang="en-US" dirty="0">
                <a:cs typeface="宋体" panose="02010600030101010101" pitchFamily="2" charset="-122"/>
              </a:rPr>
              <a:t>假设事务 </a:t>
            </a:r>
            <a:r>
              <a:rPr lang="en-US" altLang="zh-CN" dirty="0">
                <a:cs typeface="宋体" panose="02010600030101010101" pitchFamily="2" charset="-122"/>
              </a:rPr>
              <a:t>T2 </a:t>
            </a:r>
            <a:r>
              <a:rPr lang="zh-CN" altLang="en-US" dirty="0">
                <a:cs typeface="宋体" panose="02010600030101010101" pitchFamily="2" charset="-122"/>
              </a:rPr>
              <a:t>有如下操作</a:t>
            </a:r>
          </a:p>
          <a:p>
            <a:pPr lvl="2">
              <a:lnSpc>
                <a:spcPct val="150000"/>
              </a:lnSpc>
              <a:buFont typeface="Wingdings" panose="05000000000000000000" charset="0"/>
              <a:buNone/>
            </a:pPr>
            <a:r>
              <a:rPr lang="en-US" altLang="zh-CN" dirty="0">
                <a:solidFill>
                  <a:srgbClr val="008000"/>
                </a:solidFill>
                <a:cs typeface="宋体" panose="02010600030101010101" pitchFamily="2" charset="-122"/>
              </a:rPr>
              <a:t>P1 P2 P3</a:t>
            </a:r>
            <a:endParaRPr lang="en-US" altLang="zh-CN" dirty="0">
              <a:solidFill>
                <a:srgbClr val="FF0000"/>
              </a:solidFill>
              <a:cs typeface="宋体" panose="02010600030101010101" pitchFamily="2" charset="-122"/>
            </a:endParaRPr>
          </a:p>
          <a:p>
            <a:pPr lvl="1">
              <a:lnSpc>
                <a:spcPct val="150000"/>
              </a:lnSpc>
            </a:pPr>
            <a:r>
              <a:rPr lang="en-US" altLang="zh-CN" dirty="0">
                <a:solidFill>
                  <a:srgbClr val="FF0000"/>
                </a:solidFill>
                <a:cs typeface="宋体" panose="02010600030101010101" pitchFamily="2" charset="-122"/>
              </a:rPr>
              <a:t>O1O2</a:t>
            </a:r>
            <a:r>
              <a:rPr lang="en-US" altLang="zh-CN" dirty="0">
                <a:solidFill>
                  <a:srgbClr val="008000"/>
                </a:solidFill>
                <a:cs typeface="宋体" panose="02010600030101010101" pitchFamily="2" charset="-122"/>
              </a:rPr>
              <a:t>P1</a:t>
            </a:r>
            <a:r>
              <a:rPr lang="en-US" altLang="zh-CN" dirty="0">
                <a:solidFill>
                  <a:srgbClr val="FF0000"/>
                </a:solidFill>
                <a:cs typeface="宋体" panose="02010600030101010101" pitchFamily="2" charset="-122"/>
              </a:rPr>
              <a:t>O3</a:t>
            </a:r>
            <a:r>
              <a:rPr lang="en-US" altLang="zh-CN" dirty="0">
                <a:solidFill>
                  <a:srgbClr val="008000"/>
                </a:solidFill>
                <a:cs typeface="宋体" panose="02010600030101010101" pitchFamily="2" charset="-122"/>
              </a:rPr>
              <a:t>P2P3 </a:t>
            </a:r>
            <a:r>
              <a:rPr lang="zh-CN" altLang="en-US" dirty="0">
                <a:cs typeface="宋体" panose="02010600030101010101" pitchFamily="2" charset="-122"/>
              </a:rPr>
              <a:t>是一个串行调度</a:t>
            </a:r>
            <a:endParaRPr lang="en-US" altLang="zh-CN" dirty="0">
              <a:solidFill>
                <a:srgbClr val="FF0000"/>
              </a:solidFill>
              <a:cs typeface="宋体" panose="02010600030101010101" pitchFamily="2" charset="-122"/>
            </a:endParaRPr>
          </a:p>
          <a:p>
            <a:pPr lvl="1">
              <a:lnSpc>
                <a:spcPct val="150000"/>
              </a:lnSpc>
            </a:pPr>
            <a:r>
              <a:rPr lang="en-US" altLang="zh-CN" dirty="0">
                <a:solidFill>
                  <a:srgbClr val="FF0000"/>
                </a:solidFill>
                <a:cs typeface="宋体" panose="02010600030101010101" pitchFamily="2" charset="-122"/>
              </a:rPr>
              <a:t>O1</a:t>
            </a:r>
            <a:r>
              <a:rPr lang="en-US" altLang="zh-CN" dirty="0">
                <a:solidFill>
                  <a:srgbClr val="008000"/>
                </a:solidFill>
                <a:cs typeface="宋体" panose="02010600030101010101" pitchFamily="2" charset="-122"/>
              </a:rPr>
              <a:t>P1</a:t>
            </a:r>
            <a:r>
              <a:rPr lang="en-US" altLang="zh-CN" dirty="0">
                <a:solidFill>
                  <a:srgbClr val="FF0000"/>
                </a:solidFill>
                <a:cs typeface="宋体" panose="02010600030101010101" pitchFamily="2" charset="-122"/>
              </a:rPr>
              <a:t>O3</a:t>
            </a:r>
            <a:r>
              <a:rPr lang="en-US" altLang="zh-CN" dirty="0">
                <a:solidFill>
                  <a:srgbClr val="008000"/>
                </a:solidFill>
                <a:cs typeface="宋体" panose="02010600030101010101" pitchFamily="2" charset="-122"/>
              </a:rPr>
              <a:t>P2P3</a:t>
            </a:r>
            <a:r>
              <a:rPr lang="en-US" altLang="zh-CN" dirty="0">
                <a:solidFill>
                  <a:srgbClr val="FF0000"/>
                </a:solidFill>
                <a:cs typeface="宋体" panose="02010600030101010101" pitchFamily="2" charset="-122"/>
              </a:rPr>
              <a:t>O2</a:t>
            </a:r>
            <a:r>
              <a:rPr lang="en-US" altLang="zh-CN" dirty="0">
                <a:cs typeface="宋体" panose="02010600030101010101" pitchFamily="2" charset="-122"/>
              </a:rPr>
              <a:t>  </a:t>
            </a:r>
            <a:r>
              <a:rPr lang="zh-CN" altLang="en-US" dirty="0">
                <a:cs typeface="宋体" panose="02010600030101010101" pitchFamily="2" charset="-122"/>
              </a:rPr>
              <a:t>不是一个串行调度</a:t>
            </a:r>
          </a:p>
          <a:p>
            <a:pPr marL="683895" lvl="2" indent="0">
              <a:lnSpc>
                <a:spcPct val="150000"/>
              </a:lnSpc>
              <a:buNone/>
            </a:pPr>
            <a:r>
              <a:rPr lang="zh-CN" altLang="en-US" dirty="0">
                <a:cs typeface="宋体" panose="02010600030101010101" pitchFamily="2" charset="-122"/>
              </a:rPr>
              <a:t>事务</a:t>
            </a:r>
            <a:r>
              <a:rPr lang="en-US" altLang="zh-CN" dirty="0">
                <a:cs typeface="宋体" panose="02010600030101010101" pitchFamily="2" charset="-122"/>
              </a:rPr>
              <a:t>T2</a:t>
            </a:r>
            <a:r>
              <a:rPr lang="zh-CN" altLang="en-US" dirty="0">
                <a:cs typeface="宋体" panose="02010600030101010101" pitchFamily="2" charset="-122"/>
              </a:rPr>
              <a:t>中操作 </a:t>
            </a:r>
            <a:r>
              <a:rPr lang="en-US" altLang="zh-CN" dirty="0">
                <a:solidFill>
                  <a:srgbClr val="FF0000"/>
                </a:solidFill>
                <a:cs typeface="宋体" panose="02010600030101010101" pitchFamily="2" charset="-122"/>
              </a:rPr>
              <a:t>O3</a:t>
            </a:r>
            <a:r>
              <a:rPr lang="en-US" altLang="zh-CN" dirty="0">
                <a:cs typeface="宋体" panose="02010600030101010101" pitchFamily="2" charset="-122"/>
              </a:rPr>
              <a:t> </a:t>
            </a:r>
            <a:r>
              <a:rPr lang="zh-CN" altLang="en-US" dirty="0">
                <a:cs typeface="宋体" panose="02010600030101010101" pitchFamily="2" charset="-122"/>
              </a:rPr>
              <a:t>必须在 </a:t>
            </a:r>
            <a:r>
              <a:rPr lang="en-US" altLang="zh-CN" dirty="0">
                <a:solidFill>
                  <a:srgbClr val="FF0000"/>
                </a:solidFill>
                <a:cs typeface="宋体" panose="02010600030101010101" pitchFamily="2" charset="-122"/>
              </a:rPr>
              <a:t>O2</a:t>
            </a:r>
            <a:r>
              <a:rPr lang="en-US" altLang="zh-CN" dirty="0">
                <a:cs typeface="宋体" panose="02010600030101010101" pitchFamily="2" charset="-122"/>
              </a:rPr>
              <a:t> </a:t>
            </a:r>
            <a:r>
              <a:rPr lang="zh-CN" altLang="en-US" dirty="0">
                <a:cs typeface="宋体" panose="02010600030101010101" pitchFamily="2" charset="-122"/>
              </a:rPr>
              <a:t>后</a:t>
            </a:r>
            <a:endParaRPr lang="en-US" altLang="zh-CN" dirty="0">
              <a:cs typeface="宋体" panose="02010600030101010101" pitchFamily="2" charset="-122"/>
            </a:endParaRPr>
          </a:p>
          <a:p>
            <a:pPr lvl="1">
              <a:lnSpc>
                <a:spcPct val="150000"/>
              </a:lnSpc>
            </a:pPr>
            <a:endParaRPr lang="en-US" altLang="zh-CN" dirty="0">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6</a:t>
            </a:fld>
            <a:endParaRPr lang="zh-CN" altLang="en-US"/>
          </a:p>
        </p:txBody>
      </p:sp>
    </p:spTree>
    <p:extLst>
      <p:ext uri="{BB962C8B-B14F-4D97-AF65-F5344CB8AC3E}">
        <p14:creationId xmlns:p14="http://schemas.microsoft.com/office/powerpoint/2010/main" val="27354629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title"/>
          </p:nvPr>
        </p:nvSpPr>
        <p:spPr/>
        <p:txBody>
          <a:bodyPr/>
          <a:lstStyle/>
          <a:p>
            <a:r>
              <a:rPr lang="zh-CN" altLang="en-US" dirty="0">
                <a:cs typeface="宋体" panose="02010600030101010101" pitchFamily="2" charset="-122"/>
              </a:rPr>
              <a:t>串行调度</a:t>
            </a:r>
            <a:endParaRPr lang="en-US" altLang="zh-CN" dirty="0">
              <a:cs typeface="宋体" panose="02010600030101010101" pitchFamily="2" charset="-122"/>
            </a:endParaRPr>
          </a:p>
        </p:txBody>
      </p:sp>
      <p:sp>
        <p:nvSpPr>
          <p:cNvPr id="766027" name="Rectangle 75"/>
          <p:cNvSpPr>
            <a:spLocks noGrp="1" noChangeArrowheads="1"/>
          </p:cNvSpPr>
          <p:nvPr>
            <p:ph type="body" sz="quarter" idx="10"/>
          </p:nvPr>
        </p:nvSpPr>
        <p:spPr/>
        <p:txBody>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示例：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更新数据库中不同的对象（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X,Y</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），所以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可以并发的运行 </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操作序列总是正确的，但是不能采用最优使用计算机资源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从并发度和性能角度考虑</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p:txBody>
      </p:sp>
      <p:pic>
        <p:nvPicPr>
          <p:cNvPr id="766028" name="Picture 76"/>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tretch>
            <a:fillRect/>
          </a:stretch>
        </p:blipFill>
        <p:spPr>
          <a:xfrm>
            <a:off x="3705225" y="3005138"/>
            <a:ext cx="8486775" cy="2498725"/>
          </a:xfrm>
        </p:spPr>
      </p:pic>
    </p:spTree>
    <p:extLst>
      <p:ext uri="{BB962C8B-B14F-4D97-AF65-F5344CB8AC3E}">
        <p14:creationId xmlns:p14="http://schemas.microsoft.com/office/powerpoint/2010/main" val="712677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8" name="Rectangle 4"/>
          <p:cNvSpPr>
            <a:spLocks noGrp="1" noChangeArrowheads="1"/>
          </p:cNvSpPr>
          <p:nvPr>
            <p:ph type="title"/>
          </p:nvPr>
        </p:nvSpPr>
        <p:spPr/>
        <p:txBody>
          <a:bodyPr/>
          <a:lstStyle/>
          <a:p>
            <a:r>
              <a:rPr lang="zh-CN" altLang="en-US">
                <a:cs typeface="宋体" panose="02010600030101010101" pitchFamily="2" charset="-122"/>
              </a:rPr>
              <a:t>如何改进性能</a:t>
            </a:r>
            <a:r>
              <a:rPr lang="en-US" altLang="zh-CN">
                <a:cs typeface="宋体" panose="02010600030101010101" pitchFamily="2" charset="-122"/>
              </a:rPr>
              <a:t>? </a:t>
            </a:r>
            <a:r>
              <a:rPr lang="zh-CN" altLang="en-US">
                <a:cs typeface="宋体" panose="02010600030101010101" pitchFamily="2" charset="-122"/>
              </a:rPr>
              <a:t>非串行调度</a:t>
            </a:r>
          </a:p>
        </p:txBody>
      </p:sp>
      <p:sp>
        <p:nvSpPr>
          <p:cNvPr id="769029" name="Rectangle 5"/>
          <p:cNvSpPr>
            <a:spLocks noGrp="1" noChangeArrowheads="1"/>
          </p:cNvSpPr>
          <p:nvPr>
            <p:ph type="body" sz="quarter" idx="10"/>
          </p:nvPr>
        </p:nvSpPr>
        <p:spPr/>
        <p:txBody>
          <a:bodyPr/>
          <a:lstStyle/>
          <a:p>
            <a:r>
              <a:rPr lang="zh-CN" altLang="en-US" dirty="0">
                <a:cs typeface="宋体" panose="02010600030101010101" pitchFamily="2" charset="-122"/>
              </a:rPr>
              <a:t>允许事务同时执行</a:t>
            </a:r>
            <a:r>
              <a:rPr lang="en-US" altLang="zh-CN" dirty="0">
                <a:cs typeface="宋体" panose="02010600030101010101" pitchFamily="2" charset="-122"/>
              </a:rPr>
              <a:t> (</a:t>
            </a:r>
            <a:r>
              <a:rPr lang="zh-CN" altLang="en-US" dirty="0">
                <a:cs typeface="宋体" panose="02010600030101010101" pitchFamily="2" charset="-122"/>
              </a:rPr>
              <a:t>并发</a:t>
            </a:r>
            <a:r>
              <a:rPr lang="en-US" altLang="zh-CN" dirty="0">
                <a:cs typeface="宋体" panose="02010600030101010101" pitchFamily="2" charset="-122"/>
              </a:rPr>
              <a:t>)</a:t>
            </a:r>
          </a:p>
          <a:p>
            <a:pPr marL="0" indent="0">
              <a:buNone/>
            </a:pPr>
            <a:endParaRPr lang="en-US" altLang="zh-CN" dirty="0">
              <a:cs typeface="宋体" panose="02010600030101010101" pitchFamily="2" charset="-122"/>
            </a:endParaRPr>
          </a:p>
          <a:p>
            <a:r>
              <a:rPr lang="zh-CN" altLang="en-US" dirty="0">
                <a:cs typeface="宋体" panose="02010600030101010101" pitchFamily="2" charset="-122"/>
              </a:rPr>
              <a:t>一个事务内的操作可以在其他事务提交前开始执行</a:t>
            </a:r>
            <a:endParaRPr lang="en-US" altLang="zh-CN" dirty="0">
              <a:cs typeface="宋体" panose="02010600030101010101" pitchFamily="2" charset="-122"/>
            </a:endParaRPr>
          </a:p>
          <a:p>
            <a:endParaRPr lang="en-US" altLang="zh-CN" dirty="0">
              <a:cs typeface="宋体" panose="02010600030101010101" pitchFamily="2" charset="-122"/>
            </a:endParaRPr>
          </a:p>
          <a:p>
            <a:r>
              <a:rPr lang="zh-CN" altLang="en-US" dirty="0">
                <a:cs typeface="宋体" panose="02010600030101010101" pitchFamily="2" charset="-122"/>
              </a:rPr>
              <a:t>事务中操作调度并发的执行称为：非串行调度，也称为并发调度</a:t>
            </a:r>
            <a:endParaRPr lang="en-US" altLang="zh-CN" dirty="0">
              <a:cs typeface="宋体" panose="02010600030101010101" pitchFamily="2" charset="-122"/>
            </a:endParaRPr>
          </a:p>
        </p:txBody>
      </p:sp>
    </p:spTree>
    <p:extLst>
      <p:ext uri="{BB962C8B-B14F-4D97-AF65-F5344CB8AC3E}">
        <p14:creationId xmlns:p14="http://schemas.microsoft.com/office/powerpoint/2010/main" val="3311061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5" name="Rectangle 7"/>
          <p:cNvSpPr>
            <a:spLocks noGrp="1" noChangeArrowheads="1"/>
          </p:cNvSpPr>
          <p:nvPr>
            <p:ph type="title"/>
          </p:nvPr>
        </p:nvSpPr>
        <p:spPr/>
        <p:txBody>
          <a:bodyPr/>
          <a:lstStyle/>
          <a:p>
            <a:r>
              <a:rPr lang="zh-CN" altLang="en-US" dirty="0">
                <a:cs typeface="宋体" panose="02010600030101010101" pitchFamily="2" charset="-122"/>
              </a:rPr>
              <a:t>并发调度 </a:t>
            </a:r>
            <a:r>
              <a:rPr lang="en-US" altLang="zh-CN" dirty="0">
                <a:cs typeface="宋体" panose="02010600030101010101" pitchFamily="2" charset="-122"/>
              </a:rPr>
              <a:t>– </a:t>
            </a:r>
            <a:r>
              <a:rPr lang="zh-CN" altLang="en-US" dirty="0">
                <a:cs typeface="宋体" panose="02010600030101010101" pitchFamily="2" charset="-122"/>
              </a:rPr>
              <a:t>举例和问题</a:t>
            </a:r>
          </a:p>
        </p:txBody>
      </p:sp>
      <p:sp>
        <p:nvSpPr>
          <p:cNvPr id="770056" name="Rectangle 8"/>
          <p:cNvSpPr>
            <a:spLocks noGrp="1" noChangeArrowheads="1"/>
          </p:cNvSpPr>
          <p:nvPr>
            <p:ph type="body" sz="quarter" idx="10"/>
          </p:nvPr>
        </p:nvSpPr>
        <p:spPr/>
        <p:txBody>
          <a:bodyPr>
            <a:normAutofit/>
          </a:bodyPr>
          <a:lstStyle/>
          <a:p>
            <a:pPr>
              <a:lnSpc>
                <a:spcPts val="3000"/>
              </a:lnSpc>
            </a:pPr>
            <a:r>
              <a:rPr lang="zh-CN" altLang="en-US" sz="2000" dirty="0">
                <a:cs typeface="宋体" panose="02010600030101010101" pitchFamily="2" charset="-122"/>
              </a:rPr>
              <a:t>问题：如果操作没有一个“有意义”的顺序，我们将得到一个非预期的执行结果</a:t>
            </a:r>
            <a:endParaRPr lang="en-US" altLang="zh-CN" sz="2000" dirty="0">
              <a:cs typeface="宋体" panose="02010600030101010101" pitchFamily="2" charset="-122"/>
            </a:endParaRPr>
          </a:p>
          <a:p>
            <a:pPr>
              <a:lnSpc>
                <a:spcPts val="3000"/>
              </a:lnSpc>
            </a:pPr>
            <a:r>
              <a:rPr lang="zh-CN" altLang="en-US" sz="2000" dirty="0">
                <a:cs typeface="宋体" panose="02010600030101010101" pitchFamily="2" charset="-122"/>
              </a:rPr>
              <a:t>调度的典型问题</a:t>
            </a:r>
            <a:r>
              <a:rPr lang="en-US" altLang="zh-CN" sz="2000" dirty="0">
                <a:cs typeface="宋体" panose="02010600030101010101" pitchFamily="2" charset="-122"/>
              </a:rPr>
              <a:t>:</a:t>
            </a:r>
          </a:p>
          <a:p>
            <a:pPr lvl="1">
              <a:lnSpc>
                <a:spcPts val="3000"/>
              </a:lnSpc>
            </a:pPr>
            <a:r>
              <a:rPr lang="en-US" altLang="zh-CN" dirty="0">
                <a:ea typeface="宋体" panose="02010600030101010101" pitchFamily="2" charset="-122"/>
                <a:cs typeface="宋体" panose="02010600030101010101" pitchFamily="2" charset="-122"/>
              </a:rPr>
              <a:t>Dirty read </a:t>
            </a:r>
            <a:r>
              <a:rPr lang="zh-CN" altLang="en-US" dirty="0">
                <a:ea typeface="宋体" panose="02010600030101010101" pitchFamily="2" charset="-122"/>
                <a:cs typeface="宋体" panose="02010600030101010101" pitchFamily="2" charset="-122"/>
              </a:rPr>
              <a:t>脏读</a:t>
            </a:r>
          </a:p>
          <a:p>
            <a:pPr lvl="1">
              <a:lnSpc>
                <a:spcPts val="3000"/>
              </a:lnSpc>
            </a:pPr>
            <a:r>
              <a:rPr lang="en-US" altLang="zh-CN" dirty="0">
                <a:ea typeface="宋体" panose="02010600030101010101" pitchFamily="2" charset="-122"/>
                <a:cs typeface="宋体" panose="02010600030101010101" pitchFamily="2" charset="-122"/>
              </a:rPr>
              <a:t>Non-repeatable read </a:t>
            </a:r>
            <a:r>
              <a:rPr lang="zh-CN" altLang="en-US" dirty="0">
                <a:ea typeface="宋体" panose="02010600030101010101" pitchFamily="2" charset="-122"/>
                <a:cs typeface="宋体" panose="02010600030101010101" pitchFamily="2" charset="-122"/>
              </a:rPr>
              <a:t>非重复读</a:t>
            </a:r>
          </a:p>
          <a:p>
            <a:pPr lvl="1">
              <a:lnSpc>
                <a:spcPts val="3000"/>
              </a:lnSpc>
            </a:pPr>
            <a:r>
              <a:rPr lang="en-US" altLang="zh-CN" dirty="0">
                <a:ea typeface="宋体" panose="02010600030101010101" pitchFamily="2" charset="-122"/>
                <a:cs typeface="宋体" panose="02010600030101010101" pitchFamily="2" charset="-122"/>
              </a:rPr>
              <a:t>Phantom read  </a:t>
            </a:r>
            <a:r>
              <a:rPr lang="zh-CN" altLang="en-US" dirty="0">
                <a:ea typeface="宋体" panose="02010600030101010101" pitchFamily="2" charset="-122"/>
                <a:cs typeface="宋体" panose="02010600030101010101" pitchFamily="2" charset="-122"/>
              </a:rPr>
              <a:t>幻影读</a:t>
            </a:r>
          </a:p>
          <a:p>
            <a:pPr>
              <a:lnSpc>
                <a:spcPts val="3300"/>
              </a:lnSpc>
            </a:pPr>
            <a:endParaRPr lang="zh-CN" altLang="en-US" sz="2000" dirty="0">
              <a:cs typeface="宋体" panose="02010600030101010101" pitchFamily="2" charset="-122"/>
            </a:endParaRPr>
          </a:p>
        </p:txBody>
      </p:sp>
      <p:pic>
        <p:nvPicPr>
          <p:cNvPr id="770057" name="Picture 9"/>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tretch>
            <a:fillRect/>
          </a:stretch>
        </p:blipFill>
        <p:spPr>
          <a:xfrm>
            <a:off x="0" y="3468688"/>
            <a:ext cx="5068888" cy="2611437"/>
          </a:xfrm>
        </p:spPr>
      </p:pic>
    </p:spTree>
    <p:extLst>
      <p:ext uri="{BB962C8B-B14F-4D97-AF65-F5344CB8AC3E}">
        <p14:creationId xmlns:p14="http://schemas.microsoft.com/office/powerpoint/2010/main" val="24465829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zh-CN" altLang="en-US" dirty="0">
                <a:cs typeface="宋体" panose="02010600030101010101" pitchFamily="2" charset="-122"/>
              </a:rPr>
              <a:t>脏读 </a:t>
            </a:r>
            <a:r>
              <a:rPr lang="en-US" altLang="zh-CN" dirty="0">
                <a:cs typeface="宋体" panose="02010600030101010101" pitchFamily="2" charset="-122"/>
              </a:rPr>
              <a:t>–</a:t>
            </a:r>
            <a:r>
              <a:rPr lang="zh-CN" altLang="en-US" dirty="0">
                <a:cs typeface="宋体" panose="02010600030101010101" pitchFamily="2" charset="-122"/>
              </a:rPr>
              <a:t>问题与举例</a:t>
            </a:r>
          </a:p>
        </p:txBody>
      </p:sp>
      <p:sp>
        <p:nvSpPr>
          <p:cNvPr id="772109" name="Rectangle 13"/>
          <p:cNvSpPr>
            <a:spLocks noGrp="1" noChangeArrowheads="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脏读：事务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读取到了事务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没有提交的结果</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ts val="0"/>
              </a:spcBef>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读取记录，然后更新记录</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读取了更新后的记录</a:t>
            </a:r>
          </a:p>
          <a:p>
            <a:pPr lvl="1">
              <a:lnSpc>
                <a:spcPct val="150000"/>
              </a:lnSpc>
              <a:spcBef>
                <a:spcPts val="0"/>
              </a:spcBef>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后续操作可能失败，导致更新的记录回滚</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ts val="0"/>
              </a:spcBef>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而同时，事务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使用了一个不准确或者说没有提交的值</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ts val="0"/>
              </a:spcBef>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如果事务是串行的话，预期的情况是：如果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失败，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将采用更新前的值</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373786720"/>
              </p:ext>
            </p:extLst>
          </p:nvPr>
        </p:nvGraphicFramePr>
        <p:xfrm>
          <a:off x="1524001" y="4009599"/>
          <a:ext cx="7777654" cy="2222333"/>
        </p:xfrm>
        <a:graphic>
          <a:graphicData uri="http://schemas.openxmlformats.org/drawingml/2006/table">
            <a:tbl>
              <a:tblPr firstRow="1" bandRow="1">
                <a:effectLst>
                  <a:outerShdw blurRad="50800" dist="50800" dir="5400000" algn="ctr" rotWithShape="0">
                    <a:schemeClr val="bg1"/>
                  </a:outerShdw>
                </a:effectLst>
                <a:tableStyleId>{5C22544A-7EE6-4342-B048-85BDC9FD1C3A}</a:tableStyleId>
              </a:tblPr>
              <a:tblGrid>
                <a:gridCol w="3114093">
                  <a:extLst>
                    <a:ext uri="{9D8B030D-6E8A-4147-A177-3AD203B41FA5}">
                      <a16:colId xmlns:a16="http://schemas.microsoft.com/office/drawing/2014/main" xmlns="" val="20000"/>
                    </a:ext>
                  </a:extLst>
                </a:gridCol>
                <a:gridCol w="2632586">
                  <a:extLst>
                    <a:ext uri="{9D8B030D-6E8A-4147-A177-3AD203B41FA5}">
                      <a16:colId xmlns:a16="http://schemas.microsoft.com/office/drawing/2014/main" xmlns="" val="20001"/>
                    </a:ext>
                  </a:extLst>
                </a:gridCol>
                <a:gridCol w="2030975">
                  <a:extLst>
                    <a:ext uri="{9D8B030D-6E8A-4147-A177-3AD203B41FA5}">
                      <a16:colId xmlns:a16="http://schemas.microsoft.com/office/drawing/2014/main" xmlns="" val="20002"/>
                    </a:ext>
                  </a:extLst>
                </a:gridCol>
              </a:tblGrid>
              <a:tr h="364131">
                <a:tc>
                  <a:txBody>
                    <a:bodyPr/>
                    <a:lstStyle/>
                    <a:p>
                      <a:r>
                        <a:rPr lang="zh-CN" altLang="en-US" sz="1600" dirty="0">
                          <a:solidFill>
                            <a:schemeClr val="tx1"/>
                          </a:solidFill>
                        </a:rPr>
                        <a:t>操作</a:t>
                      </a: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T1</a:t>
                      </a:r>
                      <a:endParaRPr lang="zh-CN" altLang="en-US" sz="1600" dirty="0">
                        <a:solidFill>
                          <a:schemeClr val="tx1"/>
                        </a:solidFill>
                      </a:endParaRP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T2</a:t>
                      </a:r>
                      <a:endParaRPr lang="zh-CN" altLang="en-US" sz="1600" dirty="0">
                        <a:solidFill>
                          <a:schemeClr val="tx1"/>
                        </a:solidFill>
                      </a:endParaRP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03112">
                <a:tc>
                  <a:txBody>
                    <a:bodyPr/>
                    <a:lstStyle/>
                    <a:p>
                      <a:r>
                        <a:rPr lang="zh-CN" altLang="en-US" sz="1400" dirty="0"/>
                        <a:t>用户</a:t>
                      </a:r>
                      <a:r>
                        <a:rPr lang="en-US" altLang="zh-CN" sz="1400" dirty="0"/>
                        <a:t>1</a:t>
                      </a:r>
                      <a:r>
                        <a:rPr lang="zh-CN" altLang="en-US" sz="1400" dirty="0"/>
                        <a:t>启动事务</a:t>
                      </a:r>
                      <a:r>
                        <a:rPr lang="en-US" altLang="zh-CN" sz="1400" dirty="0"/>
                        <a:t>T1</a:t>
                      </a:r>
                      <a:endParaRPr lang="zh-CN" altLang="en-US" sz="14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begin work;</a:t>
                      </a:r>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467842">
                <a:tc>
                  <a:txBody>
                    <a:bodyPr/>
                    <a:lstStyle/>
                    <a:p>
                      <a:r>
                        <a:rPr lang="zh-CN" altLang="en-US" sz="1400" dirty="0"/>
                        <a:t>用户</a:t>
                      </a:r>
                      <a:r>
                        <a:rPr lang="en-US" altLang="zh-CN" sz="1400" dirty="0"/>
                        <a:t>1</a:t>
                      </a:r>
                      <a:r>
                        <a:rPr lang="zh-CN" altLang="en-US" sz="1400" dirty="0"/>
                        <a:t>更新一条记录</a:t>
                      </a: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Update</a:t>
                      </a:r>
                      <a:r>
                        <a:rPr lang="en-US" altLang="zh-CN" sz="1300" baseline="0" dirty="0"/>
                        <a:t> employee set salary=50000 where </a:t>
                      </a:r>
                      <a:r>
                        <a:rPr lang="en-US" altLang="zh-CN" sz="1300" baseline="0" dirty="0" err="1"/>
                        <a:t>empno</a:t>
                      </a:r>
                      <a:r>
                        <a:rPr lang="en-US" altLang="zh-CN" sz="1300" baseline="0" dirty="0"/>
                        <a:t>=100;</a:t>
                      </a:r>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en-US" altLang="zh-CN" sz="1300" dirty="0"/>
                    </a:p>
                    <a:p>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03112">
                <a:tc>
                  <a:txBody>
                    <a:bodyPr/>
                    <a:lstStyle/>
                    <a:p>
                      <a:r>
                        <a:rPr lang="zh-CN" altLang="en-US" sz="1400" dirty="0"/>
                        <a:t>用户</a:t>
                      </a:r>
                      <a:r>
                        <a:rPr lang="en-US" altLang="zh-CN" sz="1400" dirty="0"/>
                        <a:t>2</a:t>
                      </a:r>
                      <a:r>
                        <a:rPr lang="zh-CN" altLang="en-US" sz="1400" dirty="0"/>
                        <a:t>启动事务</a:t>
                      </a:r>
                      <a:r>
                        <a:rPr lang="en-US" altLang="zh-CN" sz="1400" dirty="0"/>
                        <a:t>T2</a:t>
                      </a:r>
                      <a:endParaRPr lang="zh-CN" altLang="en-US" sz="14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begin work;</a:t>
                      </a:r>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09047">
                <a:tc>
                  <a:txBody>
                    <a:bodyPr/>
                    <a:lstStyle/>
                    <a:p>
                      <a:r>
                        <a:rPr lang="zh-CN" altLang="en-US" sz="1400" dirty="0"/>
                        <a:t>用户</a:t>
                      </a:r>
                      <a:r>
                        <a:rPr lang="en-US" altLang="zh-CN" sz="1400" dirty="0"/>
                        <a:t>2</a:t>
                      </a:r>
                      <a:r>
                        <a:rPr lang="zh-CN" altLang="en-US" sz="1400" dirty="0"/>
                        <a:t>查询</a:t>
                      </a:r>
                      <a:r>
                        <a:rPr lang="en-US" altLang="zh-CN" sz="1400" dirty="0"/>
                        <a:t>employee</a:t>
                      </a:r>
                      <a:r>
                        <a:rPr lang="zh-CN" altLang="en-US" sz="1400" dirty="0"/>
                        <a:t>表所有记录</a:t>
                      </a: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Select * from employee;</a:t>
                      </a:r>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364131">
                <a:tc>
                  <a:txBody>
                    <a:bodyPr/>
                    <a:lstStyle/>
                    <a:p>
                      <a:r>
                        <a:rPr lang="zh-CN" altLang="en-US" sz="1400" kern="1200" dirty="0">
                          <a:solidFill>
                            <a:schemeClr val="dk1"/>
                          </a:solidFill>
                          <a:latin typeface="+mn-lt"/>
                          <a:ea typeface="+mn-ea"/>
                          <a:cs typeface="+mn-cs"/>
                        </a:rPr>
                        <a:t>用户</a:t>
                      </a:r>
                      <a:r>
                        <a:rPr lang="en-US" altLang="zh-CN" sz="1400" kern="1200" dirty="0">
                          <a:solidFill>
                            <a:schemeClr val="dk1"/>
                          </a:solidFill>
                          <a:latin typeface="+mn-lt"/>
                          <a:ea typeface="+mn-ea"/>
                          <a:cs typeface="+mn-cs"/>
                        </a:rPr>
                        <a:t>1</a:t>
                      </a:r>
                      <a:r>
                        <a:rPr lang="zh-CN" altLang="en-US" sz="1400" kern="1200" dirty="0">
                          <a:solidFill>
                            <a:schemeClr val="dk1"/>
                          </a:solidFill>
                          <a:latin typeface="+mn-lt"/>
                          <a:ea typeface="+mn-ea"/>
                          <a:cs typeface="+mn-cs"/>
                        </a:rPr>
                        <a:t>的操作回滚</a:t>
                      </a:r>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Rollback;</a:t>
                      </a:r>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561" marR="82561" marT="41280" marB="4128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5749940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8" name="Rectangle 4"/>
          <p:cNvSpPr>
            <a:spLocks noGrp="1" noChangeArrowheads="1"/>
          </p:cNvSpPr>
          <p:nvPr>
            <p:ph type="title"/>
          </p:nvPr>
        </p:nvSpPr>
        <p:spPr/>
        <p:txBody>
          <a:bodyPr/>
          <a:lstStyle/>
          <a:p>
            <a:r>
              <a:rPr lang="zh-CN" altLang="en-US" dirty="0">
                <a:cs typeface="宋体" panose="02010600030101010101" pitchFamily="2" charset="-122"/>
              </a:rPr>
              <a:t>不可重复读 </a:t>
            </a:r>
            <a:r>
              <a:rPr lang="en-US" altLang="zh-CN" dirty="0">
                <a:cs typeface="宋体" panose="02010600030101010101" pitchFamily="2" charset="-122"/>
              </a:rPr>
              <a:t>–</a:t>
            </a:r>
            <a:r>
              <a:rPr lang="zh-CN" altLang="en-US" dirty="0">
                <a:cs typeface="宋体" panose="02010600030101010101" pitchFamily="2" charset="-122"/>
              </a:rPr>
              <a:t>问题和举例</a:t>
            </a:r>
          </a:p>
        </p:txBody>
      </p:sp>
      <p:sp>
        <p:nvSpPr>
          <p:cNvPr id="784392" name="Rectangle 8"/>
          <p:cNvSpPr>
            <a:spLocks noGrp="1" noChangeArrowheads="1"/>
          </p:cNvSpPr>
          <p:nvPr>
            <p:ph type="body" sz="quarter" idx="10"/>
          </p:nvPr>
        </p:nvSpPr>
        <p:spPr/>
        <p:txBody>
          <a:bodyPr>
            <a:normAutofit/>
          </a:bodyPr>
          <a:lstStyle/>
          <a:p>
            <a:pPr>
              <a:lnSpc>
                <a:spcPct val="150000"/>
              </a:lnSpc>
            </a:pPr>
            <a:r>
              <a:rPr lang="zh-CN" altLang="en-US" sz="2000" dirty="0">
                <a:cs typeface="宋体" panose="02010600030101010101" pitchFamily="2" charset="-122"/>
              </a:rPr>
              <a:t>不可重复读：如果事务 </a:t>
            </a:r>
            <a:r>
              <a:rPr lang="en-US" altLang="zh-CN" sz="2000" dirty="0">
                <a:cs typeface="宋体" panose="02010600030101010101" pitchFamily="2" charset="-122"/>
              </a:rPr>
              <a:t>T1 </a:t>
            </a:r>
            <a:r>
              <a:rPr lang="zh-CN" altLang="en-US" sz="2000" dirty="0">
                <a:cs typeface="宋体" panose="02010600030101010101" pitchFamily="2" charset="-122"/>
              </a:rPr>
              <a:t>中多个读操作返回不同的结果</a:t>
            </a:r>
            <a:endParaRPr lang="en-US" altLang="zh-CN" sz="2000" dirty="0">
              <a:cs typeface="宋体" panose="02010600030101010101" pitchFamily="2" charset="-122"/>
            </a:endParaRPr>
          </a:p>
          <a:p>
            <a:pPr lvl="1">
              <a:lnSpc>
                <a:spcPct val="150000"/>
              </a:lnSpc>
            </a:pPr>
            <a:r>
              <a:rPr lang="zh-CN" altLang="en-US" dirty="0">
                <a:cs typeface="宋体" panose="02010600030101010101" pitchFamily="2" charset="-122"/>
              </a:rPr>
              <a:t>事务 </a:t>
            </a:r>
            <a:r>
              <a:rPr lang="en-US" altLang="zh-CN" dirty="0">
                <a:cs typeface="宋体" panose="02010600030101010101" pitchFamily="2" charset="-122"/>
              </a:rPr>
              <a:t>T1 </a:t>
            </a:r>
            <a:r>
              <a:rPr lang="zh-CN" altLang="en-US" dirty="0">
                <a:cs typeface="宋体" panose="02010600030101010101" pitchFamily="2" charset="-122"/>
              </a:rPr>
              <a:t>读取一个对象</a:t>
            </a:r>
          </a:p>
          <a:p>
            <a:pPr lvl="1">
              <a:lnSpc>
                <a:spcPct val="150000"/>
              </a:lnSpc>
            </a:pPr>
            <a:r>
              <a:rPr lang="zh-CN" altLang="en-US" dirty="0">
                <a:cs typeface="宋体" panose="02010600030101010101" pitchFamily="2" charset="-122"/>
              </a:rPr>
              <a:t>事务</a:t>
            </a:r>
            <a:r>
              <a:rPr lang="en-US" altLang="zh-CN" dirty="0">
                <a:cs typeface="宋体" panose="02010600030101010101" pitchFamily="2" charset="-122"/>
              </a:rPr>
              <a:t>T2 </a:t>
            </a:r>
            <a:r>
              <a:rPr lang="zh-CN" altLang="en-US" dirty="0">
                <a:cs typeface="宋体" panose="02010600030101010101" pitchFamily="2" charset="-122"/>
              </a:rPr>
              <a:t>读取并更新同一个对象</a:t>
            </a:r>
          </a:p>
          <a:p>
            <a:pPr lvl="1">
              <a:lnSpc>
                <a:spcPct val="150000"/>
              </a:lnSpc>
            </a:pPr>
            <a:r>
              <a:rPr lang="zh-CN" altLang="en-US" dirty="0">
                <a:cs typeface="宋体" panose="02010600030101010101" pitchFamily="2" charset="-122"/>
              </a:rPr>
              <a:t>事务</a:t>
            </a:r>
            <a:r>
              <a:rPr lang="en-US" altLang="zh-CN" dirty="0">
                <a:cs typeface="宋体" panose="02010600030101010101" pitchFamily="2" charset="-122"/>
              </a:rPr>
              <a:t>T1 </a:t>
            </a:r>
            <a:r>
              <a:rPr lang="zh-CN" altLang="en-US" dirty="0">
                <a:cs typeface="宋体" panose="02010600030101010101" pitchFamily="2" charset="-122"/>
              </a:rPr>
              <a:t>再一次读取同一个对象</a:t>
            </a:r>
            <a:r>
              <a:rPr lang="en-US" altLang="zh-CN" dirty="0">
                <a:cs typeface="宋体" panose="02010600030101010101" pitchFamily="2" charset="-122"/>
              </a:rPr>
              <a:t>,</a:t>
            </a:r>
            <a:r>
              <a:rPr lang="zh-CN" altLang="en-US" dirty="0">
                <a:cs typeface="宋体" panose="02010600030101010101" pitchFamily="2" charset="-122"/>
              </a:rPr>
              <a:t>但是读取到一个修改后的新值</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如果事务是串行的话，预期的情况是：如果事务是只读的，则每次读取的结果是一致的</a:t>
            </a:r>
            <a:endParaRPr lang="en-US" altLang="zh-CN" dirty="0">
              <a:cs typeface="宋体" panose="02010600030101010101" pitchFamily="2" charset="-122"/>
            </a:endParaRPr>
          </a:p>
          <a:p>
            <a:pPr lvl="1"/>
            <a:endParaRPr lang="en-US" altLang="zh-CN" sz="2000" dirty="0">
              <a:ea typeface="宋体" panose="02010600030101010101" pitchFamily="2" charset="-122"/>
              <a:cs typeface="宋体" panose="02010600030101010101" pitchFamily="2"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235442091"/>
              </p:ext>
            </p:extLst>
          </p:nvPr>
        </p:nvGraphicFramePr>
        <p:xfrm>
          <a:off x="1524000" y="3764249"/>
          <a:ext cx="7783846" cy="2373026"/>
        </p:xfrm>
        <a:graphic>
          <a:graphicData uri="http://schemas.openxmlformats.org/drawingml/2006/table">
            <a:tbl>
              <a:tblPr firstRow="1" bandRow="1">
                <a:effectLst>
                  <a:outerShdw blurRad="50800" dist="50800" dir="5400000" algn="ctr" rotWithShape="0">
                    <a:schemeClr val="bg1"/>
                  </a:outerShdw>
                </a:effectLst>
                <a:tableStyleId>{5C22544A-7EE6-4342-B048-85BDC9FD1C3A}</a:tableStyleId>
              </a:tblPr>
              <a:tblGrid>
                <a:gridCol w="2694960">
                  <a:extLst>
                    <a:ext uri="{9D8B030D-6E8A-4147-A177-3AD203B41FA5}">
                      <a16:colId xmlns:a16="http://schemas.microsoft.com/office/drawing/2014/main" xmlns="" val="20000"/>
                    </a:ext>
                  </a:extLst>
                </a:gridCol>
                <a:gridCol w="2623286">
                  <a:extLst>
                    <a:ext uri="{9D8B030D-6E8A-4147-A177-3AD203B41FA5}">
                      <a16:colId xmlns:a16="http://schemas.microsoft.com/office/drawing/2014/main" xmlns="" val="20001"/>
                    </a:ext>
                  </a:extLst>
                </a:gridCol>
                <a:gridCol w="2465600">
                  <a:extLst>
                    <a:ext uri="{9D8B030D-6E8A-4147-A177-3AD203B41FA5}">
                      <a16:colId xmlns:a16="http://schemas.microsoft.com/office/drawing/2014/main" xmlns="" val="20002"/>
                    </a:ext>
                  </a:extLst>
                </a:gridCol>
              </a:tblGrid>
              <a:tr h="330504">
                <a:tc>
                  <a:txBody>
                    <a:bodyPr/>
                    <a:lstStyle/>
                    <a:p>
                      <a:r>
                        <a:rPr lang="zh-CN" altLang="en-US" sz="1600" dirty="0">
                          <a:solidFill>
                            <a:schemeClr val="tx1"/>
                          </a:solidFill>
                        </a:rPr>
                        <a:t>操作</a:t>
                      </a:r>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T1</a:t>
                      </a:r>
                      <a:endParaRPr lang="zh-CN" altLang="en-US" sz="1600" dirty="0">
                        <a:solidFill>
                          <a:schemeClr val="tx1"/>
                        </a:solidFill>
                      </a:endParaRPr>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T2</a:t>
                      </a:r>
                      <a:endParaRPr lang="zh-CN" altLang="en-US" sz="1600" dirty="0">
                        <a:solidFill>
                          <a:schemeClr val="tx1"/>
                        </a:solidFill>
                      </a:endParaRPr>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02962">
                <a:tc>
                  <a:txBody>
                    <a:bodyPr/>
                    <a:lstStyle/>
                    <a:p>
                      <a:r>
                        <a:rPr lang="zh-CN" altLang="en-US" sz="1400" dirty="0"/>
                        <a:t>用户</a:t>
                      </a:r>
                      <a:r>
                        <a:rPr lang="en-US" altLang="zh-CN" sz="1400" dirty="0"/>
                        <a:t>1</a:t>
                      </a:r>
                      <a:r>
                        <a:rPr lang="zh-CN" altLang="en-US" sz="1400" dirty="0"/>
                        <a:t>启动事务</a:t>
                      </a:r>
                      <a:r>
                        <a:rPr lang="en-US" altLang="zh-CN" sz="1400" dirty="0"/>
                        <a:t>T1</a:t>
                      </a:r>
                      <a:endParaRPr lang="zh-CN" altLang="en-US" sz="14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begin work;</a:t>
                      </a:r>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468215">
                <a:tc>
                  <a:txBody>
                    <a:bodyPr/>
                    <a:lstStyle/>
                    <a:p>
                      <a:r>
                        <a:rPr lang="zh-CN" altLang="en-US" sz="1400" dirty="0"/>
                        <a:t>用户</a:t>
                      </a:r>
                      <a:r>
                        <a:rPr lang="en-US" altLang="zh-CN" sz="1400" dirty="0"/>
                        <a:t>1</a:t>
                      </a:r>
                      <a:r>
                        <a:rPr lang="zh-CN" altLang="en-US" sz="1400" dirty="0"/>
                        <a:t>读取一条记录</a:t>
                      </a:r>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baseline="0" dirty="0"/>
                        <a:t>Select  * from employee where </a:t>
                      </a:r>
                      <a:r>
                        <a:rPr lang="en-US" altLang="zh-CN" sz="1300" baseline="0" dirty="0" err="1"/>
                        <a:t>empno</a:t>
                      </a:r>
                      <a:r>
                        <a:rPr lang="en-US" altLang="zh-CN" sz="1300" baseline="0" dirty="0"/>
                        <a:t>=100;</a:t>
                      </a:r>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en-US" altLang="zh-CN" sz="1300" dirty="0"/>
                    </a:p>
                    <a:p>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02962">
                <a:tc>
                  <a:txBody>
                    <a:bodyPr/>
                    <a:lstStyle/>
                    <a:p>
                      <a:r>
                        <a:rPr lang="zh-CN" altLang="en-US" sz="1400" dirty="0"/>
                        <a:t>用户</a:t>
                      </a:r>
                      <a:r>
                        <a:rPr lang="en-US" altLang="zh-CN" sz="1400" dirty="0"/>
                        <a:t>2</a:t>
                      </a:r>
                      <a:r>
                        <a:rPr lang="zh-CN" altLang="en-US" sz="1400" dirty="0"/>
                        <a:t>启动事务</a:t>
                      </a:r>
                      <a:r>
                        <a:rPr lang="en-US" altLang="zh-CN" sz="1400" dirty="0"/>
                        <a:t>T2</a:t>
                      </a:r>
                      <a:endParaRPr lang="zh-CN" altLang="en-US" sz="14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begin work;</a:t>
                      </a:r>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68215">
                <a:tc rowSpan="2">
                  <a:txBody>
                    <a:bodyPr/>
                    <a:lstStyle/>
                    <a:p>
                      <a:r>
                        <a:rPr lang="zh-CN" altLang="en-US" sz="1400" dirty="0"/>
                        <a:t>用户</a:t>
                      </a:r>
                      <a:r>
                        <a:rPr lang="en-US" altLang="zh-CN" sz="1400" dirty="0"/>
                        <a:t>2</a:t>
                      </a:r>
                      <a:r>
                        <a:rPr lang="zh-CN" altLang="en-US" sz="1400" dirty="0"/>
                        <a:t>更新更新一条记录，用户</a:t>
                      </a:r>
                      <a:r>
                        <a:rPr lang="en-US" altLang="zh-CN" sz="1400" dirty="0"/>
                        <a:t>1</a:t>
                      </a:r>
                      <a:r>
                        <a:rPr lang="zh-CN" altLang="en-US" sz="1400" dirty="0"/>
                        <a:t>执行同样的查询语句，返回与上次不同的查询结果。</a:t>
                      </a:r>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300" dirty="0"/>
                        <a:t>Update</a:t>
                      </a:r>
                      <a:r>
                        <a:rPr lang="en-US" altLang="zh-CN" sz="1300" baseline="0" dirty="0"/>
                        <a:t> employee set salary = 50000 where </a:t>
                      </a:r>
                      <a:r>
                        <a:rPr lang="en-US" altLang="zh-CN" sz="1300" baseline="0" dirty="0" err="1"/>
                        <a:t>empno</a:t>
                      </a:r>
                      <a:r>
                        <a:rPr lang="en-US" altLang="zh-CN" sz="1300" baseline="0" dirty="0"/>
                        <a:t>=100</a:t>
                      </a:r>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468215">
                <a:tc vMerge="1">
                  <a:txBody>
                    <a:bodyPr/>
                    <a:lstStyle/>
                    <a:p>
                      <a:endParaRPr lang="zh-CN"/>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300" baseline="0" dirty="0"/>
                        <a:t>Select  * from employee where </a:t>
                      </a:r>
                      <a:r>
                        <a:rPr lang="en-US" altLang="zh-CN" sz="1300" baseline="0" dirty="0" err="1"/>
                        <a:t>empno</a:t>
                      </a:r>
                      <a:r>
                        <a:rPr lang="en-US" altLang="zh-CN" sz="1300" baseline="0" dirty="0"/>
                        <a:t>=100;</a:t>
                      </a:r>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300" dirty="0"/>
                    </a:p>
                  </a:txBody>
                  <a:tcPr marL="82626" marR="82626" marT="41313" marB="41313">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671575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p:txBody>
          <a:bodyPr/>
          <a:lstStyle/>
          <a:p>
            <a:r>
              <a:rPr lang="zh-CN" altLang="en-US" dirty="0">
                <a:cs typeface="宋体" panose="02010600030101010101" pitchFamily="2" charset="-122"/>
              </a:rPr>
              <a:t>幻影读 </a:t>
            </a:r>
            <a:r>
              <a:rPr lang="en-US" altLang="zh-CN" dirty="0">
                <a:cs typeface="宋体" panose="02010600030101010101" pitchFamily="2" charset="-122"/>
              </a:rPr>
              <a:t>–</a:t>
            </a:r>
            <a:r>
              <a:rPr lang="zh-CN" altLang="en-US" dirty="0">
                <a:cs typeface="宋体" panose="02010600030101010101" pitchFamily="2" charset="-122"/>
              </a:rPr>
              <a:t>问题与举例</a:t>
            </a:r>
          </a:p>
        </p:txBody>
      </p:sp>
      <p:sp>
        <p:nvSpPr>
          <p:cNvPr id="790534" name="Rectangle 6"/>
          <p:cNvSpPr>
            <a:spLocks noGrp="1" noChangeArrowheads="1"/>
          </p:cNvSpPr>
          <p:nvPr>
            <p:ph type="body" sz="quarter" idx="10"/>
          </p:nvPr>
        </p:nvSpPr>
        <p:spPr/>
        <p:txBody>
          <a:bodyPr>
            <a:normAutofit/>
          </a:bodyPr>
          <a:lstStyle/>
          <a:p>
            <a:pPr>
              <a:lnSpc>
                <a:spcPct val="150000"/>
              </a:lnSpc>
            </a:pPr>
            <a:r>
              <a:rPr lang="zh-CN" altLang="en-US" sz="2000" dirty="0">
                <a:cs typeface="宋体" panose="02010600030101010101" pitchFamily="2" charset="-122"/>
              </a:rPr>
              <a:t>幻影读：如果事务</a:t>
            </a:r>
            <a:r>
              <a:rPr lang="en-US" altLang="zh-CN" sz="2000" dirty="0">
                <a:cs typeface="宋体" panose="02010600030101010101" pitchFamily="2" charset="-122"/>
              </a:rPr>
              <a:t>T1</a:t>
            </a:r>
            <a:r>
              <a:rPr lang="zh-CN" altLang="en-US" sz="2000" dirty="0">
                <a:cs typeface="宋体" panose="02010600030101010101" pitchFamily="2" charset="-122"/>
              </a:rPr>
              <a:t>在同样的情况下多次执行</a:t>
            </a:r>
            <a:r>
              <a:rPr lang="en-US" altLang="zh-CN" sz="2000" dirty="0">
                <a:cs typeface="宋体" panose="02010600030101010101" pitchFamily="2" charset="-122"/>
              </a:rPr>
              <a:t>SELECT</a:t>
            </a:r>
            <a:r>
              <a:rPr lang="zh-CN" altLang="en-US" sz="2000" dirty="0">
                <a:cs typeface="宋体" panose="02010600030101010101" pitchFamily="2" charset="-122"/>
              </a:rPr>
              <a:t>读取的结果不同</a:t>
            </a:r>
            <a:endParaRPr lang="en-US" altLang="zh-CN" sz="2000" dirty="0">
              <a:cs typeface="宋体" panose="02010600030101010101" pitchFamily="2" charset="-122"/>
            </a:endParaRPr>
          </a:p>
          <a:p>
            <a:pPr lvl="1">
              <a:lnSpc>
                <a:spcPct val="150000"/>
              </a:lnSpc>
            </a:pPr>
            <a:r>
              <a:rPr lang="zh-CN" altLang="en-US" dirty="0">
                <a:cs typeface="宋体" panose="02010600030101010101" pitchFamily="2" charset="-122"/>
              </a:rPr>
              <a:t>事务</a:t>
            </a:r>
            <a:r>
              <a:rPr lang="en-US" altLang="zh-CN" dirty="0">
                <a:cs typeface="宋体" panose="02010600030101010101" pitchFamily="2" charset="-122"/>
              </a:rPr>
              <a:t>T1 </a:t>
            </a:r>
            <a:r>
              <a:rPr lang="zh-CN" altLang="en-US" dirty="0">
                <a:cs typeface="宋体" panose="02010600030101010101" pitchFamily="2" charset="-122"/>
              </a:rPr>
              <a:t>从一个表中检索特定条件的记录返回</a:t>
            </a:r>
            <a:r>
              <a:rPr lang="en-US" altLang="zh-CN" dirty="0">
                <a:cs typeface="宋体" panose="02010600030101010101" pitchFamily="2" charset="-122"/>
              </a:rPr>
              <a:t>m</a:t>
            </a:r>
            <a:r>
              <a:rPr lang="zh-CN" altLang="en-US" dirty="0">
                <a:cs typeface="宋体" panose="02010600030101010101" pitchFamily="2" charset="-122"/>
              </a:rPr>
              <a:t>条记录</a:t>
            </a:r>
          </a:p>
          <a:p>
            <a:pPr lvl="1">
              <a:lnSpc>
                <a:spcPct val="150000"/>
              </a:lnSpc>
            </a:pPr>
            <a:r>
              <a:rPr lang="zh-CN" altLang="en-US" dirty="0">
                <a:cs typeface="宋体" panose="02010600030101010101" pitchFamily="2" charset="-122"/>
              </a:rPr>
              <a:t>事务</a:t>
            </a:r>
            <a:r>
              <a:rPr lang="en-US" altLang="zh-CN" dirty="0">
                <a:cs typeface="宋体" panose="02010600030101010101" pitchFamily="2" charset="-122"/>
              </a:rPr>
              <a:t>T2 </a:t>
            </a:r>
            <a:r>
              <a:rPr lang="zh-CN" altLang="en-US" dirty="0">
                <a:cs typeface="宋体" panose="02010600030101010101" pitchFamily="2" charset="-122"/>
              </a:rPr>
              <a:t>往表中</a:t>
            </a:r>
            <a:r>
              <a:rPr lang="en-US" altLang="zh-CN" dirty="0">
                <a:cs typeface="宋体" panose="02010600030101010101" pitchFamily="2" charset="-122"/>
              </a:rPr>
              <a:t>insert/delete</a:t>
            </a:r>
            <a:r>
              <a:rPr lang="zh-CN" altLang="en-US" dirty="0">
                <a:cs typeface="宋体" panose="02010600030101010101" pitchFamily="2" charset="-122"/>
              </a:rPr>
              <a:t>其他的满足相同条件的记录</a:t>
            </a:r>
            <a:r>
              <a:rPr lang="en-US" altLang="zh-CN" dirty="0">
                <a:cs typeface="宋体" panose="02010600030101010101" pitchFamily="2" charset="-122"/>
              </a:rPr>
              <a:t> </a:t>
            </a:r>
          </a:p>
          <a:p>
            <a:pPr lvl="1">
              <a:lnSpc>
                <a:spcPct val="150000"/>
              </a:lnSpc>
            </a:pPr>
            <a:r>
              <a:rPr lang="zh-CN" altLang="en-US" dirty="0">
                <a:cs typeface="宋体" panose="02010600030101010101" pitchFamily="2" charset="-122"/>
              </a:rPr>
              <a:t>事务</a:t>
            </a:r>
            <a:r>
              <a:rPr lang="en-US" altLang="zh-CN" dirty="0">
                <a:cs typeface="宋体" panose="02010600030101010101" pitchFamily="2" charset="-122"/>
              </a:rPr>
              <a:t>T1 </a:t>
            </a:r>
            <a:r>
              <a:rPr lang="zh-CN" altLang="en-US" dirty="0">
                <a:cs typeface="宋体" panose="02010600030101010101" pitchFamily="2" charset="-122"/>
              </a:rPr>
              <a:t>再次以相同的条件检索该表的数据将返回 </a:t>
            </a:r>
            <a:r>
              <a:rPr lang="en-US" altLang="zh-CN" dirty="0">
                <a:cs typeface="宋体" panose="02010600030101010101" pitchFamily="2" charset="-122"/>
              </a:rPr>
              <a:t>&lt;&gt;M</a:t>
            </a:r>
            <a:r>
              <a:rPr lang="zh-CN" altLang="en-US" dirty="0">
                <a:cs typeface="宋体" panose="02010600030101010101" pitchFamily="2" charset="-122"/>
              </a:rPr>
              <a:t>条的记录</a:t>
            </a:r>
          </a:p>
          <a:p>
            <a:pPr lvl="1">
              <a:lnSpc>
                <a:spcPct val="150000"/>
              </a:lnSpc>
            </a:pPr>
            <a:r>
              <a:rPr lang="zh-CN" altLang="en-US" dirty="0">
                <a:cs typeface="宋体" panose="02010600030101010101" pitchFamily="2" charset="-122"/>
              </a:rPr>
              <a:t>如果事务是串行的话，预期的情况是：</a:t>
            </a:r>
            <a:r>
              <a:rPr lang="en-US" altLang="zh-CN" dirty="0">
                <a:cs typeface="宋体" panose="02010600030101010101" pitchFamily="2" charset="-122"/>
              </a:rPr>
              <a:t> </a:t>
            </a:r>
            <a:r>
              <a:rPr lang="zh-CN" altLang="en-US" dirty="0">
                <a:cs typeface="宋体" panose="02010600030101010101" pitchFamily="2" charset="-122"/>
              </a:rPr>
              <a:t>在一个事务内的第一次、第二次查询应该返回相同的结果</a:t>
            </a:r>
            <a:endParaRPr lang="en-US" altLang="zh-CN" dirty="0">
              <a:cs typeface="宋体" panose="02010600030101010101" pitchFamily="2" charset="-122"/>
            </a:endParaRPr>
          </a:p>
          <a:p>
            <a:pPr lvl="1"/>
            <a:endParaRPr lang="en-US" altLang="zh-CN" sz="2000" dirty="0">
              <a:ea typeface="宋体" panose="02010600030101010101" pitchFamily="2" charset="-122"/>
              <a:cs typeface="宋体" panose="02010600030101010101" pitchFamily="2"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985998200"/>
              </p:ext>
            </p:extLst>
          </p:nvPr>
        </p:nvGraphicFramePr>
        <p:xfrm>
          <a:off x="1524000" y="4135998"/>
          <a:ext cx="7462344" cy="2227984"/>
        </p:xfrm>
        <a:graphic>
          <a:graphicData uri="http://schemas.openxmlformats.org/drawingml/2006/table">
            <a:tbl>
              <a:tblPr firstRow="1" bandRow="1">
                <a:effectLst>
                  <a:outerShdw blurRad="50800" dist="50800" dir="5400000" algn="ctr" rotWithShape="0">
                    <a:schemeClr val="bg1"/>
                  </a:outerShdw>
                </a:effectLst>
                <a:tableStyleId>{5C22544A-7EE6-4342-B048-85BDC9FD1C3A}</a:tableStyleId>
              </a:tblPr>
              <a:tblGrid>
                <a:gridCol w="3048918">
                  <a:extLst>
                    <a:ext uri="{9D8B030D-6E8A-4147-A177-3AD203B41FA5}">
                      <a16:colId xmlns:a16="http://schemas.microsoft.com/office/drawing/2014/main" xmlns="" val="20000"/>
                    </a:ext>
                  </a:extLst>
                </a:gridCol>
                <a:gridCol w="1853293">
                  <a:extLst>
                    <a:ext uri="{9D8B030D-6E8A-4147-A177-3AD203B41FA5}">
                      <a16:colId xmlns:a16="http://schemas.microsoft.com/office/drawing/2014/main" xmlns="" val="20001"/>
                    </a:ext>
                  </a:extLst>
                </a:gridCol>
                <a:gridCol w="2560133">
                  <a:extLst>
                    <a:ext uri="{9D8B030D-6E8A-4147-A177-3AD203B41FA5}">
                      <a16:colId xmlns:a16="http://schemas.microsoft.com/office/drawing/2014/main" xmlns="" val="20002"/>
                    </a:ext>
                  </a:extLst>
                </a:gridCol>
              </a:tblGrid>
              <a:tr h="321011">
                <a:tc>
                  <a:txBody>
                    <a:bodyPr/>
                    <a:lstStyle/>
                    <a:p>
                      <a:r>
                        <a:rPr lang="zh-CN" altLang="en-US" sz="1600" dirty="0">
                          <a:solidFill>
                            <a:schemeClr val="tx1"/>
                          </a:solidFill>
                        </a:rPr>
                        <a:t>操作</a:t>
                      </a: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T1</a:t>
                      </a:r>
                      <a:endParaRPr lang="zh-CN" altLang="en-US" sz="1600" dirty="0">
                        <a:solidFill>
                          <a:schemeClr val="tx1"/>
                        </a:solidFill>
                      </a:endParaRP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事务</a:t>
                      </a:r>
                      <a:r>
                        <a:rPr lang="en-US" altLang="zh-CN" sz="1600" dirty="0">
                          <a:solidFill>
                            <a:schemeClr val="tx1"/>
                          </a:solidFill>
                        </a:rPr>
                        <a:t>T2</a:t>
                      </a:r>
                      <a:endParaRPr lang="zh-CN" altLang="en-US" sz="1600" dirty="0">
                        <a:solidFill>
                          <a:schemeClr val="tx1"/>
                        </a:solidFill>
                      </a:endParaRP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64044">
                <a:tc>
                  <a:txBody>
                    <a:bodyPr/>
                    <a:lstStyle/>
                    <a:p>
                      <a:r>
                        <a:rPr lang="zh-CN" altLang="en-US" sz="1200" dirty="0"/>
                        <a:t>用户</a:t>
                      </a:r>
                      <a:r>
                        <a:rPr lang="en-US" altLang="zh-CN" sz="1200" dirty="0"/>
                        <a:t>1</a:t>
                      </a:r>
                      <a:r>
                        <a:rPr lang="zh-CN" altLang="en-US" sz="1200" dirty="0"/>
                        <a:t>启动事务</a:t>
                      </a:r>
                      <a:r>
                        <a:rPr lang="en-US" altLang="zh-CN" sz="1200" dirty="0"/>
                        <a:t>T1</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t>begin work;</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444378">
                <a:tc>
                  <a:txBody>
                    <a:bodyPr/>
                    <a:lstStyle/>
                    <a:p>
                      <a:r>
                        <a:rPr lang="zh-CN" altLang="en-US" sz="1200" dirty="0"/>
                        <a:t>用户</a:t>
                      </a:r>
                      <a:r>
                        <a:rPr lang="en-US" altLang="zh-CN" sz="1200" dirty="0"/>
                        <a:t>1</a:t>
                      </a:r>
                      <a:r>
                        <a:rPr lang="zh-CN" altLang="en-US" sz="1200" dirty="0"/>
                        <a:t>基于某个查询条件执行一条查询语句</a:t>
                      </a: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200" baseline="0" dirty="0"/>
                        <a:t>Select  * from employee where salary&gt;30000;</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en-US" altLang="zh-CN" sz="1200" dirty="0"/>
                    </a:p>
                    <a:p>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264044">
                <a:tc>
                  <a:txBody>
                    <a:bodyPr/>
                    <a:lstStyle/>
                    <a:p>
                      <a:r>
                        <a:rPr lang="zh-CN" altLang="en-US" sz="1200" dirty="0"/>
                        <a:t>用户</a:t>
                      </a:r>
                      <a:r>
                        <a:rPr lang="en-US" altLang="zh-CN" sz="1200" dirty="0"/>
                        <a:t>2</a:t>
                      </a:r>
                      <a:r>
                        <a:rPr lang="zh-CN" altLang="en-US" sz="1200" dirty="0"/>
                        <a:t>启动事务</a:t>
                      </a:r>
                      <a:r>
                        <a:rPr lang="en-US" altLang="zh-CN" sz="1200" dirty="0"/>
                        <a:t>T2</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t>begin work;</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448875">
                <a:tc>
                  <a:txBody>
                    <a:bodyPr/>
                    <a:lstStyle/>
                    <a:p>
                      <a:r>
                        <a:rPr lang="zh-CN" altLang="en-US" sz="1200" dirty="0"/>
                        <a:t>用户</a:t>
                      </a:r>
                      <a:r>
                        <a:rPr lang="en-US" altLang="zh-CN" sz="1200" dirty="0"/>
                        <a:t>2</a:t>
                      </a:r>
                      <a:r>
                        <a:rPr lang="zh-CN" altLang="en-US" sz="1200" dirty="0"/>
                        <a:t>插入一条记录，该记录能够匹配用户</a:t>
                      </a:r>
                      <a:r>
                        <a:rPr lang="en-US" altLang="zh-CN" sz="1200" dirty="0"/>
                        <a:t>1</a:t>
                      </a:r>
                      <a:r>
                        <a:rPr lang="zh-CN" altLang="en-US" sz="1200" dirty="0"/>
                        <a:t>的查询条件</a:t>
                      </a: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t>Insert</a:t>
                      </a:r>
                      <a:r>
                        <a:rPr lang="en-US" altLang="zh-CN" sz="1200" baseline="0" dirty="0"/>
                        <a:t> into employee(</a:t>
                      </a:r>
                      <a:r>
                        <a:rPr lang="en-US" altLang="zh-CN" sz="1200" baseline="0" dirty="0" err="1"/>
                        <a:t>empno,salary</a:t>
                      </a:r>
                      <a:r>
                        <a:rPr lang="en-US" altLang="zh-CN" sz="1200" baseline="0" dirty="0"/>
                        <a:t>) values(123,35000)</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48299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t>用户</a:t>
                      </a:r>
                      <a:r>
                        <a:rPr lang="en-US" altLang="zh-CN" sz="1200" dirty="0"/>
                        <a:t>1</a:t>
                      </a:r>
                      <a:r>
                        <a:rPr lang="zh-CN" altLang="en-US" sz="1200" dirty="0"/>
                        <a:t>使用同样的查询条件进行查询，查询结果比上一次多一条记录</a:t>
                      </a:r>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r>
                        <a:rPr lang="en-US" altLang="zh-CN" sz="1200" baseline="0" dirty="0"/>
                        <a:t>Select  * from employee where salary&gt;30000;</a:t>
                      </a:r>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p>
                  </a:txBody>
                  <a:tcPr marL="79214" marR="79214" marT="39607" marB="3960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8252727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r>
              <a:rPr lang="zh-CN" altLang="en-US" dirty="0">
                <a:cs typeface="宋体" panose="02010600030101010101" pitchFamily="2" charset="-122"/>
              </a:rPr>
              <a:t>锁机制</a:t>
            </a:r>
            <a:endParaRPr lang="en-US" altLang="zh-CN" dirty="0">
              <a:cs typeface="宋体" panose="02010600030101010101" pitchFamily="2" charset="-122"/>
            </a:endParaRPr>
          </a:p>
        </p:txBody>
      </p:sp>
      <p:sp>
        <p:nvSpPr>
          <p:cNvPr id="1029123" name="Rectangle 3"/>
          <p:cNvSpPr>
            <a:spLocks noGrp="1" noChangeArrowheads="1"/>
          </p:cNvSpPr>
          <p:nvPr>
            <p:ph type="body" sz="quarter" idx="10"/>
          </p:nvPr>
        </p:nvSpPr>
        <p:spPr/>
        <p:txBody>
          <a:bodyPr>
            <a:normAutofit/>
          </a:bodyPr>
          <a:lstStyle/>
          <a:p>
            <a:pPr>
              <a:lnSpc>
                <a:spcPct val="150000"/>
              </a:lnSpc>
            </a:pPr>
            <a:r>
              <a:rPr lang="zh-CN" altLang="en-US" dirty="0">
                <a:cs typeface="宋体" panose="02010600030101010101" pitchFamily="2" charset="-122"/>
              </a:rPr>
              <a:t>在多用户数据库系统中，锁非常重要</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用户可以锁定一个对象，可以防止其他用户修改锁定的对象</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多个并发用户访问数据库数据的情况下，为了保证数据的完整性，锁是必需的</a:t>
            </a:r>
            <a:endParaRPr lang="en-US" altLang="zh-CN" dirty="0">
              <a:cs typeface="宋体" panose="02010600030101010101" pitchFamily="2" charset="-122"/>
            </a:endParaRPr>
          </a:p>
        </p:txBody>
      </p:sp>
      <p:pic>
        <p:nvPicPr>
          <p:cNvPr id="1029124" name="Picture 4"/>
          <p:cNvPicPr>
            <a:picLocks noGrp="1" noChangeAspect="1" noChangeArrowheads="1"/>
          </p:cNvPicPr>
          <p:nvPr>
            <p:ph sz="quarter" idx="4294967295"/>
          </p:nvPr>
        </p:nvPicPr>
        <p:blipFill>
          <a:blip r:embed="rId3" cstate="print">
            <a:extLst>
              <a:ext uri="{28A0092B-C50C-407E-A947-70E740481C1C}">
                <a14:useLocalDpi xmlns:a14="http://schemas.microsoft.com/office/drawing/2010/main" val="0"/>
              </a:ext>
            </a:extLst>
          </a:blip>
          <a:stretch>
            <a:fillRect/>
          </a:stretch>
        </p:blipFill>
        <p:spPr>
          <a:xfrm>
            <a:off x="0" y="1406525"/>
            <a:ext cx="4119563" cy="2044700"/>
          </a:xfrm>
          <a:ln w="3175">
            <a:solidFill>
              <a:schemeClr val="accent1"/>
            </a:solidFill>
          </a:ln>
        </p:spPr>
      </p:pic>
      <p:pic>
        <p:nvPicPr>
          <p:cNvPr id="1029125" name="Picture 5"/>
          <p:cNvPicPr>
            <a:picLocks noGrp="1" noChangeAspect="1" noChangeArrowheads="1"/>
          </p:cNvPicPr>
          <p:nvPr>
            <p:ph sz="quarter" idx="4294967295"/>
          </p:nvPr>
        </p:nvPicPr>
        <p:blipFill>
          <a:blip r:embed="rId4" cstate="print">
            <a:extLst>
              <a:ext uri="{28A0092B-C50C-407E-A947-70E740481C1C}">
                <a14:useLocalDpi xmlns:a14="http://schemas.microsoft.com/office/drawing/2010/main" val="0"/>
              </a:ext>
            </a:extLst>
          </a:blip>
          <a:stretch>
            <a:fillRect/>
          </a:stretch>
        </p:blipFill>
        <p:spPr>
          <a:xfrm>
            <a:off x="8197850" y="1404938"/>
            <a:ext cx="3994150" cy="2019300"/>
          </a:xfrm>
          <a:ln w="3175">
            <a:solidFill>
              <a:schemeClr val="accent1"/>
            </a:solidFill>
          </a:ln>
        </p:spPr>
      </p:pic>
    </p:spTree>
    <p:extLst>
      <p:ext uri="{BB962C8B-B14F-4D97-AF65-F5344CB8AC3E}">
        <p14:creationId xmlns:p14="http://schemas.microsoft.com/office/powerpoint/2010/main" val="14141835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2" name="Rectangle 2"/>
          <p:cNvSpPr>
            <a:spLocks noGrp="1" noChangeArrowheads="1"/>
          </p:cNvSpPr>
          <p:nvPr>
            <p:ph type="title"/>
          </p:nvPr>
        </p:nvSpPr>
        <p:spPr/>
        <p:txBody>
          <a:bodyPr/>
          <a:lstStyle/>
          <a:p>
            <a:r>
              <a:rPr lang="zh-CN" altLang="en-US" dirty="0">
                <a:cs typeface="宋体" panose="02010600030101010101" pitchFamily="2" charset="-122"/>
              </a:rPr>
              <a:t>锁机制</a:t>
            </a:r>
            <a:endParaRPr lang="en-US" altLang="zh-CN" dirty="0">
              <a:cs typeface="宋体" panose="02010600030101010101" pitchFamily="2" charset="-122"/>
            </a:endParaRPr>
          </a:p>
        </p:txBody>
      </p:sp>
      <p:sp>
        <p:nvSpPr>
          <p:cNvPr id="1008643" name="Rectangle 3"/>
          <p:cNvSpPr>
            <a:spLocks noGrp="1" noChangeArrowheads="1"/>
          </p:cNvSpPr>
          <p:nvPr>
            <p:ph type="body" sz="quarter" idx="10"/>
          </p:nvPr>
        </p:nvSpPr>
        <p:spPr>
          <a:prstGeom prst="rect">
            <a:avLst/>
          </a:prstGeom>
        </p:spPr>
        <p:txBody>
          <a:bodyPr>
            <a:normAutofit lnSpcReduction="10000"/>
          </a:bodyPr>
          <a:lstStyle/>
          <a:p>
            <a:pPr>
              <a:lnSpc>
                <a:spcPct val="150000"/>
              </a:lnSpc>
            </a:pPr>
            <a:r>
              <a:rPr lang="zh-CN" altLang="en-US" dirty="0">
                <a:cs typeface="宋体" panose="02010600030101010101" pitchFamily="2" charset="-122"/>
              </a:rPr>
              <a:t>锁作为关联到数据项的对象</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程序可以显示对数据加锁，数据库系统也可以隐式的对对象进行加锁</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锁描述事务所操作对象的一种状态信息</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锁的类型</a:t>
            </a:r>
            <a:r>
              <a:rPr lang="en-US" altLang="zh-CN" dirty="0">
                <a:cs typeface="宋体" panose="02010600030101010101" pitchFamily="2" charset="-122"/>
              </a:rPr>
              <a:t>:</a:t>
            </a:r>
          </a:p>
          <a:p>
            <a:pPr lvl="1">
              <a:lnSpc>
                <a:spcPct val="150000"/>
              </a:lnSpc>
            </a:pPr>
            <a:r>
              <a:rPr lang="en-US" altLang="zh-CN" dirty="0">
                <a:cs typeface="宋体" panose="02010600030101010101" pitchFamily="2" charset="-122"/>
              </a:rPr>
              <a:t>Shared locks: </a:t>
            </a:r>
            <a:r>
              <a:rPr lang="zh-CN" altLang="en-US" dirty="0">
                <a:cs typeface="宋体" panose="02010600030101010101" pitchFamily="2" charset="-122"/>
              </a:rPr>
              <a:t>共享锁，多个用户可以同时读取相同的记录</a:t>
            </a:r>
            <a:endParaRPr lang="en-US" altLang="zh-CN" dirty="0">
              <a:cs typeface="宋体" panose="02010600030101010101" pitchFamily="2" charset="-122"/>
            </a:endParaRPr>
          </a:p>
          <a:p>
            <a:pPr lvl="1">
              <a:lnSpc>
                <a:spcPct val="150000"/>
              </a:lnSpc>
            </a:pPr>
            <a:r>
              <a:rPr lang="en-US" altLang="zh-CN" dirty="0">
                <a:cs typeface="宋体" panose="02010600030101010101" pitchFamily="2" charset="-122"/>
              </a:rPr>
              <a:t>Exclusive locks: </a:t>
            </a:r>
            <a:r>
              <a:rPr lang="zh-CN" altLang="en-US" dirty="0">
                <a:cs typeface="宋体" panose="02010600030101010101" pitchFamily="2" charset="-122"/>
              </a:rPr>
              <a:t>排他锁，同一时间仅仅有一个用户可以读取相同的记录</a:t>
            </a:r>
            <a:endParaRPr lang="en-US" altLang="zh-CN" dirty="0">
              <a:cs typeface="宋体" panose="02010600030101010101" pitchFamily="2" charset="-122"/>
            </a:endParaRPr>
          </a:p>
          <a:p>
            <a:pPr lvl="1">
              <a:lnSpc>
                <a:spcPct val="150000"/>
              </a:lnSpc>
            </a:pPr>
            <a:r>
              <a:rPr lang="en-US" altLang="zh-CN" dirty="0">
                <a:cs typeface="宋体" panose="02010600030101010101" pitchFamily="2" charset="-122"/>
              </a:rPr>
              <a:t>Promotable (Update) lock: </a:t>
            </a:r>
            <a:r>
              <a:rPr lang="zh-CN" altLang="en-US" dirty="0">
                <a:cs typeface="宋体" panose="02010600030101010101" pitchFamily="2" charset="-122"/>
              </a:rPr>
              <a:t>提升锁，可以从升级</a:t>
            </a:r>
            <a:r>
              <a:rPr lang="en-US" altLang="zh-CN" dirty="0">
                <a:cs typeface="宋体" panose="02010600030101010101" pitchFamily="2" charset="-122"/>
              </a:rPr>
              <a:t> (</a:t>
            </a:r>
            <a:r>
              <a:rPr lang="zh-CN" altLang="en-US" dirty="0">
                <a:cs typeface="宋体" panose="02010600030101010101" pitchFamily="2" charset="-122"/>
              </a:rPr>
              <a:t>从共享锁提升为排他锁</a:t>
            </a:r>
            <a:r>
              <a:rPr lang="en-US" altLang="zh-CN" dirty="0">
                <a:cs typeface="宋体" panose="02010600030101010101" pitchFamily="2" charset="-122"/>
              </a:rPr>
              <a:t>) </a:t>
            </a:r>
            <a:r>
              <a:rPr lang="zh-CN" altLang="en-US" dirty="0">
                <a:cs typeface="宋体" panose="02010600030101010101" pitchFamily="2" charset="-122"/>
              </a:rPr>
              <a:t>或者降级 </a:t>
            </a:r>
            <a:r>
              <a:rPr lang="en-US" altLang="zh-CN" dirty="0">
                <a:cs typeface="宋体" panose="02010600030101010101" pitchFamily="2" charset="-122"/>
              </a:rPr>
              <a:t>(</a:t>
            </a:r>
            <a:r>
              <a:rPr lang="zh-CN" altLang="en-US" dirty="0">
                <a:cs typeface="宋体" panose="02010600030101010101" pitchFamily="2" charset="-122"/>
              </a:rPr>
              <a:t>反之亦然</a:t>
            </a:r>
            <a:r>
              <a:rPr lang="en-US" altLang="zh-CN" dirty="0">
                <a:cs typeface="宋体" panose="02010600030101010101" pitchFamily="2" charset="-122"/>
              </a:rPr>
              <a:t>)</a:t>
            </a:r>
          </a:p>
          <a:p>
            <a:pPr lvl="1">
              <a:lnSpc>
                <a:spcPct val="150000"/>
              </a:lnSpc>
            </a:pPr>
            <a:r>
              <a:rPr lang="en-US" altLang="zh-CN" dirty="0">
                <a:cs typeface="宋体" panose="02010600030101010101" pitchFamily="2" charset="-122"/>
              </a:rPr>
              <a:t>Intent lock: </a:t>
            </a:r>
            <a:r>
              <a:rPr lang="zh-CN" altLang="en-US" dirty="0">
                <a:cs typeface="宋体" panose="02010600030101010101" pitchFamily="2" charset="-122"/>
              </a:rPr>
              <a:t>专一锁，是一种表级锁，标识在该表上有一个游标在读取数据</a:t>
            </a:r>
            <a:endParaRPr lang="en-US" altLang="zh-CN" dirty="0">
              <a:cs typeface="宋体" panose="02010600030101010101" pitchFamily="2" charset="-122"/>
            </a:endParaRPr>
          </a:p>
        </p:txBody>
      </p:sp>
    </p:spTree>
    <p:extLst>
      <p:ext uri="{BB962C8B-B14F-4D97-AF65-F5344CB8AC3E}">
        <p14:creationId xmlns:p14="http://schemas.microsoft.com/office/powerpoint/2010/main" val="6006158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2" name="Rectangle 4"/>
          <p:cNvSpPr>
            <a:spLocks noGrp="1" noChangeArrowheads="1"/>
          </p:cNvSpPr>
          <p:nvPr>
            <p:ph type="title"/>
          </p:nvPr>
        </p:nvSpPr>
        <p:spPr/>
        <p:txBody>
          <a:bodyPr/>
          <a:lstStyle/>
          <a:p>
            <a:r>
              <a:rPr lang="zh-CN" altLang="en-US" dirty="0">
                <a:cs typeface="宋体" panose="02010600030101010101" pitchFamily="2" charset="-122"/>
              </a:rPr>
              <a:t>锁的类型 </a:t>
            </a:r>
            <a:r>
              <a:rPr lang="en-US" altLang="zh-CN" dirty="0">
                <a:cs typeface="宋体" panose="02010600030101010101" pitchFamily="2" charset="-122"/>
              </a:rPr>
              <a:t>(1) </a:t>
            </a:r>
          </a:p>
        </p:txBody>
      </p:sp>
      <p:sp>
        <p:nvSpPr>
          <p:cNvPr id="1010693" name="Rectangle 5"/>
          <p:cNvSpPr>
            <a:spLocks noGrp="1" noChangeArrowheads="1"/>
          </p:cNvSpPr>
          <p:nvPr>
            <p:ph type="body" sz="quarter" idx="10"/>
          </p:nvPr>
        </p:nvSpPr>
        <p:spPr/>
        <p:txBody>
          <a:bodyPr>
            <a:normAutofit lnSpcReduction="10000"/>
          </a:bodyPr>
          <a:lstStyle/>
          <a:p>
            <a:pPr>
              <a:lnSpc>
                <a:spcPct val="150000"/>
              </a:lnSpc>
            </a:pPr>
            <a:r>
              <a:rPr lang="zh-CN" altLang="en-US" dirty="0">
                <a:cs typeface="宋体" panose="02010600030101010101" pitchFamily="2" charset="-122"/>
              </a:rPr>
              <a:t>共享锁（</a:t>
            </a:r>
            <a:r>
              <a:rPr lang="en-US" altLang="zh-CN" dirty="0">
                <a:cs typeface="宋体" panose="02010600030101010101" pitchFamily="2" charset="-122"/>
              </a:rPr>
              <a:t>lock-S</a:t>
            </a:r>
            <a:r>
              <a:rPr lang="zh-CN" altLang="en-US" dirty="0">
                <a:cs typeface="宋体" panose="02010600030101010101" pitchFamily="2" charset="-122"/>
              </a:rPr>
              <a:t>）</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如果一个对象上没有排他锁，则共享锁可以加在该对象上</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防止其他事务更新数据</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但同时，其他事务可以读取该数据</a:t>
            </a:r>
            <a:r>
              <a:rPr lang="en-US" altLang="zh-CN" dirty="0">
                <a:cs typeface="宋体" panose="02010600030101010101" pitchFamily="2" charset="-122"/>
              </a:rPr>
              <a:t> (</a:t>
            </a:r>
            <a:r>
              <a:rPr lang="zh-CN" altLang="en-US" dirty="0">
                <a:cs typeface="宋体" panose="02010600030101010101" pitchFamily="2" charset="-122"/>
              </a:rPr>
              <a:t>其他事务可以加共享锁</a:t>
            </a:r>
            <a:r>
              <a:rPr lang="en-US" altLang="zh-CN" dirty="0">
                <a:cs typeface="宋体" panose="02010600030101010101" pitchFamily="2" charset="-122"/>
              </a:rPr>
              <a:t>)</a:t>
            </a:r>
          </a:p>
          <a:p>
            <a:pPr lvl="1">
              <a:lnSpc>
                <a:spcPct val="150000"/>
              </a:lnSpc>
            </a:pPr>
            <a:r>
              <a:rPr lang="zh-CN" altLang="en-US" dirty="0">
                <a:cs typeface="宋体" panose="02010600030101010101" pitchFamily="2" charset="-122"/>
              </a:rPr>
              <a:t>多个事务可以在同一个对象上加多个共享锁</a:t>
            </a:r>
            <a:endParaRPr lang="en-US" altLang="zh-CN" dirty="0">
              <a:cs typeface="宋体" panose="02010600030101010101" pitchFamily="2" charset="-122"/>
            </a:endParaRPr>
          </a:p>
          <a:p>
            <a:pPr lvl="1">
              <a:lnSpc>
                <a:spcPct val="150000"/>
              </a:lnSpc>
            </a:pPr>
            <a:endParaRPr lang="en-US" altLang="zh-CN" dirty="0">
              <a:ea typeface="宋体" panose="02010600030101010101" pitchFamily="2" charset="-122"/>
              <a:cs typeface="宋体" panose="02010600030101010101" pitchFamily="2" charset="-122"/>
            </a:endParaRPr>
          </a:p>
          <a:p>
            <a:pPr>
              <a:lnSpc>
                <a:spcPct val="150000"/>
              </a:lnSpc>
            </a:pPr>
            <a:r>
              <a:rPr lang="zh-CN" altLang="en-US" dirty="0">
                <a:cs typeface="宋体" panose="02010600030101010101" pitchFamily="2" charset="-122"/>
              </a:rPr>
              <a:t>排他锁 </a:t>
            </a:r>
            <a:r>
              <a:rPr lang="en-US" altLang="zh-CN" dirty="0">
                <a:cs typeface="宋体" panose="02010600030101010101" pitchFamily="2" charset="-122"/>
              </a:rPr>
              <a:t>(lock-X)</a:t>
            </a:r>
          </a:p>
          <a:p>
            <a:pPr lvl="1">
              <a:lnSpc>
                <a:spcPct val="150000"/>
              </a:lnSpc>
            </a:pPr>
            <a:r>
              <a:rPr lang="zh-CN" altLang="en-US" dirty="0">
                <a:cs typeface="宋体" panose="02010600030101010101" pitchFamily="2" charset="-122"/>
              </a:rPr>
              <a:t>如果记录上没有任何锁，排他锁才可以加在该对象上</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一旦在记录上加了排他锁，则不能在该记录上增加任何锁了，直至锁释放</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防止其他事务读取和修改数据</a:t>
            </a:r>
            <a:endParaRPr lang="en-US" altLang="zh-CN" dirty="0">
              <a:cs typeface="宋体" panose="02010600030101010101" pitchFamily="2" charset="-122"/>
            </a:endParaRPr>
          </a:p>
          <a:p>
            <a:pPr lvl="1"/>
            <a:endParaRPr lang="en-US" altLang="zh-CN" dirty="0">
              <a:ea typeface="宋体" panose="02010600030101010101" pitchFamily="2" charset="-122"/>
              <a:cs typeface="宋体" panose="02010600030101010101" pitchFamily="2" charset="-122"/>
            </a:endParaRPr>
          </a:p>
        </p:txBody>
      </p:sp>
      <p:sp>
        <p:nvSpPr>
          <p:cNvPr id="5" name="灯片编号占位符 4"/>
          <p:cNvSpPr>
            <a:spLocks noGrp="1"/>
          </p:cNvSpPr>
          <p:nvPr>
            <p:ph type="sldNum" sz="quarter" idx="4294967295"/>
          </p:nvPr>
        </p:nvSpPr>
        <p:spPr/>
        <p:txBody>
          <a:bodyPr/>
          <a:lstStyle/>
          <a:p>
            <a:endParaRPr lang="zh-CN" altLang="en-US" dirty="0"/>
          </a:p>
        </p:txBody>
      </p:sp>
      <p:sp>
        <p:nvSpPr>
          <p:cNvPr id="1010695" name="Rectangle 7"/>
          <p:cNvSpPr>
            <a:spLocks noChangeArrowheads="1"/>
          </p:cNvSpPr>
          <p:nvPr/>
        </p:nvSpPr>
        <p:spPr bwMode="auto">
          <a:xfrm>
            <a:off x="6172200" y="5105400"/>
            <a:ext cx="3810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eaLnBrk="0" hangingPunct="0">
              <a:buClr>
                <a:schemeClr val="accent2"/>
              </a:buClr>
              <a:buFont typeface="Wingdings" panose="05000000000000000000" charset="0"/>
              <a:buChar char="§"/>
            </a:pPr>
            <a:endParaRPr lang="zh-CN" altLang="en-US">
              <a:cs typeface="宋体" panose="02010600030101010101" pitchFamily="2" charset="-122"/>
            </a:endParaRPr>
          </a:p>
        </p:txBody>
      </p:sp>
    </p:spTree>
    <p:extLst>
      <p:ext uri="{BB962C8B-B14F-4D97-AF65-F5344CB8AC3E}">
        <p14:creationId xmlns:p14="http://schemas.microsoft.com/office/powerpoint/2010/main" val="36603181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40" name="Rectangle 4"/>
          <p:cNvSpPr>
            <a:spLocks noGrp="1" noChangeArrowheads="1"/>
          </p:cNvSpPr>
          <p:nvPr>
            <p:ph type="title"/>
          </p:nvPr>
        </p:nvSpPr>
        <p:spPr/>
        <p:txBody>
          <a:bodyPr/>
          <a:lstStyle/>
          <a:p>
            <a:r>
              <a:rPr lang="zh-CN" altLang="en-US" dirty="0">
                <a:cs typeface="宋体" panose="02010600030101010101" pitchFamily="2" charset="-122"/>
              </a:rPr>
              <a:t>锁的类型 </a:t>
            </a:r>
            <a:r>
              <a:rPr lang="en-US" altLang="zh-CN" dirty="0">
                <a:cs typeface="宋体" panose="02010600030101010101" pitchFamily="2" charset="-122"/>
              </a:rPr>
              <a:t>(2)</a:t>
            </a:r>
          </a:p>
        </p:txBody>
      </p:sp>
      <p:sp>
        <p:nvSpPr>
          <p:cNvPr id="1012741" name="Rectangle 5"/>
          <p:cNvSpPr>
            <a:spLocks noGrp="1" noChangeArrowheads="1"/>
          </p:cNvSpPr>
          <p:nvPr>
            <p:ph type="body" sz="quarter" idx="10"/>
          </p:nvPr>
        </p:nvSpPr>
        <p:spPr/>
        <p:txBody>
          <a:bodyPr>
            <a:normAutofit/>
          </a:bodyPr>
          <a:lstStyle/>
          <a:p>
            <a:pPr>
              <a:lnSpc>
                <a:spcPct val="150000"/>
              </a:lnSpc>
            </a:pPr>
            <a:r>
              <a:rPr lang="zh-CN" altLang="en-US" dirty="0">
                <a:cs typeface="宋体" panose="02010600030101010101" pitchFamily="2" charset="-122"/>
              </a:rPr>
              <a:t>更新锁 </a:t>
            </a:r>
            <a:r>
              <a:rPr lang="en-US" altLang="zh-CN" dirty="0">
                <a:cs typeface="宋体" panose="02010600030101010101" pitchFamily="2" charset="-122"/>
              </a:rPr>
              <a:t>(lock-U)</a:t>
            </a:r>
          </a:p>
          <a:p>
            <a:pPr lvl="1">
              <a:lnSpc>
                <a:spcPct val="150000"/>
              </a:lnSpc>
            </a:pPr>
            <a:r>
              <a:rPr lang="zh-CN" altLang="en-US" dirty="0">
                <a:cs typeface="宋体" panose="02010600030101010101" pitchFamily="2" charset="-122"/>
              </a:rPr>
              <a:t>在更新</a:t>
            </a:r>
            <a:r>
              <a:rPr lang="en-US" altLang="zh-CN" dirty="0">
                <a:cs typeface="宋体" panose="02010600030101010101" pitchFamily="2" charset="-122"/>
              </a:rPr>
              <a:t>cursor</a:t>
            </a:r>
            <a:r>
              <a:rPr lang="zh-CN" altLang="en-US" dirty="0">
                <a:cs typeface="宋体" panose="02010600030101010101" pitchFamily="2" charset="-122"/>
              </a:rPr>
              <a:t>中使用</a:t>
            </a:r>
          </a:p>
          <a:p>
            <a:pPr lvl="1">
              <a:lnSpc>
                <a:spcPct val="150000"/>
              </a:lnSpc>
            </a:pPr>
            <a:r>
              <a:rPr lang="zh-CN" altLang="en-US" dirty="0">
                <a:cs typeface="宋体" panose="02010600030101010101" pitchFamily="2" charset="-122"/>
              </a:rPr>
              <a:t>更新锁由</a:t>
            </a:r>
            <a:r>
              <a:rPr lang="en-US" altLang="zh-CN" dirty="0">
                <a:cs typeface="宋体" panose="02010600030101010101" pitchFamily="2" charset="-122"/>
              </a:rPr>
              <a:t>cursors </a:t>
            </a:r>
            <a:r>
              <a:rPr lang="zh-CN" altLang="en-US" dirty="0">
                <a:cs typeface="宋体" panose="02010600030101010101" pitchFamily="2" charset="-122"/>
              </a:rPr>
              <a:t>含有 ‘</a:t>
            </a:r>
            <a:r>
              <a:rPr lang="en-US" altLang="zh-CN" dirty="0">
                <a:cs typeface="宋体" panose="02010600030101010101" pitchFamily="2" charset="-122"/>
              </a:rPr>
              <a:t>for update’ </a:t>
            </a:r>
            <a:r>
              <a:rPr lang="zh-CN" altLang="en-US" dirty="0">
                <a:cs typeface="宋体" panose="02010600030101010101" pitchFamily="2" charset="-122"/>
              </a:rPr>
              <a:t>选项执行时产生的 ，只能在没有排他锁或者更新锁的记录上加更新锁</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当锁定的记录真正执行的时候，更新锁将提升为排他锁</a:t>
            </a:r>
            <a:endParaRPr lang="en-US" altLang="zh-CN" dirty="0">
              <a:cs typeface="宋体" panose="02010600030101010101" pitchFamily="2" charset="-122"/>
            </a:endParaRPr>
          </a:p>
          <a:p>
            <a:pPr marL="341630" lvl="1" indent="0">
              <a:lnSpc>
                <a:spcPct val="150000"/>
              </a:lnSpc>
              <a:buNone/>
            </a:pPr>
            <a:endParaRPr lang="en-US" altLang="zh-CN" dirty="0">
              <a:ea typeface="宋体" panose="02010600030101010101" pitchFamily="2" charset="-122"/>
              <a:cs typeface="宋体" panose="02010600030101010101" pitchFamily="2" charset="-122"/>
            </a:endParaRPr>
          </a:p>
        </p:txBody>
      </p:sp>
      <p:grpSp>
        <p:nvGrpSpPr>
          <p:cNvPr id="2" name="组合 1"/>
          <p:cNvGrpSpPr/>
          <p:nvPr/>
        </p:nvGrpSpPr>
        <p:grpSpPr>
          <a:xfrm>
            <a:off x="1483088" y="3692891"/>
            <a:ext cx="6491090" cy="2308324"/>
            <a:chOff x="1031144" y="3378227"/>
            <a:chExt cx="6491090" cy="2308324"/>
          </a:xfrm>
        </p:grpSpPr>
        <p:sp>
          <p:nvSpPr>
            <p:cNvPr id="6" name="TextBox 5"/>
            <p:cNvSpPr txBox="1"/>
            <p:nvPr/>
          </p:nvSpPr>
          <p:spPr>
            <a:xfrm>
              <a:off x="1031144" y="3378227"/>
              <a:ext cx="6491090" cy="2308324"/>
            </a:xfrm>
            <a:prstGeom prst="rect">
              <a:avLst/>
            </a:prstGeom>
            <a:noFill/>
          </p:spPr>
          <p:txBody>
            <a:bodyPr wrap="square" rtlCol="0">
              <a:spAutoFit/>
            </a:bodyPr>
            <a:lstStyle/>
            <a:p>
              <a:pPr>
                <a:lnSpc>
                  <a:spcPct val="150000"/>
                </a:lnSpc>
              </a:pPr>
              <a:r>
                <a:rPr lang="en-US" altLang="zh-CN" sz="1600" dirty="0"/>
                <a:t>Declare update cursor</a:t>
              </a:r>
            </a:p>
            <a:p>
              <a:pPr>
                <a:lnSpc>
                  <a:spcPct val="150000"/>
                </a:lnSpc>
              </a:pPr>
              <a:r>
                <a:rPr lang="en-US" altLang="zh-CN" sz="1600" dirty="0"/>
                <a:t>Begin work</a:t>
              </a:r>
            </a:p>
            <a:p>
              <a:pPr>
                <a:lnSpc>
                  <a:spcPct val="150000"/>
                </a:lnSpc>
              </a:pPr>
              <a:r>
                <a:rPr lang="en-US" altLang="zh-CN" sz="1600" dirty="0"/>
                <a:t>Open the cursor</a:t>
              </a:r>
            </a:p>
            <a:p>
              <a:pPr>
                <a:lnSpc>
                  <a:spcPct val="150000"/>
                </a:lnSpc>
              </a:pPr>
              <a:r>
                <a:rPr lang="en-US" altLang="zh-CN" sz="1600" dirty="0"/>
                <a:t>Fetch the row                 </a:t>
              </a:r>
              <a:r>
                <a:rPr lang="zh-CN" altLang="en-US" sz="1600" dirty="0"/>
                <a:t>为当前行加更新锁</a:t>
              </a:r>
              <a:endParaRPr lang="en-US" altLang="zh-CN" sz="1600" dirty="0"/>
            </a:p>
            <a:p>
              <a:pPr>
                <a:lnSpc>
                  <a:spcPct val="150000"/>
                </a:lnSpc>
              </a:pPr>
              <a:r>
                <a:rPr lang="en-US" altLang="zh-CN" sz="1600" dirty="0"/>
                <a:t>Update the row(</a:t>
              </a:r>
              <a:r>
                <a:rPr lang="zh-CN" altLang="en-US" sz="1600" dirty="0"/>
                <a:t>使用</a:t>
              </a:r>
              <a:r>
                <a:rPr lang="en-US" altLang="zh-CN" sz="1600" dirty="0"/>
                <a:t>where current  of)               </a:t>
              </a:r>
              <a:r>
                <a:rPr lang="zh-CN" altLang="en-US" sz="1600" dirty="0"/>
                <a:t>提升为排他锁</a:t>
              </a:r>
              <a:r>
                <a:rPr lang="en-US" altLang="zh-CN" sz="1600" dirty="0"/>
                <a:t>           </a:t>
              </a:r>
            </a:p>
            <a:p>
              <a:pPr>
                <a:lnSpc>
                  <a:spcPct val="150000"/>
                </a:lnSpc>
              </a:pPr>
              <a:r>
                <a:rPr lang="en-US" altLang="zh-CN" sz="1600" dirty="0"/>
                <a:t>Commit work               </a:t>
              </a:r>
              <a:r>
                <a:rPr lang="zh-CN" altLang="en-US" sz="1600" dirty="0"/>
                <a:t>释放锁</a:t>
              </a:r>
              <a:endParaRPr lang="en-US" altLang="zh-CN" sz="1600" dirty="0"/>
            </a:p>
          </p:txBody>
        </p:sp>
        <p:cxnSp>
          <p:nvCxnSpPr>
            <p:cNvPr id="11" name="直接箭头连接符 10"/>
            <p:cNvCxnSpPr/>
            <p:nvPr/>
          </p:nvCxnSpPr>
          <p:spPr bwMode="auto">
            <a:xfrm flipH="1">
              <a:off x="4808535" y="5125370"/>
              <a:ext cx="506183" cy="1"/>
            </a:xfrm>
            <a:prstGeom prst="straightConnector1">
              <a:avLst/>
            </a:prstGeom>
            <a:noFill/>
            <a:ln w="9525" cap="flat" cmpd="sng" algn="ctr">
              <a:solidFill>
                <a:schemeClr val="tx1"/>
              </a:solidFill>
              <a:prstDash val="solid"/>
              <a:round/>
              <a:headEnd type="none" w="med" len="med"/>
              <a:tailEnd type="arrow"/>
            </a:ln>
            <a:effectLst/>
          </p:spPr>
        </p:cxnSp>
        <p:cxnSp>
          <p:nvCxnSpPr>
            <p:cNvPr id="17" name="直接箭头连接符 16"/>
            <p:cNvCxnSpPr/>
            <p:nvPr/>
          </p:nvCxnSpPr>
          <p:spPr bwMode="auto">
            <a:xfrm flipH="1">
              <a:off x="2552049" y="5452614"/>
              <a:ext cx="506183" cy="1"/>
            </a:xfrm>
            <a:prstGeom prst="straightConnector1">
              <a:avLst/>
            </a:prstGeom>
            <a:noFill/>
            <a:ln w="9525" cap="flat" cmpd="sng" algn="ctr">
              <a:solidFill>
                <a:schemeClr val="tx1"/>
              </a:solidFill>
              <a:prstDash val="solid"/>
              <a:round/>
              <a:headEnd type="none" w="med" len="med"/>
              <a:tailEnd type="arrow"/>
            </a:ln>
            <a:effectLst/>
          </p:spPr>
        </p:cxnSp>
        <p:cxnSp>
          <p:nvCxnSpPr>
            <p:cNvPr id="18" name="直接箭头连接符 17"/>
            <p:cNvCxnSpPr/>
            <p:nvPr/>
          </p:nvCxnSpPr>
          <p:spPr bwMode="auto">
            <a:xfrm flipH="1">
              <a:off x="2737848" y="4744881"/>
              <a:ext cx="506183" cy="1"/>
            </a:xfrm>
            <a:prstGeom prst="straightConnector1">
              <a:avLst/>
            </a:prstGeom>
            <a:noFill/>
            <a:ln w="9525"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2767910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40" name="Rectangle 4"/>
          <p:cNvSpPr>
            <a:spLocks noGrp="1" noChangeArrowheads="1"/>
          </p:cNvSpPr>
          <p:nvPr>
            <p:ph type="title"/>
          </p:nvPr>
        </p:nvSpPr>
        <p:spPr/>
        <p:txBody>
          <a:bodyPr/>
          <a:lstStyle/>
          <a:p>
            <a:r>
              <a:rPr lang="zh-CN" altLang="en-US" dirty="0">
                <a:cs typeface="宋体" panose="02010600030101010101" pitchFamily="2" charset="-122"/>
              </a:rPr>
              <a:t>锁的类型 </a:t>
            </a:r>
            <a:r>
              <a:rPr lang="en-US" altLang="zh-CN" dirty="0">
                <a:cs typeface="宋体" panose="02010600030101010101" pitchFamily="2" charset="-122"/>
              </a:rPr>
              <a:t>(3)</a:t>
            </a:r>
          </a:p>
        </p:txBody>
      </p:sp>
      <p:sp>
        <p:nvSpPr>
          <p:cNvPr id="1012741" name="Rectangle 5"/>
          <p:cNvSpPr>
            <a:spLocks noGrp="1" noChangeArrowheads="1"/>
          </p:cNvSpPr>
          <p:nvPr>
            <p:ph type="body" sz="quarter" idx="10"/>
          </p:nvPr>
        </p:nvSpPr>
        <p:spPr/>
        <p:txBody>
          <a:bodyPr>
            <a:normAutofit/>
          </a:bodyPr>
          <a:lstStyle/>
          <a:p>
            <a:pPr>
              <a:lnSpc>
                <a:spcPct val="200000"/>
              </a:lnSpc>
            </a:pPr>
            <a:r>
              <a:rPr lang="zh-CN" altLang="en-US" dirty="0">
                <a:cs typeface="宋体" panose="02010600030101010101" pitchFamily="2" charset="-122"/>
              </a:rPr>
              <a:t>专一锁 </a:t>
            </a:r>
            <a:r>
              <a:rPr lang="en-US" altLang="zh-CN" dirty="0">
                <a:cs typeface="宋体" panose="02010600030101010101" pitchFamily="2" charset="-122"/>
              </a:rPr>
              <a:t>(lock-IX or IS)</a:t>
            </a:r>
          </a:p>
          <a:p>
            <a:pPr lvl="1">
              <a:lnSpc>
                <a:spcPct val="200000"/>
              </a:lnSpc>
            </a:pPr>
            <a:r>
              <a:rPr lang="zh-CN" altLang="en-US" dirty="0">
                <a:cs typeface="宋体" panose="02010600030101010101" pitchFamily="2" charset="-122"/>
              </a:rPr>
              <a:t>由</a:t>
            </a:r>
            <a:r>
              <a:rPr lang="en-US" altLang="zh-CN" dirty="0">
                <a:cs typeface="宋体" panose="02010600030101010101" pitchFamily="2" charset="-122"/>
              </a:rPr>
              <a:t>GBase 8s</a:t>
            </a:r>
            <a:r>
              <a:rPr lang="zh-CN" altLang="en-US" dirty="0">
                <a:cs typeface="宋体" panose="02010600030101010101" pitchFamily="2" charset="-122"/>
              </a:rPr>
              <a:t>自动分配</a:t>
            </a:r>
          </a:p>
          <a:p>
            <a:pPr lvl="1">
              <a:lnSpc>
                <a:spcPct val="200000"/>
              </a:lnSpc>
            </a:pPr>
            <a:r>
              <a:rPr lang="zh-CN" altLang="en-US" dirty="0">
                <a:cs typeface="宋体" panose="02010600030101010101" pitchFamily="2" charset="-122"/>
              </a:rPr>
              <a:t>如果一条记录上的记录被更新，一个排他锁将分配在该记录上，同时将该记录的表上自动加上专一锁</a:t>
            </a:r>
            <a:endParaRPr lang="en-US" altLang="zh-CN" dirty="0">
              <a:cs typeface="宋体" panose="02010600030101010101" pitchFamily="2" charset="-122"/>
            </a:endParaRPr>
          </a:p>
          <a:p>
            <a:pPr lvl="1">
              <a:lnSpc>
                <a:spcPct val="200000"/>
              </a:lnSpc>
            </a:pPr>
            <a:r>
              <a:rPr lang="zh-CN" altLang="en-US" dirty="0">
                <a:cs typeface="宋体" panose="02010600030101010101" pitchFamily="2" charset="-122"/>
              </a:rPr>
              <a:t>这能保证没有</a:t>
            </a:r>
            <a:r>
              <a:rPr lang="en-US" altLang="zh-CN" dirty="0">
                <a:cs typeface="宋体" panose="02010600030101010101" pitchFamily="2" charset="-122"/>
              </a:rPr>
              <a:t>session</a:t>
            </a:r>
            <a:r>
              <a:rPr lang="zh-CN" altLang="en-US" dirty="0">
                <a:cs typeface="宋体" panose="02010600030101010101" pitchFamily="2" charset="-122"/>
              </a:rPr>
              <a:t>可以在该表上增加排他锁，只要该表中有记录被增加了排他锁</a:t>
            </a:r>
            <a:endParaRPr lang="en-US" altLang="zh-CN" dirty="0">
              <a:cs typeface="宋体" panose="02010600030101010101" pitchFamily="2" charset="-122"/>
            </a:endParaRPr>
          </a:p>
        </p:txBody>
      </p:sp>
    </p:spTree>
    <p:extLst>
      <p:ext uri="{BB962C8B-B14F-4D97-AF65-F5344CB8AC3E}">
        <p14:creationId xmlns:p14="http://schemas.microsoft.com/office/powerpoint/2010/main" val="36364660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r>
              <a:rPr lang="en-US" altLang="zh-CN" dirty="0">
                <a:cs typeface="宋体" panose="02010600030101010101" pitchFamily="2" charset="-122"/>
              </a:rPr>
              <a:t>Lock </a:t>
            </a:r>
            <a:r>
              <a:rPr lang="zh-CN" altLang="en-US" dirty="0">
                <a:cs typeface="宋体" panose="02010600030101010101" pitchFamily="2" charset="-122"/>
              </a:rPr>
              <a:t>兼容矩阵</a:t>
            </a:r>
          </a:p>
        </p:txBody>
      </p:sp>
      <p:sp>
        <p:nvSpPr>
          <p:cNvPr id="1062923" name="Rectangle 11"/>
          <p:cNvSpPr>
            <a:spLocks noChangeArrowheads="1"/>
          </p:cNvSpPr>
          <p:nvPr/>
        </p:nvSpPr>
        <p:spPr bwMode="black">
          <a:xfrm>
            <a:off x="1792341" y="1122128"/>
            <a:ext cx="7461979" cy="1293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buClr>
                <a:schemeClr val="accent2"/>
              </a:buClr>
            </a:pPr>
            <a:endParaRPr lang="en-US" altLang="zh-CN" sz="2000" dirty="0">
              <a:latin typeface="微软雅黑" panose="020B0503020204020204" pitchFamily="34" charset="-122"/>
              <a:ea typeface="微软雅黑" panose="020B0503020204020204" pitchFamily="34" charset="-122"/>
            </a:endParaRPr>
          </a:p>
          <a:p>
            <a:pPr eaLnBrk="0" hangingPunct="0">
              <a:buClr>
                <a:schemeClr val="accent2"/>
              </a:buClr>
            </a:pPr>
            <a:endParaRPr lang="en-US" altLang="zh-CN" b="0" dirty="0">
              <a:latin typeface="微软雅黑" panose="020B0503020204020204" pitchFamily="34" charset="-122"/>
              <a:ea typeface="微软雅黑" panose="020B0503020204020204" pitchFamily="34" charset="-122"/>
            </a:endParaRPr>
          </a:p>
          <a:p>
            <a:pPr eaLnBrk="0" hangingPunct="0">
              <a:buClr>
                <a:schemeClr val="accent2"/>
              </a:buClr>
            </a:pPr>
            <a:r>
              <a:rPr lang="zh-CN" altLang="en-US" sz="2000" dirty="0">
                <a:latin typeface="微软雅黑" panose="020B0503020204020204" pitchFamily="34" charset="-122"/>
                <a:ea typeface="微软雅黑" panose="020B0503020204020204" pitchFamily="34" charset="-122"/>
              </a:rPr>
              <a:t>如果一行记录已经被加锁</a:t>
            </a:r>
            <a:r>
              <a:rPr lang="zh-CN" altLang="en-US" b="0" dirty="0">
                <a:latin typeface="微软雅黑" panose="020B0503020204020204" pitchFamily="34" charset="-122"/>
                <a:ea typeface="微软雅黑" panose="020B0503020204020204" pitchFamily="34" charset="-122"/>
              </a:rPr>
              <a:t>，我们是否能够在该行记录加另外一个锁</a:t>
            </a:r>
            <a:r>
              <a:rPr lang="en-US" altLang="zh-CN" b="0" dirty="0">
                <a:latin typeface="微软雅黑" panose="020B0503020204020204" pitchFamily="34" charset="-122"/>
                <a:ea typeface="微软雅黑" panose="020B0503020204020204" pitchFamily="34" charset="-122"/>
              </a:rPr>
              <a:t>…?</a:t>
            </a:r>
          </a:p>
          <a:p>
            <a:pPr eaLnBrk="0" hangingPunct="0">
              <a:spcBef>
                <a:spcPct val="0"/>
              </a:spcBef>
              <a:buClr>
                <a:schemeClr val="accent2"/>
              </a:buClr>
              <a:buFont typeface="Wingdings" panose="05000000000000000000" charset="0"/>
              <a:buNone/>
            </a:pPr>
            <a:endParaRPr lang="en-US" altLang="zh-CN" sz="2000" dirty="0"/>
          </a:p>
        </p:txBody>
      </p:sp>
      <p:graphicFrame>
        <p:nvGraphicFramePr>
          <p:cNvPr id="7" name="表格 6"/>
          <p:cNvGraphicFramePr>
            <a:graphicFrameLocks noGrp="1"/>
          </p:cNvGraphicFramePr>
          <p:nvPr/>
        </p:nvGraphicFramePr>
        <p:xfrm>
          <a:off x="2275489" y="2617078"/>
          <a:ext cx="6358758" cy="1876095"/>
        </p:xfrm>
        <a:graphic>
          <a:graphicData uri="http://schemas.openxmlformats.org/drawingml/2006/table">
            <a:tbl>
              <a:tblPr firstRow="1" bandRow="1">
                <a:tableStyleId>{5C22544A-7EE6-4342-B048-85BDC9FD1C3A}</a:tableStyleId>
              </a:tblPr>
              <a:tblGrid>
                <a:gridCol w="2119586">
                  <a:extLst>
                    <a:ext uri="{9D8B030D-6E8A-4147-A177-3AD203B41FA5}">
                      <a16:colId xmlns:a16="http://schemas.microsoft.com/office/drawing/2014/main" xmlns="" val="20000"/>
                    </a:ext>
                  </a:extLst>
                </a:gridCol>
                <a:gridCol w="2119586">
                  <a:extLst>
                    <a:ext uri="{9D8B030D-6E8A-4147-A177-3AD203B41FA5}">
                      <a16:colId xmlns:a16="http://schemas.microsoft.com/office/drawing/2014/main" xmlns="" val="20001"/>
                    </a:ext>
                  </a:extLst>
                </a:gridCol>
                <a:gridCol w="2119586">
                  <a:extLst>
                    <a:ext uri="{9D8B030D-6E8A-4147-A177-3AD203B41FA5}">
                      <a16:colId xmlns:a16="http://schemas.microsoft.com/office/drawing/2014/main" xmlns="" val="20002"/>
                    </a:ext>
                  </a:extLst>
                </a:gridCol>
              </a:tblGrid>
              <a:tr h="727455">
                <a:tc>
                  <a:txBody>
                    <a:bodyPr/>
                    <a:lstStyle/>
                    <a:p>
                      <a:pPr algn="ctr"/>
                      <a:endParaRPr lang="zh-CN" altLang="en-US" sz="2000" b="1" kern="1200" dirty="0">
                        <a:solidFill>
                          <a:schemeClr val="tx1"/>
                        </a:solidFill>
                        <a:latin typeface="微软雅黑" panose="020B0503020204020204" pitchFamily="34" charset="-122"/>
                        <a:ea typeface="微软雅黑" panose="020B0503020204020204" pitchFamily="34" charset="-122"/>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共享锁</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排他锁</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xmlns="" val="10000"/>
                  </a:ext>
                </a:extLst>
              </a:tr>
              <a:tr h="574320">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共享锁</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是</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否</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574320">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排他锁</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否</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kern="1200" dirty="0">
                          <a:solidFill>
                            <a:schemeClr val="tx1"/>
                          </a:solidFill>
                          <a:latin typeface="微软雅黑" panose="020B0503020204020204" pitchFamily="34" charset="-122"/>
                          <a:ea typeface="微软雅黑" panose="020B0503020204020204" pitchFamily="34" charset="-122"/>
                          <a:cs typeface="+mn-cs"/>
                        </a:rPr>
                        <a:t>否</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0352329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Grp="1" noChangeArrowheads="1"/>
          </p:cNvSpPr>
          <p:nvPr>
            <p:ph type="title"/>
          </p:nvPr>
        </p:nvSpPr>
        <p:spPr/>
        <p:txBody>
          <a:bodyPr/>
          <a:lstStyle/>
          <a:p>
            <a:r>
              <a:rPr lang="en-US" altLang="zh-CN">
                <a:cs typeface="宋体" panose="02010600030101010101" pitchFamily="2" charset="-122"/>
              </a:rPr>
              <a:t>Lock</a:t>
            </a:r>
            <a:r>
              <a:rPr lang="zh-CN" altLang="en-US">
                <a:cs typeface="宋体" panose="02010600030101010101" pitchFamily="2" charset="-122"/>
              </a:rPr>
              <a:t>的有效期</a:t>
            </a:r>
          </a:p>
        </p:txBody>
      </p:sp>
      <p:sp>
        <p:nvSpPr>
          <p:cNvPr id="1014787" name="Rectangle 3"/>
          <p:cNvSpPr>
            <a:spLocks noGrp="1" noChangeArrowheads="1"/>
          </p:cNvSpPr>
          <p:nvPr>
            <p:ph type="body" sz="quarter" idx="10"/>
          </p:nvPr>
        </p:nvSpPr>
        <p:spPr/>
        <p:txBody>
          <a:bodyPr>
            <a:normAutofit/>
          </a:bodyPr>
          <a:lstStyle/>
          <a:p>
            <a:pPr marL="342900" indent="-34290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程序控制数据库锁的有效期</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当数据库关闭后，数据库锁将被释放</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根据数据库是否使用了事务的情况，表锁的有效期不同</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如果数据库没有使用事务（没有事务日志，也不使用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commit work</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语句），显式对一个表加锁，当执行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unlock table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时，锁将被释放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marL="742950" lvl="1" indent="-285750">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当数据库使用了事务，事务结束时，将释放事务持有的所有锁资源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p>
          <a:p>
            <a:pPr marL="742950" lvl="1" indent="-285750">
              <a:buNone/>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16050715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6" name="Rectangle 2"/>
          <p:cNvSpPr>
            <a:spLocks noGrp="1" noChangeArrowheads="1"/>
          </p:cNvSpPr>
          <p:nvPr>
            <p:ph type="title"/>
          </p:nvPr>
        </p:nvSpPr>
        <p:spPr/>
        <p:txBody>
          <a:bodyPr/>
          <a:lstStyle/>
          <a:p>
            <a:r>
              <a:rPr lang="en-US" altLang="zh-CN" dirty="0">
                <a:cs typeface="宋体" panose="02010600030101010101" pitchFamily="2" charset="-122"/>
              </a:rPr>
              <a:t>GBase 8s Lock </a:t>
            </a:r>
            <a:r>
              <a:rPr lang="zh-CN" altLang="en-US" dirty="0">
                <a:cs typeface="宋体" panose="02010600030101010101" pitchFamily="2" charset="-122"/>
              </a:rPr>
              <a:t>粒度 </a:t>
            </a:r>
            <a:r>
              <a:rPr lang="en-US" altLang="zh-CN" dirty="0">
                <a:cs typeface="宋体" panose="02010600030101010101" pitchFamily="2" charset="-122"/>
              </a:rPr>
              <a:t>(lock </a:t>
            </a:r>
            <a:r>
              <a:rPr lang="zh-CN" altLang="en-US" dirty="0">
                <a:cs typeface="宋体" panose="02010600030101010101" pitchFamily="2" charset="-122"/>
              </a:rPr>
              <a:t>范围</a:t>
            </a:r>
            <a:r>
              <a:rPr lang="en-US" altLang="zh-CN" dirty="0">
                <a:cs typeface="宋体" panose="02010600030101010101" pitchFamily="2" charset="-122"/>
              </a:rPr>
              <a:t>) (1)</a:t>
            </a:r>
          </a:p>
        </p:txBody>
      </p:sp>
      <p:sp>
        <p:nvSpPr>
          <p:cNvPr id="1025032" name="Rectangle 8"/>
          <p:cNvSpPr>
            <a:spLocks noGrp="1" noChangeArrowheads="1"/>
          </p:cNvSpPr>
          <p:nvPr>
            <p:ph type="body" sz="quarter" idx="10"/>
          </p:nvPr>
        </p:nvSpPr>
        <p:spPr/>
        <p:txBody>
          <a:bodyPr>
            <a:normAutofit/>
          </a:bodyPr>
          <a:lstStyle/>
          <a:p>
            <a:pPr>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GBase 8s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我们可以按如下粒度进行加锁</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p>
          <a:p>
            <a:pPr lvl="1"/>
            <a:r>
              <a:rPr lang="en-US" altLang="zh-CN" dirty="0">
                <a:latin typeface="微软雅黑" panose="020B0503020204020204" pitchFamily="34" charset="-122"/>
                <a:ea typeface="微软雅黑" panose="020B0503020204020204" pitchFamily="34" charset="-122"/>
                <a:cs typeface="微软雅黑" panose="020B0503020204020204" pitchFamily="34" charset="-122"/>
              </a:rPr>
              <a:t>entire databases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数据库</a:t>
            </a:r>
          </a:p>
          <a:p>
            <a:pPr lvl="1"/>
            <a:r>
              <a:rPr lang="en-US" altLang="zh-CN" dirty="0">
                <a:latin typeface="微软雅黑" panose="020B0503020204020204" pitchFamily="34" charset="-122"/>
                <a:ea typeface="微软雅黑" panose="020B0503020204020204" pitchFamily="34" charset="-122"/>
                <a:cs typeface="微软雅黑" panose="020B0503020204020204" pitchFamily="34" charset="-122"/>
              </a:rPr>
              <a:t>entire tables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表</a:t>
            </a:r>
          </a:p>
          <a:p>
            <a:pPr lvl="1"/>
            <a:r>
              <a:rPr lang="en-US" altLang="zh-CN" dirty="0">
                <a:latin typeface="微软雅黑" panose="020B0503020204020204" pitchFamily="34" charset="-122"/>
                <a:ea typeface="微软雅黑" panose="020B0503020204020204" pitchFamily="34" charset="-122"/>
                <a:cs typeface="微软雅黑" panose="020B0503020204020204" pitchFamily="34" charset="-122"/>
              </a:rPr>
              <a:t>disk pages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数据页</a:t>
            </a:r>
          </a:p>
          <a:p>
            <a:pPr lvl="1"/>
            <a:r>
              <a:rPr lang="en-US" altLang="zh-CN" dirty="0">
                <a:latin typeface="微软雅黑" panose="020B0503020204020204" pitchFamily="34" charset="-122"/>
                <a:ea typeface="微软雅黑" panose="020B0503020204020204" pitchFamily="34" charset="-122"/>
                <a:cs typeface="微软雅黑" panose="020B0503020204020204" pitchFamily="34" charset="-122"/>
              </a:rPr>
              <a:t>single rows, or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index-key values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一般来讲，锁的粒度越大，并发性就越低，但是程序控制将越简单</a:t>
            </a:r>
          </a:p>
        </p:txBody>
      </p:sp>
      <p:pic>
        <p:nvPicPr>
          <p:cNvPr id="1025033" name="Picture 9"/>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tretch>
            <a:fillRect/>
          </a:stretch>
        </p:blipFill>
        <p:spPr>
          <a:xfrm>
            <a:off x="4398963" y="3400425"/>
            <a:ext cx="7793037" cy="2400300"/>
          </a:xfrm>
        </p:spPr>
      </p:pic>
    </p:spTree>
    <p:extLst>
      <p:ext uri="{BB962C8B-B14F-4D97-AF65-F5344CB8AC3E}">
        <p14:creationId xmlns:p14="http://schemas.microsoft.com/office/powerpoint/2010/main" val="12551041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4" name="Rectangle 6"/>
          <p:cNvSpPr>
            <a:spLocks noGrp="1" noChangeArrowheads="1"/>
          </p:cNvSpPr>
          <p:nvPr>
            <p:ph type="title"/>
          </p:nvPr>
        </p:nvSpPr>
        <p:spPr/>
        <p:txBody>
          <a:bodyPr/>
          <a:lstStyle/>
          <a:p>
            <a:r>
              <a:rPr lang="en-US" altLang="zh-CN" dirty="0">
                <a:cs typeface="宋体" panose="02010600030101010101" pitchFamily="2" charset="-122"/>
              </a:rPr>
              <a:t>GBase 8s Lock </a:t>
            </a:r>
            <a:r>
              <a:rPr lang="zh-CN" altLang="en-US" dirty="0">
                <a:cs typeface="宋体" panose="02010600030101010101" pitchFamily="2" charset="-122"/>
              </a:rPr>
              <a:t>粒度 </a:t>
            </a:r>
            <a:r>
              <a:rPr lang="en-US" altLang="zh-CN" dirty="0">
                <a:cs typeface="宋体" panose="02010600030101010101" pitchFamily="2" charset="-122"/>
              </a:rPr>
              <a:t>(lock </a:t>
            </a:r>
            <a:r>
              <a:rPr lang="zh-CN" altLang="en-US" dirty="0">
                <a:cs typeface="宋体" panose="02010600030101010101" pitchFamily="2" charset="-122"/>
              </a:rPr>
              <a:t>范围</a:t>
            </a:r>
            <a:r>
              <a:rPr lang="en-US" altLang="zh-CN" dirty="0">
                <a:cs typeface="宋体" panose="02010600030101010101" pitchFamily="2" charset="-122"/>
              </a:rPr>
              <a:t>) (2)</a:t>
            </a:r>
          </a:p>
        </p:txBody>
      </p:sp>
      <p:sp>
        <p:nvSpPr>
          <p:cNvPr id="1036295" name="Rectangle 7"/>
          <p:cNvSpPr>
            <a:spLocks noGrp="1" noChangeArrowheads="1"/>
          </p:cNvSpPr>
          <p:nvPr>
            <p:ph type="body" sz="quarter" idx="10"/>
          </p:nvPr>
        </p:nvSpPr>
        <p:spPr/>
        <p:txBody>
          <a:bodyPr>
            <a:noAutofit/>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什么情况下采用不同粒度的锁才有效、最优</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20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数据库锁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数据库管理活动，比如：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dbimport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dbexport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3">
              <a:lnSpc>
                <a:spcPct val="1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DATABASE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database_name</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EXCLUSIVE</a:t>
            </a:r>
          </a:p>
          <a:p>
            <a:pPr lvl="1">
              <a:lnSpc>
                <a:spcPct val="200000"/>
              </a:lnSpc>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表锁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当整个表或者表的大部分数据需要更新，加表级锁效率高</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3">
              <a:lnSpc>
                <a:spcPct val="1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LOCK TABLE tab1 IN EXCLUSIVE MODE</a:t>
            </a:r>
          </a:p>
          <a:p>
            <a:pPr lvl="3">
              <a:lnSpc>
                <a:spcPct val="1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LOCK TABLE tab2 IN SHARE MODE</a:t>
            </a:r>
          </a:p>
          <a:p>
            <a:pPr lvl="3">
              <a:lnSpc>
                <a:spcPct val="1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释放表锁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UNLOCK TABLE tab1;</a:t>
            </a:r>
          </a:p>
        </p:txBody>
      </p:sp>
    </p:spTree>
    <p:extLst>
      <p:ext uri="{BB962C8B-B14F-4D97-AF65-F5344CB8AC3E}">
        <p14:creationId xmlns:p14="http://schemas.microsoft.com/office/powerpoint/2010/main" val="24838832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4" name="Rectangle 6"/>
          <p:cNvSpPr>
            <a:spLocks noGrp="1" noChangeArrowheads="1"/>
          </p:cNvSpPr>
          <p:nvPr>
            <p:ph type="title"/>
          </p:nvPr>
        </p:nvSpPr>
        <p:spPr/>
        <p:txBody>
          <a:bodyPr/>
          <a:lstStyle/>
          <a:p>
            <a:r>
              <a:rPr lang="en-US" altLang="zh-CN" dirty="0">
                <a:cs typeface="宋体" panose="02010600030101010101" pitchFamily="2" charset="-122"/>
              </a:rPr>
              <a:t>GBase 8s Lock </a:t>
            </a:r>
            <a:r>
              <a:rPr lang="zh-CN" altLang="en-US" dirty="0">
                <a:cs typeface="宋体" panose="02010600030101010101" pitchFamily="2" charset="-122"/>
              </a:rPr>
              <a:t>粒度 </a:t>
            </a:r>
            <a:r>
              <a:rPr lang="en-US" altLang="zh-CN" dirty="0">
                <a:cs typeface="宋体" panose="02010600030101010101" pitchFamily="2" charset="-122"/>
              </a:rPr>
              <a:t>(lock </a:t>
            </a:r>
            <a:r>
              <a:rPr lang="zh-CN" altLang="en-US" dirty="0">
                <a:cs typeface="宋体" panose="02010600030101010101" pitchFamily="2" charset="-122"/>
              </a:rPr>
              <a:t>范围</a:t>
            </a:r>
            <a:r>
              <a:rPr lang="en-US" altLang="zh-CN" dirty="0">
                <a:cs typeface="宋体" panose="02010600030101010101" pitchFamily="2" charset="-122"/>
              </a:rPr>
              <a:t>) (2)</a:t>
            </a:r>
          </a:p>
        </p:txBody>
      </p:sp>
      <p:sp>
        <p:nvSpPr>
          <p:cNvPr id="1036295" name="Rectangle 7"/>
          <p:cNvSpPr>
            <a:spLocks noGrp="1" noChangeArrowheads="1"/>
          </p:cNvSpPr>
          <p:nvPr>
            <p:ph type="body" sz="quarter" idx="10"/>
          </p:nvPr>
        </p:nvSpPr>
        <p:spPr/>
        <p:txBody>
          <a:bodyPr>
            <a:noAutofit/>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以下语句将隐式的对表加锁，直到事务结束后释放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ALTER FRAGMENT</a:t>
            </a:r>
            <a:endParaRPr lang="zh-CN" altLang="en-US" dirty="0"/>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ALTER INDEX</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ALTER TABLE</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CREATE INDEX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如果不添加</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online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关键字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DROP INDEX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如果不添加</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online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关键字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RENAME COLUMN</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RENAME TABLE</a:t>
            </a: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32116487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ltLang="zh-CN" dirty="0">
                <a:cs typeface="宋体" panose="02010600030101010101" pitchFamily="2" charset="-122"/>
              </a:rPr>
              <a:t>GBase 8s Lock </a:t>
            </a:r>
            <a:r>
              <a:rPr lang="zh-CN" altLang="en-US" dirty="0">
                <a:cs typeface="宋体" panose="02010600030101010101" pitchFamily="2" charset="-122"/>
              </a:rPr>
              <a:t>粒度 </a:t>
            </a:r>
            <a:r>
              <a:rPr lang="en-US" altLang="zh-CN" dirty="0">
                <a:cs typeface="宋体" panose="02010600030101010101" pitchFamily="2" charset="-122"/>
              </a:rPr>
              <a:t>(lock </a:t>
            </a:r>
            <a:r>
              <a:rPr lang="zh-CN" altLang="en-US" dirty="0">
                <a:cs typeface="宋体" panose="02010600030101010101" pitchFamily="2" charset="-122"/>
              </a:rPr>
              <a:t>范围</a:t>
            </a:r>
            <a:r>
              <a:rPr lang="en-US" altLang="zh-CN" dirty="0">
                <a:cs typeface="宋体" panose="02010600030101010101" pitchFamily="2" charset="-122"/>
              </a:rPr>
              <a:t>) (3)</a:t>
            </a:r>
          </a:p>
        </p:txBody>
      </p:sp>
      <p:sp>
        <p:nvSpPr>
          <p:cNvPr id="1041411" name="Rectangle 3"/>
          <p:cNvSpPr>
            <a:spLocks noGrp="1" noChangeArrowheads="1"/>
          </p:cNvSpPr>
          <p:nvPr>
            <p:ph type="body" sz="quarter" idx="10"/>
          </p:nvPr>
        </p:nvSpPr>
        <p:spPr/>
        <p:txBody>
          <a:bodyPr>
            <a:normAutofit fontScale="85000" lnSpcReduction="10000"/>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不同粒度锁在何时确定</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页级锁</a:t>
            </a:r>
          </a:p>
          <a:p>
            <a:pPr lvl="2">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当按数据物理顺序进行访问和更新时，页级锁效率高</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修改锁模式为页级锁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3">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ALTER TABLE tab1 LOCK MODE PAGE;</a:t>
            </a:r>
          </a:p>
          <a:p>
            <a:pPr lvl="2">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默认锁模式参数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(ONCONFIG)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文件参数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DEF_TABLE_LOCKMODE.</a:t>
            </a:r>
          </a:p>
          <a:p>
            <a:pPr lvl="3">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DEF_TABLE_LOCKMODE		ROW</a:t>
            </a: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行级锁</a:t>
            </a:r>
          </a:p>
          <a:p>
            <a:pPr lvl="2">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OLTP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事务采用行级锁，效率高</a:t>
            </a:r>
          </a:p>
          <a:p>
            <a:pPr lvl="2">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修改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创建表并使用行级锁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3">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CREATE TABLE tab1  (col1...) LOCK MODE ROW;</a:t>
            </a:r>
          </a:p>
          <a:p>
            <a:pPr lvl="3">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ALTER TABLE tab1 LOCK MODE (ROW);</a:t>
            </a:r>
          </a:p>
          <a:p>
            <a:pPr>
              <a:lnSpc>
                <a:spcPct val="90000"/>
              </a:lnSpc>
              <a:buFont typeface="Wingdings" panose="05000000000000000000" charset="0"/>
              <a:buNone/>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23</a:t>
            </a:fld>
            <a:endParaRPr lang="zh-CN" altLang="en-US"/>
          </a:p>
        </p:txBody>
      </p:sp>
    </p:spTree>
    <p:extLst>
      <p:ext uri="{BB962C8B-B14F-4D97-AF65-F5344CB8AC3E}">
        <p14:creationId xmlns:p14="http://schemas.microsoft.com/office/powerpoint/2010/main" val="18914239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r>
              <a:rPr lang="en-US" altLang="zh-CN" dirty="0">
                <a:cs typeface="宋体" panose="02010600030101010101" pitchFamily="2" charset="-122"/>
              </a:rPr>
              <a:t>GBase 8s Lock </a:t>
            </a:r>
            <a:r>
              <a:rPr lang="zh-CN" altLang="en-US" dirty="0">
                <a:cs typeface="宋体" panose="02010600030101010101" pitchFamily="2" charset="-122"/>
              </a:rPr>
              <a:t>粒度 </a:t>
            </a:r>
            <a:r>
              <a:rPr lang="en-US" altLang="zh-CN" dirty="0">
                <a:cs typeface="宋体" panose="02010600030101010101" pitchFamily="2" charset="-122"/>
              </a:rPr>
              <a:t>(lock </a:t>
            </a:r>
            <a:r>
              <a:rPr lang="zh-CN" altLang="en-US" dirty="0">
                <a:cs typeface="宋体" panose="02010600030101010101" pitchFamily="2" charset="-122"/>
              </a:rPr>
              <a:t>范围</a:t>
            </a:r>
            <a:r>
              <a:rPr lang="en-US" altLang="zh-CN" dirty="0">
                <a:cs typeface="宋体" panose="02010600030101010101" pitchFamily="2" charset="-122"/>
              </a:rPr>
              <a:t>) (4)</a:t>
            </a:r>
          </a:p>
        </p:txBody>
      </p:sp>
      <p:sp>
        <p:nvSpPr>
          <p:cNvPr id="7" name="灯片编号占位符 6"/>
          <p:cNvSpPr>
            <a:spLocks noGrp="1"/>
          </p:cNvSpPr>
          <p:nvPr>
            <p:ph type="sldNum" sz="quarter" idx="4294967295"/>
          </p:nvPr>
        </p:nvSpPr>
        <p:spPr/>
        <p:txBody>
          <a:bodyPr/>
          <a:lstStyle/>
          <a:p>
            <a:endParaRPr lang="zh-CN" altLang="en-US" dirty="0"/>
          </a:p>
        </p:txBody>
      </p:sp>
      <p:sp>
        <p:nvSpPr>
          <p:cNvPr id="1032195" name="Text Box 3"/>
          <p:cNvSpPr txBox="1">
            <a:spLocks noChangeArrowheads="1"/>
          </p:cNvSpPr>
          <p:nvPr/>
        </p:nvSpPr>
        <p:spPr bwMode="auto">
          <a:xfrm>
            <a:off x="5443272" y="2324012"/>
            <a:ext cx="141577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spcBef>
                <a:spcPct val="0"/>
              </a:spcBef>
            </a:pPr>
            <a:endParaRPr lang="en-US" altLang="zh-CN" sz="2400" dirty="0">
              <a:cs typeface="宋体" panose="02010600030101010101" pitchFamily="2" charset="-122"/>
            </a:endParaRPr>
          </a:p>
          <a:p>
            <a:pPr>
              <a:spcBef>
                <a:spcPct val="0"/>
              </a:spcBef>
            </a:pPr>
            <a:endParaRPr lang="en-US" altLang="zh-CN" sz="2400" dirty="0">
              <a:cs typeface="宋体" panose="02010600030101010101" pitchFamily="2" charset="-122"/>
            </a:endParaRPr>
          </a:p>
          <a:p>
            <a:pPr>
              <a:spcBef>
                <a:spcPct val="0"/>
              </a:spcBef>
            </a:pPr>
            <a:r>
              <a:rPr lang="zh-CN" altLang="en-US" sz="2400" dirty="0">
                <a:cs typeface="宋体" panose="02010600030101010101" pitchFamily="2" charset="-122"/>
              </a:rPr>
              <a:t>行锁</a:t>
            </a:r>
            <a:endParaRPr lang="en-US" altLang="zh-CN" sz="2400" dirty="0">
              <a:cs typeface="宋体" panose="02010600030101010101" pitchFamily="2" charset="-122"/>
            </a:endParaRPr>
          </a:p>
          <a:p>
            <a:pPr>
              <a:spcBef>
                <a:spcPct val="0"/>
              </a:spcBef>
            </a:pPr>
            <a:endParaRPr lang="en-US" altLang="zh-CN" sz="2400" dirty="0">
              <a:cs typeface="宋体" panose="02010600030101010101" pitchFamily="2" charset="-122"/>
            </a:endParaRPr>
          </a:p>
          <a:p>
            <a:pPr>
              <a:spcBef>
                <a:spcPct val="0"/>
              </a:spcBef>
            </a:pPr>
            <a:r>
              <a:rPr lang="zh-CN" altLang="en-US" sz="2400" dirty="0">
                <a:cs typeface="宋体" panose="02010600030101010101" pitchFamily="2" charset="-122"/>
              </a:rPr>
              <a:t>页锁</a:t>
            </a:r>
            <a:endParaRPr lang="en-US" altLang="zh-CN" sz="2400" dirty="0">
              <a:cs typeface="宋体" panose="02010600030101010101" pitchFamily="2" charset="-122"/>
            </a:endParaRPr>
          </a:p>
          <a:p>
            <a:pPr>
              <a:spcBef>
                <a:spcPct val="0"/>
              </a:spcBef>
            </a:pPr>
            <a:endParaRPr lang="en-US" altLang="zh-CN" sz="2400" dirty="0">
              <a:cs typeface="宋体" panose="02010600030101010101" pitchFamily="2" charset="-122"/>
            </a:endParaRPr>
          </a:p>
          <a:p>
            <a:pPr>
              <a:spcBef>
                <a:spcPct val="0"/>
              </a:spcBef>
            </a:pPr>
            <a:r>
              <a:rPr lang="zh-CN" altLang="en-US" sz="2400" dirty="0">
                <a:cs typeface="宋体" panose="02010600030101010101" pitchFamily="2" charset="-122"/>
              </a:rPr>
              <a:t>表锁</a:t>
            </a:r>
            <a:endParaRPr lang="en-US" altLang="zh-CN" sz="2400" dirty="0">
              <a:cs typeface="宋体" panose="02010600030101010101" pitchFamily="2" charset="-122"/>
            </a:endParaRPr>
          </a:p>
          <a:p>
            <a:pPr>
              <a:spcBef>
                <a:spcPct val="0"/>
              </a:spcBef>
            </a:pPr>
            <a:endParaRPr lang="en-US" altLang="zh-CN" sz="2400" dirty="0">
              <a:cs typeface="宋体" panose="02010600030101010101" pitchFamily="2" charset="-122"/>
            </a:endParaRPr>
          </a:p>
          <a:p>
            <a:pPr>
              <a:spcBef>
                <a:spcPct val="0"/>
              </a:spcBef>
            </a:pPr>
            <a:r>
              <a:rPr lang="zh-CN" altLang="en-US" sz="2400" dirty="0">
                <a:cs typeface="宋体" panose="02010600030101010101" pitchFamily="2" charset="-122"/>
              </a:rPr>
              <a:t>数据库锁</a:t>
            </a:r>
            <a:endParaRPr lang="en-US" altLang="zh-CN" sz="2400" dirty="0">
              <a:cs typeface="宋体" panose="02010600030101010101" pitchFamily="2" charset="-122"/>
            </a:endParaRPr>
          </a:p>
        </p:txBody>
      </p:sp>
      <p:sp>
        <p:nvSpPr>
          <p:cNvPr id="1032196" name="AutoShape 4"/>
          <p:cNvSpPr>
            <a:spLocks noChangeArrowheads="1"/>
          </p:cNvSpPr>
          <p:nvPr/>
        </p:nvSpPr>
        <p:spPr bwMode="auto">
          <a:xfrm>
            <a:off x="2317633" y="1794295"/>
            <a:ext cx="1768415" cy="4246805"/>
          </a:xfrm>
          <a:prstGeom prst="upArrow">
            <a:avLst>
              <a:gd name="adj1" fmla="val 50000"/>
              <a:gd name="adj2" fmla="val 59615"/>
            </a:avLst>
          </a:prstGeom>
          <a:solidFill>
            <a:srgbClr val="F56F0B">
              <a:alpha val="61000"/>
            </a:srgbClr>
          </a:solidFill>
          <a:ln w="9525">
            <a:solidFill>
              <a:schemeClr val="tx1"/>
            </a:solidFill>
            <a:miter lim="800000"/>
          </a:ln>
          <a:effectLst/>
        </p:spPr>
        <p:txBody>
          <a:bodyPr vert="eaVert" wrap="none" anchor="ctr"/>
          <a:lstStyle/>
          <a:p>
            <a:pPr algn="ctr">
              <a:spcBef>
                <a:spcPct val="0"/>
              </a:spcBef>
            </a:pPr>
            <a:r>
              <a:rPr lang="zh-CN" altLang="en-US" sz="2000" dirty="0">
                <a:cs typeface="宋体" panose="02010600030101010101" pitchFamily="2" charset="-122"/>
              </a:rPr>
              <a:t>更高并发性</a:t>
            </a:r>
            <a:endParaRPr lang="en-US" altLang="zh-CN" sz="2000" dirty="0">
              <a:cs typeface="宋体" panose="02010600030101010101" pitchFamily="2" charset="-122"/>
            </a:endParaRPr>
          </a:p>
          <a:p>
            <a:pPr algn="ctr">
              <a:spcBef>
                <a:spcPct val="0"/>
              </a:spcBef>
            </a:pPr>
            <a:r>
              <a:rPr lang="zh-CN" altLang="en-US" sz="2000" dirty="0">
                <a:cs typeface="宋体" panose="02010600030101010101" pitchFamily="2" charset="-122"/>
              </a:rPr>
              <a:t>更少死锁</a:t>
            </a:r>
          </a:p>
        </p:txBody>
      </p:sp>
      <p:sp>
        <p:nvSpPr>
          <p:cNvPr id="1032197" name="AutoShape 5"/>
          <p:cNvSpPr>
            <a:spLocks noChangeArrowheads="1"/>
          </p:cNvSpPr>
          <p:nvPr/>
        </p:nvSpPr>
        <p:spPr bwMode="auto">
          <a:xfrm>
            <a:off x="7939176" y="1792800"/>
            <a:ext cx="1767600" cy="4248000"/>
          </a:xfrm>
          <a:prstGeom prst="upArrow">
            <a:avLst>
              <a:gd name="adj1" fmla="val 50000"/>
              <a:gd name="adj2" fmla="val 68478"/>
            </a:avLst>
          </a:prstGeom>
          <a:solidFill>
            <a:srgbClr val="F56F0B">
              <a:alpha val="60000"/>
            </a:srgbClr>
          </a:solidFill>
          <a:ln w="9525">
            <a:solidFill>
              <a:schemeClr val="tx1"/>
            </a:solidFill>
            <a:miter lim="800000"/>
          </a:ln>
          <a:effectLst/>
        </p:spPr>
        <p:txBody>
          <a:bodyPr vert="eaVert" wrap="none" anchor="ctr"/>
          <a:lstStyle/>
          <a:p>
            <a:pPr algn="ctr">
              <a:spcBef>
                <a:spcPct val="0"/>
              </a:spcBef>
            </a:pPr>
            <a:r>
              <a:rPr lang="zh-CN" altLang="en-US" sz="2000" dirty="0">
                <a:cs typeface="宋体" panose="02010600030101010101" pitchFamily="2" charset="-122"/>
              </a:rPr>
              <a:t>更可能出现锁溢出</a:t>
            </a:r>
          </a:p>
        </p:txBody>
      </p:sp>
      <p:sp>
        <p:nvSpPr>
          <p:cNvPr id="1032198" name="Rectangle 6"/>
          <p:cNvSpPr>
            <a:spLocks noChangeArrowheads="1"/>
          </p:cNvSpPr>
          <p:nvPr/>
        </p:nvSpPr>
        <p:spPr bwMode="black">
          <a:xfrm>
            <a:off x="3746761" y="971551"/>
            <a:ext cx="3879267"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spAutoFit/>
          </a:bodyPr>
          <a:lstStyle/>
          <a:p>
            <a:pPr eaLnBrk="0" hangingPunct="0">
              <a:spcBef>
                <a:spcPct val="0"/>
              </a:spcBef>
              <a:buClr>
                <a:schemeClr val="accent2"/>
              </a:buClr>
              <a:buFont typeface="Wingdings" panose="05000000000000000000" charset="0"/>
              <a:buNone/>
            </a:pPr>
            <a:r>
              <a:rPr lang="zh-CN" altLang="en-US" sz="2400" dirty="0"/>
              <a:t>什么类型的数据对象被锁？</a:t>
            </a:r>
          </a:p>
        </p:txBody>
      </p:sp>
      <p:sp>
        <p:nvSpPr>
          <p:cNvPr id="2" name="左大括号 1"/>
          <p:cNvSpPr/>
          <p:nvPr/>
        </p:nvSpPr>
        <p:spPr bwMode="auto">
          <a:xfrm>
            <a:off x="2925791" y="2605177"/>
            <a:ext cx="155448" cy="377130"/>
          </a:xfrm>
          <a:prstGeom prst="leftBrace">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endParaRPr lang="zh-CN" altLang="en-US" sz="2000" b="1"/>
          </a:p>
        </p:txBody>
      </p:sp>
      <p:sp>
        <p:nvSpPr>
          <p:cNvPr id="3" name="右大括号 2"/>
          <p:cNvSpPr/>
          <p:nvPr/>
        </p:nvSpPr>
        <p:spPr bwMode="auto">
          <a:xfrm>
            <a:off x="9829800" y="2605177"/>
            <a:ext cx="155448" cy="377130"/>
          </a:xfrm>
          <a:prstGeom prst="rightBrace">
            <a:avLst/>
          </a:prstGeom>
          <a:noFill/>
          <a:ln w="9525" cap="flat" cmpd="sng" algn="ctr">
            <a:no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endParaRPr lang="zh-CN" altLang="en-US" sz="2000" b="1"/>
          </a:p>
        </p:txBody>
      </p:sp>
    </p:spTree>
    <p:extLst>
      <p:ext uri="{BB962C8B-B14F-4D97-AF65-F5344CB8AC3E}">
        <p14:creationId xmlns:p14="http://schemas.microsoft.com/office/powerpoint/2010/main" val="37700443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r>
              <a:rPr lang="zh-CN" altLang="en-US" dirty="0">
                <a:cs typeface="宋体" panose="02010600030101010101" pitchFamily="2" charset="-122"/>
              </a:rPr>
              <a:t>哪一种锁粒度是最优的呢</a:t>
            </a:r>
            <a:r>
              <a:rPr lang="en-US" altLang="zh-CN" dirty="0">
                <a:cs typeface="宋体" panose="02010600030101010101" pitchFamily="2" charset="-122"/>
              </a:rPr>
              <a:t>?</a:t>
            </a:r>
          </a:p>
        </p:txBody>
      </p:sp>
      <p:sp>
        <p:nvSpPr>
          <p:cNvPr id="1027075" name="Rectangle 3"/>
          <p:cNvSpPr>
            <a:spLocks noGrp="1" noChangeArrowheads="1"/>
          </p:cNvSpPr>
          <p:nvPr>
            <p:ph type="body" sz="quarter" idx="10"/>
          </p:nvPr>
        </p:nvSpPr>
        <p:spPr/>
        <p:txBody>
          <a:bodyPr>
            <a:no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取决于事务本身的特点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当更新表中相对较小一部分数据的时候，采用行级锁将获取最好的性能</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如果一个事务频繁的访问整个表的数据，设置更粗的粒度，如表级锁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如果更新数据库中大部分表的大部分数据的情况下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采用数据库级别的锁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查看表锁模式</a:t>
            </a:r>
          </a:p>
          <a:p>
            <a:pPr lvl="2">
              <a:lnSpc>
                <a:spcPct val="200000"/>
              </a:lnSpc>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oncheck</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pt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dbname:tablename</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200000"/>
              </a:lnSpc>
            </a:pP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dbschema</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–d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dbname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tablename</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cs typeface="微软雅黑" panose="020B0503020204020204" pitchFamily="34" charset="-122"/>
              </a:rPr>
              <a:t>ss</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3788069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Grp="1" noChangeArrowheads="1"/>
          </p:cNvSpPr>
          <p:nvPr>
            <p:ph type="title"/>
          </p:nvPr>
        </p:nvSpPr>
        <p:spPr/>
        <p:txBody>
          <a:bodyPr/>
          <a:lstStyle/>
          <a:p>
            <a:r>
              <a:rPr lang="zh-CN" altLang="en-US" dirty="0">
                <a:cs typeface="宋体" panose="02010600030101010101" pitchFamily="2" charset="-122"/>
              </a:rPr>
              <a:t>事务的隔离级别</a:t>
            </a:r>
          </a:p>
        </p:txBody>
      </p:sp>
      <p:sp>
        <p:nvSpPr>
          <p:cNvPr id="975875" name="Rectangle 3"/>
          <p:cNvSpPr>
            <a:spLocks noGrp="1" noChangeArrowheads="1"/>
          </p:cNvSpPr>
          <p:nvPr>
            <p:ph type="body" sz="quarter" idx="10"/>
          </p:nvPr>
        </p:nvSpPr>
        <p:spPr/>
        <p:txBody>
          <a:bodyPr/>
          <a:lstStyle/>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SQL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中我们指定事务或者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session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的隔离级别</a:t>
            </a: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哪种程度的数据可以接受</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Dirty, committed, last committed, </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etc</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为事务设置合适的隔离级别，能避免相应的问题</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剩下的就交给数据库来完成你所指定的“隔离级别”的实现</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22451019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Dirty Read (1)</a:t>
            </a:r>
          </a:p>
        </p:txBody>
      </p:sp>
      <p:sp>
        <p:nvSpPr>
          <p:cNvPr id="998403" name="Rectangle 3"/>
          <p:cNvSpPr>
            <a:spLocks noGrp="1" noChangeArrowheads="1"/>
          </p:cNvSpPr>
          <p:nvPr>
            <p:ph type="body" sz="quarter" idx="10"/>
          </p:nvPr>
        </p:nvSpPr>
        <p:spPr/>
        <p:txBody>
          <a:bodyPr>
            <a:noAutofit/>
          </a:bodyPr>
          <a:lstStyle/>
          <a:p>
            <a:r>
              <a:rPr lang="zh-CN" altLang="en-US" dirty="0"/>
              <a:t>语法</a:t>
            </a:r>
            <a:r>
              <a:rPr lang="en-US" altLang="zh-CN" dirty="0"/>
              <a:t>:</a:t>
            </a:r>
          </a:p>
          <a:p>
            <a:pPr lvl="1">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SET ISOLATION TO DIRTY READ;</a:t>
            </a: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采用这种隔离级别，数据库服务器不会分配任何锁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查询过程中，可以查询到任何数据行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甚至那些被修改但尚未提交的记录</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cs typeface="微软雅黑" panose="020B0503020204020204" pitchFamily="34" charset="-122"/>
              </a:rPr>
              <a:t>Dirty-read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隔离级别将产生幻影读，不可重复读的问题</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非日志数据库中只有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Dirty-read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一种隔离级别</a:t>
            </a:r>
          </a:p>
        </p:txBody>
      </p:sp>
      <p:grpSp>
        <p:nvGrpSpPr>
          <p:cNvPr id="29" name="组合 28"/>
          <p:cNvGrpSpPr/>
          <p:nvPr/>
        </p:nvGrpSpPr>
        <p:grpSpPr>
          <a:xfrm>
            <a:off x="2887883" y="4069478"/>
            <a:ext cx="4904546" cy="2067797"/>
            <a:chOff x="901918" y="3605047"/>
            <a:chExt cx="4904546" cy="2067797"/>
          </a:xfrm>
        </p:grpSpPr>
        <p:grpSp>
          <p:nvGrpSpPr>
            <p:cNvPr id="27" name="组合 26"/>
            <p:cNvGrpSpPr/>
            <p:nvPr/>
          </p:nvGrpSpPr>
          <p:grpSpPr>
            <a:xfrm>
              <a:off x="901918" y="3985227"/>
              <a:ext cx="4904546" cy="1687617"/>
              <a:chOff x="980745" y="3985227"/>
              <a:chExt cx="4904546" cy="1687617"/>
            </a:xfrm>
          </p:grpSpPr>
          <p:pic>
            <p:nvPicPr>
              <p:cNvPr id="2050" name="Picture 2"/>
              <p:cNvPicPr>
                <a:picLocks noChangeAspect="1" noChangeArrowheads="1"/>
              </p:cNvPicPr>
              <p:nvPr/>
            </p:nvPicPr>
            <p:blipFill>
              <a:blip r:embed="rId3" cstate="print"/>
              <a:srcRect/>
              <a:stretch>
                <a:fillRect/>
              </a:stretch>
            </p:blipFill>
            <p:spPr bwMode="auto">
              <a:xfrm>
                <a:off x="980745" y="3985227"/>
                <a:ext cx="1478675" cy="1687617"/>
              </a:xfrm>
              <a:prstGeom prst="rect">
                <a:avLst/>
              </a:prstGeom>
              <a:noFill/>
              <a:ln w="9525">
                <a:noFill/>
                <a:miter lim="800000"/>
                <a:headEnd/>
                <a:tailEnd/>
              </a:ln>
            </p:spPr>
          </p:pic>
          <p:cxnSp>
            <p:nvCxnSpPr>
              <p:cNvPr id="11" name="直接箭头连接符 10"/>
              <p:cNvCxnSpPr/>
              <p:nvPr/>
            </p:nvCxnSpPr>
            <p:spPr bwMode="auto">
              <a:xfrm flipH="1" flipV="1">
                <a:off x="2475187" y="4414345"/>
                <a:ext cx="977464" cy="2"/>
              </a:xfrm>
              <a:prstGeom prst="straightConnector1">
                <a:avLst/>
              </a:prstGeom>
              <a:noFill/>
              <a:ln w="9525" cap="flat" cmpd="sng" algn="ctr">
                <a:solidFill>
                  <a:schemeClr val="tx1"/>
                </a:solidFill>
                <a:prstDash val="solid"/>
                <a:round/>
                <a:headEnd type="none" w="med" len="med"/>
                <a:tailEnd type="arrow"/>
              </a:ln>
              <a:effectLst/>
            </p:spPr>
          </p:cxnSp>
          <p:sp>
            <p:nvSpPr>
              <p:cNvPr id="16" name="TextBox 15"/>
              <p:cNvSpPr txBox="1"/>
              <p:nvPr/>
            </p:nvSpPr>
            <p:spPr>
              <a:xfrm>
                <a:off x="3468405" y="4256689"/>
                <a:ext cx="1320165" cy="306705"/>
              </a:xfrm>
              <a:prstGeom prst="rect">
                <a:avLst/>
              </a:prstGeom>
              <a:noFill/>
            </p:spPr>
            <p:txBody>
              <a:bodyPr wrap="none" rtlCol="0">
                <a:spAutoFit/>
              </a:bodyPr>
              <a:lstStyle/>
              <a:p>
                <a:r>
                  <a:rPr lang="en-US" altLang="zh-CN" sz="1400" dirty="0" err="1"/>
                  <a:t>GBase</a:t>
                </a:r>
                <a:r>
                  <a:rPr lang="en-US" altLang="zh-CN" sz="1400" dirty="0"/>
                  <a:t> 8s</a:t>
                </a:r>
                <a:r>
                  <a:rPr lang="zh-CN" altLang="en-US" sz="1400" dirty="0"/>
                  <a:t>线程</a:t>
                </a:r>
              </a:p>
            </p:txBody>
          </p:sp>
          <p:sp>
            <p:nvSpPr>
              <p:cNvPr id="17" name="TextBox 16"/>
              <p:cNvSpPr txBox="1"/>
              <p:nvPr/>
            </p:nvSpPr>
            <p:spPr>
              <a:xfrm>
                <a:off x="3384322" y="4787461"/>
                <a:ext cx="2500969" cy="737235"/>
              </a:xfrm>
              <a:prstGeom prst="rect">
                <a:avLst/>
              </a:prstGeom>
              <a:ln w="3175"/>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50000"/>
                  </a:lnSpc>
                </a:pPr>
                <a:r>
                  <a:rPr lang="en-US" altLang="zh-CN" sz="1400" dirty="0" err="1"/>
                  <a:t>GBase</a:t>
                </a:r>
                <a:r>
                  <a:rPr lang="en-US" altLang="zh-CN" sz="1400" dirty="0"/>
                  <a:t> 8s</a:t>
                </a:r>
                <a:r>
                  <a:rPr lang="zh-CN" altLang="en-US" sz="1400" dirty="0"/>
                  <a:t>线程查询数据库表的过程中不检查加锁情况</a:t>
                </a:r>
              </a:p>
            </p:txBody>
          </p:sp>
          <p:cxnSp>
            <p:nvCxnSpPr>
              <p:cNvPr id="25" name="直接连接符 24"/>
              <p:cNvCxnSpPr/>
              <p:nvPr/>
            </p:nvCxnSpPr>
            <p:spPr bwMode="auto">
              <a:xfrm>
                <a:off x="2459420" y="4639844"/>
                <a:ext cx="924902" cy="327757"/>
              </a:xfrm>
              <a:prstGeom prst="line">
                <a:avLst/>
              </a:prstGeom>
              <a:noFill/>
              <a:ln w="9525" cap="flat" cmpd="sng" algn="ctr">
                <a:solidFill>
                  <a:schemeClr val="tx1"/>
                </a:solidFill>
                <a:prstDash val="solid"/>
                <a:round/>
                <a:headEnd type="none" w="med" len="med"/>
                <a:tailEnd type="none" w="med" len="med"/>
              </a:ln>
              <a:effectLst/>
            </p:spPr>
          </p:cxnSp>
        </p:grpSp>
        <p:sp>
          <p:nvSpPr>
            <p:cNvPr id="26" name="TextBox 25"/>
            <p:cNvSpPr txBox="1"/>
            <p:nvPr/>
          </p:nvSpPr>
          <p:spPr>
            <a:xfrm>
              <a:off x="1350570" y="3605047"/>
              <a:ext cx="389850" cy="338554"/>
            </a:xfrm>
            <a:prstGeom prst="rect">
              <a:avLst/>
            </a:prstGeom>
            <a:noFill/>
          </p:spPr>
          <p:txBody>
            <a:bodyPr wrap="none" rtlCol="0">
              <a:spAutoFit/>
            </a:bodyPr>
            <a:lstStyle/>
            <a:p>
              <a:r>
                <a:rPr lang="zh-CN" altLang="en-US" sz="1600" dirty="0"/>
                <a:t>表</a:t>
              </a:r>
            </a:p>
          </p:txBody>
        </p:sp>
      </p:grpSp>
    </p:spTree>
    <p:extLst>
      <p:ext uri="{BB962C8B-B14F-4D97-AF65-F5344CB8AC3E}">
        <p14:creationId xmlns:p14="http://schemas.microsoft.com/office/powerpoint/2010/main" val="6607479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0"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Dirty Read (2)</a:t>
            </a:r>
          </a:p>
        </p:txBody>
      </p:sp>
      <p:sp>
        <p:nvSpPr>
          <p:cNvPr id="1046531" name="Rectangle 3"/>
          <p:cNvSpPr>
            <a:spLocks noGrp="1" noChangeArrowheads="1"/>
          </p:cNvSpPr>
          <p:nvPr>
            <p:ph type="body" sz="quarter" idx="10"/>
          </p:nvPr>
        </p:nvSpPr>
        <p:spPr/>
        <p:txBody>
          <a:bodyPr/>
          <a:lstStyle/>
          <a:p>
            <a:r>
              <a:rPr lang="en-US" altLang="zh-CN" dirty="0"/>
              <a:t>Dirty-read </a:t>
            </a:r>
            <a:r>
              <a:rPr lang="zh-CN" altLang="en-US" dirty="0"/>
              <a:t>隔离级别应用场景</a:t>
            </a:r>
            <a:r>
              <a:rPr lang="en-US" altLang="zh-CN" dirty="0"/>
              <a:t>:</a:t>
            </a:r>
          </a:p>
          <a:p>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静态表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(no updates, read-only tables)</a:t>
            </a: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速度比</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100%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准确更重要的情况</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不能等待锁的释放</a:t>
            </a: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37290998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Committed Read (3)</a:t>
            </a:r>
          </a:p>
        </p:txBody>
      </p:sp>
      <p:sp>
        <p:nvSpPr>
          <p:cNvPr id="999427" name="Rectangle 3"/>
          <p:cNvSpPr>
            <a:spLocks noGrp="1" noChangeArrowheads="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语法</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SET ISOLATION TO COMMITTED READ;</a:t>
            </a: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确保读取的所有记录都是提交到数据库</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能避免读到脏数据</a:t>
            </a: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读到的所有的记录都是已提交的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当一个进程读完记录后，其他进程就可以修改</a:t>
            </a:r>
          </a:p>
        </p:txBody>
      </p:sp>
      <p:grpSp>
        <p:nvGrpSpPr>
          <p:cNvPr id="2" name="组合 1"/>
          <p:cNvGrpSpPr/>
          <p:nvPr/>
        </p:nvGrpSpPr>
        <p:grpSpPr>
          <a:xfrm>
            <a:off x="2360888" y="3884733"/>
            <a:ext cx="7036467" cy="2481144"/>
            <a:chOff x="1106869" y="3597311"/>
            <a:chExt cx="7036467" cy="2481144"/>
          </a:xfrm>
        </p:grpSpPr>
        <p:pic>
          <p:nvPicPr>
            <p:cNvPr id="9" name="Picture 2"/>
            <p:cNvPicPr>
              <a:picLocks noChangeAspect="1" noChangeArrowheads="1"/>
            </p:cNvPicPr>
            <p:nvPr/>
          </p:nvPicPr>
          <p:blipFill>
            <a:blip r:embed="rId3" cstate="print"/>
            <a:srcRect/>
            <a:stretch>
              <a:fillRect/>
            </a:stretch>
          </p:blipFill>
          <p:spPr bwMode="auto">
            <a:xfrm>
              <a:off x="1106869" y="3977491"/>
              <a:ext cx="2245334" cy="1687617"/>
            </a:xfrm>
            <a:prstGeom prst="rect">
              <a:avLst/>
            </a:prstGeom>
            <a:noFill/>
            <a:ln w="9525">
              <a:noFill/>
              <a:miter lim="800000"/>
              <a:headEnd/>
              <a:tailEnd/>
            </a:ln>
          </p:spPr>
        </p:pic>
        <p:cxnSp>
          <p:nvCxnSpPr>
            <p:cNvPr id="10" name="直接箭头连接符 9"/>
            <p:cNvCxnSpPr/>
            <p:nvPr/>
          </p:nvCxnSpPr>
          <p:spPr bwMode="auto">
            <a:xfrm flipH="1" flipV="1">
              <a:off x="3376145" y="4406609"/>
              <a:ext cx="1484257" cy="2"/>
            </a:xfrm>
            <a:prstGeom prst="straightConnector1">
              <a:avLst/>
            </a:prstGeom>
            <a:noFill/>
            <a:ln w="9525" cap="flat" cmpd="sng" algn="ctr">
              <a:solidFill>
                <a:schemeClr val="tx1"/>
              </a:solidFill>
              <a:prstDash val="solid"/>
              <a:round/>
              <a:headEnd type="none" w="med" len="med"/>
              <a:tailEnd type="arrow"/>
            </a:ln>
            <a:effectLst/>
          </p:spPr>
        </p:cxnSp>
        <p:sp>
          <p:nvSpPr>
            <p:cNvPr id="11" name="TextBox 10"/>
            <p:cNvSpPr txBox="1"/>
            <p:nvPr/>
          </p:nvSpPr>
          <p:spPr>
            <a:xfrm>
              <a:off x="4884324" y="4248953"/>
              <a:ext cx="1320165" cy="306705"/>
            </a:xfrm>
            <a:prstGeom prst="rect">
              <a:avLst/>
            </a:prstGeom>
            <a:noFill/>
          </p:spPr>
          <p:txBody>
            <a:bodyPr wrap="none" rtlCol="0">
              <a:spAutoFit/>
            </a:bodyPr>
            <a:lstStyle/>
            <a:p>
              <a:r>
                <a:rPr lang="en-US" altLang="zh-CN" sz="1400" dirty="0" err="1"/>
                <a:t>GBase</a:t>
              </a:r>
              <a:r>
                <a:rPr lang="en-US" altLang="zh-CN" sz="1400" dirty="0"/>
                <a:t> 8s</a:t>
              </a:r>
              <a:r>
                <a:rPr lang="zh-CN" altLang="en-US" sz="1400" dirty="0"/>
                <a:t>线程</a:t>
              </a:r>
            </a:p>
          </p:txBody>
        </p:sp>
        <p:sp>
          <p:nvSpPr>
            <p:cNvPr id="12" name="TextBox 11"/>
            <p:cNvSpPr txBox="1"/>
            <p:nvPr/>
          </p:nvSpPr>
          <p:spPr>
            <a:xfrm>
              <a:off x="4791152" y="4693460"/>
              <a:ext cx="3352184" cy="1384995"/>
            </a:xfrm>
            <a:prstGeom prst="rect">
              <a:avLst/>
            </a:prstGeom>
            <a:ln w="3175"/>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50000"/>
                </a:lnSpc>
              </a:pPr>
              <a:r>
                <a:rPr lang="zh-CN" altLang="en-US" sz="1400" dirty="0"/>
                <a:t>读取一行数据前，先检查是否能在该行加共享锁，但是不实际添加！</a:t>
              </a:r>
              <a:endParaRPr lang="en-US" altLang="zh-CN" sz="1400" dirty="0"/>
            </a:p>
            <a:p>
              <a:pPr>
                <a:lnSpc>
                  <a:spcPct val="150000"/>
                </a:lnSpc>
              </a:pPr>
              <a:r>
                <a:rPr lang="zh-CN" altLang="en-US" sz="1400" dirty="0"/>
                <a:t>如果不能加共享锁，说明该记录正在更新，读操作需要等待或者返回失败</a:t>
              </a:r>
            </a:p>
          </p:txBody>
        </p:sp>
        <p:cxnSp>
          <p:nvCxnSpPr>
            <p:cNvPr id="13" name="直接连接符 12"/>
            <p:cNvCxnSpPr/>
            <p:nvPr/>
          </p:nvCxnSpPr>
          <p:spPr bwMode="auto">
            <a:xfrm>
              <a:off x="3352203" y="4632108"/>
              <a:ext cx="1404443" cy="327757"/>
            </a:xfrm>
            <a:prstGeom prst="line">
              <a:avLst/>
            </a:prstGeom>
            <a:noFill/>
            <a:ln w="9525" cap="flat" cmpd="sng" algn="ctr">
              <a:solidFill>
                <a:schemeClr val="tx1"/>
              </a:solidFill>
              <a:prstDash val="solid"/>
              <a:round/>
              <a:headEnd type="none" w="med" len="med"/>
              <a:tailEnd type="none" w="med" len="med"/>
            </a:ln>
            <a:effectLst/>
          </p:spPr>
        </p:cxnSp>
        <p:sp>
          <p:nvSpPr>
            <p:cNvPr id="8" name="TextBox 7"/>
            <p:cNvSpPr txBox="1"/>
            <p:nvPr/>
          </p:nvSpPr>
          <p:spPr>
            <a:xfrm>
              <a:off x="1788137" y="3597311"/>
              <a:ext cx="389850" cy="338554"/>
            </a:xfrm>
            <a:prstGeom prst="rect">
              <a:avLst/>
            </a:prstGeom>
            <a:noFill/>
          </p:spPr>
          <p:txBody>
            <a:bodyPr wrap="none" rtlCol="0">
              <a:spAutoFit/>
            </a:bodyPr>
            <a:lstStyle/>
            <a:p>
              <a:r>
                <a:rPr lang="zh-CN" altLang="en-US" sz="1600" dirty="0"/>
                <a:t>表</a:t>
              </a:r>
            </a:p>
          </p:txBody>
        </p:sp>
        <p:sp>
          <p:nvSpPr>
            <p:cNvPr id="14" name="TextBox 13"/>
            <p:cNvSpPr txBox="1"/>
            <p:nvPr/>
          </p:nvSpPr>
          <p:spPr>
            <a:xfrm>
              <a:off x="3408271" y="3962894"/>
              <a:ext cx="1611944" cy="307777"/>
            </a:xfrm>
            <a:prstGeom prst="rect">
              <a:avLst/>
            </a:prstGeom>
            <a:noFill/>
          </p:spPr>
          <p:txBody>
            <a:bodyPr wrap="square" rtlCol="0">
              <a:spAutoFit/>
            </a:bodyPr>
            <a:lstStyle/>
            <a:p>
              <a:r>
                <a:rPr lang="zh-CN" altLang="en-US" sz="1400" dirty="0"/>
                <a:t>是否能够加共享锁？</a:t>
              </a:r>
            </a:p>
          </p:txBody>
        </p:sp>
      </p:grpSp>
    </p:spTree>
    <p:extLst>
      <p:ext uri="{BB962C8B-B14F-4D97-AF65-F5344CB8AC3E}">
        <p14:creationId xmlns:p14="http://schemas.microsoft.com/office/powerpoint/2010/main" val="4330186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8"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Committed Read (4)</a:t>
            </a:r>
          </a:p>
        </p:txBody>
      </p:sp>
      <p:sp>
        <p:nvSpPr>
          <p:cNvPr id="1053699" name="Rectangle 3"/>
          <p:cNvSpPr>
            <a:spLocks noGrp="1" noChangeArrowheads="1"/>
          </p:cNvSpPr>
          <p:nvPr>
            <p:ph type="body" sz="quarter" idx="10"/>
          </p:nvPr>
        </p:nvSpPr>
        <p:spPr/>
        <p:txBody>
          <a:bodyPr/>
          <a:lstStyle/>
          <a:p>
            <a:pPr>
              <a:lnSpc>
                <a:spcPct val="200000"/>
              </a:lnSpc>
            </a:pPr>
            <a:r>
              <a:rPr lang="en-US" altLang="zh-CN" dirty="0"/>
              <a:t>committed read, </a:t>
            </a:r>
            <a:r>
              <a:rPr lang="zh-CN" altLang="en-US" dirty="0"/>
              <a:t>在读取数据前，数据库</a:t>
            </a:r>
            <a:r>
              <a:rPr lang="en-US" altLang="zh-CN" dirty="0"/>
              <a:t>server</a:t>
            </a:r>
            <a:r>
              <a:rPr lang="zh-CN" altLang="en-US" dirty="0"/>
              <a:t>尝试在记录上加共享锁</a:t>
            </a:r>
            <a:endParaRPr lang="en-US" altLang="zh-CN" dirty="0"/>
          </a:p>
          <a:p>
            <a:pPr lvl="1">
              <a:lnSpc>
                <a:spcPct val="2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加锁前，需要先检查是否可以对对象加共享锁，</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但是不加</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如果可以加锁，则要保证要加锁的记录没有其他进程正在更新</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当记录正在更新时，记录上有排他锁，此时我们不能对这些记录加共享锁</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30</a:t>
            </a:fld>
            <a:endParaRPr lang="zh-CN" altLang="en-US" dirty="0"/>
          </a:p>
        </p:txBody>
      </p:sp>
    </p:spTree>
    <p:extLst>
      <p:ext uri="{BB962C8B-B14F-4D97-AF65-F5344CB8AC3E}">
        <p14:creationId xmlns:p14="http://schemas.microsoft.com/office/powerpoint/2010/main" val="26409881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Cursor Stability (5)</a:t>
            </a:r>
          </a:p>
        </p:txBody>
      </p:sp>
      <p:sp>
        <p:nvSpPr>
          <p:cNvPr id="1001475" name="Rectangle 3"/>
          <p:cNvSpPr>
            <a:spLocks noGrp="1" noChangeArrowheads="1"/>
          </p:cNvSpPr>
          <p:nvPr>
            <p:ph type="body" sz="quarter" idx="10"/>
          </p:nvPr>
        </p:nvSpPr>
        <p:spPr/>
        <p:txBody>
          <a:bodyPr>
            <a:norm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p>
          <a:p>
            <a:pPr lvl="1">
              <a:lnSpc>
                <a:spcPct val="15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SET ISOLATION TO CURSOR STABILITY;</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非更新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CURSOR,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游标读的所有记录加上共享锁</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共享锁一致将保持，直到下一行记录被读取</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通过游标检索数据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共享锁将一直保持到执行下一个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FETCH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语句</a:t>
            </a:r>
          </a:p>
        </p:txBody>
      </p:sp>
      <p:sp>
        <p:nvSpPr>
          <p:cNvPr id="10" name="TextBox 9"/>
          <p:cNvSpPr txBox="1"/>
          <p:nvPr/>
        </p:nvSpPr>
        <p:spPr>
          <a:xfrm>
            <a:off x="3095287" y="3526215"/>
            <a:ext cx="389850" cy="338554"/>
          </a:xfrm>
          <a:prstGeom prst="rect">
            <a:avLst/>
          </a:prstGeom>
          <a:noFill/>
        </p:spPr>
        <p:txBody>
          <a:bodyPr wrap="none" rtlCol="0">
            <a:spAutoFit/>
          </a:bodyPr>
          <a:lstStyle/>
          <a:p>
            <a:r>
              <a:rPr lang="zh-CN" altLang="en-US" sz="1600" dirty="0"/>
              <a:t>表</a:t>
            </a:r>
          </a:p>
        </p:txBody>
      </p:sp>
      <p:grpSp>
        <p:nvGrpSpPr>
          <p:cNvPr id="3" name="组合 2"/>
          <p:cNvGrpSpPr/>
          <p:nvPr/>
        </p:nvGrpSpPr>
        <p:grpSpPr>
          <a:xfrm>
            <a:off x="2646635" y="3776086"/>
            <a:ext cx="5433440" cy="1994372"/>
            <a:chOff x="1122635" y="3776086"/>
            <a:chExt cx="5433440" cy="1994372"/>
          </a:xfrm>
        </p:grpSpPr>
        <p:pic>
          <p:nvPicPr>
            <p:cNvPr id="11" name="Picture 2"/>
            <p:cNvPicPr>
              <a:picLocks noChangeAspect="1" noChangeArrowheads="1"/>
            </p:cNvPicPr>
            <p:nvPr/>
          </p:nvPicPr>
          <p:blipFill>
            <a:blip r:embed="rId3" cstate="print"/>
            <a:srcRect/>
            <a:stretch>
              <a:fillRect/>
            </a:stretch>
          </p:blipFill>
          <p:spPr bwMode="auto">
            <a:xfrm>
              <a:off x="1122635" y="3906395"/>
              <a:ext cx="1478675" cy="1687617"/>
            </a:xfrm>
            <a:prstGeom prst="rect">
              <a:avLst/>
            </a:prstGeom>
            <a:noFill/>
            <a:ln w="9525">
              <a:noFill/>
              <a:miter lim="800000"/>
              <a:headEnd/>
              <a:tailEnd/>
            </a:ln>
          </p:spPr>
        </p:pic>
        <p:cxnSp>
          <p:nvCxnSpPr>
            <p:cNvPr id="12" name="直接箭头连接符 11"/>
            <p:cNvCxnSpPr>
              <a:stCxn id="13" idx="1"/>
            </p:cNvCxnSpPr>
            <p:nvPr/>
          </p:nvCxnSpPr>
          <p:spPr bwMode="auto">
            <a:xfrm flipH="1">
              <a:off x="2617077" y="4331111"/>
              <a:ext cx="1666085" cy="3767"/>
            </a:xfrm>
            <a:prstGeom prst="straightConnector1">
              <a:avLst/>
            </a:prstGeom>
            <a:noFill/>
            <a:ln w="9525" cap="flat" cmpd="sng" algn="ctr">
              <a:solidFill>
                <a:schemeClr val="tx1"/>
              </a:solidFill>
              <a:prstDash val="solid"/>
              <a:round/>
              <a:headEnd type="none" w="med" len="med"/>
              <a:tailEnd type="arrow"/>
            </a:ln>
            <a:effectLst/>
          </p:spPr>
        </p:cxnSp>
        <p:sp>
          <p:nvSpPr>
            <p:cNvPr id="13" name="TextBox 12"/>
            <p:cNvSpPr txBox="1"/>
            <p:nvPr/>
          </p:nvSpPr>
          <p:spPr>
            <a:xfrm>
              <a:off x="4283162" y="4177857"/>
              <a:ext cx="1320165" cy="306705"/>
            </a:xfrm>
            <a:prstGeom prst="rect">
              <a:avLst/>
            </a:prstGeom>
            <a:noFill/>
          </p:spPr>
          <p:txBody>
            <a:bodyPr wrap="none" rtlCol="0">
              <a:spAutoFit/>
            </a:bodyPr>
            <a:lstStyle/>
            <a:p>
              <a:r>
                <a:rPr lang="en-US" altLang="zh-CN" sz="1400" dirty="0" err="1"/>
                <a:t>GBase</a:t>
              </a:r>
              <a:r>
                <a:rPr lang="en-US" altLang="zh-CN" sz="1400" dirty="0"/>
                <a:t> 8s</a:t>
              </a:r>
              <a:r>
                <a:rPr lang="zh-CN" altLang="en-US" sz="1400" dirty="0"/>
                <a:t>线程</a:t>
              </a:r>
            </a:p>
          </p:txBody>
        </p:sp>
        <p:sp>
          <p:nvSpPr>
            <p:cNvPr id="14" name="TextBox 13"/>
            <p:cNvSpPr txBox="1"/>
            <p:nvPr/>
          </p:nvSpPr>
          <p:spPr>
            <a:xfrm>
              <a:off x="3526212" y="4708629"/>
              <a:ext cx="3029863" cy="1061829"/>
            </a:xfrm>
            <a:prstGeom prst="rect">
              <a:avLst/>
            </a:prstGeom>
            <a:ln w="3175"/>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50000"/>
                </a:lnSpc>
              </a:pPr>
              <a:r>
                <a:rPr lang="zh-CN" altLang="en-US" sz="1400" dirty="0"/>
                <a:t>数据库服务器在读取记录时会在当前行加共享锁，直到游标</a:t>
              </a:r>
              <a:r>
                <a:rPr lang="en-US" altLang="zh-CN" sz="1400" dirty="0"/>
                <a:t>fetch</a:t>
              </a:r>
              <a:r>
                <a:rPr lang="zh-CN" altLang="en-US" sz="1400" dirty="0"/>
                <a:t>下一行记录才释放上一行的锁。</a:t>
              </a:r>
            </a:p>
          </p:txBody>
        </p:sp>
        <p:cxnSp>
          <p:nvCxnSpPr>
            <p:cNvPr id="15" name="直接连接符 14"/>
            <p:cNvCxnSpPr/>
            <p:nvPr/>
          </p:nvCxnSpPr>
          <p:spPr bwMode="auto">
            <a:xfrm>
              <a:off x="2601310" y="4561012"/>
              <a:ext cx="924902" cy="327757"/>
            </a:xfrm>
            <a:prstGeom prst="line">
              <a:avLst/>
            </a:prstGeom>
            <a:noFill/>
            <a:ln w="9525" cap="flat" cmpd="sng" algn="ctr">
              <a:solidFill>
                <a:schemeClr val="tx1"/>
              </a:solidFill>
              <a:prstDash val="solid"/>
              <a:round/>
              <a:headEnd type="none" w="med" len="med"/>
              <a:tailEnd type="none" w="med" len="med"/>
            </a:ln>
            <a:effectLst/>
          </p:spPr>
        </p:cxnSp>
        <p:sp>
          <p:nvSpPr>
            <p:cNvPr id="8" name="TextBox 7"/>
            <p:cNvSpPr txBox="1"/>
            <p:nvPr/>
          </p:nvSpPr>
          <p:spPr>
            <a:xfrm>
              <a:off x="2706405" y="3776086"/>
              <a:ext cx="1865595" cy="523220"/>
            </a:xfrm>
            <a:prstGeom prst="rect">
              <a:avLst/>
            </a:prstGeom>
            <a:noFill/>
          </p:spPr>
          <p:txBody>
            <a:bodyPr wrap="square" rtlCol="0">
              <a:spAutoFit/>
            </a:bodyPr>
            <a:lstStyle/>
            <a:p>
              <a:r>
                <a:rPr lang="zh-CN" altLang="en-US" sz="1400" dirty="0"/>
                <a:t>当前行加共享锁，直至游标指向下一行</a:t>
              </a:r>
            </a:p>
          </p:txBody>
        </p:sp>
      </p:grpSp>
    </p:spTree>
    <p:extLst>
      <p:ext uri="{BB962C8B-B14F-4D97-AF65-F5344CB8AC3E}">
        <p14:creationId xmlns:p14="http://schemas.microsoft.com/office/powerpoint/2010/main" val="37787343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8"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Cursor Stability (6)</a:t>
            </a:r>
          </a:p>
        </p:txBody>
      </p:sp>
      <p:sp>
        <p:nvSpPr>
          <p:cNvPr id="1058819" name="Rectangle 3"/>
          <p:cNvSpPr>
            <a:spLocks noGrp="1" noChangeArrowheads="1"/>
          </p:cNvSpPr>
          <p:nvPr>
            <p:ph type="body" sz="quarter" idx="10"/>
          </p:nvPr>
        </p:nvSpPr>
        <p:spPr/>
        <p:txBody>
          <a:bodyPr/>
          <a:lstStyle/>
          <a:p>
            <a:pPr>
              <a:lnSpc>
                <a:spcPct val="200000"/>
              </a:lnSpc>
            </a:pPr>
            <a:r>
              <a:rPr lang="zh-CN" altLang="en-US" dirty="0"/>
              <a:t>不仅可以看到提交的记录，也可以保证看到的记录不会被更新</a:t>
            </a:r>
            <a:endParaRPr lang="en-US" altLang="zh-CN" dirty="0"/>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其他进程不能更新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(UPDATE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DELETE)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你所看到的记录</a:t>
            </a: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当移动到下一行时，锁才会释放，记录就可以进行修改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32</a:t>
            </a:fld>
            <a:endParaRPr lang="zh-CN" altLang="en-US"/>
          </a:p>
        </p:txBody>
      </p:sp>
    </p:spTree>
    <p:extLst>
      <p:ext uri="{BB962C8B-B14F-4D97-AF65-F5344CB8AC3E}">
        <p14:creationId xmlns:p14="http://schemas.microsoft.com/office/powerpoint/2010/main" val="35653571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Repeatable Read (7)</a:t>
            </a:r>
          </a:p>
        </p:txBody>
      </p:sp>
      <p:sp>
        <p:nvSpPr>
          <p:cNvPr id="1002499" name="Rectangle 3"/>
          <p:cNvSpPr>
            <a:spLocks noGrp="1" noChangeArrowheads="1"/>
          </p:cNvSpPr>
          <p:nvPr>
            <p:ph type="body" sz="quarter" idx="10"/>
          </p:nvPr>
        </p:nvSpPr>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语法</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2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SET ISOLATION TO REPEATABLE READ;</a:t>
            </a: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数据库在读取的记录上加共享锁，验证是否可以读取数据</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直到事务提交，锁才能释放</a:t>
            </a:r>
          </a:p>
          <a:p>
            <a:pPr lvl="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其他用户可以读取数据，但是不能修改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可以保证在同一事务中前后两次读取记录是一致的</a:t>
            </a:r>
          </a:p>
          <a:p>
            <a:pPr lvl="1">
              <a:lnSpc>
                <a:spcPct val="150000"/>
              </a:lnSpc>
            </a:pP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p:cNvGrpSpPr/>
          <p:nvPr/>
        </p:nvGrpSpPr>
        <p:grpSpPr>
          <a:xfrm>
            <a:off x="2554290" y="3995473"/>
            <a:ext cx="5677187" cy="2141802"/>
            <a:chOff x="2017575" y="3845917"/>
            <a:chExt cx="5677187" cy="2141802"/>
          </a:xfrm>
        </p:grpSpPr>
        <p:pic>
          <p:nvPicPr>
            <p:cNvPr id="12" name="Picture 2"/>
            <p:cNvPicPr>
              <a:picLocks noChangeAspect="1" noChangeArrowheads="1"/>
            </p:cNvPicPr>
            <p:nvPr/>
          </p:nvPicPr>
          <p:blipFill>
            <a:blip r:embed="rId3" cstate="print"/>
            <a:srcRect/>
            <a:stretch>
              <a:fillRect/>
            </a:stretch>
          </p:blipFill>
          <p:spPr bwMode="auto">
            <a:xfrm>
              <a:off x="2017575" y="4226097"/>
              <a:ext cx="1478675" cy="1687617"/>
            </a:xfrm>
            <a:prstGeom prst="rect">
              <a:avLst/>
            </a:prstGeom>
            <a:noFill/>
            <a:ln w="9525">
              <a:noFill/>
              <a:miter lim="800000"/>
              <a:headEnd/>
              <a:tailEnd/>
            </a:ln>
          </p:spPr>
        </p:pic>
        <p:cxnSp>
          <p:nvCxnSpPr>
            <p:cNvPr id="13" name="直接箭头连接符 12"/>
            <p:cNvCxnSpPr>
              <a:stCxn id="14" idx="1"/>
            </p:cNvCxnSpPr>
            <p:nvPr/>
          </p:nvCxnSpPr>
          <p:spPr bwMode="auto">
            <a:xfrm flipH="1">
              <a:off x="3433187" y="4651448"/>
              <a:ext cx="1762168" cy="3767"/>
            </a:xfrm>
            <a:prstGeom prst="straightConnector1">
              <a:avLst/>
            </a:prstGeom>
            <a:noFill/>
            <a:ln w="9525" cap="flat" cmpd="sng" algn="ctr">
              <a:solidFill>
                <a:schemeClr val="tx1"/>
              </a:solidFill>
              <a:prstDash val="solid"/>
              <a:round/>
              <a:headEnd type="none" w="med" len="med"/>
              <a:tailEnd type="arrow"/>
            </a:ln>
            <a:effectLst/>
          </p:spPr>
        </p:cxnSp>
        <p:sp>
          <p:nvSpPr>
            <p:cNvPr id="14" name="TextBox 13"/>
            <p:cNvSpPr txBox="1"/>
            <p:nvPr/>
          </p:nvSpPr>
          <p:spPr>
            <a:xfrm>
              <a:off x="5195355" y="4497559"/>
              <a:ext cx="1320165" cy="306705"/>
            </a:xfrm>
            <a:prstGeom prst="rect">
              <a:avLst/>
            </a:prstGeom>
            <a:noFill/>
          </p:spPr>
          <p:txBody>
            <a:bodyPr wrap="none" rtlCol="0">
              <a:spAutoFit/>
            </a:bodyPr>
            <a:lstStyle/>
            <a:p>
              <a:r>
                <a:rPr lang="en-US" altLang="zh-CN" sz="1400" dirty="0" err="1"/>
                <a:t>GBase</a:t>
              </a:r>
              <a:r>
                <a:rPr lang="en-US" altLang="zh-CN" sz="1400" dirty="0"/>
                <a:t> 8s</a:t>
              </a:r>
              <a:r>
                <a:rPr lang="zh-CN" altLang="en-US" sz="1400" dirty="0"/>
                <a:t>线程</a:t>
              </a:r>
            </a:p>
          </p:txBody>
        </p:sp>
        <p:sp>
          <p:nvSpPr>
            <p:cNvPr id="15" name="TextBox 14"/>
            <p:cNvSpPr txBox="1"/>
            <p:nvPr/>
          </p:nvSpPr>
          <p:spPr>
            <a:xfrm>
              <a:off x="4421152" y="5249055"/>
              <a:ext cx="3273610" cy="738664"/>
            </a:xfrm>
            <a:prstGeom prst="rect">
              <a:avLst/>
            </a:prstGeom>
            <a:ln w="3175"/>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50000"/>
                </a:lnSpc>
              </a:pPr>
              <a:r>
                <a:rPr lang="zh-CN" altLang="en-US" sz="1400" dirty="0"/>
                <a:t>数据库服务器在满足查询条件的所有行上添加共享锁，直到事务提交才释放锁</a:t>
              </a:r>
            </a:p>
          </p:txBody>
        </p:sp>
        <p:cxnSp>
          <p:nvCxnSpPr>
            <p:cNvPr id="16" name="直接连接符 15"/>
            <p:cNvCxnSpPr/>
            <p:nvPr/>
          </p:nvCxnSpPr>
          <p:spPr bwMode="auto">
            <a:xfrm>
              <a:off x="4189934" y="5049355"/>
              <a:ext cx="231218" cy="442904"/>
            </a:xfrm>
            <a:prstGeom prst="line">
              <a:avLst/>
            </a:prstGeom>
            <a:noFill/>
            <a:ln w="9525" cap="flat" cmpd="sng" algn="ctr">
              <a:solidFill>
                <a:schemeClr val="tx1"/>
              </a:solidFill>
              <a:prstDash val="solid"/>
              <a:round/>
              <a:headEnd type="none" w="med" len="med"/>
              <a:tailEnd type="none" w="med" len="med"/>
            </a:ln>
            <a:effectLst/>
          </p:spPr>
        </p:cxnSp>
        <p:sp>
          <p:nvSpPr>
            <p:cNvPr id="11" name="TextBox 10"/>
            <p:cNvSpPr txBox="1"/>
            <p:nvPr/>
          </p:nvSpPr>
          <p:spPr>
            <a:xfrm>
              <a:off x="2466227" y="3845917"/>
              <a:ext cx="389850" cy="338554"/>
            </a:xfrm>
            <a:prstGeom prst="rect">
              <a:avLst/>
            </a:prstGeom>
            <a:noFill/>
          </p:spPr>
          <p:txBody>
            <a:bodyPr wrap="none" rtlCol="0">
              <a:spAutoFit/>
            </a:bodyPr>
            <a:lstStyle/>
            <a:p>
              <a:r>
                <a:rPr lang="zh-CN" altLang="en-US" sz="1600" dirty="0"/>
                <a:t>表</a:t>
              </a:r>
            </a:p>
          </p:txBody>
        </p:sp>
        <p:sp>
          <p:nvSpPr>
            <p:cNvPr id="9" name="TextBox 8"/>
            <p:cNvSpPr txBox="1"/>
            <p:nvPr/>
          </p:nvSpPr>
          <p:spPr>
            <a:xfrm>
              <a:off x="3627523" y="4035104"/>
              <a:ext cx="1298035" cy="523220"/>
            </a:xfrm>
            <a:prstGeom prst="rect">
              <a:avLst/>
            </a:prstGeom>
            <a:noFill/>
          </p:spPr>
          <p:txBody>
            <a:bodyPr wrap="square" rtlCol="0">
              <a:spAutoFit/>
            </a:bodyPr>
            <a:lstStyle/>
            <a:p>
              <a:r>
                <a:rPr lang="zh-CN" altLang="en-US" sz="1400" dirty="0"/>
                <a:t>满足条件的行均添加共享锁</a:t>
              </a:r>
            </a:p>
          </p:txBody>
        </p:sp>
        <p:cxnSp>
          <p:nvCxnSpPr>
            <p:cNvPr id="17" name="直接箭头连接符 16"/>
            <p:cNvCxnSpPr/>
            <p:nvPr/>
          </p:nvCxnSpPr>
          <p:spPr bwMode="auto">
            <a:xfrm flipH="1" flipV="1">
              <a:off x="3443701" y="4854912"/>
              <a:ext cx="809295" cy="5258"/>
            </a:xfrm>
            <a:prstGeom prst="straightConnector1">
              <a:avLst/>
            </a:prstGeom>
            <a:noFill/>
            <a:ln w="9525" cap="flat" cmpd="sng" algn="ctr">
              <a:solidFill>
                <a:schemeClr val="tx1"/>
              </a:solidFill>
              <a:prstDash val="solid"/>
              <a:round/>
              <a:headEnd type="none" w="med" len="med"/>
              <a:tailEnd type="arrow"/>
            </a:ln>
            <a:effectLst/>
          </p:spPr>
        </p:cxnSp>
        <p:cxnSp>
          <p:nvCxnSpPr>
            <p:cNvPr id="20" name="直接箭头连接符 19"/>
            <p:cNvCxnSpPr/>
            <p:nvPr/>
          </p:nvCxnSpPr>
          <p:spPr bwMode="auto">
            <a:xfrm flipH="1" flipV="1">
              <a:off x="3438441" y="5054610"/>
              <a:ext cx="809295" cy="5258"/>
            </a:xfrm>
            <a:prstGeom prst="straightConnector1">
              <a:avLst/>
            </a:prstGeom>
            <a:noFill/>
            <a:ln w="9525" cap="flat" cmpd="sng" algn="ctr">
              <a:solidFill>
                <a:schemeClr val="tx1"/>
              </a:solidFill>
              <a:prstDash val="solid"/>
              <a:round/>
              <a:headEnd type="none" w="med" len="med"/>
              <a:tailEnd type="arrow"/>
            </a:ln>
            <a:effectLst/>
          </p:spPr>
        </p:cxnSp>
        <p:cxnSp>
          <p:nvCxnSpPr>
            <p:cNvPr id="22" name="直接连接符 21"/>
            <p:cNvCxnSpPr/>
            <p:nvPr/>
          </p:nvCxnSpPr>
          <p:spPr bwMode="auto">
            <a:xfrm>
              <a:off x="4252996" y="4670984"/>
              <a:ext cx="0" cy="394138"/>
            </a:xfrm>
            <a:prstGeom prst="line">
              <a:avLst/>
            </a:prstGeom>
            <a:no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2336868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Repeatable Read (8)</a:t>
            </a:r>
          </a:p>
        </p:txBody>
      </p:sp>
      <p:sp>
        <p:nvSpPr>
          <p:cNvPr id="1060867" name="Rectangle 3"/>
          <p:cNvSpPr>
            <a:spLocks noGrp="1" noChangeArrowheads="1"/>
          </p:cNvSpPr>
          <p:nvPr>
            <p:ph type="body" sz="quarter" idx="10"/>
          </p:nvPr>
        </p:nvSpPr>
        <p:spPr/>
        <p:txBody>
          <a:bodyPr/>
          <a:lstStyle/>
          <a:p>
            <a:pPr>
              <a:lnSpc>
                <a:spcPct val="200000"/>
              </a:lnSpc>
            </a:pPr>
            <a:r>
              <a:rPr lang="zh-CN" altLang="en-US" dirty="0">
                <a:cs typeface="宋体" panose="02010600030101010101" pitchFamily="2" charset="-122"/>
              </a:rPr>
              <a:t>当你必须要信任所有读取的记录，保证记录不被修改。我们可以采用</a:t>
            </a:r>
            <a:r>
              <a:rPr lang="en-US" altLang="zh-CN" dirty="0">
                <a:cs typeface="宋体" panose="02010600030101010101" pitchFamily="2" charset="-122"/>
              </a:rPr>
              <a:t>repeatable read. </a:t>
            </a:r>
            <a:r>
              <a:rPr lang="zh-CN" altLang="en-US" dirty="0">
                <a:cs typeface="宋体" panose="02010600030101010101" pitchFamily="2" charset="-122"/>
              </a:rPr>
              <a:t>举例</a:t>
            </a:r>
            <a:r>
              <a:rPr lang="en-US" altLang="zh-CN" dirty="0">
                <a:cs typeface="宋体" panose="02010600030101010101" pitchFamily="2" charset="-122"/>
              </a:rPr>
              <a:t>:</a:t>
            </a:r>
          </a:p>
          <a:p>
            <a:pPr lvl="1">
              <a:lnSpc>
                <a:spcPct val="200000"/>
              </a:lnSpc>
            </a:pPr>
            <a:r>
              <a:rPr lang="zh-CN" altLang="en-US" dirty="0">
                <a:cs typeface="宋体" panose="02010600030101010101" pitchFamily="2" charset="-122"/>
              </a:rPr>
              <a:t>关键的</a:t>
            </a:r>
            <a:r>
              <a:rPr lang="en-US" altLang="zh-CN" dirty="0">
                <a:cs typeface="宋体" panose="02010600030101010101" pitchFamily="2" charset="-122"/>
              </a:rPr>
              <a:t>, </a:t>
            </a:r>
            <a:r>
              <a:rPr lang="zh-CN" altLang="en-US" dirty="0">
                <a:cs typeface="宋体" panose="02010600030101010101" pitchFamily="2" charset="-122"/>
              </a:rPr>
              <a:t>统计数据 </a:t>
            </a:r>
            <a:r>
              <a:rPr lang="en-US" altLang="zh-CN" dirty="0">
                <a:cs typeface="宋体" panose="02010600030101010101" pitchFamily="2" charset="-122"/>
              </a:rPr>
              <a:t>(</a:t>
            </a:r>
            <a:r>
              <a:rPr lang="zh-CN" altLang="en-US" dirty="0">
                <a:cs typeface="宋体" panose="02010600030101010101" pitchFamily="2" charset="-122"/>
              </a:rPr>
              <a:t>如：银行账号的余额情况</a:t>
            </a:r>
            <a:r>
              <a:rPr lang="en-US" altLang="zh-CN" dirty="0">
                <a:cs typeface="宋体" panose="02010600030101010101" pitchFamily="2" charset="-122"/>
              </a:rPr>
              <a:t>)</a:t>
            </a:r>
          </a:p>
          <a:p>
            <a:pPr lvl="1">
              <a:lnSpc>
                <a:spcPct val="200000"/>
              </a:lnSpc>
            </a:pPr>
            <a:r>
              <a:rPr lang="zh-CN" altLang="en-US" dirty="0">
                <a:cs typeface="宋体" panose="02010600030101010101" pitchFamily="2" charset="-122"/>
              </a:rPr>
              <a:t>关联查询多个表</a:t>
            </a:r>
            <a:endParaRPr lang="en-US" altLang="zh-CN" dirty="0">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34</a:t>
            </a:fld>
            <a:endParaRPr lang="zh-CN" altLang="en-US"/>
          </a:p>
        </p:txBody>
      </p:sp>
    </p:spTree>
    <p:extLst>
      <p:ext uri="{BB962C8B-B14F-4D97-AF65-F5344CB8AC3E}">
        <p14:creationId xmlns:p14="http://schemas.microsoft.com/office/powerpoint/2010/main" val="181233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62" name="Rectangle 14"/>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Last Committed Read (9)</a:t>
            </a:r>
          </a:p>
        </p:txBody>
      </p:sp>
      <p:sp>
        <p:nvSpPr>
          <p:cNvPr id="1000465" name="Rectangle 17"/>
          <p:cNvSpPr>
            <a:spLocks noGrp="1" noChangeArrowheads="1"/>
          </p:cNvSpPr>
          <p:nvPr>
            <p:ph type="body" sz="quarter" idx="10"/>
          </p:nvPr>
        </p:nvSpPr>
        <p:spPr/>
        <p:txBody>
          <a:bodyPr/>
          <a:lstStyle/>
          <a:p>
            <a:pPr>
              <a:lnSpc>
                <a:spcPct val="150000"/>
              </a:lnSpc>
            </a:pPr>
            <a:r>
              <a:rPr lang="zh-CN" altLang="en-US" dirty="0"/>
              <a:t>解决</a:t>
            </a:r>
            <a:r>
              <a:rPr lang="en-US" altLang="zh-CN" dirty="0"/>
              <a:t>Committed Read</a:t>
            </a:r>
            <a:r>
              <a:rPr lang="zh-CN" altLang="en-US" dirty="0"/>
              <a:t>的不足</a:t>
            </a:r>
            <a:r>
              <a:rPr lang="en-US" altLang="zh-CN" dirty="0"/>
              <a:t>: </a:t>
            </a:r>
            <a:r>
              <a:rPr lang="zh-CN" altLang="en-US" dirty="0"/>
              <a:t>记录被锁，其他进程需要等待</a:t>
            </a:r>
          </a:p>
          <a:p>
            <a:pPr lvl="1">
              <a:lnSpc>
                <a:spcPct val="150000"/>
              </a:lnSpc>
            </a:pPr>
            <a:r>
              <a:rPr lang="zh-CN" altLang="en-US" dirty="0">
                <a:cs typeface="宋体" panose="02010600030101010101" pitchFamily="2" charset="-122"/>
              </a:rPr>
              <a:t>更新的记录不能访问，直到提交。除非采用脏读</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由于需要等待更新记录的提交，应用程序性能较低</a:t>
            </a:r>
            <a:endParaRPr lang="en-US" altLang="zh-CN" dirty="0">
              <a:cs typeface="宋体" panose="02010600030101010101" pitchFamily="2" charset="-122"/>
            </a:endParaRPr>
          </a:p>
          <a:p>
            <a:pPr lvl="1">
              <a:lnSpc>
                <a:spcPct val="150000"/>
              </a:lnSpc>
            </a:pPr>
            <a:r>
              <a:rPr lang="zh-CN" altLang="en-US" dirty="0">
                <a:cs typeface="宋体" panose="02010600030101010101" pitchFamily="2" charset="-122"/>
              </a:rPr>
              <a:t>如果采用脏读则会得到非预期的结果</a:t>
            </a:r>
            <a:endParaRPr lang="en-US" altLang="zh-CN" dirty="0">
              <a:cs typeface="宋体" panose="02010600030101010101" pitchFamily="2" charset="-122"/>
            </a:endParaRPr>
          </a:p>
        </p:txBody>
      </p:sp>
      <p:pic>
        <p:nvPicPr>
          <p:cNvPr id="1000463" name="Picture 15"/>
          <p:cNvPicPr>
            <a:picLocks noGrp="1" noChangeAspect="1" noChangeArrowheads="1"/>
          </p:cNvPicPr>
          <p:nvPr>
            <p:ph sz="quarter" idx="4294967295"/>
          </p:nvPr>
        </p:nvPicPr>
        <p:blipFill>
          <a:blip r:embed="rId3" cstate="print">
            <a:extLst>
              <a:ext uri="{28A0092B-C50C-407E-A947-70E740481C1C}">
                <a14:useLocalDpi xmlns:a14="http://schemas.microsoft.com/office/drawing/2010/main" val="0"/>
              </a:ext>
            </a:extLst>
          </a:blip>
          <a:stretch>
            <a:fillRect/>
          </a:stretch>
        </p:blipFill>
        <p:spPr>
          <a:xfrm>
            <a:off x="0" y="1295400"/>
            <a:ext cx="3829050" cy="2400300"/>
          </a:xfrm>
          <a:ln w="3175">
            <a:solidFill>
              <a:schemeClr val="accent1">
                <a:alpha val="99000"/>
              </a:schemeClr>
            </a:solidFill>
          </a:ln>
        </p:spPr>
      </p:pic>
      <p:pic>
        <p:nvPicPr>
          <p:cNvPr id="1000464" name="Picture 16"/>
          <p:cNvPicPr>
            <a:picLocks noGrp="1" noChangeAspect="1" noChangeArrowheads="1"/>
          </p:cNvPicPr>
          <p:nvPr>
            <p:ph sz="quarter" idx="4294967295"/>
          </p:nvPr>
        </p:nvPicPr>
        <p:blipFill>
          <a:blip r:embed="rId4" cstate="print">
            <a:extLst>
              <a:ext uri="{28A0092B-C50C-407E-A947-70E740481C1C}">
                <a14:useLocalDpi xmlns:a14="http://schemas.microsoft.com/office/drawing/2010/main" val="0"/>
              </a:ext>
            </a:extLst>
          </a:blip>
          <a:stretch>
            <a:fillRect/>
          </a:stretch>
        </p:blipFill>
        <p:spPr>
          <a:xfrm>
            <a:off x="8013700" y="1287463"/>
            <a:ext cx="4178300" cy="2381250"/>
          </a:xfrm>
          <a:ln w="3175">
            <a:solidFill>
              <a:schemeClr val="accent1"/>
            </a:solidFill>
          </a:ln>
        </p:spPr>
      </p:pic>
    </p:spTree>
    <p:extLst>
      <p:ext uri="{BB962C8B-B14F-4D97-AF65-F5344CB8AC3E}">
        <p14:creationId xmlns:p14="http://schemas.microsoft.com/office/powerpoint/2010/main" val="3911926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Last Committed Read (10)</a:t>
            </a:r>
          </a:p>
        </p:txBody>
      </p:sp>
      <p:sp>
        <p:nvSpPr>
          <p:cNvPr id="1067011" name="Rectangle 3"/>
          <p:cNvSpPr>
            <a:spLocks noGrp="1" noChangeArrowheads="1"/>
          </p:cNvSpPr>
          <p:nvPr>
            <p:ph type="body" sz="quarter" idx="10"/>
          </p:nvPr>
        </p:nvSpPr>
        <p:spPr/>
        <p:txBody>
          <a:bodyPr>
            <a:normAutofit/>
          </a:bodyPr>
          <a:lstStyle/>
          <a:p>
            <a:pPr>
              <a:lnSpc>
                <a:spcPct val="150000"/>
              </a:lnSpc>
            </a:pPr>
            <a:r>
              <a:rPr lang="zh-CN" altLang="en-US" dirty="0"/>
              <a:t>对于</a:t>
            </a:r>
            <a:r>
              <a:rPr lang="en-US" altLang="zh-CN" dirty="0"/>
              <a:t>Committed Read </a:t>
            </a:r>
            <a:r>
              <a:rPr lang="zh-CN" altLang="en-US" dirty="0"/>
              <a:t>隔离级别</a:t>
            </a:r>
            <a:r>
              <a:rPr lang="en-US" altLang="zh-CN" dirty="0"/>
              <a:t>, </a:t>
            </a:r>
            <a:r>
              <a:rPr lang="zh-CN" altLang="en-US" dirty="0"/>
              <a:t>由于其他</a:t>
            </a:r>
            <a:r>
              <a:rPr lang="en-US" altLang="zh-CN" dirty="0"/>
              <a:t>session</a:t>
            </a:r>
            <a:r>
              <a:rPr lang="zh-CN" altLang="en-US" dirty="0"/>
              <a:t>在记录上加了排他锁（行级锁），将导致读取数据失败</a:t>
            </a:r>
            <a:endParaRPr lang="en-US" altLang="zh-CN" dirty="0"/>
          </a:p>
          <a:p>
            <a:pPr>
              <a:lnSpc>
                <a:spcPct val="150000"/>
              </a:lnSpc>
            </a:pPr>
            <a:r>
              <a:rPr lang="zh-CN" altLang="en-US" dirty="0"/>
              <a:t>解决办法</a:t>
            </a:r>
            <a:r>
              <a:rPr lang="en-US" altLang="zh-CN" dirty="0"/>
              <a:t>: Last Committed Read (</a:t>
            </a:r>
            <a:r>
              <a:rPr lang="zh-CN" altLang="en-US" dirty="0"/>
              <a:t>乐观锁</a:t>
            </a:r>
            <a:r>
              <a:rPr lang="en-US" altLang="zh-CN" dirty="0"/>
              <a:t>)</a:t>
            </a:r>
          </a:p>
          <a:p>
            <a:pPr>
              <a:lnSpc>
                <a:spcPct val="150000"/>
              </a:lnSpc>
            </a:pPr>
            <a:r>
              <a:rPr lang="en-US" altLang="zh-CN" dirty="0"/>
              <a:t>SET ISOLATION COMMITTED READ </a:t>
            </a:r>
            <a:r>
              <a:rPr lang="zh-CN" altLang="en-US" dirty="0"/>
              <a:t>的</a:t>
            </a:r>
            <a:r>
              <a:rPr lang="en-US" altLang="zh-CN" dirty="0"/>
              <a:t>LAST COMMITTED </a:t>
            </a:r>
            <a:r>
              <a:rPr lang="zh-CN" altLang="en-US" dirty="0"/>
              <a:t>选项 </a:t>
            </a:r>
            <a:r>
              <a:rPr lang="en-US" altLang="zh-CN" dirty="0"/>
              <a:t> </a:t>
            </a:r>
            <a:r>
              <a:rPr lang="zh-CN" altLang="en-US" dirty="0"/>
              <a:t>可以降低读取数据的锁冲突</a:t>
            </a:r>
            <a:endParaRPr lang="en-US" altLang="zh-CN" dirty="0"/>
          </a:p>
          <a:p>
            <a:pPr>
              <a:buFont typeface="Wingdings" panose="05000000000000000000" charset="0"/>
              <a:buNone/>
            </a:pPr>
            <a:endParaRPr lang="zh-CN" altLang="en-US" sz="2000" dirty="0">
              <a:solidFill>
                <a:srgbClr val="FF0000"/>
              </a:solidFill>
              <a:cs typeface="宋体" panose="02010600030101010101" pitchFamily="2" charset="-122"/>
            </a:endParaRPr>
          </a:p>
        </p:txBody>
      </p:sp>
      <p:pic>
        <p:nvPicPr>
          <p:cNvPr id="1067013" name="Picture 5"/>
          <p:cNvPicPr>
            <a:picLocks noGrp="1" noChangeAspect="1" noChangeArrowheads="1"/>
          </p:cNvPicPr>
          <p:nvPr>
            <p:ph sz="quarter" idx="4294967295"/>
          </p:nvPr>
        </p:nvPicPr>
        <p:blipFill>
          <a:blip r:embed="rId3" cstate="print">
            <a:extLst>
              <a:ext uri="{28A0092B-C50C-407E-A947-70E740481C1C}">
                <a14:useLocalDpi xmlns:a14="http://schemas.microsoft.com/office/drawing/2010/main" val="0"/>
              </a:ext>
            </a:extLst>
          </a:blip>
          <a:stretch>
            <a:fillRect/>
          </a:stretch>
        </p:blipFill>
        <p:spPr>
          <a:xfrm>
            <a:off x="0" y="1295400"/>
            <a:ext cx="3833813" cy="2400300"/>
          </a:xfrm>
          <a:ln w="3175">
            <a:solidFill>
              <a:schemeClr val="accent1"/>
            </a:solidFill>
          </a:ln>
        </p:spPr>
      </p:pic>
      <p:pic>
        <p:nvPicPr>
          <p:cNvPr id="1067014" name="Picture 6"/>
          <p:cNvPicPr>
            <a:picLocks noGrp="1" noChangeAspect="1" noChangeArrowheads="1"/>
          </p:cNvPicPr>
          <p:nvPr>
            <p:ph sz="quarter" idx="4294967295"/>
          </p:nvPr>
        </p:nvPicPr>
        <p:blipFill>
          <a:blip r:embed="rId4" cstate="print">
            <a:extLst>
              <a:ext uri="{28A0092B-C50C-407E-A947-70E740481C1C}">
                <a14:useLocalDpi xmlns:a14="http://schemas.microsoft.com/office/drawing/2010/main" val="0"/>
              </a:ext>
            </a:extLst>
          </a:blip>
          <a:stretch>
            <a:fillRect/>
          </a:stretch>
        </p:blipFill>
        <p:spPr>
          <a:xfrm>
            <a:off x="8091488" y="1295400"/>
            <a:ext cx="4100512" cy="2362200"/>
          </a:xfrm>
          <a:ln w="3175">
            <a:solidFill>
              <a:schemeClr val="accent1"/>
            </a:solidFill>
          </a:ln>
        </p:spPr>
      </p:pic>
    </p:spTree>
    <p:extLst>
      <p:ext uri="{BB962C8B-B14F-4D97-AF65-F5344CB8AC3E}">
        <p14:creationId xmlns:p14="http://schemas.microsoft.com/office/powerpoint/2010/main" val="12188605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Last Committed Read (11)</a:t>
            </a:r>
          </a:p>
        </p:txBody>
      </p:sp>
      <p:sp>
        <p:nvSpPr>
          <p:cNvPr id="1064963" name="Rectangle 3"/>
          <p:cNvSpPr>
            <a:spLocks noGrp="1" noChangeArrowheads="1"/>
          </p:cNvSpPr>
          <p:nvPr>
            <p:ph type="body" sz="quarter" idx="10"/>
          </p:nvPr>
        </p:nvSpPr>
        <p:spPr/>
        <p:txBody>
          <a:bodyPr>
            <a:noAutofit/>
          </a:bodyPr>
          <a:lstStyle/>
          <a:p>
            <a:pPr>
              <a:lnSpc>
                <a:spcPct val="200000"/>
              </a:lnSpc>
            </a:pPr>
            <a:r>
              <a:rPr lang="en-US" altLang="zh-CN" dirty="0">
                <a:cs typeface="宋体" panose="02010600030101010101" pitchFamily="2" charset="-122"/>
              </a:rPr>
              <a:t>Last committed Read</a:t>
            </a:r>
            <a:r>
              <a:rPr lang="zh-CN" altLang="en-US" dirty="0">
                <a:cs typeface="宋体" panose="02010600030101010101" pitchFamily="2" charset="-122"/>
              </a:rPr>
              <a:t>是一种乐观锁</a:t>
            </a:r>
            <a:r>
              <a:rPr lang="en-US" altLang="zh-CN" dirty="0">
                <a:cs typeface="宋体" panose="02010600030101010101" pitchFamily="2" charset="-122"/>
              </a:rPr>
              <a:t>, </a:t>
            </a:r>
            <a:r>
              <a:rPr lang="zh-CN" altLang="en-US" dirty="0">
                <a:cs typeface="宋体" panose="02010600030101010101" pitchFamily="2" charset="-122"/>
              </a:rPr>
              <a:t>常被应用在基于</a:t>
            </a:r>
            <a:r>
              <a:rPr lang="en-US" altLang="zh-CN" dirty="0">
                <a:cs typeface="宋体" panose="02010600030101010101" pitchFamily="2" charset="-122"/>
              </a:rPr>
              <a:t>WEB</a:t>
            </a:r>
            <a:r>
              <a:rPr lang="zh-CN" altLang="en-US" dirty="0">
                <a:cs typeface="宋体" panose="02010600030101010101" pitchFamily="2" charset="-122"/>
              </a:rPr>
              <a:t>的应用程序中</a:t>
            </a:r>
          </a:p>
          <a:p>
            <a:pPr lvl="1">
              <a:lnSpc>
                <a:spcPct val="200000"/>
              </a:lnSpc>
            </a:pPr>
            <a:r>
              <a:rPr lang="zh-CN" altLang="en-US" dirty="0">
                <a:cs typeface="宋体" panose="02010600030101010101" pitchFamily="2" charset="-122"/>
              </a:rPr>
              <a:t>电子商务的一个例子</a:t>
            </a:r>
            <a:r>
              <a:rPr lang="en-US" altLang="zh-CN" dirty="0">
                <a:cs typeface="宋体" panose="02010600030101010101" pitchFamily="2" charset="-122"/>
              </a:rPr>
              <a:t>: </a:t>
            </a:r>
          </a:p>
          <a:p>
            <a:pPr marL="683895" lvl="2" indent="0">
              <a:lnSpc>
                <a:spcPct val="200000"/>
              </a:lnSpc>
              <a:buNone/>
            </a:pPr>
            <a:r>
              <a:rPr lang="zh-CN" altLang="en-US" dirty="0">
                <a:cs typeface="宋体" panose="02010600030101010101" pitchFamily="2" charset="-122"/>
              </a:rPr>
              <a:t>有代表性的，站点允许你可以选择商品增加到购物篮中，但是，此时后台可能正在对商品的价格进行更新。当你再次检查的时候，可能发现商品的价格已经发生变化</a:t>
            </a:r>
            <a:r>
              <a:rPr lang="zh-CN" altLang="en-US" sz="1400" dirty="0">
                <a:cs typeface="宋体" panose="02010600030101010101" pitchFamily="2" charset="-122"/>
              </a:rPr>
              <a:t>。</a:t>
            </a:r>
            <a:endParaRPr lang="en-US" altLang="zh-CN" sz="1600" dirty="0">
              <a:cs typeface="宋体" panose="02010600030101010101" pitchFamily="2" charset="-122"/>
            </a:endParaRPr>
          </a:p>
          <a:p>
            <a:pPr>
              <a:lnSpc>
                <a:spcPct val="200000"/>
              </a:lnSpc>
            </a:pPr>
            <a:r>
              <a:rPr lang="zh-CN" altLang="en-US" dirty="0">
                <a:cs typeface="宋体" panose="02010600030101010101" pitchFamily="2" charset="-122"/>
              </a:rPr>
              <a:t>语法</a:t>
            </a:r>
            <a:r>
              <a:rPr lang="en-US" altLang="zh-CN" dirty="0">
                <a:cs typeface="宋体" panose="02010600030101010101" pitchFamily="2" charset="-122"/>
              </a:rPr>
              <a:t>:</a:t>
            </a:r>
          </a:p>
          <a:p>
            <a:pPr lvl="1">
              <a:lnSpc>
                <a:spcPct val="200000"/>
              </a:lnSpc>
            </a:pPr>
            <a:r>
              <a:rPr lang="en-US" altLang="zh-CN" sz="1600" dirty="0">
                <a:cs typeface="宋体" panose="02010600030101010101" pitchFamily="2" charset="-122"/>
              </a:rPr>
              <a:t>SET ISOLATION TO COMMITTED READ LAST COMMITTED</a:t>
            </a:r>
          </a:p>
          <a:p>
            <a:pPr>
              <a:lnSpc>
                <a:spcPct val="200000"/>
              </a:lnSpc>
            </a:pPr>
            <a:endParaRPr lang="zh-CN" altLang="en-US" sz="1600" dirty="0">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37</a:t>
            </a:fld>
            <a:endParaRPr lang="zh-CN" altLang="en-US"/>
          </a:p>
        </p:txBody>
      </p:sp>
    </p:spTree>
    <p:extLst>
      <p:ext uri="{BB962C8B-B14F-4D97-AF65-F5344CB8AC3E}">
        <p14:creationId xmlns:p14="http://schemas.microsoft.com/office/powerpoint/2010/main" val="40075526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隔离级别</a:t>
            </a:r>
            <a:r>
              <a:rPr lang="en-US" altLang="zh-CN" dirty="0">
                <a:cs typeface="宋体" panose="02010600030101010101" pitchFamily="2" charset="-122"/>
              </a:rPr>
              <a:t>: Last Committed Read (11)</a:t>
            </a:r>
          </a:p>
        </p:txBody>
      </p:sp>
      <p:sp>
        <p:nvSpPr>
          <p:cNvPr id="1064963" name="Rectangle 3"/>
          <p:cNvSpPr>
            <a:spLocks noGrp="1" noChangeArrowheads="1"/>
          </p:cNvSpPr>
          <p:nvPr>
            <p:ph type="body" sz="quarter" idx="10"/>
          </p:nvPr>
        </p:nvSpPr>
        <p:spPr/>
        <p:txBody>
          <a:bodyPr>
            <a:noAutofit/>
          </a:bodyPr>
          <a:lstStyle/>
          <a:p>
            <a:pPr>
              <a:lnSpc>
                <a:spcPct val="200000"/>
              </a:lnSpc>
            </a:pPr>
            <a:r>
              <a:rPr lang="zh-CN" altLang="en-US" dirty="0">
                <a:cs typeface="宋体" panose="02010600030101010101" pitchFamily="2" charset="-122"/>
              </a:rPr>
              <a:t>相对 </a:t>
            </a:r>
            <a:r>
              <a:rPr lang="en-US" altLang="zh-CN" dirty="0">
                <a:cs typeface="宋体" panose="02010600030101010101" pitchFamily="2" charset="-122"/>
              </a:rPr>
              <a:t>Committed Read</a:t>
            </a:r>
            <a:r>
              <a:rPr lang="zh-CN" altLang="en-US" dirty="0">
                <a:cs typeface="宋体" panose="02010600030101010101" pitchFamily="2" charset="-122"/>
              </a:rPr>
              <a:t>而言，提高了并发量和系统的吞吐量</a:t>
            </a:r>
            <a:endParaRPr lang="en-US" altLang="zh-CN" dirty="0">
              <a:cs typeface="宋体" panose="02010600030101010101" pitchFamily="2" charset="-122"/>
            </a:endParaRPr>
          </a:p>
          <a:p>
            <a:pPr>
              <a:lnSpc>
                <a:spcPct val="200000"/>
              </a:lnSpc>
            </a:pPr>
            <a:r>
              <a:rPr lang="zh-CN" altLang="en-US" dirty="0">
                <a:cs typeface="宋体" panose="02010600030101010101" pitchFamily="2" charset="-122"/>
              </a:rPr>
              <a:t>返回最新提交的记录版本信息</a:t>
            </a:r>
            <a:r>
              <a:rPr lang="en-US" altLang="zh-CN" dirty="0">
                <a:cs typeface="宋体" panose="02010600030101010101" pitchFamily="2" charset="-122"/>
              </a:rPr>
              <a:t>,</a:t>
            </a:r>
            <a:r>
              <a:rPr lang="zh-CN" altLang="en-US" dirty="0">
                <a:cs typeface="宋体" panose="02010600030101010101" pitchFamily="2" charset="-122"/>
              </a:rPr>
              <a:t>尽管其他并发的</a:t>
            </a:r>
            <a:r>
              <a:rPr lang="en-US" altLang="zh-CN" dirty="0">
                <a:cs typeface="宋体" panose="02010600030101010101" pitchFamily="2" charset="-122"/>
              </a:rPr>
              <a:t>session</a:t>
            </a:r>
            <a:r>
              <a:rPr lang="zh-CN" altLang="en-US" dirty="0">
                <a:cs typeface="宋体" panose="02010600030101010101" pitchFamily="2" charset="-122"/>
              </a:rPr>
              <a:t>正在修改记录</a:t>
            </a:r>
            <a:endParaRPr lang="en-US" altLang="zh-CN" dirty="0">
              <a:cs typeface="宋体" panose="02010600030101010101" pitchFamily="2" charset="-122"/>
            </a:endParaRPr>
          </a:p>
          <a:p>
            <a:pPr lvl="1">
              <a:lnSpc>
                <a:spcPct val="150000"/>
              </a:lnSpc>
            </a:pPr>
            <a:r>
              <a:rPr lang="zh-CN" altLang="en-US" sz="1600" dirty="0">
                <a:cs typeface="宋体" panose="02010600030101010101" pitchFamily="2" charset="-122"/>
              </a:rPr>
              <a:t>这保证修改数据者不会误导其他读数据者</a:t>
            </a:r>
          </a:p>
          <a:p>
            <a:pPr lvl="1">
              <a:lnSpc>
                <a:spcPct val="150000"/>
              </a:lnSpc>
            </a:pPr>
            <a:r>
              <a:rPr lang="zh-CN" altLang="en-US" sz="1600" dirty="0">
                <a:cs typeface="宋体" panose="02010600030101010101" pitchFamily="2" charset="-122"/>
              </a:rPr>
              <a:t>只是可以读取数据，但是不可以</a:t>
            </a:r>
            <a:r>
              <a:rPr lang="en-US" altLang="zh-CN" sz="1600" dirty="0" err="1">
                <a:cs typeface="宋体" panose="02010600030101010101" pitchFamily="2" charset="-122"/>
              </a:rPr>
              <a:t>delete,update</a:t>
            </a:r>
            <a:r>
              <a:rPr lang="zh-CN" altLang="en-US" sz="1600" dirty="0">
                <a:cs typeface="宋体" panose="02010600030101010101" pitchFamily="2" charset="-122"/>
              </a:rPr>
              <a:t>记录</a:t>
            </a:r>
            <a:endParaRPr lang="en-US" altLang="zh-CN" sz="1600" dirty="0">
              <a:cs typeface="宋体" panose="02010600030101010101" pitchFamily="2" charset="-122"/>
            </a:endParaRPr>
          </a:p>
          <a:p>
            <a:pPr>
              <a:lnSpc>
                <a:spcPct val="200000"/>
              </a:lnSpc>
            </a:pPr>
            <a:r>
              <a:rPr lang="zh-CN" altLang="en-US" dirty="0">
                <a:cs typeface="宋体" panose="02010600030101010101" pitchFamily="2" charset="-122"/>
              </a:rPr>
              <a:t>可以通过</a:t>
            </a:r>
            <a:r>
              <a:rPr lang="en-US" altLang="zh-CN" dirty="0">
                <a:cs typeface="宋体" panose="02010600030101010101" pitchFamily="2" charset="-122"/>
              </a:rPr>
              <a:t>ONCONFIG</a:t>
            </a:r>
            <a:r>
              <a:rPr lang="zh-CN" altLang="en-US" dirty="0">
                <a:cs typeface="宋体" panose="02010600030101010101" pitchFamily="2" charset="-122"/>
              </a:rPr>
              <a:t>参数设置为默认的隔离级别</a:t>
            </a:r>
            <a:r>
              <a:rPr lang="en-US" altLang="zh-CN" dirty="0">
                <a:cs typeface="宋体" panose="02010600030101010101" pitchFamily="2" charset="-122"/>
              </a:rPr>
              <a:t>: USELASTCOMMITTED</a:t>
            </a:r>
          </a:p>
          <a:p>
            <a:pPr>
              <a:lnSpc>
                <a:spcPct val="200000"/>
              </a:lnSpc>
            </a:pPr>
            <a:r>
              <a:rPr lang="zh-CN" altLang="en-US" dirty="0">
                <a:cs typeface="宋体" panose="02010600030101010101" pitchFamily="2" charset="-122"/>
              </a:rPr>
              <a:t>表需要设置为 行级锁</a:t>
            </a:r>
            <a:r>
              <a:rPr lang="en-US" altLang="zh-CN" dirty="0">
                <a:cs typeface="宋体" panose="02010600030101010101" pitchFamily="2" charset="-122"/>
              </a:rPr>
              <a:t>,</a:t>
            </a:r>
            <a:r>
              <a:rPr lang="zh-CN" altLang="en-US" dirty="0">
                <a:cs typeface="宋体" panose="02010600030101010101" pitchFamily="2" charset="-122"/>
              </a:rPr>
              <a:t>不能是 页级锁。</a:t>
            </a:r>
            <a:endParaRPr lang="en-US" altLang="zh-CN" dirty="0">
              <a:cs typeface="宋体" panose="02010600030101010101" pitchFamily="2" charset="-122"/>
            </a:endParaRPr>
          </a:p>
          <a:p>
            <a:pPr>
              <a:lnSpc>
                <a:spcPct val="80000"/>
              </a:lnSpc>
            </a:pPr>
            <a:endParaRPr lang="zh-CN" altLang="en-US" sz="1600" dirty="0">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38</a:t>
            </a:fld>
            <a:endParaRPr lang="zh-CN" altLang="en-US"/>
          </a:p>
        </p:txBody>
      </p:sp>
    </p:spTree>
    <p:extLst>
      <p:ext uri="{BB962C8B-B14F-4D97-AF65-F5344CB8AC3E}">
        <p14:creationId xmlns:p14="http://schemas.microsoft.com/office/powerpoint/2010/main" val="4737662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r>
              <a:rPr lang="en-US" altLang="zh-CN" dirty="0">
                <a:cs typeface="宋体" panose="02010600030101010101" pitchFamily="2" charset="-122"/>
              </a:rPr>
              <a:t> GBase 8s </a:t>
            </a:r>
            <a:r>
              <a:rPr lang="zh-CN" altLang="en-US" dirty="0">
                <a:cs typeface="宋体" panose="02010600030101010101" pitchFamily="2" charset="-122"/>
              </a:rPr>
              <a:t>隔离级别对照</a:t>
            </a:r>
            <a:endParaRPr lang="en-US" altLang="zh-CN" dirty="0">
              <a:cs typeface="宋体" panose="02010600030101010101" pitchFamily="2" charset="-122"/>
            </a:endParaRPr>
          </a:p>
        </p:txBody>
      </p:sp>
      <p:sp>
        <p:nvSpPr>
          <p:cNvPr id="2" name="文本占位符 1">
            <a:extLst>
              <a:ext uri="{FF2B5EF4-FFF2-40B4-BE49-F238E27FC236}">
                <a16:creationId xmlns:a16="http://schemas.microsoft.com/office/drawing/2014/main" xmlns="" id="{69B93013-4A5F-4256-B7BF-F27E26ACBF5C}"/>
              </a:ext>
            </a:extLst>
          </p:cNvPr>
          <p:cNvSpPr>
            <a:spLocks noGrp="1"/>
          </p:cNvSpPr>
          <p:nvPr>
            <p:ph type="body" sz="quarter" idx="10"/>
          </p:nvPr>
        </p:nvSpPr>
        <p:spPr/>
        <p:txBody>
          <a:bodyPr/>
          <a:lstStyle/>
          <a:p>
            <a:endParaRPr lang="zh-CN" altLang="en-US" dirty="0"/>
          </a:p>
        </p:txBody>
      </p:sp>
      <p:sp>
        <p:nvSpPr>
          <p:cNvPr id="4" name="灯片编号占位符 3"/>
          <p:cNvSpPr>
            <a:spLocks noGrp="1"/>
          </p:cNvSpPr>
          <p:nvPr>
            <p:ph type="sldNum" sz="quarter" idx="4294967295"/>
          </p:nvPr>
        </p:nvSpPr>
        <p:spPr/>
        <p:txBody>
          <a:bodyPr/>
          <a:lstStyle/>
          <a:p>
            <a:pPr>
              <a:buClr>
                <a:srgbClr val="FD0000"/>
              </a:buClr>
              <a:defRPr/>
            </a:pPr>
            <a:fld id="{F573F9B9-ACF9-4EF4-B2EB-E3BC326B9101}" type="slidenum">
              <a:rPr lang="zh-CN" altLang="en-US" smtClean="0"/>
              <a:t>39</a:t>
            </a:fld>
            <a:endParaRPr lang="zh-CN" altLang="en-US"/>
          </a:p>
        </p:txBody>
      </p:sp>
      <p:graphicFrame>
        <p:nvGraphicFramePr>
          <p:cNvPr id="977973" name="Group 53"/>
          <p:cNvGraphicFramePr>
            <a:graphicFrameLocks noGrp="1"/>
          </p:cNvGraphicFramePr>
          <p:nvPr>
            <p:extLst>
              <p:ext uri="{D42A27DB-BD31-4B8C-83A1-F6EECF244321}">
                <p14:modId xmlns:p14="http://schemas.microsoft.com/office/powerpoint/2010/main" val="2306766048"/>
              </p:ext>
            </p:extLst>
          </p:nvPr>
        </p:nvGraphicFramePr>
        <p:xfrm>
          <a:off x="755649" y="1781503"/>
          <a:ext cx="9018971" cy="4365868"/>
        </p:xfrm>
        <a:graphic>
          <a:graphicData uri="http://schemas.openxmlformats.org/drawingml/2006/table">
            <a:tbl>
              <a:tblPr/>
              <a:tblGrid>
                <a:gridCol w="4534140">
                  <a:extLst>
                    <a:ext uri="{9D8B030D-6E8A-4147-A177-3AD203B41FA5}">
                      <a16:colId xmlns:a16="http://schemas.microsoft.com/office/drawing/2014/main" xmlns="" val="20000"/>
                    </a:ext>
                  </a:extLst>
                </a:gridCol>
                <a:gridCol w="4484831">
                  <a:extLst>
                    <a:ext uri="{9D8B030D-6E8A-4147-A177-3AD203B41FA5}">
                      <a16:colId xmlns:a16="http://schemas.microsoft.com/office/drawing/2014/main" xmlns="" val="20001"/>
                    </a:ext>
                  </a:extLst>
                </a:gridCol>
              </a:tblGrid>
              <a:tr h="355664">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隔离级别</a:t>
                      </a:r>
                      <a:r>
                        <a:rPr kumimoji="0" lang="en-US" altLang="zh-CN" sz="1800" b="0" i="0" u="none" strike="noStrike" cap="none" normalizeH="0" baseline="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语法</a:t>
                      </a:r>
                      <a:endParaRPr kumimoji="0" lang="de-DE" sz="1800" b="0" i="0" u="none" strike="noStrike" cap="none" normalizeH="0" baseline="0" dirty="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加锁情况</a:t>
                      </a:r>
                      <a:endParaRPr kumimoji="0" lang="de-DE" sz="1800" b="0" i="0" u="none" strike="noStrike" cap="none" normalizeH="0" baseline="0" dirty="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xmlns="" val="10000"/>
                  </a:ext>
                </a:extLst>
              </a:tr>
              <a:tr h="755785">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Dirty read</a:t>
                      </a:r>
                    </a:p>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1" i="1"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set isolation to dirty read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读取数据时不加锁，其他进程不影响读</a:t>
                      </a:r>
                      <a:endParaRPr kumimoji="0" 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99927">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Last </a:t>
                      </a:r>
                      <a:r>
                        <a:rPr kumimoji="0" lang="de-DE" sz="15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Committed</a:t>
                      </a: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r>
                        <a:rPr kumimoji="0" lang="de-DE" sz="15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read</a:t>
                      </a:r>
                      <a:endPar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1" i="1"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set isolation to committed read last</a:t>
                      </a:r>
                      <a:endParaRPr kumimoji="0" lang="de-DE" sz="15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返回最后提交的数据版本，不管其他用户正在并发的对此记录进行修改</a:t>
                      </a:r>
                      <a:endParaRPr kumimoji="0" 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99927">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Committed read</a:t>
                      </a:r>
                    </a:p>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1" i="1"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set isolation to committed read</a:t>
                      </a:r>
                      <a:endParaRPr kumimoji="0" lang="de-DE" sz="15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检查记录是否可以加共享锁，但不加锁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799927">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Cursor stability</a:t>
                      </a:r>
                    </a:p>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1" i="1"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set isolation to cursor stability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当前获取的记录加上一个更新锁当记录更新时将提升为排他锁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844542">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Repeatable read</a:t>
                      </a:r>
                    </a:p>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de-DE" sz="1500" b="1" i="1"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set isolation to repeatable read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de-DE"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在读取的记录上增加共享锁，直到事务提交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6474870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Grp="1" noChangeArrowheads="1"/>
          </p:cNvSpPr>
          <p:nvPr>
            <p:ph type="title"/>
          </p:nvPr>
        </p:nvSpPr>
        <p:spPr/>
        <p:txBody>
          <a:bodyPr/>
          <a:lstStyle/>
          <a:p>
            <a:r>
              <a:rPr lang="zh-CN" altLang="en-US">
                <a:cs typeface="宋体" panose="02010600030101010101" pitchFamily="2" charset="-122"/>
              </a:rPr>
              <a:t>不同隔离级别能解决的问题情况</a:t>
            </a:r>
          </a:p>
        </p:txBody>
      </p:sp>
      <p:sp>
        <p:nvSpPr>
          <p:cNvPr id="2" name="文本占位符 1">
            <a:extLst>
              <a:ext uri="{FF2B5EF4-FFF2-40B4-BE49-F238E27FC236}">
                <a16:creationId xmlns:a16="http://schemas.microsoft.com/office/drawing/2014/main" xmlns="" id="{29240C99-5262-4CCB-9B45-82C6AD29BCCB}"/>
              </a:ext>
            </a:extLst>
          </p:cNvPr>
          <p:cNvSpPr>
            <a:spLocks noGrp="1"/>
          </p:cNvSpPr>
          <p:nvPr>
            <p:ph type="body" sz="quarter" idx="10"/>
          </p:nvPr>
        </p:nvSpPr>
        <p:spPr/>
        <p:txBody>
          <a:bodyPr/>
          <a:lstStyle/>
          <a:p>
            <a:endParaRPr lang="zh-CN" altLang="en-US" dirty="0"/>
          </a:p>
        </p:txBody>
      </p:sp>
      <p:sp>
        <p:nvSpPr>
          <p:cNvPr id="6" name="灯片编号占位符 5"/>
          <p:cNvSpPr>
            <a:spLocks noGrp="1"/>
          </p:cNvSpPr>
          <p:nvPr>
            <p:ph type="sldNum" sz="quarter" idx="4294967295"/>
          </p:nvPr>
        </p:nvSpPr>
        <p:spPr/>
        <p:txBody>
          <a:bodyPr/>
          <a:lstStyle/>
          <a:p>
            <a:pPr>
              <a:buClr>
                <a:srgbClr val="FD0000"/>
              </a:buClr>
              <a:defRPr/>
            </a:pPr>
            <a:fld id="{F573F9B9-ACF9-4EF4-B2EB-E3BC326B9101}" type="slidenum">
              <a:rPr lang="zh-CN" altLang="en-US" smtClean="0"/>
              <a:t>40</a:t>
            </a:fld>
            <a:endParaRPr lang="zh-CN" altLang="en-US"/>
          </a:p>
        </p:txBody>
      </p:sp>
      <p:graphicFrame>
        <p:nvGraphicFramePr>
          <p:cNvPr id="980046" name="Group 78"/>
          <p:cNvGraphicFramePr>
            <a:graphicFrameLocks noGrp="1"/>
          </p:cNvGraphicFramePr>
          <p:nvPr>
            <p:extLst>
              <p:ext uri="{D42A27DB-BD31-4B8C-83A1-F6EECF244321}">
                <p14:modId xmlns:p14="http://schemas.microsoft.com/office/powerpoint/2010/main" val="3847414146"/>
              </p:ext>
            </p:extLst>
          </p:nvPr>
        </p:nvGraphicFramePr>
        <p:xfrm>
          <a:off x="1089028" y="1774823"/>
          <a:ext cx="6914072" cy="4362452"/>
        </p:xfrm>
        <a:graphic>
          <a:graphicData uri="http://schemas.openxmlformats.org/drawingml/2006/table">
            <a:tbl>
              <a:tblPr/>
              <a:tblGrid>
                <a:gridCol w="2478405">
                  <a:extLst>
                    <a:ext uri="{9D8B030D-6E8A-4147-A177-3AD203B41FA5}">
                      <a16:colId xmlns:a16="http://schemas.microsoft.com/office/drawing/2014/main" xmlns="" val="20000"/>
                    </a:ext>
                  </a:extLst>
                </a:gridCol>
                <a:gridCol w="1399169">
                  <a:extLst>
                    <a:ext uri="{9D8B030D-6E8A-4147-A177-3AD203B41FA5}">
                      <a16:colId xmlns:a16="http://schemas.microsoft.com/office/drawing/2014/main" xmlns="" val="20001"/>
                    </a:ext>
                  </a:extLst>
                </a:gridCol>
                <a:gridCol w="1656272">
                  <a:extLst>
                    <a:ext uri="{9D8B030D-6E8A-4147-A177-3AD203B41FA5}">
                      <a16:colId xmlns:a16="http://schemas.microsoft.com/office/drawing/2014/main" xmlns="" val="20002"/>
                    </a:ext>
                  </a:extLst>
                </a:gridCol>
                <a:gridCol w="1380226">
                  <a:extLst>
                    <a:ext uri="{9D8B030D-6E8A-4147-A177-3AD203B41FA5}">
                      <a16:colId xmlns:a16="http://schemas.microsoft.com/office/drawing/2014/main" xmlns="" val="20003"/>
                    </a:ext>
                  </a:extLst>
                </a:gridCol>
              </a:tblGrid>
              <a:tr h="765175">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de-DE"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隔离级别</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9B56"/>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是否产生</a:t>
                      </a:r>
                      <a:r>
                        <a:rPr kumimoji="0" lang="zh-CN" altLang="de-DE"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脏读？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9B56"/>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是否产生</a:t>
                      </a:r>
                      <a:r>
                        <a:rPr kumimoji="0" lang="zh-CN" altLang="de-DE"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不可重复读？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9B56"/>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是否产生</a:t>
                      </a:r>
                      <a:r>
                        <a:rPr kumimoji="0" lang="zh-CN" altLang="de-DE"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幻影读？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89B56"/>
                    </a:solidFill>
                  </a:tcPr>
                </a:tc>
                <a:extLst>
                  <a:ext uri="{0D108BD9-81ED-4DB2-BD59-A6C34878D82A}">
                    <a16:rowId xmlns:a16="http://schemas.microsoft.com/office/drawing/2014/main" xmlns="" val="10000"/>
                  </a:ext>
                </a:extLst>
              </a:tr>
              <a:tr h="722313">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Dirty read</a:t>
                      </a:r>
                    </a:p>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de-DE"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3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72548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Last Committed Read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72548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Committed read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72548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Cursor Stability</a:t>
                      </a:r>
                      <a:endParaRPr kumimoji="0" lang="de-DE"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de-DE"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de-DE" sz="1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Arial" panose="020B0604020202020204" pitchFamily="34" charset="0"/>
                        </a:rPr>
                        <a:t>Yes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98500">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Repeatable Read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de-DE"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4" name="TextBox 3"/>
          <p:cNvSpPr txBox="1"/>
          <p:nvPr/>
        </p:nvSpPr>
        <p:spPr>
          <a:xfrm>
            <a:off x="4315232" y="0"/>
            <a:ext cx="461665" cy="92398"/>
          </a:xfrm>
          <a:prstGeom prst="rect">
            <a:avLst/>
          </a:prstGeom>
          <a:noFill/>
        </p:spPr>
        <p:txBody>
          <a:bodyPr vert="eaVert" wrap="none" rtlCol="0">
            <a:spAutoFit/>
          </a:bodyPr>
          <a:lstStyle/>
          <a:p>
            <a:endParaRPr lang="zh-CN" altLang="en-US" dirty="0"/>
          </a:p>
        </p:txBody>
      </p:sp>
      <p:sp>
        <p:nvSpPr>
          <p:cNvPr id="5" name="TextBox 4"/>
          <p:cNvSpPr txBox="1"/>
          <p:nvPr/>
        </p:nvSpPr>
        <p:spPr>
          <a:xfrm>
            <a:off x="8592863" y="2946758"/>
            <a:ext cx="1031051" cy="2018582"/>
          </a:xfrm>
          <a:prstGeom prst="rect">
            <a:avLst/>
          </a:prstGeom>
          <a:noFill/>
        </p:spPr>
        <p:txBody>
          <a:bodyPr vert="eaVert" wrap="square" rtlCol="0">
            <a:spAutoFit/>
          </a:bodyPr>
          <a:lstStyle/>
          <a:p>
            <a:pPr marL="342900" indent="-342900">
              <a:lnSpc>
                <a:spcPts val="2200"/>
              </a:lnSpc>
              <a:buClr>
                <a:schemeClr val="accent1"/>
              </a:buClr>
              <a:buFont typeface="Arial" panose="020B0604020202020204" pitchFamily="34" charset="0"/>
              <a:buChar char="•"/>
            </a:pPr>
            <a:r>
              <a:rPr lang="zh-CN" altLang="en-US" sz="1600" dirty="0">
                <a:cs typeface="宋体" panose="02010600030101010101" pitchFamily="2" charset="-122"/>
              </a:rPr>
              <a:t>更少死锁</a:t>
            </a:r>
            <a:endParaRPr lang="en-US" altLang="zh-CN" sz="1600" dirty="0">
              <a:cs typeface="宋体" panose="02010600030101010101" pitchFamily="2" charset="-122"/>
            </a:endParaRPr>
          </a:p>
          <a:p>
            <a:pPr marL="342900" indent="-342900">
              <a:lnSpc>
                <a:spcPts val="2200"/>
              </a:lnSpc>
              <a:buClr>
                <a:schemeClr val="accent1"/>
              </a:buClr>
              <a:buFont typeface="Arial" panose="020B0604020202020204" pitchFamily="34" charset="0"/>
              <a:buChar char="•"/>
            </a:pPr>
            <a:r>
              <a:rPr lang="zh-CN" altLang="en-US" sz="1600" dirty="0">
                <a:cs typeface="宋体" panose="02010600030101010101" pitchFamily="2" charset="-122"/>
              </a:rPr>
              <a:t>更高并发性</a:t>
            </a:r>
            <a:endParaRPr lang="en-US" altLang="zh-CN" sz="1600" dirty="0">
              <a:cs typeface="宋体" panose="02010600030101010101" pitchFamily="2" charset="-122"/>
            </a:endParaRPr>
          </a:p>
          <a:p>
            <a:pPr marL="342900" indent="-342900">
              <a:lnSpc>
                <a:spcPts val="2200"/>
              </a:lnSpc>
              <a:buClr>
                <a:schemeClr val="accent1"/>
              </a:buClr>
              <a:buFont typeface="Arial" panose="020B0604020202020204" pitchFamily="34" charset="0"/>
              <a:buChar char="•"/>
            </a:pPr>
            <a:r>
              <a:rPr lang="zh-CN" altLang="en-US" sz="1600" dirty="0">
                <a:cs typeface="宋体" panose="02010600030101010101" pitchFamily="2" charset="-122"/>
              </a:rPr>
              <a:t>隔离更少的数据</a:t>
            </a:r>
            <a:endParaRPr lang="en-US" altLang="zh-CN" sz="1600" dirty="0">
              <a:cs typeface="宋体" panose="02010600030101010101" pitchFamily="2" charset="-122"/>
            </a:endParaRPr>
          </a:p>
        </p:txBody>
      </p:sp>
      <p:cxnSp>
        <p:nvCxnSpPr>
          <p:cNvPr id="8" name="直接箭头连接符 7"/>
          <p:cNvCxnSpPr/>
          <p:nvPr/>
        </p:nvCxnSpPr>
        <p:spPr bwMode="auto">
          <a:xfrm>
            <a:off x="-1552755" y="879894"/>
            <a:ext cx="914400" cy="914400"/>
          </a:xfrm>
          <a:prstGeom prst="straightConnector1">
            <a:avLst/>
          </a:prstGeom>
          <a:noFill/>
          <a:ln w="9525" cap="flat" cmpd="sng" algn="ctr">
            <a:noFill/>
            <a:prstDash val="solid"/>
            <a:round/>
            <a:headEnd type="none" w="med" len="med"/>
            <a:tailEnd type="arrow"/>
          </a:ln>
          <a:effectLst/>
        </p:spPr>
      </p:cxnSp>
      <p:cxnSp>
        <p:nvCxnSpPr>
          <p:cNvPr id="15" name="直接箭头连接符 14"/>
          <p:cNvCxnSpPr/>
          <p:nvPr/>
        </p:nvCxnSpPr>
        <p:spPr bwMode="auto">
          <a:xfrm flipV="1">
            <a:off x="8549731" y="2291148"/>
            <a:ext cx="0" cy="3502326"/>
          </a:xfrm>
          <a:prstGeom prst="straightConnector1">
            <a:avLst/>
          </a:prstGeom>
          <a:noFill/>
          <a:ln w="38100" cap="flat" cmpd="sng" algn="ctr">
            <a:solidFill>
              <a:schemeClr val="accent1"/>
            </a:solidFill>
            <a:prstDash val="solid"/>
            <a:round/>
            <a:headEnd type="none" w="lg" len="lg"/>
            <a:tailEnd type="arrow"/>
          </a:ln>
          <a:effectLst/>
        </p:spPr>
      </p:cxnSp>
    </p:spTree>
    <p:extLst>
      <p:ext uri="{BB962C8B-B14F-4D97-AF65-F5344CB8AC3E}">
        <p14:creationId xmlns:p14="http://schemas.microsoft.com/office/powerpoint/2010/main" val="17656742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0" name="Rectangle 2"/>
          <p:cNvSpPr>
            <a:spLocks noGrp="1" noChangeArrowheads="1"/>
          </p:cNvSpPr>
          <p:nvPr>
            <p:ph type="title"/>
          </p:nvPr>
        </p:nvSpPr>
        <p:spPr/>
        <p:txBody>
          <a:bodyPr/>
          <a:lstStyle/>
          <a:p>
            <a:r>
              <a:rPr lang="zh-CN" altLang="en-US" dirty="0">
                <a:cs typeface="宋体" panose="02010600030101010101" pitchFamily="2" charset="-122"/>
              </a:rPr>
              <a:t>设置 </a:t>
            </a:r>
            <a:r>
              <a:rPr lang="en-US" altLang="zh-CN" dirty="0">
                <a:cs typeface="宋体" panose="02010600030101010101" pitchFamily="2" charset="-122"/>
              </a:rPr>
              <a:t>Transaction/Session</a:t>
            </a:r>
            <a:r>
              <a:rPr lang="zh-CN" altLang="en-US" dirty="0">
                <a:cs typeface="宋体" panose="02010600030101010101" pitchFamily="2" charset="-122"/>
              </a:rPr>
              <a:t>的锁等待模式</a:t>
            </a:r>
          </a:p>
        </p:txBody>
      </p:sp>
      <p:sp>
        <p:nvSpPr>
          <p:cNvPr id="1077251" name="Rectangle 3"/>
          <p:cNvSpPr>
            <a:spLocks noGrp="1" noChangeArrowheads="1"/>
          </p:cNvSpPr>
          <p:nvPr>
            <p:ph type="body" sz="quarter" idx="10"/>
          </p:nvPr>
        </p:nvSpPr>
        <p:spPr/>
        <p:txBody>
          <a:bodyPr>
            <a:normAutofit fontScale="62500" lnSpcReduction="20000"/>
          </a:bodyPr>
          <a:lstStyle/>
          <a:p>
            <a:pPr>
              <a:lnSpc>
                <a:spcPct val="170000"/>
              </a:lnSpc>
            </a:pPr>
            <a:r>
              <a:rPr lang="zh-CN" altLang="en-US" sz="3400" dirty="0">
                <a:latin typeface="微软雅黑" panose="020B0503020204020204" pitchFamily="34" charset="-122"/>
                <a:ea typeface="微软雅黑" panose="020B0503020204020204" pitchFamily="34" charset="-122"/>
                <a:cs typeface="微软雅黑" panose="020B0503020204020204" pitchFamily="34" charset="-122"/>
              </a:rPr>
              <a:t>不等待锁的释放 </a:t>
            </a:r>
            <a:r>
              <a:rPr lang="en-US" altLang="zh-CN" sz="3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400" dirty="0">
                <a:latin typeface="微软雅黑" panose="020B0503020204020204" pitchFamily="34" charset="-122"/>
                <a:ea typeface="微软雅黑" panose="020B0503020204020204" pitchFamily="34" charset="-122"/>
                <a:cs typeface="微软雅黑" panose="020B0503020204020204" pitchFamily="34" charset="-122"/>
              </a:rPr>
              <a:t>默认</a:t>
            </a:r>
            <a:r>
              <a:rPr lang="en-US" altLang="zh-CN" sz="3400"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20000"/>
              </a:lnSpc>
            </a:pPr>
            <a:r>
              <a:rPr lang="zh-CN" altLang="en-US" sz="2900" dirty="0">
                <a:latin typeface="微软雅黑" panose="020B0503020204020204" pitchFamily="34" charset="-122"/>
                <a:ea typeface="微软雅黑" panose="020B0503020204020204" pitchFamily="34" charset="-122"/>
                <a:cs typeface="微软雅黑" panose="020B0503020204020204" pitchFamily="34" charset="-122"/>
              </a:rPr>
              <a:t>如果数据库对象被锁，则立即返回错误：</a:t>
            </a:r>
            <a:endParaRPr lang="en-US" altLang="zh-CN" sz="2900"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20000"/>
              </a:lnSpc>
            </a:pPr>
            <a:r>
              <a:rPr lang="en-US" altLang="zh-CN" sz="2900" dirty="0">
                <a:latin typeface="微软雅黑" panose="020B0503020204020204" pitchFamily="34" charset="-122"/>
                <a:ea typeface="微软雅黑" panose="020B0503020204020204" pitchFamily="34" charset="-122"/>
                <a:cs typeface="微软雅黑" panose="020B0503020204020204" pitchFamily="34" charset="-122"/>
              </a:rPr>
              <a:t>-244: Could not do a physical-order read to fetch the next row</a:t>
            </a:r>
          </a:p>
          <a:p>
            <a:pPr lvl="2">
              <a:lnSpc>
                <a:spcPct val="120000"/>
              </a:lnSpc>
            </a:pPr>
            <a:r>
              <a:rPr lang="en-US" altLang="zh-CN" sz="2900" dirty="0">
                <a:latin typeface="微软雅黑" panose="020B0503020204020204" pitchFamily="34" charset="-122"/>
                <a:ea typeface="微软雅黑" panose="020B0503020204020204" pitchFamily="34" charset="-122"/>
                <a:cs typeface="微软雅黑" panose="020B0503020204020204" pitchFamily="34" charset="-122"/>
              </a:rPr>
              <a:t>107:  ISAM error: record is locked</a:t>
            </a:r>
          </a:p>
          <a:p>
            <a:pPr lvl="1">
              <a:lnSpc>
                <a:spcPct val="120000"/>
              </a:lnSpc>
            </a:pPr>
            <a:r>
              <a:rPr lang="en-US" altLang="zh-CN" sz="2900" dirty="0">
                <a:latin typeface="微软雅黑" panose="020B0503020204020204" pitchFamily="34" charset="-122"/>
                <a:ea typeface="微软雅黑" panose="020B0503020204020204" pitchFamily="34" charset="-122"/>
                <a:cs typeface="微软雅黑" panose="020B0503020204020204" pitchFamily="34" charset="-122"/>
              </a:rPr>
              <a:t>SET LOCK MODE TO NOT WAIT;</a:t>
            </a:r>
          </a:p>
          <a:p>
            <a:pPr>
              <a:lnSpc>
                <a:spcPct val="170000"/>
              </a:lnSpc>
            </a:pPr>
            <a:r>
              <a:rPr lang="zh-CN" altLang="en-US" sz="3400" dirty="0"/>
              <a:t>一直等待锁的释放</a:t>
            </a:r>
          </a:p>
          <a:p>
            <a:pPr lvl="1">
              <a:lnSpc>
                <a:spcPct val="120000"/>
              </a:lnSpc>
            </a:pPr>
            <a:r>
              <a:rPr lang="zh-CN" altLang="en-US" sz="2900" dirty="0"/>
              <a:t>一个事务可能发生死锁和挂住，等待资源的释放</a:t>
            </a:r>
            <a:endParaRPr lang="en-US" altLang="zh-CN" sz="2900" dirty="0"/>
          </a:p>
          <a:p>
            <a:pPr lvl="1">
              <a:lnSpc>
                <a:spcPct val="120000"/>
              </a:lnSpc>
            </a:pPr>
            <a:r>
              <a:rPr lang="en-US" altLang="zh-CN" sz="2900" dirty="0"/>
              <a:t>SET LOCK MODE TO WAIT;</a:t>
            </a:r>
          </a:p>
          <a:p>
            <a:pPr>
              <a:lnSpc>
                <a:spcPct val="170000"/>
              </a:lnSpc>
            </a:pPr>
            <a:r>
              <a:rPr lang="zh-CN" altLang="en-US" sz="3400" dirty="0"/>
              <a:t>在锁释放前，等待 </a:t>
            </a:r>
            <a:r>
              <a:rPr lang="en-US" altLang="zh-CN" sz="3400" dirty="0"/>
              <a:t>n </a:t>
            </a:r>
            <a:r>
              <a:rPr lang="zh-CN" altLang="en-US" sz="3400" dirty="0"/>
              <a:t>秒</a:t>
            </a:r>
            <a:endParaRPr lang="en-US" altLang="zh-CN" sz="3400" dirty="0"/>
          </a:p>
          <a:p>
            <a:pPr lvl="1">
              <a:lnSpc>
                <a:spcPct val="120000"/>
              </a:lnSpc>
            </a:pPr>
            <a:r>
              <a:rPr lang="zh-CN" altLang="en-US" sz="2900" dirty="0">
                <a:latin typeface="微软雅黑" panose="020B0503020204020204" pitchFamily="34" charset="-122"/>
                <a:ea typeface="微软雅黑" panose="020B0503020204020204" pitchFamily="34" charset="-122"/>
                <a:cs typeface="微软雅黑" panose="020B0503020204020204" pitchFamily="34" charset="-122"/>
              </a:rPr>
              <a:t>直到等待</a:t>
            </a:r>
            <a:r>
              <a:rPr lang="en-US" altLang="zh-CN" sz="29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900" dirty="0">
                <a:latin typeface="微软雅黑" panose="020B0503020204020204" pitchFamily="34" charset="-122"/>
                <a:ea typeface="微软雅黑" panose="020B0503020204020204" pitchFamily="34" charset="-122"/>
                <a:cs typeface="微软雅黑" panose="020B0503020204020204" pitchFamily="34" charset="-122"/>
              </a:rPr>
              <a:t>秒后，如果锁一直没有释放将返回锁等待超时错误信息</a:t>
            </a:r>
          </a:p>
          <a:p>
            <a:pPr lvl="1">
              <a:lnSpc>
                <a:spcPct val="120000"/>
              </a:lnSpc>
            </a:pPr>
            <a:r>
              <a:rPr lang="en-US" altLang="zh-CN" sz="2900" dirty="0">
                <a:latin typeface="微软雅黑" panose="020B0503020204020204" pitchFamily="34" charset="-122"/>
                <a:ea typeface="微软雅黑" panose="020B0503020204020204" pitchFamily="34" charset="-122"/>
                <a:cs typeface="微软雅黑" panose="020B0503020204020204" pitchFamily="34" charset="-122"/>
              </a:rPr>
              <a:t>SET LOCK MODE TO WAIT 20;</a:t>
            </a:r>
          </a:p>
          <a:p>
            <a:pPr>
              <a:lnSpc>
                <a:spcPct val="170000"/>
              </a:lnSpc>
            </a:pPr>
            <a:endParaRPr lang="en-US" altLang="zh-CN" sz="1900" dirty="0">
              <a:latin typeface="Courier New" panose="02070309020205020404" charset="0"/>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41</a:t>
            </a:fld>
            <a:endParaRPr lang="zh-CN" altLang="en-US"/>
          </a:p>
        </p:txBody>
      </p:sp>
    </p:spTree>
    <p:extLst>
      <p:ext uri="{BB962C8B-B14F-4D97-AF65-F5344CB8AC3E}">
        <p14:creationId xmlns:p14="http://schemas.microsoft.com/office/powerpoint/2010/main" val="12489388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71" name="Rectangle 7"/>
          <p:cNvSpPr>
            <a:spLocks noGrp="1" noChangeArrowheads="1"/>
          </p:cNvSpPr>
          <p:nvPr>
            <p:ph type="title"/>
          </p:nvPr>
        </p:nvSpPr>
        <p:spPr/>
        <p:txBody>
          <a:bodyPr/>
          <a:lstStyle/>
          <a:p>
            <a:r>
              <a:rPr lang="zh-CN" altLang="en-US" dirty="0">
                <a:cs typeface="宋体" panose="02010600030101010101" pitchFamily="2" charset="-122"/>
              </a:rPr>
              <a:t>死锁</a:t>
            </a:r>
          </a:p>
        </p:txBody>
      </p:sp>
      <p:sp>
        <p:nvSpPr>
          <p:cNvPr id="804872" name="Rectangle 8"/>
          <p:cNvSpPr>
            <a:spLocks noGrp="1" noChangeArrowheads="1"/>
          </p:cNvSpPr>
          <p:nvPr>
            <p:ph type="body" sz="quarter" idx="10"/>
          </p:nvPr>
        </p:nvSpPr>
        <p:spPr/>
        <p:txBody>
          <a:bodyPr>
            <a:normAutofit/>
          </a:bodyPr>
          <a:lstStyle/>
          <a:p>
            <a:pPr>
              <a:lnSpc>
                <a:spcPct val="150000"/>
              </a:lnSpc>
            </a:pPr>
            <a:r>
              <a:rPr lang="zh-CN" altLang="en-US" dirty="0">
                <a:cs typeface="宋体" panose="02010600030101010101" pitchFamily="2" charset="-122"/>
              </a:rPr>
              <a:t>当</a:t>
            </a:r>
            <a:r>
              <a:rPr lang="en-US" altLang="zh-CN" dirty="0">
                <a:cs typeface="宋体" panose="02010600030101010101" pitchFamily="2" charset="-122"/>
              </a:rPr>
              <a:t>2</a:t>
            </a:r>
            <a:r>
              <a:rPr lang="zh-CN" altLang="en-US" dirty="0">
                <a:cs typeface="宋体" panose="02010600030101010101" pitchFamily="2" charset="-122"/>
              </a:rPr>
              <a:t>个</a:t>
            </a:r>
            <a:r>
              <a:rPr lang="en-US" altLang="zh-CN" dirty="0">
                <a:cs typeface="宋体" panose="02010600030101010101" pitchFamily="2" charset="-122"/>
              </a:rPr>
              <a:t>sessions</a:t>
            </a:r>
            <a:r>
              <a:rPr lang="zh-CN" altLang="en-US" dirty="0">
                <a:cs typeface="宋体" panose="02010600030101010101" pitchFamily="2" charset="-122"/>
              </a:rPr>
              <a:t>加锁并且需要获取彼此之间的锁，将发生死锁</a:t>
            </a:r>
            <a:endParaRPr lang="en-US" altLang="zh-CN" dirty="0">
              <a:cs typeface="宋体" panose="02010600030101010101" pitchFamily="2" charset="-122"/>
            </a:endParaRPr>
          </a:p>
          <a:p>
            <a:pPr lvl="2">
              <a:lnSpc>
                <a:spcPct val="150000"/>
              </a:lnSpc>
            </a:pP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过程 </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等待过程</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B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释放资源</a:t>
            </a:r>
          </a:p>
          <a:p>
            <a:pPr lvl="2">
              <a:lnSpc>
                <a:spcPct val="150000"/>
              </a:lnSpc>
            </a:pP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过程 </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B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等待过程</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释放其他的资源</a:t>
            </a:r>
          </a:p>
          <a:p>
            <a:pPr lvl="2">
              <a:lnSpc>
                <a:spcPct val="150000"/>
              </a:lnSpc>
            </a:pP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过程</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等待 </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B </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，而</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B</a:t>
            </a:r>
            <a:r>
              <a:rPr lang="zh-CN" altLang="en-US" sz="1800" dirty="0">
                <a:latin typeface="微软雅黑" panose="020B0503020204020204" pitchFamily="34" charset="-122"/>
                <a:ea typeface="微软雅黑" panose="020B0503020204020204" pitchFamily="34" charset="-122"/>
                <a:cs typeface="宋体" panose="02010600030101010101" pitchFamily="2" charset="-122"/>
              </a:rPr>
              <a:t>又等待</a:t>
            </a:r>
            <a:r>
              <a:rPr lang="en-US" altLang="zh-CN" sz="1800" dirty="0">
                <a:latin typeface="微软雅黑" panose="020B0503020204020204" pitchFamily="34" charset="-122"/>
                <a:ea typeface="微软雅黑" panose="020B0503020204020204" pitchFamily="34" charset="-122"/>
                <a:cs typeface="宋体" panose="02010600030101010101" pitchFamily="2" charset="-122"/>
              </a:rPr>
              <a:t>A …</a:t>
            </a:r>
          </a:p>
          <a:p>
            <a:pPr lvl="2">
              <a:lnSpc>
                <a:spcPct val="150000"/>
              </a:lnSpc>
            </a:pPr>
            <a:r>
              <a:rPr lang="zh-CN" altLang="en-US" sz="1800" dirty="0">
                <a:latin typeface="微软雅黑" panose="020B0503020204020204" pitchFamily="34" charset="-122"/>
                <a:ea typeface="微软雅黑" panose="020B0503020204020204" pitchFamily="34" charset="-122"/>
                <a:cs typeface="宋体" panose="02010600030101010101" pitchFamily="2" charset="-122"/>
              </a:rPr>
              <a:t>死循环需要被中断</a:t>
            </a:r>
            <a:endParaRPr lang="en-US" altLang="zh-CN" sz="1800" dirty="0">
              <a:latin typeface="微软雅黑" panose="020B0503020204020204" pitchFamily="34" charset="-122"/>
              <a:ea typeface="微软雅黑" panose="020B0503020204020204" pitchFamily="34" charset="-122"/>
              <a:cs typeface="宋体" panose="02010600030101010101" pitchFamily="2" charset="-122"/>
            </a:endParaRPr>
          </a:p>
          <a:p>
            <a:pPr>
              <a:lnSpc>
                <a:spcPct val="150000"/>
              </a:lnSpc>
            </a:pPr>
            <a:r>
              <a:rPr lang="en-US" altLang="zh-CN" dirty="0">
                <a:cs typeface="宋体" panose="02010600030101010101" pitchFamily="2" charset="-122"/>
              </a:rPr>
              <a:t>GBase 8s </a:t>
            </a:r>
            <a:r>
              <a:rPr lang="zh-CN" altLang="en-US" dirty="0">
                <a:cs typeface="宋体" panose="02010600030101010101" pitchFamily="2" charset="-122"/>
              </a:rPr>
              <a:t>自动处理死锁</a:t>
            </a:r>
            <a:r>
              <a:rPr lang="en-US" altLang="zh-CN" dirty="0">
                <a:cs typeface="宋体" panose="02010600030101010101" pitchFamily="2" charset="-122"/>
              </a:rPr>
              <a:t>:</a:t>
            </a:r>
          </a:p>
          <a:p>
            <a:pPr marL="571500" lvl="2" indent="-227330">
              <a:lnSpc>
                <a:spcPct val="150000"/>
              </a:lnSpc>
            </a:pPr>
            <a:r>
              <a:rPr lang="zh-CN" altLang="en-US" sz="1800" dirty="0">
                <a:cs typeface="宋体" panose="02010600030101010101" pitchFamily="2" charset="-122"/>
              </a:rPr>
              <a:t>在分配一个新锁前，</a:t>
            </a:r>
            <a:r>
              <a:rPr lang="en-US" altLang="zh-CN" sz="1800" dirty="0" err="1">
                <a:cs typeface="宋体" panose="02010600030101010101" pitchFamily="2" charset="-122"/>
              </a:rPr>
              <a:t>GBase</a:t>
            </a:r>
            <a:r>
              <a:rPr lang="en-US" altLang="zh-CN" sz="1800" dirty="0">
                <a:cs typeface="宋体" panose="02010600030101010101" pitchFamily="2" charset="-122"/>
              </a:rPr>
              <a:t> 8s</a:t>
            </a:r>
            <a:r>
              <a:rPr lang="zh-CN" altLang="en-US" sz="1800" dirty="0">
                <a:cs typeface="宋体" panose="02010600030101010101" pitchFamily="2" charset="-122"/>
              </a:rPr>
              <a:t>扫描内部的锁信息表，如果检测到死锁发生的条件，向应用程序发出</a:t>
            </a:r>
            <a:r>
              <a:rPr lang="en-US" altLang="zh-CN" sz="1800" dirty="0">
                <a:cs typeface="宋体" panose="02010600030101010101" pitchFamily="2" charset="-122"/>
              </a:rPr>
              <a:t>ISAM error code 143</a:t>
            </a:r>
          </a:p>
          <a:p>
            <a:pPr>
              <a:lnSpc>
                <a:spcPct val="150000"/>
              </a:lnSpc>
            </a:pPr>
            <a:endParaRPr lang="en-US" altLang="zh-CN" sz="2000" dirty="0">
              <a:cs typeface="宋体" panose="02010600030101010101" pitchFamily="2" charset="-122"/>
            </a:endParaRPr>
          </a:p>
          <a:p>
            <a:pPr marL="341630" lvl="1" indent="0">
              <a:lnSpc>
                <a:spcPct val="150000"/>
              </a:lnSpc>
              <a:buNone/>
            </a:pPr>
            <a:endParaRPr lang="en-US" altLang="zh-CN" sz="1600" dirty="0">
              <a:cs typeface="宋体" panose="02010600030101010101" pitchFamily="2" charset="-122"/>
            </a:endParaRPr>
          </a:p>
          <a:p>
            <a:pPr>
              <a:lnSpc>
                <a:spcPct val="150000"/>
              </a:lnSpc>
            </a:pPr>
            <a:endParaRPr lang="zh-CN" altLang="en-US" sz="1600" dirty="0">
              <a:cs typeface="宋体" panose="02010600030101010101" pitchFamily="2" charset="-122"/>
            </a:endParaRPr>
          </a:p>
        </p:txBody>
      </p:sp>
      <p:pic>
        <p:nvPicPr>
          <p:cNvPr id="804873" name="Picture 9"/>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tretch>
            <a:fillRect/>
          </a:stretch>
        </p:blipFill>
        <p:spPr>
          <a:xfrm>
            <a:off x="0" y="4175125"/>
            <a:ext cx="5160963" cy="1885950"/>
          </a:xfrm>
        </p:spPr>
      </p:pic>
    </p:spTree>
    <p:extLst>
      <p:ext uri="{BB962C8B-B14F-4D97-AF65-F5344CB8AC3E}">
        <p14:creationId xmlns:p14="http://schemas.microsoft.com/office/powerpoint/2010/main" val="21740211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6" name="Rectangle 4"/>
          <p:cNvSpPr>
            <a:spLocks noGrp="1" noChangeArrowheads="1"/>
          </p:cNvSpPr>
          <p:nvPr>
            <p:ph type="title"/>
          </p:nvPr>
        </p:nvSpPr>
        <p:spPr/>
        <p:txBody>
          <a:bodyPr/>
          <a:lstStyle/>
          <a:p>
            <a:r>
              <a:rPr lang="en-US" altLang="zh-CN" dirty="0">
                <a:cs typeface="宋体" panose="02010600030101010101" pitchFamily="2" charset="-122"/>
              </a:rPr>
              <a:t>GBase 8s – </a:t>
            </a:r>
            <a:r>
              <a:rPr lang="zh-CN" altLang="en-US" dirty="0">
                <a:cs typeface="宋体" panose="02010600030101010101" pitchFamily="2" charset="-122"/>
              </a:rPr>
              <a:t>数据库系统中锁的个数</a:t>
            </a:r>
          </a:p>
        </p:txBody>
      </p:sp>
      <p:sp>
        <p:nvSpPr>
          <p:cNvPr id="735237" name="Rectangle 5"/>
          <p:cNvSpPr>
            <a:spLocks noGrp="1" noChangeArrowheads="1"/>
          </p:cNvSpPr>
          <p:nvPr>
            <p:ph type="body" sz="quarter" idx="10"/>
          </p:nvPr>
        </p:nvSpPr>
        <p:spPr/>
        <p:txBody>
          <a:bodyPr>
            <a:noAutofit/>
          </a:bodyPr>
          <a:lstStyle/>
          <a:p>
            <a:pPr>
              <a:lnSpc>
                <a:spcPct val="150000"/>
              </a:lnSpc>
            </a:pPr>
            <a:r>
              <a:rPr lang="en-US" altLang="zh-CN" dirty="0">
                <a:cs typeface="宋体" panose="02010600030101010101" pitchFamily="2" charset="-122"/>
              </a:rPr>
              <a:t>ONCONFIG </a:t>
            </a:r>
            <a:r>
              <a:rPr lang="zh-CN" altLang="en-US" dirty="0">
                <a:cs typeface="宋体" panose="02010600030101010101" pitchFamily="2" charset="-122"/>
              </a:rPr>
              <a:t>锁相关的参数</a:t>
            </a:r>
            <a:r>
              <a:rPr lang="en-US" altLang="zh-CN" dirty="0">
                <a:cs typeface="宋体" panose="02010600030101010101" pitchFamily="2" charset="-122"/>
              </a:rPr>
              <a:t>:</a:t>
            </a:r>
          </a:p>
          <a:p>
            <a:pPr lvl="1"/>
            <a:r>
              <a:rPr lang="zh-CN" altLang="en-US" dirty="0">
                <a:cs typeface="宋体" panose="02010600030101010101" pitchFamily="2" charset="-122"/>
              </a:rPr>
              <a:t>定义初始化锁的个数</a:t>
            </a:r>
            <a:r>
              <a:rPr lang="en-US" altLang="zh-CN" dirty="0">
                <a:cs typeface="宋体" panose="02010600030101010101" pitchFamily="2" charset="-122"/>
              </a:rPr>
              <a:t>,</a:t>
            </a:r>
            <a:r>
              <a:rPr lang="zh-CN" altLang="en-US" dirty="0">
                <a:cs typeface="宋体" panose="02010600030101010101" pitchFamily="2" charset="-122"/>
              </a:rPr>
              <a:t>在内存中将为锁分配相关的内存空间</a:t>
            </a:r>
            <a:endParaRPr lang="en-US" altLang="zh-CN" dirty="0">
              <a:cs typeface="宋体" panose="02010600030101010101" pitchFamily="2" charset="-122"/>
            </a:endParaRPr>
          </a:p>
          <a:p>
            <a:pPr>
              <a:lnSpc>
                <a:spcPct val="150000"/>
              </a:lnSpc>
            </a:pPr>
            <a:r>
              <a:rPr lang="en-US" altLang="zh-CN" dirty="0">
                <a:cs typeface="宋体" panose="02010600030101010101" pitchFamily="2" charset="-122"/>
              </a:rPr>
              <a:t>GBase 8s</a:t>
            </a:r>
            <a:r>
              <a:rPr lang="zh-CN" altLang="en-US" dirty="0">
                <a:cs typeface="宋体" panose="02010600030101010101" pitchFamily="2" charset="-122"/>
              </a:rPr>
              <a:t>锁的初始化最大配置数</a:t>
            </a:r>
            <a:r>
              <a:rPr lang="en-US" altLang="zh-CN" dirty="0">
                <a:cs typeface="宋体" panose="02010600030101010101" pitchFamily="2" charset="-122"/>
              </a:rPr>
              <a:t>:</a:t>
            </a:r>
            <a:r>
              <a:rPr lang="en-US" altLang="zh-CN" dirty="0">
                <a:ea typeface="宋体" panose="02010600030101010101" pitchFamily="2" charset="-122"/>
                <a:cs typeface="宋体" panose="02010600030101010101" pitchFamily="2" charset="-122"/>
              </a:rPr>
              <a:t>500.000.000 locks</a:t>
            </a:r>
          </a:p>
          <a:p>
            <a:pPr>
              <a:lnSpc>
                <a:spcPct val="150000"/>
              </a:lnSpc>
            </a:pPr>
            <a:r>
              <a:rPr lang="zh-CN" altLang="en-US" dirty="0">
                <a:cs typeface="宋体" panose="02010600030101010101" pitchFamily="2" charset="-122"/>
              </a:rPr>
              <a:t>动态自动锁分配机制</a:t>
            </a:r>
            <a:r>
              <a:rPr lang="en-US" altLang="zh-CN" sz="1800" dirty="0">
                <a:cs typeface="宋体" panose="02010600030101010101" pitchFamily="2" charset="-122"/>
              </a:rPr>
              <a:t>:</a:t>
            </a:r>
          </a:p>
          <a:p>
            <a:pPr lvl="1"/>
            <a:r>
              <a:rPr lang="zh-CN" altLang="en-US" dirty="0">
                <a:cs typeface="宋体" panose="02010600030101010101" pitchFamily="2" charset="-122"/>
              </a:rPr>
              <a:t>在</a:t>
            </a:r>
            <a:r>
              <a:rPr lang="en-US" altLang="zh-CN" dirty="0">
                <a:cs typeface="宋体" panose="02010600030101010101" pitchFamily="2" charset="-122"/>
              </a:rPr>
              <a:t>GBase 8s</a:t>
            </a:r>
            <a:r>
              <a:rPr lang="zh-CN" altLang="en-US" dirty="0">
                <a:cs typeface="宋体" panose="02010600030101010101" pitchFamily="2" charset="-122"/>
              </a:rPr>
              <a:t>运行期间，如果锁的分配数超过了参数</a:t>
            </a:r>
            <a:r>
              <a:rPr lang="en-US" altLang="zh-CN" dirty="0">
                <a:cs typeface="宋体" panose="02010600030101010101" pitchFamily="2" charset="-122"/>
              </a:rPr>
              <a:t>LOCKS</a:t>
            </a:r>
            <a:r>
              <a:rPr lang="zh-CN" altLang="en-US" dirty="0">
                <a:cs typeface="宋体" panose="02010600030101010101" pitchFamily="2" charset="-122"/>
              </a:rPr>
              <a:t>设置的值，数据库服务器将增加锁的个数</a:t>
            </a:r>
            <a:endParaRPr lang="en-US" altLang="zh-CN" dirty="0">
              <a:cs typeface="宋体" panose="02010600030101010101" pitchFamily="2" charset="-122"/>
            </a:endParaRPr>
          </a:p>
          <a:p>
            <a:pPr lvl="1"/>
            <a:r>
              <a:rPr lang="zh-CN" altLang="en-US" dirty="0">
                <a:cs typeface="宋体" panose="02010600030101010101" pitchFamily="2" charset="-122"/>
              </a:rPr>
              <a:t>锁每次以</a:t>
            </a:r>
            <a:r>
              <a:rPr lang="en-US" altLang="zh-CN" dirty="0">
                <a:cs typeface="宋体" panose="02010600030101010101" pitchFamily="2" charset="-122"/>
              </a:rPr>
              <a:t>1</a:t>
            </a:r>
            <a:r>
              <a:rPr lang="zh-CN" altLang="en-US" dirty="0">
                <a:cs typeface="宋体" panose="02010600030101010101" pitchFamily="2" charset="-122"/>
              </a:rPr>
              <a:t>倍的量增加锁的个数</a:t>
            </a:r>
            <a:endParaRPr lang="en-US" altLang="zh-CN" dirty="0">
              <a:cs typeface="宋体" panose="02010600030101010101" pitchFamily="2" charset="-122"/>
            </a:endParaRPr>
          </a:p>
          <a:p>
            <a:r>
              <a:rPr lang="zh-CN" altLang="en-US" dirty="0">
                <a:cs typeface="宋体" panose="02010600030101010101" pitchFamily="2" charset="-122"/>
              </a:rPr>
              <a:t>增长到最大配置数后，</a:t>
            </a:r>
            <a:r>
              <a:rPr lang="en-US" altLang="zh-CN" dirty="0">
                <a:cs typeface="宋体" panose="02010600030101010101" pitchFamily="2" charset="-122"/>
              </a:rPr>
              <a:t>GBase 8s </a:t>
            </a:r>
            <a:r>
              <a:rPr lang="zh-CN" altLang="en-US" dirty="0">
                <a:cs typeface="宋体" panose="02010600030101010101" pitchFamily="2" charset="-122"/>
              </a:rPr>
              <a:t>可以分配额外的锁，一共可以增长</a:t>
            </a:r>
            <a:r>
              <a:rPr lang="en-US" altLang="zh-CN" dirty="0">
                <a:cs typeface="宋体" panose="02010600030101010101" pitchFamily="2" charset="-122"/>
              </a:rPr>
              <a:t>15</a:t>
            </a:r>
            <a:r>
              <a:rPr lang="zh-CN" altLang="en-US" dirty="0">
                <a:cs typeface="宋体" panose="02010600030101010101" pitchFamily="2" charset="-122"/>
              </a:rPr>
              <a:t>次直到锁的个数达到最大值</a:t>
            </a:r>
            <a:r>
              <a:rPr lang="en-US" altLang="zh-CN" dirty="0">
                <a:cs typeface="宋体" panose="02010600030101010101" pitchFamily="2" charset="-122"/>
              </a:rPr>
              <a:t>: </a:t>
            </a:r>
          </a:p>
          <a:p>
            <a:pPr lvl="1"/>
            <a:r>
              <a:rPr lang="zh-CN" altLang="en-US" dirty="0">
                <a:cs typeface="宋体" panose="02010600030101010101" pitchFamily="2" charset="-122"/>
              </a:rPr>
              <a:t>每个表每次可以申请 </a:t>
            </a:r>
            <a:r>
              <a:rPr lang="en-US" altLang="zh-CN" dirty="0">
                <a:cs typeface="宋体" panose="02010600030101010101" pitchFamily="2" charset="-122"/>
              </a:rPr>
              <a:t>100.000 </a:t>
            </a:r>
            <a:r>
              <a:rPr lang="zh-CN" altLang="en-US" dirty="0">
                <a:cs typeface="宋体" panose="02010600030101010101" pitchFamily="2" charset="-122"/>
              </a:rPr>
              <a:t>个</a:t>
            </a:r>
            <a:r>
              <a:rPr lang="en-US" altLang="zh-CN" dirty="0">
                <a:cs typeface="宋体" panose="02010600030101010101" pitchFamily="2" charset="-122"/>
              </a:rPr>
              <a:t>locks</a:t>
            </a:r>
          </a:p>
          <a:p>
            <a:pPr lvl="2">
              <a:lnSpc>
                <a:spcPct val="100000"/>
              </a:lnSpc>
            </a:pPr>
            <a:r>
              <a:rPr lang="en-US" altLang="zh-CN" sz="1800" dirty="0">
                <a:cs typeface="宋体" panose="02010600030101010101" pitchFamily="2" charset="-122"/>
              </a:rPr>
              <a:t>500.000.0000 + (15x100.000) = 501.500.000</a:t>
            </a: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43</a:t>
            </a:fld>
            <a:endParaRPr lang="zh-CN" altLang="en-US"/>
          </a:p>
        </p:txBody>
      </p:sp>
    </p:spTree>
    <p:extLst>
      <p:ext uri="{BB962C8B-B14F-4D97-AF65-F5344CB8AC3E}">
        <p14:creationId xmlns:p14="http://schemas.microsoft.com/office/powerpoint/2010/main" val="283237202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490" name="Rectangle 2"/>
          <p:cNvSpPr>
            <a:spLocks noGrp="1" noChangeArrowheads="1"/>
          </p:cNvSpPr>
          <p:nvPr>
            <p:ph type="title"/>
          </p:nvPr>
        </p:nvSpPr>
        <p:spPr/>
        <p:txBody>
          <a:bodyPr/>
          <a:lstStyle/>
          <a:p>
            <a:r>
              <a:rPr lang="zh-CN" altLang="en-US" dirty="0">
                <a:cs typeface="宋体" panose="02010600030101010101" pitchFamily="2" charset="-122"/>
              </a:rPr>
              <a:t>数据库默认的隔离级别</a:t>
            </a:r>
          </a:p>
        </p:txBody>
      </p:sp>
      <p:sp>
        <p:nvSpPr>
          <p:cNvPr id="1087491" name="Rectangle 3"/>
          <p:cNvSpPr>
            <a:spLocks noGrp="1" noChangeArrowheads="1"/>
          </p:cNvSpPr>
          <p:nvPr>
            <p:ph type="body" sz="quarter" idx="10"/>
          </p:nvPr>
        </p:nvSpPr>
        <p:spPr/>
        <p:txBody>
          <a:bodyPr>
            <a:normAutofit/>
          </a:bodyPr>
          <a:lstStyle/>
          <a:p>
            <a:pPr>
              <a:lnSpc>
                <a:spcPct val="200000"/>
              </a:lnSpc>
            </a:pPr>
            <a:r>
              <a:rPr lang="zh-CN" altLang="en-US" dirty="0">
                <a:cs typeface="宋体" panose="02010600030101010101" pitchFamily="2" charset="-122"/>
              </a:rPr>
              <a:t>默认隔离级别在数据库创建时确定的</a:t>
            </a:r>
          </a:p>
          <a:p>
            <a:pPr>
              <a:lnSpc>
                <a:spcPct val="200000"/>
              </a:lnSpc>
            </a:pPr>
            <a:r>
              <a:rPr lang="zh-CN" altLang="en-US" dirty="0">
                <a:cs typeface="宋体" panose="02010600030101010101" pitchFamily="2" charset="-122"/>
              </a:rPr>
              <a:t>不同日志类型的数据库有不同的默认隔离级别</a:t>
            </a:r>
          </a:p>
          <a:p>
            <a:pPr>
              <a:lnSpc>
                <a:spcPct val="90000"/>
              </a:lnSpc>
            </a:pPr>
            <a:endParaRPr lang="zh-CN" altLang="en-US" sz="1800" dirty="0">
              <a:cs typeface="宋体" panose="02010600030101010101" pitchFamily="2" charset="-122"/>
            </a:endParaRPr>
          </a:p>
          <a:p>
            <a:pPr>
              <a:lnSpc>
                <a:spcPct val="90000"/>
              </a:lnSpc>
            </a:pPr>
            <a:endParaRPr lang="zh-CN" altLang="en-US" sz="1800" dirty="0">
              <a:cs typeface="宋体" panose="02010600030101010101" pitchFamily="2" charset="-122"/>
            </a:endParaRPr>
          </a:p>
          <a:p>
            <a:pPr>
              <a:lnSpc>
                <a:spcPct val="90000"/>
              </a:lnSpc>
            </a:pPr>
            <a:endParaRPr lang="zh-CN" altLang="en-US" sz="1800" dirty="0">
              <a:cs typeface="宋体" panose="02010600030101010101" pitchFamily="2" charset="-122"/>
            </a:endParaRPr>
          </a:p>
          <a:p>
            <a:pPr>
              <a:lnSpc>
                <a:spcPct val="90000"/>
              </a:lnSpc>
            </a:pPr>
            <a:endParaRPr lang="zh-CN" altLang="en-US" sz="1800" dirty="0">
              <a:cs typeface="宋体" panose="02010600030101010101" pitchFamily="2" charset="-122"/>
            </a:endParaRPr>
          </a:p>
          <a:p>
            <a:pPr>
              <a:lnSpc>
                <a:spcPct val="90000"/>
              </a:lnSpc>
            </a:pPr>
            <a:endParaRPr lang="zh-CN" altLang="en-US" sz="1800" dirty="0">
              <a:cs typeface="宋体" panose="02010600030101010101" pitchFamily="2" charset="-122"/>
            </a:endParaRPr>
          </a:p>
          <a:p>
            <a:pPr>
              <a:lnSpc>
                <a:spcPct val="90000"/>
              </a:lnSpc>
              <a:buNone/>
            </a:pPr>
            <a:endParaRPr lang="zh-CN" altLang="en-US" sz="1800" dirty="0">
              <a:cs typeface="宋体" panose="02010600030101010101" pitchFamily="2" charset="-122"/>
            </a:endParaRPr>
          </a:p>
        </p:txBody>
      </p:sp>
      <p:graphicFrame>
        <p:nvGraphicFramePr>
          <p:cNvPr id="1087531" name="Group 43"/>
          <p:cNvGraphicFramePr>
            <a:graphicFrameLocks noGrp="1"/>
          </p:cNvGraphicFramePr>
          <p:nvPr>
            <p:ph sz="half" idx="4294967295"/>
            <p:extLst>
              <p:ext uri="{D42A27DB-BD31-4B8C-83A1-F6EECF244321}">
                <p14:modId xmlns:p14="http://schemas.microsoft.com/office/powerpoint/2010/main" val="2323124046"/>
              </p:ext>
            </p:extLst>
          </p:nvPr>
        </p:nvGraphicFramePr>
        <p:xfrm>
          <a:off x="755650" y="3127978"/>
          <a:ext cx="7414841" cy="1456538"/>
        </p:xfrm>
        <a:graphic>
          <a:graphicData uri="http://schemas.openxmlformats.org/drawingml/2006/table">
            <a:tbl>
              <a:tblPr/>
              <a:tblGrid>
                <a:gridCol w="4495613">
                  <a:extLst>
                    <a:ext uri="{9D8B030D-6E8A-4147-A177-3AD203B41FA5}">
                      <a16:colId xmlns:a16="http://schemas.microsoft.com/office/drawing/2014/main" xmlns="" val="20000"/>
                    </a:ext>
                  </a:extLst>
                </a:gridCol>
                <a:gridCol w="2919228">
                  <a:extLst>
                    <a:ext uri="{9D8B030D-6E8A-4147-A177-3AD203B41FA5}">
                      <a16:colId xmlns:a16="http://schemas.microsoft.com/office/drawing/2014/main" xmlns="" val="20001"/>
                    </a:ext>
                  </a:extLst>
                </a:gridCol>
              </a:tblGrid>
              <a:tr h="0">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数据库日志情况</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隔离级别</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xmlns="" val="10000"/>
                  </a:ext>
                </a:extLst>
              </a:tr>
              <a:tr h="580020">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不记事务日志数据库 </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no logging</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Dirty Read</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66053">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记日志数据库 </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Logging database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50000"/>
                        </a:lnSpc>
                        <a:spcBef>
                          <a:spcPct val="0"/>
                        </a:spcBef>
                        <a:spcAft>
                          <a:spcPct val="0"/>
                        </a:spcAft>
                        <a:buClr>
                          <a:schemeClr val="accent2"/>
                        </a:buClr>
                        <a:buSzTx/>
                        <a:buFont typeface="Wingdings" panose="05000000000000000000" charset="0"/>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Committed Read</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5" name="灯片编号占位符 4"/>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38882955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2"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090563" name="Rectangle 3"/>
          <p:cNvSpPr>
            <a:spLocks noGrp="1" noChangeArrowheads="1"/>
          </p:cNvSpPr>
          <p:nvPr>
            <p:ph type="body" sz="quarter" idx="10"/>
          </p:nvPr>
        </p:nvSpPr>
        <p:spPr/>
        <p:txBody>
          <a:bodyPr/>
          <a:lstStyle/>
          <a:p>
            <a:pPr>
              <a:lnSpc>
                <a:spcPct val="200000"/>
              </a:lnSpc>
            </a:pPr>
            <a:r>
              <a:rPr lang="zh-CN" altLang="en-US" dirty="0">
                <a:cs typeface="宋体" panose="02010600030101010101" pitchFamily="2" charset="-122"/>
              </a:rPr>
              <a:t>日志数据库 </a:t>
            </a:r>
            <a:r>
              <a:rPr lang="en-US" altLang="zh-CN" dirty="0" err="1">
                <a:cs typeface="宋体" panose="02010600030101010101" pitchFamily="2" charset="-122"/>
              </a:rPr>
              <a:t>demodb</a:t>
            </a:r>
            <a:r>
              <a:rPr lang="en-US" altLang="zh-CN" dirty="0">
                <a:cs typeface="宋体" panose="02010600030101010101" pitchFamily="2" charset="-122"/>
              </a:rPr>
              <a:t> with log</a:t>
            </a:r>
          </a:p>
          <a:p>
            <a:pPr>
              <a:lnSpc>
                <a:spcPct val="200000"/>
              </a:lnSpc>
            </a:pPr>
            <a:r>
              <a:rPr lang="en-US" altLang="zh-CN" b="0" dirty="0">
                <a:cs typeface="宋体" panose="02010600030101010101" pitchFamily="2" charset="-122"/>
              </a:rPr>
              <a:t>Create Table </a:t>
            </a:r>
          </a:p>
          <a:p>
            <a:pPr lvl="1">
              <a:lnSpc>
                <a:spcPct val="200000"/>
              </a:lnSpc>
            </a:pPr>
            <a:r>
              <a:rPr lang="en-US" altLang="zh-CN" sz="1600" dirty="0">
                <a:ea typeface="宋体" panose="02010600030101010101" pitchFamily="2" charset="-122"/>
                <a:cs typeface="宋体" panose="02010600030101010101" pitchFamily="2" charset="-122"/>
              </a:rPr>
              <a:t>create table </a:t>
            </a:r>
            <a:r>
              <a:rPr lang="en-US" altLang="zh-CN" sz="1600" dirty="0" err="1">
                <a:ea typeface="宋体" panose="02010600030101010101" pitchFamily="2" charset="-122"/>
                <a:cs typeface="宋体" panose="02010600030101010101" pitchFamily="2" charset="-122"/>
              </a:rPr>
              <a:t>test_lock</a:t>
            </a:r>
            <a:r>
              <a:rPr lang="en-US" altLang="zh-CN" sz="1600" dirty="0">
                <a:ea typeface="宋体" panose="02010600030101010101" pitchFamily="2" charset="-122"/>
                <a:cs typeface="宋体" panose="02010600030101010101" pitchFamily="2" charset="-122"/>
              </a:rPr>
              <a:t>(c1 integer,c2 char(12));</a:t>
            </a:r>
          </a:p>
          <a:p>
            <a:pPr lvl="1">
              <a:lnSpc>
                <a:spcPct val="200000"/>
              </a:lnSpc>
            </a:pPr>
            <a:r>
              <a:rPr lang="en-US" altLang="zh-CN" sz="1600" dirty="0">
                <a:ea typeface="宋体" panose="02010600030101010101" pitchFamily="2" charset="-122"/>
                <a:cs typeface="宋体" panose="02010600030101010101" pitchFamily="2" charset="-122"/>
              </a:rPr>
              <a:t>Create unique index </a:t>
            </a:r>
            <a:r>
              <a:rPr lang="en-US" altLang="zh-CN" sz="1600" dirty="0" err="1">
                <a:ea typeface="宋体" panose="02010600030101010101" pitchFamily="2" charset="-122"/>
                <a:cs typeface="宋体" panose="02010600030101010101" pitchFamily="2" charset="-122"/>
              </a:rPr>
              <a:t>idx_test_lock</a:t>
            </a:r>
            <a:r>
              <a:rPr lang="en-US" altLang="zh-CN" sz="1600" dirty="0">
                <a:ea typeface="宋体" panose="02010600030101010101" pitchFamily="2" charset="-122"/>
                <a:cs typeface="宋体" panose="02010600030101010101" pitchFamily="2" charset="-122"/>
              </a:rPr>
              <a:t> on </a:t>
            </a:r>
            <a:r>
              <a:rPr lang="en-US" altLang="zh-CN" sz="1600" dirty="0" err="1">
                <a:ea typeface="宋体" panose="02010600030101010101" pitchFamily="2" charset="-122"/>
                <a:cs typeface="宋体" panose="02010600030101010101" pitchFamily="2" charset="-122"/>
              </a:rPr>
              <a:t>test_lock</a:t>
            </a:r>
            <a:r>
              <a:rPr lang="en-US" altLang="zh-CN" sz="1600" dirty="0">
                <a:ea typeface="宋体" panose="02010600030101010101" pitchFamily="2" charset="-122"/>
                <a:cs typeface="宋体" panose="02010600030101010101" pitchFamily="2" charset="-122"/>
              </a:rPr>
              <a:t>(c1);</a:t>
            </a:r>
            <a:endParaRPr lang="en-US" altLang="zh-CN" sz="1600" b="1" dirty="0">
              <a:ea typeface="宋体" panose="02010600030101010101" pitchFamily="2" charset="-122"/>
              <a:cs typeface="宋体" panose="02010600030101010101" pitchFamily="2" charset="-122"/>
            </a:endParaRPr>
          </a:p>
          <a:p>
            <a:pPr>
              <a:lnSpc>
                <a:spcPct val="200000"/>
              </a:lnSpc>
            </a:pPr>
            <a:r>
              <a:rPr lang="zh-CN" altLang="en-US" b="0" dirty="0">
                <a:cs typeface="宋体" panose="02010600030101010101" pitchFamily="2" charset="-122"/>
              </a:rPr>
              <a:t>测试数据</a:t>
            </a:r>
          </a:p>
          <a:p>
            <a:pPr lvl="1">
              <a:lnSpc>
                <a:spcPct val="200000"/>
              </a:lnSpc>
            </a:pPr>
            <a:r>
              <a:rPr lang="en-US" altLang="zh-CN" sz="1600" dirty="0">
                <a:ea typeface="宋体" panose="02010600030101010101" pitchFamily="2" charset="-122"/>
                <a:cs typeface="宋体" panose="02010600030101010101" pitchFamily="2" charset="-122"/>
              </a:rPr>
              <a:t>insert into </a:t>
            </a:r>
            <a:r>
              <a:rPr lang="en-US" altLang="zh-CN" sz="1600" dirty="0" err="1">
                <a:ea typeface="宋体" panose="02010600030101010101" pitchFamily="2" charset="-122"/>
                <a:cs typeface="宋体" panose="02010600030101010101" pitchFamily="2" charset="-122"/>
              </a:rPr>
              <a:t>test_lock</a:t>
            </a:r>
            <a:r>
              <a:rPr lang="en-US" altLang="zh-CN" sz="1600" dirty="0">
                <a:ea typeface="宋体" panose="02010600030101010101" pitchFamily="2" charset="-122"/>
                <a:cs typeface="宋体" panose="02010600030101010101" pitchFamily="2" charset="-122"/>
              </a:rPr>
              <a:t> values(1,'abc');</a:t>
            </a:r>
          </a:p>
          <a:p>
            <a:pPr lvl="1">
              <a:lnSpc>
                <a:spcPct val="200000"/>
              </a:lnSpc>
            </a:pPr>
            <a:r>
              <a:rPr lang="en-US" altLang="zh-CN" sz="1600" dirty="0">
                <a:ea typeface="宋体" panose="02010600030101010101" pitchFamily="2" charset="-122"/>
                <a:cs typeface="宋体" panose="02010600030101010101" pitchFamily="2" charset="-122"/>
              </a:rPr>
              <a:t>insert into </a:t>
            </a:r>
            <a:r>
              <a:rPr lang="en-US" altLang="zh-CN" sz="1600" dirty="0" err="1">
                <a:ea typeface="宋体" panose="02010600030101010101" pitchFamily="2" charset="-122"/>
                <a:cs typeface="宋体" panose="02010600030101010101" pitchFamily="2" charset="-122"/>
              </a:rPr>
              <a:t>test_lock</a:t>
            </a:r>
            <a:r>
              <a:rPr lang="en-US" altLang="zh-CN" sz="1600" dirty="0">
                <a:ea typeface="宋体" panose="02010600030101010101" pitchFamily="2" charset="-122"/>
                <a:cs typeface="宋体" panose="02010600030101010101" pitchFamily="2" charset="-122"/>
              </a:rPr>
              <a:t> values(2, '</a:t>
            </a:r>
            <a:r>
              <a:rPr lang="en-US" altLang="zh-CN" sz="1600" dirty="0" err="1">
                <a:ea typeface="宋体" panose="02010600030101010101" pitchFamily="2" charset="-122"/>
                <a:cs typeface="宋体" panose="02010600030101010101" pitchFamily="2" charset="-122"/>
              </a:rPr>
              <a:t>abc</a:t>
            </a:r>
            <a:r>
              <a:rPr lang="en-US" altLang="zh-CN" sz="1600" dirty="0">
                <a:ea typeface="宋体" panose="02010600030101010101" pitchFamily="2" charset="-122"/>
                <a:cs typeface="宋体" panose="02010600030101010101" pitchFamily="2" charset="-122"/>
              </a:rPr>
              <a:t>'); </a:t>
            </a:r>
            <a:endParaRPr lang="zh-CN" altLang="en-US" sz="1600" b="1" dirty="0">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98921438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093635"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1</a:t>
            </a:r>
            <a:r>
              <a:rPr lang="zh-CN" altLang="en-US" dirty="0">
                <a:cs typeface="宋体" panose="02010600030101010101" pitchFamily="2" charset="-122"/>
              </a:rPr>
              <a:t>：</a:t>
            </a:r>
            <a:r>
              <a:rPr lang="en-US" altLang="zh-CN" dirty="0">
                <a:cs typeface="宋体" panose="02010600030101010101" pitchFamily="2" charset="-122"/>
              </a:rPr>
              <a:t>dirty read        </a:t>
            </a:r>
            <a:r>
              <a:rPr lang="en-US" altLang="zh-CN" b="0" dirty="0">
                <a:cs typeface="宋体" panose="02010600030101010101" pitchFamily="2" charset="-122"/>
              </a:rPr>
              <a:t>USELASTCOMMITTED=</a:t>
            </a:r>
            <a:r>
              <a:rPr lang="en-US" altLang="zh-CN" b="0" dirty="0">
                <a:solidFill>
                  <a:srgbClr val="FF0000"/>
                </a:solidFill>
                <a:cs typeface="宋体" panose="02010600030101010101" pitchFamily="2" charset="-122"/>
              </a:rPr>
              <a:t>NONE</a:t>
            </a:r>
          </a:p>
          <a:p>
            <a:pPr lvl="1">
              <a:lnSpc>
                <a:spcPct val="80000"/>
              </a:lnSpc>
              <a:buFont typeface="Arial" panose="020B0604020202020204" pitchFamily="34" charset="0"/>
              <a:buNone/>
            </a:pPr>
            <a:endParaRPr lang="en-US" altLang="zh-CN" sz="1600" b="1" dirty="0">
              <a:ea typeface="宋体" panose="02010600030101010101" pitchFamily="2" charset="-122"/>
              <a:cs typeface="宋体" panose="02010600030101010101" pitchFamily="2" charset="-122"/>
            </a:endParaRPr>
          </a:p>
        </p:txBody>
      </p:sp>
      <p:graphicFrame>
        <p:nvGraphicFramePr>
          <p:cNvPr id="1093878" name="Group 246"/>
          <p:cNvGraphicFramePr>
            <a:graphicFrameLocks noGrp="1"/>
          </p:cNvGraphicFramePr>
          <p:nvPr>
            <p:ph sz="quarter" idx="4294967295"/>
            <p:extLst>
              <p:ext uri="{D42A27DB-BD31-4B8C-83A1-F6EECF244321}">
                <p14:modId xmlns:p14="http://schemas.microsoft.com/office/powerpoint/2010/main" val="2779027873"/>
              </p:ext>
            </p:extLst>
          </p:nvPr>
        </p:nvGraphicFramePr>
        <p:xfrm>
          <a:off x="1321750" y="1665288"/>
          <a:ext cx="9364716" cy="3639645"/>
        </p:xfrm>
        <a:graphic>
          <a:graphicData uri="http://schemas.openxmlformats.org/drawingml/2006/table">
            <a:tbl>
              <a:tblPr/>
              <a:tblGrid>
                <a:gridCol w="3694933">
                  <a:extLst>
                    <a:ext uri="{9D8B030D-6E8A-4147-A177-3AD203B41FA5}">
                      <a16:colId xmlns:a16="http://schemas.microsoft.com/office/drawing/2014/main" xmlns="" val="20000"/>
                    </a:ext>
                  </a:extLst>
                </a:gridCol>
                <a:gridCol w="3328603">
                  <a:extLst>
                    <a:ext uri="{9D8B030D-6E8A-4147-A177-3AD203B41FA5}">
                      <a16:colId xmlns:a16="http://schemas.microsoft.com/office/drawing/2014/main" xmlns="" val="20001"/>
                    </a:ext>
                  </a:extLst>
                </a:gridCol>
                <a:gridCol w="2341180">
                  <a:extLst>
                    <a:ext uri="{9D8B030D-6E8A-4147-A177-3AD203B41FA5}">
                      <a16:colId xmlns:a16="http://schemas.microsoft.com/office/drawing/2014/main" xmlns="" val="20002"/>
                    </a:ext>
                  </a:extLst>
                </a:gridCol>
              </a:tblGrid>
              <a:tr h="214272">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5678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dirty read;</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5678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c1&lt;=3;</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4272">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test_lock set c2='new' where c1=1;</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5678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where c1&lt;=3;</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14272">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Insert into test_lock values(3, 'new');</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993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c1&lt;=3;</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3 new</a:t>
                      </a: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14272">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Roll back; </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5678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where c1&lt;=3;</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5678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或者</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 work;</a:t>
                      </a: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4993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71754" marR="71754" marT="35877" marB="358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c1&lt;=3;</a:t>
                      </a:r>
                    </a:p>
                  </a:txBody>
                  <a:tcPr marL="71754" marR="71754" marT="35877" marB="3587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9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9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3 new</a:t>
                      </a:r>
                    </a:p>
                  </a:txBody>
                  <a:tcPr marL="71754" marR="71754" marT="35877" marB="358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
        <p:nvSpPr>
          <p:cNvPr id="6" name="灯片编号占位符 5"/>
          <p:cNvSpPr>
            <a:spLocks noGrp="1"/>
          </p:cNvSpPr>
          <p:nvPr>
            <p:ph type="sldNum" sz="quarter" idx="4294967295"/>
          </p:nvPr>
        </p:nvSpPr>
        <p:spPr/>
        <p:txBody>
          <a:bodyPr/>
          <a:lstStyle/>
          <a:p>
            <a:pPr>
              <a:buClr>
                <a:srgbClr val="FD0000"/>
              </a:buClr>
              <a:defRPr/>
            </a:pPr>
            <a:endParaRPr lang="zh-CN" altLang="en-US" dirty="0"/>
          </a:p>
        </p:txBody>
      </p:sp>
      <p:sp>
        <p:nvSpPr>
          <p:cNvPr id="8" name="Text Box 196"/>
          <p:cNvSpPr txBox="1">
            <a:spLocks noChangeArrowheads="1"/>
          </p:cNvSpPr>
          <p:nvPr/>
        </p:nvSpPr>
        <p:spPr bwMode="black">
          <a:xfrm>
            <a:off x="1689699" y="5455408"/>
            <a:ext cx="8850701" cy="831639"/>
          </a:xfrm>
          <a:prstGeom prst="rect">
            <a:avLst/>
          </a:prstGeom>
          <a:solidFill>
            <a:schemeClr val="accent1">
              <a:lumMod val="20000"/>
              <a:lumOff val="80000"/>
            </a:schemeClr>
          </a:solidFill>
          <a:ln w="3175">
            <a:solidFill>
              <a:schemeClr val="accent1"/>
            </a:solidFill>
          </a:ln>
          <a:effectLst/>
        </p:spPr>
        <p:txBody>
          <a:bodyPr wrap="square" lIns="92075" tIns="46038" rIns="92075" bIns="46038">
            <a:spAutoFit/>
          </a:bodyPr>
          <a:lstStyle/>
          <a:p>
            <a:pPr algn="ctr">
              <a:lnSpc>
                <a:spcPct val="150000"/>
              </a:lnSpc>
            </a:pPr>
            <a:r>
              <a:rPr lang="zh-CN" altLang="en-US" sz="1600" dirty="0"/>
              <a:t>优点：并发性高，不需要锁资源  </a:t>
            </a:r>
            <a:endParaRPr lang="en-US" altLang="zh-CN" sz="1600" dirty="0"/>
          </a:p>
          <a:p>
            <a:pPr algn="ctr">
              <a:lnSpc>
                <a:spcPct val="150000"/>
              </a:lnSpc>
            </a:pPr>
            <a:r>
              <a:rPr lang="zh-CN" altLang="en-US" sz="1600" dirty="0"/>
              <a:t>缺点：脏读、幻影读、不可重复读</a:t>
            </a:r>
          </a:p>
        </p:txBody>
      </p:sp>
    </p:spTree>
    <p:extLst>
      <p:ext uri="{BB962C8B-B14F-4D97-AF65-F5344CB8AC3E}">
        <p14:creationId xmlns:p14="http://schemas.microsoft.com/office/powerpoint/2010/main" val="1126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Rectangle 2"/>
          <p:cNvSpPr>
            <a:spLocks noGrp="1" noChangeArrowheads="1"/>
          </p:cNvSpPr>
          <p:nvPr>
            <p:ph type="title"/>
          </p:nvPr>
        </p:nvSpPr>
        <p:spPr/>
        <p:txBody>
          <a:bodyPr/>
          <a:lstStyle/>
          <a:p>
            <a:r>
              <a:rPr lang="zh-CN" altLang="en-US" sz="2400" dirty="0">
                <a:cs typeface="宋体" panose="02010600030101010101" pitchFamily="2" charset="-122"/>
              </a:rPr>
              <a:t>隔离级别、并发控制及锁的示例演示</a:t>
            </a:r>
          </a:p>
        </p:txBody>
      </p:sp>
      <p:sp>
        <p:nvSpPr>
          <p:cNvPr id="1099779"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2</a:t>
            </a:r>
            <a:r>
              <a:rPr lang="zh-CN" altLang="en-US" dirty="0">
                <a:cs typeface="宋体" panose="02010600030101010101" pitchFamily="2" charset="-122"/>
              </a:rPr>
              <a:t>：</a:t>
            </a:r>
            <a:r>
              <a:rPr lang="en-US" altLang="zh-CN" dirty="0">
                <a:cs typeface="宋体" panose="02010600030101010101" pitchFamily="2" charset="-122"/>
              </a:rPr>
              <a:t>committed read        </a:t>
            </a:r>
            <a:r>
              <a:rPr lang="en-US" altLang="zh-CN" b="0" dirty="0">
                <a:cs typeface="宋体" panose="02010600030101010101" pitchFamily="2" charset="-122"/>
              </a:rPr>
              <a:t>USELASTCOMMITTED=</a:t>
            </a:r>
            <a:r>
              <a:rPr lang="en-US" altLang="zh-CN" b="0" dirty="0">
                <a:solidFill>
                  <a:srgbClr val="FF0000"/>
                </a:solidFill>
                <a:cs typeface="宋体" panose="02010600030101010101" pitchFamily="2" charset="-122"/>
              </a:rPr>
              <a:t>NONE</a:t>
            </a:r>
          </a:p>
        </p:txBody>
      </p:sp>
      <p:graphicFrame>
        <p:nvGraphicFramePr>
          <p:cNvPr id="1099967" name="Group 191"/>
          <p:cNvGraphicFramePr>
            <a:graphicFrameLocks noGrp="1"/>
          </p:cNvGraphicFramePr>
          <p:nvPr>
            <p:ph sz="quarter" idx="4294967295"/>
            <p:extLst>
              <p:ext uri="{D42A27DB-BD31-4B8C-83A1-F6EECF244321}">
                <p14:modId xmlns:p14="http://schemas.microsoft.com/office/powerpoint/2010/main" val="1616751082"/>
              </p:ext>
            </p:extLst>
          </p:nvPr>
        </p:nvGraphicFramePr>
        <p:xfrm>
          <a:off x="1479936" y="1978025"/>
          <a:ext cx="8856662" cy="2098362"/>
        </p:xfrm>
        <a:graphic>
          <a:graphicData uri="http://schemas.openxmlformats.org/drawingml/2006/table">
            <a:tbl>
              <a:tblPr/>
              <a:tblGrid>
                <a:gridCol w="3313112">
                  <a:extLst>
                    <a:ext uri="{9D8B030D-6E8A-4147-A177-3AD203B41FA5}">
                      <a16:colId xmlns:a16="http://schemas.microsoft.com/office/drawing/2014/main" xmlns="" val="20000"/>
                    </a:ext>
                  </a:extLst>
                </a:gridCol>
                <a:gridCol w="2951163">
                  <a:extLst>
                    <a:ext uri="{9D8B030D-6E8A-4147-A177-3AD203B41FA5}">
                      <a16:colId xmlns:a16="http://schemas.microsoft.com/office/drawing/2014/main" xmlns="" val="20001"/>
                    </a:ext>
                  </a:extLst>
                </a:gridCol>
                <a:gridCol w="2592387">
                  <a:extLst>
                    <a:ext uri="{9D8B030D-6E8A-4147-A177-3AD203B41FA5}">
                      <a16:colId xmlns:a16="http://schemas.microsoft.com/office/drawing/2014/main" xmlns="" val="20002"/>
                    </a:ext>
                  </a:extLst>
                </a:gridCol>
              </a:tblGrid>
              <a:tr h="322263">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63563">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committed read;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5763">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c1&lt;=3;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413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set c2='new' where c1=1;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8893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200" b="1" i="0" u="none" strike="noStrike" cap="none" normalizeH="0" baseline="0" dirty="0" err="1">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 where c1&lt;=3;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SQL Error -244 </a:t>
                      </a:r>
                      <a:r>
                        <a:rPr kumimoji="0" lang="zh-CN" altLang="en-US"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锁错误</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7" name="灯片编号占位符 6"/>
          <p:cNvSpPr>
            <a:spLocks noGrp="1"/>
          </p:cNvSpPr>
          <p:nvPr>
            <p:ph type="sldNum" sz="quarter" idx="4294967295"/>
          </p:nvPr>
        </p:nvSpPr>
        <p:spPr/>
        <p:txBody>
          <a:bodyPr/>
          <a:lstStyle/>
          <a:p>
            <a:pPr>
              <a:buClr>
                <a:srgbClr val="FD0000"/>
              </a:buClr>
              <a:defRPr/>
            </a:pPr>
            <a:endParaRPr lang="zh-CN" altLang="en-US" dirty="0"/>
          </a:p>
        </p:txBody>
      </p:sp>
      <p:sp>
        <p:nvSpPr>
          <p:cNvPr id="1099957" name="AutoShape 181"/>
          <p:cNvSpPr>
            <a:spLocks noChangeArrowheads="1"/>
          </p:cNvSpPr>
          <p:nvPr/>
        </p:nvSpPr>
        <p:spPr bwMode="black">
          <a:xfrm rot="10800000">
            <a:off x="1365189" y="4412471"/>
            <a:ext cx="3475784" cy="1724804"/>
          </a:xfrm>
          <a:prstGeom prst="wedgeRoundRectCallout">
            <a:avLst>
              <a:gd name="adj1" fmla="val 5708"/>
              <a:gd name="adj2" fmla="val 94241"/>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zh-CN" altLang="en-US" sz="1600" dirty="0"/>
              <a:t>因为</a:t>
            </a:r>
            <a:r>
              <a:rPr lang="en-US" altLang="zh-CN" sz="1600" dirty="0"/>
              <a:t> session2</a:t>
            </a:r>
            <a:r>
              <a:rPr lang="zh-CN" altLang="en-US" sz="1600" dirty="0"/>
              <a:t>采用</a:t>
            </a:r>
            <a:r>
              <a:rPr lang="en-US" altLang="zh-CN" sz="1600" dirty="0"/>
              <a:t>committed read</a:t>
            </a:r>
            <a:r>
              <a:rPr lang="zh-CN" altLang="en-US" sz="1600" dirty="0"/>
              <a:t>对读取的记录不加</a:t>
            </a:r>
            <a:r>
              <a:rPr lang="en-US" altLang="zh-CN" sz="1600" dirty="0"/>
              <a:t>S-LOCK</a:t>
            </a:r>
            <a:r>
              <a:rPr lang="zh-CN" altLang="en-US" sz="1600" dirty="0"/>
              <a:t>，所以</a:t>
            </a:r>
            <a:r>
              <a:rPr lang="en-US" altLang="zh-CN" sz="1600" dirty="0"/>
              <a:t>session1</a:t>
            </a:r>
            <a:r>
              <a:rPr lang="zh-CN" altLang="en-US" sz="1600" dirty="0"/>
              <a:t>可以对该记录进行更新，并在该记录上加</a:t>
            </a:r>
            <a:r>
              <a:rPr lang="en-US" altLang="zh-CN" sz="1600" dirty="0"/>
              <a:t>X-LOCK</a:t>
            </a:r>
          </a:p>
        </p:txBody>
      </p:sp>
      <p:sp>
        <p:nvSpPr>
          <p:cNvPr id="1099964" name="AutoShape 188"/>
          <p:cNvSpPr>
            <a:spLocks noChangeArrowheads="1"/>
          </p:cNvSpPr>
          <p:nvPr/>
        </p:nvSpPr>
        <p:spPr bwMode="black">
          <a:xfrm rot="10800000">
            <a:off x="6526129" y="4231801"/>
            <a:ext cx="4019909" cy="1911109"/>
          </a:xfrm>
          <a:prstGeom prst="wedgeRoundRectCallout">
            <a:avLst>
              <a:gd name="adj1" fmla="val 34284"/>
              <a:gd name="adj2" fmla="val 68955"/>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en-US" altLang="zh-CN" sz="1600" dirty="0"/>
              <a:t>session2</a:t>
            </a:r>
            <a:r>
              <a:rPr lang="zh-CN" altLang="en-US" sz="1600" dirty="0"/>
              <a:t>采用</a:t>
            </a:r>
            <a:r>
              <a:rPr lang="en-US" altLang="zh-CN" sz="1600" dirty="0"/>
              <a:t>committed read</a:t>
            </a:r>
            <a:r>
              <a:rPr lang="zh-CN" altLang="en-US" sz="1600" dirty="0"/>
              <a:t>对读取的记录试图加</a:t>
            </a:r>
            <a:r>
              <a:rPr lang="en-US" altLang="zh-CN" sz="1600" dirty="0"/>
              <a:t>S-LOCK</a:t>
            </a:r>
            <a:r>
              <a:rPr lang="zh-CN" altLang="en-US" sz="1600" dirty="0"/>
              <a:t>，但检测到</a:t>
            </a:r>
            <a:r>
              <a:rPr lang="en-US" altLang="zh-CN" sz="1600" dirty="0"/>
              <a:t>c1=1</a:t>
            </a:r>
            <a:r>
              <a:rPr lang="zh-CN" altLang="en-US" sz="1600" dirty="0"/>
              <a:t>的记录上有</a:t>
            </a:r>
            <a:r>
              <a:rPr lang="en-US" altLang="zh-CN" sz="1600" dirty="0"/>
              <a:t>X-LOCK</a:t>
            </a:r>
            <a:r>
              <a:rPr lang="zh-CN" altLang="en-US" sz="1600" dirty="0"/>
              <a:t>，出现锁等待事件，超过锁等待时长</a:t>
            </a:r>
            <a:r>
              <a:rPr lang="en-US" altLang="zh-CN" sz="1600" dirty="0"/>
              <a:t>5</a:t>
            </a:r>
            <a:r>
              <a:rPr lang="zh-CN" altLang="en-US" sz="1600" dirty="0"/>
              <a:t>秒后报告锁等待超时错误：</a:t>
            </a:r>
            <a:r>
              <a:rPr lang="en-US" altLang="zh-CN" sz="1600" dirty="0">
                <a:solidFill>
                  <a:srgbClr val="FF0000"/>
                </a:solidFill>
              </a:rPr>
              <a:t>Error -2441</a:t>
            </a:r>
          </a:p>
        </p:txBody>
      </p:sp>
    </p:spTree>
    <p:extLst>
      <p:ext uri="{BB962C8B-B14F-4D97-AF65-F5344CB8AC3E}">
        <p14:creationId xmlns:p14="http://schemas.microsoft.com/office/powerpoint/2010/main" val="71139613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113091"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2</a:t>
            </a:r>
            <a:r>
              <a:rPr lang="zh-CN" altLang="en-US" dirty="0">
                <a:cs typeface="宋体" panose="02010600030101010101" pitchFamily="2" charset="-122"/>
              </a:rPr>
              <a:t>：</a:t>
            </a:r>
            <a:r>
              <a:rPr lang="en-US" altLang="zh-CN" dirty="0">
                <a:cs typeface="宋体" panose="02010600030101010101" pitchFamily="2" charset="-122"/>
              </a:rPr>
              <a:t>committed read       </a:t>
            </a:r>
            <a:r>
              <a:rPr lang="en-US" altLang="zh-CN" b="0" dirty="0">
                <a:cs typeface="宋体" panose="02010600030101010101" pitchFamily="2" charset="-122"/>
              </a:rPr>
              <a:t>USELASTCOMMITTED=</a:t>
            </a:r>
            <a:r>
              <a:rPr lang="en-US" altLang="zh-CN" b="0" dirty="0">
                <a:solidFill>
                  <a:srgbClr val="FF0000"/>
                </a:solidFill>
                <a:cs typeface="宋体" panose="02010600030101010101" pitchFamily="2" charset="-122"/>
              </a:rPr>
              <a:t>NONE</a:t>
            </a:r>
          </a:p>
          <a:p>
            <a:pPr lvl="1">
              <a:lnSpc>
                <a:spcPct val="80000"/>
              </a:lnSpc>
              <a:buFont typeface="Arial" panose="020B0604020202020204" pitchFamily="34" charset="0"/>
              <a:buNone/>
            </a:pPr>
            <a:endParaRPr lang="en-US" altLang="zh-CN" sz="2000" b="1" dirty="0">
              <a:ea typeface="宋体" panose="02010600030101010101" pitchFamily="2" charset="-122"/>
              <a:cs typeface="宋体" panose="02010600030101010101" pitchFamily="2" charset="-122"/>
            </a:endParaRPr>
          </a:p>
        </p:txBody>
      </p:sp>
      <p:graphicFrame>
        <p:nvGraphicFramePr>
          <p:cNvPr id="1113181" name="Group 93"/>
          <p:cNvGraphicFramePr>
            <a:graphicFrameLocks noGrp="1"/>
          </p:cNvGraphicFramePr>
          <p:nvPr>
            <p:ph sz="quarter" idx="4294967295"/>
            <p:extLst>
              <p:ext uri="{D42A27DB-BD31-4B8C-83A1-F6EECF244321}">
                <p14:modId xmlns:p14="http://schemas.microsoft.com/office/powerpoint/2010/main" val="637330433"/>
              </p:ext>
            </p:extLst>
          </p:nvPr>
        </p:nvGraphicFramePr>
        <p:xfrm>
          <a:off x="1696445" y="1722855"/>
          <a:ext cx="8674207" cy="3799931"/>
        </p:xfrm>
        <a:graphic>
          <a:graphicData uri="http://schemas.openxmlformats.org/drawingml/2006/table">
            <a:tbl>
              <a:tblPr/>
              <a:tblGrid>
                <a:gridCol w="3672176">
                  <a:extLst>
                    <a:ext uri="{9D8B030D-6E8A-4147-A177-3AD203B41FA5}">
                      <a16:colId xmlns:a16="http://schemas.microsoft.com/office/drawing/2014/main" xmlns="" val="20000"/>
                    </a:ext>
                  </a:extLst>
                </a:gridCol>
                <a:gridCol w="2659709">
                  <a:extLst>
                    <a:ext uri="{9D8B030D-6E8A-4147-A177-3AD203B41FA5}">
                      <a16:colId xmlns:a16="http://schemas.microsoft.com/office/drawing/2014/main" xmlns="" val="20001"/>
                    </a:ext>
                  </a:extLst>
                </a:gridCol>
                <a:gridCol w="2342322">
                  <a:extLst>
                    <a:ext uri="{9D8B030D-6E8A-4147-A177-3AD203B41FA5}">
                      <a16:colId xmlns:a16="http://schemas.microsoft.com/office/drawing/2014/main" xmlns="" val="20002"/>
                    </a:ext>
                  </a:extLst>
                </a:gridCol>
              </a:tblGrid>
              <a:tr h="327301">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0042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committed read;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1615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2904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test_lock set c2='new' where c1=1;</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insert into test_lock values(3, 'new');</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92919">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 work;</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0042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当</a:t>
                      </a: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r>
                        <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结束后执行</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3 new</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2904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或者</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Roll back; </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42904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zh-CN" altLang="en-US"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当</a:t>
                      </a: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r>
                        <a:rPr kumimoji="0" lang="zh-CN" altLang="en-US"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结束后执行</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6" name="灯片编号占位符 5"/>
          <p:cNvSpPr>
            <a:spLocks noGrp="1"/>
          </p:cNvSpPr>
          <p:nvPr>
            <p:ph type="sldNum" sz="quarter" idx="4294967295"/>
          </p:nvPr>
        </p:nvSpPr>
        <p:spPr/>
        <p:txBody>
          <a:bodyPr/>
          <a:lstStyle/>
          <a:p>
            <a:pPr>
              <a:buClr>
                <a:srgbClr val="FD0000"/>
              </a:buClr>
              <a:defRPr/>
            </a:pPr>
            <a:endParaRPr lang="zh-CN" altLang="en-US" dirty="0"/>
          </a:p>
        </p:txBody>
      </p:sp>
      <p:sp>
        <p:nvSpPr>
          <p:cNvPr id="7" name="Text Box 196"/>
          <p:cNvSpPr txBox="1">
            <a:spLocks noChangeArrowheads="1"/>
          </p:cNvSpPr>
          <p:nvPr/>
        </p:nvSpPr>
        <p:spPr bwMode="black">
          <a:xfrm>
            <a:off x="1610869" y="5669399"/>
            <a:ext cx="8850701" cy="657232"/>
          </a:xfrm>
          <a:prstGeom prst="rect">
            <a:avLst/>
          </a:prstGeom>
          <a:solidFill>
            <a:schemeClr val="accent1">
              <a:lumMod val="20000"/>
              <a:lumOff val="80000"/>
            </a:schemeClr>
          </a:solidFill>
          <a:ln w="3175">
            <a:solidFill>
              <a:schemeClr val="accent1"/>
            </a:solidFill>
          </a:ln>
          <a:effectLst/>
        </p:spPr>
        <p:txBody>
          <a:bodyPr wrap="square" lIns="92075" tIns="46038" rIns="92075" bIns="46038">
            <a:spAutoFit/>
          </a:bodyPr>
          <a:lstStyle/>
          <a:p>
            <a:pPr>
              <a:lnSpc>
                <a:spcPts val="2200"/>
              </a:lnSpc>
            </a:pPr>
            <a:r>
              <a:rPr lang="zh-CN" altLang="en-US" sz="1600" dirty="0"/>
              <a:t>优点：相对</a:t>
            </a:r>
            <a:r>
              <a:rPr lang="en-US" altLang="zh-CN" sz="1600" dirty="0"/>
              <a:t>dirty read</a:t>
            </a:r>
            <a:r>
              <a:rPr lang="zh-CN" altLang="en-US" sz="1600" dirty="0"/>
              <a:t>能避免脏读的问题</a:t>
            </a:r>
          </a:p>
          <a:p>
            <a:pPr>
              <a:lnSpc>
                <a:spcPts val="2200"/>
              </a:lnSpc>
            </a:pPr>
            <a:r>
              <a:rPr lang="zh-CN" altLang="en-US" sz="1600" dirty="0"/>
              <a:t>缺点：并发性较</a:t>
            </a:r>
            <a:r>
              <a:rPr lang="en-US" altLang="zh-CN" sz="1600" dirty="0"/>
              <a:t>dirty read</a:t>
            </a:r>
            <a:r>
              <a:rPr lang="zh-CN" altLang="en-US" sz="1600" dirty="0"/>
              <a:t>有所降低，容易出现锁等待引起的问题。不能解决幻影读、不可重复读</a:t>
            </a:r>
          </a:p>
        </p:txBody>
      </p:sp>
    </p:spTree>
    <p:extLst>
      <p:ext uri="{BB962C8B-B14F-4D97-AF65-F5344CB8AC3E}">
        <p14:creationId xmlns:p14="http://schemas.microsoft.com/office/powerpoint/2010/main" val="338056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2"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100803"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3</a:t>
            </a:r>
            <a:r>
              <a:rPr lang="zh-CN" altLang="en-US" dirty="0">
                <a:cs typeface="宋体" panose="02010600030101010101" pitchFamily="2" charset="-122"/>
              </a:rPr>
              <a:t>：</a:t>
            </a:r>
            <a:r>
              <a:rPr lang="en-US" altLang="zh-CN" dirty="0">
                <a:cs typeface="宋体" panose="02010600030101010101" pitchFamily="2" charset="-122"/>
              </a:rPr>
              <a:t>repeatable read</a:t>
            </a:r>
            <a:endParaRPr lang="en-US" altLang="zh-CN" b="0" dirty="0">
              <a:cs typeface="宋体" panose="02010600030101010101" pitchFamily="2" charset="-122"/>
            </a:endParaRPr>
          </a:p>
        </p:txBody>
      </p:sp>
      <p:graphicFrame>
        <p:nvGraphicFramePr>
          <p:cNvPr id="1100934" name="Group 134"/>
          <p:cNvGraphicFramePr>
            <a:graphicFrameLocks noGrp="1"/>
          </p:cNvGraphicFramePr>
          <p:nvPr>
            <p:ph sz="quarter" idx="4294967295"/>
            <p:extLst>
              <p:ext uri="{D42A27DB-BD31-4B8C-83A1-F6EECF244321}">
                <p14:modId xmlns:p14="http://schemas.microsoft.com/office/powerpoint/2010/main" val="3567669555"/>
              </p:ext>
            </p:extLst>
          </p:nvPr>
        </p:nvGraphicFramePr>
        <p:xfrm>
          <a:off x="1323520" y="1784350"/>
          <a:ext cx="8569325" cy="1739904"/>
        </p:xfrm>
        <a:graphic>
          <a:graphicData uri="http://schemas.openxmlformats.org/drawingml/2006/table">
            <a:tbl>
              <a:tblPr/>
              <a:tblGrid>
                <a:gridCol w="3568700">
                  <a:extLst>
                    <a:ext uri="{9D8B030D-6E8A-4147-A177-3AD203B41FA5}">
                      <a16:colId xmlns:a16="http://schemas.microsoft.com/office/drawing/2014/main" xmlns="" val="20000"/>
                    </a:ext>
                  </a:extLst>
                </a:gridCol>
                <a:gridCol w="2840038">
                  <a:extLst>
                    <a:ext uri="{9D8B030D-6E8A-4147-A177-3AD203B41FA5}">
                      <a16:colId xmlns:a16="http://schemas.microsoft.com/office/drawing/2014/main" xmlns="" val="20001"/>
                    </a:ext>
                  </a:extLst>
                </a:gridCol>
                <a:gridCol w="2160587">
                  <a:extLst>
                    <a:ext uri="{9D8B030D-6E8A-4147-A177-3AD203B41FA5}">
                      <a16:colId xmlns:a16="http://schemas.microsoft.com/office/drawing/2014/main" xmlns="" val="20002"/>
                    </a:ext>
                  </a:extLst>
                </a:gridCol>
              </a:tblGrid>
              <a:tr h="35718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2388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repeatable read;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4608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where c1&lt;=3;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65113">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Update </a:t>
                      </a:r>
                      <a:r>
                        <a:rPr kumimoji="0" lang="en-US" altLang="zh-CN" sz="1200" b="1" i="0" u="none" strike="noStrike" cap="none" normalizeH="0" baseline="0" dirty="0" err="1">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 set c2='new</a:t>
                      </a: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t>
                      </a:r>
                      <a:r>
                        <a:rPr kumimoji="0" lang="en-US" altLang="zh-CN" sz="12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 where c1=1;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7" name="灯片编号占位符 6"/>
          <p:cNvSpPr>
            <a:spLocks noGrp="1"/>
          </p:cNvSpPr>
          <p:nvPr>
            <p:ph type="sldNum" sz="quarter" idx="4294967295"/>
          </p:nvPr>
        </p:nvSpPr>
        <p:spPr/>
        <p:txBody>
          <a:bodyPr/>
          <a:lstStyle/>
          <a:p>
            <a:pPr>
              <a:buClr>
                <a:srgbClr val="FD0000"/>
              </a:buClr>
              <a:defRPr/>
            </a:pPr>
            <a:endParaRPr lang="zh-CN" altLang="en-US" dirty="0"/>
          </a:p>
        </p:txBody>
      </p:sp>
      <p:sp>
        <p:nvSpPr>
          <p:cNvPr id="1100927" name="AutoShape 127"/>
          <p:cNvSpPr>
            <a:spLocks noChangeArrowheads="1"/>
          </p:cNvSpPr>
          <p:nvPr/>
        </p:nvSpPr>
        <p:spPr bwMode="black">
          <a:xfrm rot="10800000">
            <a:off x="7925327" y="4203800"/>
            <a:ext cx="3303200" cy="1604340"/>
          </a:xfrm>
          <a:prstGeom prst="wedgeRoundRectCallout">
            <a:avLst>
              <a:gd name="adj1" fmla="val 42800"/>
              <a:gd name="adj2" fmla="val 98205"/>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en-US" altLang="zh-CN" sz="1600" dirty="0"/>
              <a:t>session2</a:t>
            </a:r>
            <a:r>
              <a:rPr lang="zh-CN" altLang="en-US" sz="1600" dirty="0"/>
              <a:t>采用</a:t>
            </a:r>
            <a:r>
              <a:rPr lang="en-US" altLang="zh-CN" sz="1600" dirty="0"/>
              <a:t>repeatable read</a:t>
            </a:r>
            <a:r>
              <a:rPr lang="zh-CN" altLang="en-US" sz="1600" dirty="0"/>
              <a:t>对读取的记录（</a:t>
            </a:r>
            <a:r>
              <a:rPr lang="en-US" altLang="zh-CN" sz="1600" dirty="0"/>
              <a:t>c1&lt;=3</a:t>
            </a:r>
            <a:r>
              <a:rPr lang="zh-CN" altLang="en-US" sz="1600" dirty="0"/>
              <a:t>）加</a:t>
            </a:r>
            <a:r>
              <a:rPr lang="en-US" altLang="zh-CN" sz="1600" dirty="0"/>
              <a:t>S-LOCK</a:t>
            </a:r>
          </a:p>
        </p:txBody>
      </p:sp>
      <p:sp>
        <p:nvSpPr>
          <p:cNvPr id="1100932" name="AutoShape 132"/>
          <p:cNvSpPr>
            <a:spLocks noChangeArrowheads="1"/>
          </p:cNvSpPr>
          <p:nvPr/>
        </p:nvSpPr>
        <p:spPr bwMode="black">
          <a:xfrm rot="10800000">
            <a:off x="2615801" y="4203800"/>
            <a:ext cx="4023863" cy="1758597"/>
          </a:xfrm>
          <a:prstGeom prst="wedgeRoundRectCallout">
            <a:avLst>
              <a:gd name="adj1" fmla="val 14213"/>
              <a:gd name="adj2" fmla="val 87292"/>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en-US" altLang="zh-CN" sz="1600" dirty="0"/>
              <a:t>Session1</a:t>
            </a:r>
            <a:r>
              <a:rPr lang="zh-CN" altLang="en-US" sz="1600" dirty="0"/>
              <a:t>试图更新</a:t>
            </a:r>
            <a:r>
              <a:rPr lang="en-US" altLang="zh-CN" sz="1600" dirty="0"/>
              <a:t>c1=1</a:t>
            </a:r>
            <a:r>
              <a:rPr lang="zh-CN" altLang="en-US" sz="1600" dirty="0"/>
              <a:t>的记录，试图在该记录上加</a:t>
            </a:r>
            <a:r>
              <a:rPr lang="en-US" altLang="zh-CN" sz="1600" dirty="0"/>
              <a:t>x-lock</a:t>
            </a:r>
            <a:r>
              <a:rPr lang="zh-CN" altLang="en-US" sz="1600" dirty="0"/>
              <a:t>，但发现该记录上已经有</a:t>
            </a:r>
            <a:r>
              <a:rPr lang="en-US" altLang="zh-CN" sz="1600" dirty="0"/>
              <a:t>s-lock</a:t>
            </a:r>
            <a:r>
              <a:rPr lang="zh-CN" altLang="en-US" sz="1600" dirty="0"/>
              <a:t>，故出现锁等待事件，当锁等待超时后，出现锁错误：</a:t>
            </a:r>
            <a:r>
              <a:rPr lang="en-US" altLang="zh-CN" sz="1600" dirty="0">
                <a:solidFill>
                  <a:srgbClr val="FF0000"/>
                </a:solidFill>
              </a:rPr>
              <a:t>Error -244 </a:t>
            </a:r>
            <a:endParaRPr lang="zh-CN" altLang="en-US" sz="1600" dirty="0">
              <a:solidFill>
                <a:srgbClr val="FF0000"/>
              </a:solidFill>
            </a:endParaRPr>
          </a:p>
        </p:txBody>
      </p:sp>
    </p:spTree>
    <p:extLst>
      <p:ext uri="{BB962C8B-B14F-4D97-AF65-F5344CB8AC3E}">
        <p14:creationId xmlns:p14="http://schemas.microsoft.com/office/powerpoint/2010/main" val="11213749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4"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114115"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3</a:t>
            </a:r>
            <a:r>
              <a:rPr lang="zh-CN" altLang="en-US" dirty="0">
                <a:cs typeface="宋体" panose="02010600030101010101" pitchFamily="2" charset="-122"/>
              </a:rPr>
              <a:t>：</a:t>
            </a:r>
            <a:r>
              <a:rPr lang="en-US" altLang="zh-CN" dirty="0">
                <a:cs typeface="宋体" panose="02010600030101010101" pitchFamily="2" charset="-122"/>
              </a:rPr>
              <a:t>repeatable read</a:t>
            </a:r>
            <a:endParaRPr lang="en-US" altLang="zh-CN" b="0" dirty="0">
              <a:cs typeface="宋体" panose="02010600030101010101" pitchFamily="2" charset="-122"/>
            </a:endParaRPr>
          </a:p>
        </p:txBody>
      </p:sp>
      <p:graphicFrame>
        <p:nvGraphicFramePr>
          <p:cNvPr id="1114180" name="Group 68"/>
          <p:cNvGraphicFramePr>
            <a:graphicFrameLocks noGrp="1"/>
          </p:cNvGraphicFramePr>
          <p:nvPr>
            <p:ph sz="quarter" idx="4294967295"/>
            <p:extLst>
              <p:ext uri="{D42A27DB-BD31-4B8C-83A1-F6EECF244321}">
                <p14:modId xmlns:p14="http://schemas.microsoft.com/office/powerpoint/2010/main" val="1846678953"/>
              </p:ext>
            </p:extLst>
          </p:nvPr>
        </p:nvGraphicFramePr>
        <p:xfrm>
          <a:off x="1318125" y="1849438"/>
          <a:ext cx="8640763" cy="2142813"/>
        </p:xfrm>
        <a:graphic>
          <a:graphicData uri="http://schemas.openxmlformats.org/drawingml/2006/table">
            <a:tbl>
              <a:tblPr/>
              <a:tblGrid>
                <a:gridCol w="3659188">
                  <a:extLst>
                    <a:ext uri="{9D8B030D-6E8A-4147-A177-3AD203B41FA5}">
                      <a16:colId xmlns:a16="http://schemas.microsoft.com/office/drawing/2014/main" xmlns="" val="20000"/>
                    </a:ext>
                  </a:extLst>
                </a:gridCol>
                <a:gridCol w="2879505">
                  <a:extLst>
                    <a:ext uri="{9D8B030D-6E8A-4147-A177-3AD203B41FA5}">
                      <a16:colId xmlns:a16="http://schemas.microsoft.com/office/drawing/2014/main" xmlns="" val="20001"/>
                    </a:ext>
                  </a:extLst>
                </a:gridCol>
                <a:gridCol w="2102070">
                  <a:extLst>
                    <a:ext uri="{9D8B030D-6E8A-4147-A177-3AD203B41FA5}">
                      <a16:colId xmlns:a16="http://schemas.microsoft.com/office/drawing/2014/main" xmlns="" val="20002"/>
                    </a:ext>
                  </a:extLst>
                </a:gridCol>
              </a:tblGrid>
              <a:tr h="26193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6828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repeatable read;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6033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test_lock set c2='new' where c1=1;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1313">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Select * from test_lock where c1&lt;=3;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SQL Error -244 </a:t>
                      </a:r>
                      <a:r>
                        <a:rPr kumimoji="0" lang="zh-CN" altLang="en-US"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rPr>
                        <a:t>锁错误</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50825">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Insert into test_lock values(3, 'new');</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667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 work; </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7" name="灯片编号占位符 6"/>
          <p:cNvSpPr>
            <a:spLocks noGrp="1"/>
          </p:cNvSpPr>
          <p:nvPr>
            <p:ph type="sldNum" sz="quarter" idx="4294967295"/>
          </p:nvPr>
        </p:nvSpPr>
        <p:spPr/>
        <p:txBody>
          <a:bodyPr/>
          <a:lstStyle/>
          <a:p>
            <a:pPr>
              <a:buClr>
                <a:srgbClr val="FD0000"/>
              </a:buClr>
              <a:defRPr/>
            </a:pPr>
            <a:endParaRPr lang="zh-CN" altLang="en-US" dirty="0"/>
          </a:p>
        </p:txBody>
      </p:sp>
      <p:sp>
        <p:nvSpPr>
          <p:cNvPr id="1114179" name="AutoShape 67"/>
          <p:cNvSpPr>
            <a:spLocks noChangeArrowheads="1"/>
          </p:cNvSpPr>
          <p:nvPr/>
        </p:nvSpPr>
        <p:spPr bwMode="black">
          <a:xfrm rot="10800000">
            <a:off x="2735488" y="4550129"/>
            <a:ext cx="2376488" cy="1471259"/>
          </a:xfrm>
          <a:prstGeom prst="wedgeRoundRectCallout">
            <a:avLst>
              <a:gd name="adj1" fmla="val 2415"/>
              <a:gd name="adj2" fmla="val 146258"/>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en-US" altLang="zh-CN" sz="1600" dirty="0"/>
              <a:t>Session1</a:t>
            </a:r>
            <a:r>
              <a:rPr lang="zh-CN" altLang="en-US" sz="1600" dirty="0"/>
              <a:t>对修改的的记录（</a:t>
            </a:r>
            <a:r>
              <a:rPr lang="en-US" altLang="zh-CN" sz="1600" dirty="0"/>
              <a:t>c1=1</a:t>
            </a:r>
            <a:r>
              <a:rPr lang="zh-CN" altLang="en-US" sz="1600" dirty="0"/>
              <a:t>）加</a:t>
            </a:r>
            <a:r>
              <a:rPr lang="en-US" altLang="zh-CN" sz="1600" dirty="0"/>
              <a:t>X-LOCK</a:t>
            </a:r>
            <a:endParaRPr lang="zh-CN" altLang="en-US" sz="1600" dirty="0"/>
          </a:p>
        </p:txBody>
      </p:sp>
      <p:sp>
        <p:nvSpPr>
          <p:cNvPr id="1114181" name="AutoShape 69"/>
          <p:cNvSpPr>
            <a:spLocks noChangeArrowheads="1"/>
          </p:cNvSpPr>
          <p:nvPr/>
        </p:nvSpPr>
        <p:spPr bwMode="black">
          <a:xfrm rot="10800000">
            <a:off x="7785656" y="4217285"/>
            <a:ext cx="3857295" cy="2126721"/>
          </a:xfrm>
          <a:prstGeom prst="wedgeRoundRectCallout">
            <a:avLst>
              <a:gd name="adj1" fmla="val 41507"/>
              <a:gd name="adj2" fmla="val 91725"/>
              <a:gd name="adj3" fmla="val 16667"/>
            </a:avLst>
          </a:prstGeom>
          <a:solidFill>
            <a:schemeClr val="bg1">
              <a:lumMod val="85000"/>
            </a:schemeClr>
          </a:solidFill>
          <a:ln w="9525">
            <a:solidFill>
              <a:schemeClr val="tx1"/>
            </a:solidFill>
            <a:miter lim="800000"/>
          </a:ln>
          <a:effectLst/>
        </p:spPr>
        <p:txBody>
          <a:bodyPr rot="10800000" lIns="92075" tIns="46038" rIns="92075" bIns="46038"/>
          <a:lstStyle/>
          <a:p>
            <a:pPr>
              <a:lnSpc>
                <a:spcPct val="150000"/>
              </a:lnSpc>
            </a:pPr>
            <a:r>
              <a:rPr lang="en-US" altLang="zh-CN" sz="1600" dirty="0"/>
              <a:t>session2</a:t>
            </a:r>
            <a:r>
              <a:rPr lang="zh-CN" altLang="en-US" sz="1600" dirty="0"/>
              <a:t>采用</a:t>
            </a:r>
            <a:r>
              <a:rPr lang="en-US" altLang="zh-CN" sz="1600" dirty="0"/>
              <a:t>repeatable read</a:t>
            </a:r>
            <a:r>
              <a:rPr lang="zh-CN" altLang="en-US" sz="1600" dirty="0"/>
              <a:t>需要对读取的记录（</a:t>
            </a:r>
            <a:r>
              <a:rPr lang="en-US" altLang="zh-CN" sz="1600" dirty="0"/>
              <a:t>c1&lt;=3</a:t>
            </a:r>
            <a:r>
              <a:rPr lang="zh-CN" altLang="en-US" sz="1600" dirty="0"/>
              <a:t>）加</a:t>
            </a:r>
            <a:r>
              <a:rPr lang="en-US" altLang="zh-CN" sz="1600" dirty="0"/>
              <a:t>S-LOCK</a:t>
            </a:r>
            <a:r>
              <a:rPr lang="zh-CN" altLang="en-US" sz="1600" dirty="0"/>
              <a:t>，但是记录</a:t>
            </a:r>
            <a:r>
              <a:rPr lang="en-US" altLang="zh-CN" sz="1600" dirty="0"/>
              <a:t>c1=1</a:t>
            </a:r>
            <a:r>
              <a:rPr lang="zh-CN" altLang="en-US" sz="1600" dirty="0"/>
              <a:t>已经被加上了</a:t>
            </a:r>
            <a:r>
              <a:rPr lang="en-US" altLang="zh-CN" sz="1600" dirty="0"/>
              <a:t>x-lock</a:t>
            </a:r>
            <a:r>
              <a:rPr lang="zh-CN" altLang="en-US" sz="1600" dirty="0"/>
              <a:t>，故出现锁等待事件，当锁等待超时，则报告锁错误：</a:t>
            </a:r>
            <a:r>
              <a:rPr lang="en-US" altLang="zh-CN" sz="1600" dirty="0">
                <a:solidFill>
                  <a:srgbClr val="FF0000"/>
                </a:solidFill>
              </a:rPr>
              <a:t>Error -244</a:t>
            </a:r>
          </a:p>
        </p:txBody>
      </p:sp>
    </p:spTree>
    <p:extLst>
      <p:ext uri="{BB962C8B-B14F-4D97-AF65-F5344CB8AC3E}">
        <p14:creationId xmlns:p14="http://schemas.microsoft.com/office/powerpoint/2010/main" val="30513530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101827" name="Rectangle 3"/>
          <p:cNvSpPr>
            <a:spLocks noGrp="1" noChangeArrowheads="1"/>
          </p:cNvSpPr>
          <p:nvPr>
            <p:ph type="body" sz="quarter" idx="4294967295"/>
          </p:nvPr>
        </p:nvSpPr>
        <p:spPr>
          <a:xfrm>
            <a:off x="1473200" y="1247775"/>
            <a:ext cx="10718800" cy="4889500"/>
          </a:xfrm>
          <a:prstGeom prst="rect">
            <a:avLst/>
          </a:prstGeom>
        </p:spPr>
        <p:txBody>
          <a:bodyPr/>
          <a:lstStyle/>
          <a:p>
            <a:pPr>
              <a:lnSpc>
                <a:spcPct val="80000"/>
              </a:lnSpc>
            </a:pPr>
            <a:r>
              <a:rPr lang="zh-CN" altLang="en-US" dirty="0">
                <a:cs typeface="宋体" panose="02010600030101010101" pitchFamily="2" charset="-122"/>
              </a:rPr>
              <a:t>场景</a:t>
            </a:r>
            <a:r>
              <a:rPr lang="en-US" altLang="zh-CN" dirty="0">
                <a:cs typeface="宋体" panose="02010600030101010101" pitchFamily="2" charset="-122"/>
              </a:rPr>
              <a:t>3</a:t>
            </a:r>
            <a:r>
              <a:rPr lang="zh-CN" altLang="en-US" dirty="0">
                <a:cs typeface="宋体" panose="02010600030101010101" pitchFamily="2" charset="-122"/>
              </a:rPr>
              <a:t>：</a:t>
            </a:r>
            <a:r>
              <a:rPr lang="en-US" altLang="zh-CN" dirty="0">
                <a:cs typeface="宋体" panose="02010600030101010101" pitchFamily="2" charset="-122"/>
              </a:rPr>
              <a:t>repeatable read</a:t>
            </a:r>
            <a:endParaRPr lang="en-US" altLang="zh-CN" b="0" dirty="0">
              <a:cs typeface="宋体" panose="02010600030101010101" pitchFamily="2" charset="-122"/>
            </a:endParaRPr>
          </a:p>
        </p:txBody>
      </p:sp>
      <p:graphicFrame>
        <p:nvGraphicFramePr>
          <p:cNvPr id="1101929" name="Group 105"/>
          <p:cNvGraphicFramePr>
            <a:graphicFrameLocks noGrp="1"/>
          </p:cNvGraphicFramePr>
          <p:nvPr>
            <p:ph sz="quarter" idx="4294967295"/>
            <p:extLst>
              <p:ext uri="{D42A27DB-BD31-4B8C-83A1-F6EECF244321}">
                <p14:modId xmlns:p14="http://schemas.microsoft.com/office/powerpoint/2010/main" val="4030662313"/>
              </p:ext>
            </p:extLst>
          </p:nvPr>
        </p:nvGraphicFramePr>
        <p:xfrm>
          <a:off x="1718484" y="1837489"/>
          <a:ext cx="8640762" cy="3424245"/>
        </p:xfrm>
        <a:graphic>
          <a:graphicData uri="http://schemas.openxmlformats.org/drawingml/2006/table">
            <a:tbl>
              <a:tblPr/>
              <a:tblGrid>
                <a:gridCol w="3659187">
                  <a:extLst>
                    <a:ext uri="{9D8B030D-6E8A-4147-A177-3AD203B41FA5}">
                      <a16:colId xmlns:a16="http://schemas.microsoft.com/office/drawing/2014/main" xmlns="" val="20000"/>
                    </a:ext>
                  </a:extLst>
                </a:gridCol>
                <a:gridCol w="2646363">
                  <a:extLst>
                    <a:ext uri="{9D8B030D-6E8A-4147-A177-3AD203B41FA5}">
                      <a16:colId xmlns:a16="http://schemas.microsoft.com/office/drawing/2014/main" xmlns="" val="20001"/>
                    </a:ext>
                  </a:extLst>
                </a:gridCol>
                <a:gridCol w="2335212">
                  <a:extLst>
                    <a:ext uri="{9D8B030D-6E8A-4147-A177-3AD203B41FA5}">
                      <a16:colId xmlns:a16="http://schemas.microsoft.com/office/drawing/2014/main" xmlns="" val="20002"/>
                    </a:ext>
                  </a:extLst>
                </a:gridCol>
              </a:tblGrid>
              <a:tr h="26193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6828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repeatable read;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60338">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test_lock set c2='new‘ where c1=1;</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1313">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zh-CN" altLang="en-US"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667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Insert into test_lock values(3, 'new');</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667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 work; </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667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3 new</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6670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或者：</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Rollback;</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12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6" name="灯片编号占位符 5"/>
          <p:cNvSpPr>
            <a:spLocks noGrp="1"/>
          </p:cNvSpPr>
          <p:nvPr>
            <p:ph type="sldNum" sz="quarter" idx="4294967295"/>
          </p:nvPr>
        </p:nvSpPr>
        <p:spPr/>
        <p:txBody>
          <a:bodyPr/>
          <a:lstStyle/>
          <a:p>
            <a:pPr>
              <a:buClr>
                <a:srgbClr val="FD0000"/>
              </a:buClr>
              <a:defRPr/>
            </a:pPr>
            <a:endParaRPr lang="zh-CN" altLang="en-US" dirty="0"/>
          </a:p>
        </p:txBody>
      </p:sp>
      <p:sp>
        <p:nvSpPr>
          <p:cNvPr id="7" name="Text Box 196"/>
          <p:cNvSpPr txBox="1">
            <a:spLocks noChangeArrowheads="1"/>
          </p:cNvSpPr>
          <p:nvPr/>
        </p:nvSpPr>
        <p:spPr bwMode="black">
          <a:xfrm>
            <a:off x="1870853" y="5363346"/>
            <a:ext cx="8488393" cy="831639"/>
          </a:xfrm>
          <a:prstGeom prst="rect">
            <a:avLst/>
          </a:prstGeom>
          <a:solidFill>
            <a:schemeClr val="accent1">
              <a:lumMod val="20000"/>
              <a:lumOff val="80000"/>
            </a:schemeClr>
          </a:solidFill>
          <a:ln w="3175">
            <a:solidFill>
              <a:schemeClr val="accent1"/>
            </a:solidFill>
          </a:ln>
          <a:effectLst/>
        </p:spPr>
        <p:txBody>
          <a:bodyPr wrap="square" lIns="92075" tIns="46038" rIns="92075" bIns="46038">
            <a:spAutoFit/>
          </a:bodyPr>
          <a:lstStyle/>
          <a:p>
            <a:pPr>
              <a:lnSpc>
                <a:spcPct val="150000"/>
              </a:lnSpc>
            </a:pPr>
            <a:r>
              <a:rPr lang="zh-CN" altLang="en-US" sz="1600" dirty="0"/>
              <a:t>优点：能够解决脏读、幻影读和不可重复读的问题</a:t>
            </a:r>
            <a:endParaRPr lang="en-US" altLang="zh-CN" sz="1600" dirty="0"/>
          </a:p>
          <a:p>
            <a:pPr>
              <a:lnSpc>
                <a:spcPct val="150000"/>
              </a:lnSpc>
            </a:pPr>
            <a:r>
              <a:rPr lang="zh-CN" altLang="en-US" sz="1600" dirty="0"/>
              <a:t>缺点：只能串行执行，并发性低，需要对读取的记录加</a:t>
            </a:r>
            <a:r>
              <a:rPr lang="en-US" altLang="zh-CN" sz="1600" dirty="0"/>
              <a:t>s-lock</a:t>
            </a:r>
            <a:r>
              <a:rPr lang="zh-CN" altLang="en-US" sz="1600" dirty="0"/>
              <a:t>，容易引起锁相关的问题</a:t>
            </a:r>
          </a:p>
        </p:txBody>
      </p:sp>
    </p:spTree>
    <p:extLst>
      <p:ext uri="{BB962C8B-B14F-4D97-AF65-F5344CB8AC3E}">
        <p14:creationId xmlns:p14="http://schemas.microsoft.com/office/powerpoint/2010/main" val="341346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098755" name="Rectangle 3"/>
          <p:cNvSpPr>
            <a:spLocks noGrp="1" noChangeArrowheads="1"/>
          </p:cNvSpPr>
          <p:nvPr>
            <p:ph type="body" sz="quarter" idx="4294967295"/>
          </p:nvPr>
        </p:nvSpPr>
        <p:spPr>
          <a:xfrm>
            <a:off x="1473200" y="1247775"/>
            <a:ext cx="10718800" cy="4889500"/>
          </a:xfrm>
          <a:prstGeom prst="rect">
            <a:avLst/>
          </a:prstGeom>
        </p:spPr>
        <p:txBody>
          <a:bodyPr>
            <a:noAutofit/>
          </a:bodyPr>
          <a:lstStyle/>
          <a:p>
            <a:r>
              <a:rPr lang="zh-CN" altLang="en-US" dirty="0">
                <a:cs typeface="宋体" panose="02010600030101010101" pitchFamily="2" charset="-122"/>
              </a:rPr>
              <a:t>场景</a:t>
            </a:r>
            <a:r>
              <a:rPr lang="en-US" altLang="zh-CN" dirty="0">
                <a:cs typeface="宋体" panose="02010600030101010101" pitchFamily="2" charset="-122"/>
              </a:rPr>
              <a:t>4</a:t>
            </a:r>
            <a:r>
              <a:rPr lang="zh-CN" altLang="en-US" dirty="0">
                <a:cs typeface="宋体" panose="02010600030101010101" pitchFamily="2" charset="-122"/>
              </a:rPr>
              <a:t>：</a:t>
            </a:r>
            <a:r>
              <a:rPr lang="en-US" altLang="zh-CN" dirty="0">
                <a:cs typeface="宋体" panose="02010600030101010101" pitchFamily="2" charset="-122"/>
              </a:rPr>
              <a:t>last committed</a:t>
            </a:r>
            <a:endParaRPr lang="zh-CN" altLang="en-US" dirty="0">
              <a:cs typeface="宋体" panose="02010600030101010101" pitchFamily="2" charset="-122"/>
            </a:endParaRPr>
          </a:p>
          <a:p>
            <a:pPr lvl="1"/>
            <a:r>
              <a:rPr lang="zh-CN" altLang="en-US" b="0" dirty="0">
                <a:cs typeface="宋体" panose="02010600030101010101" pitchFamily="2" charset="-122"/>
              </a:rPr>
              <a:t>适用于行级锁情况： </a:t>
            </a:r>
            <a:r>
              <a:rPr lang="en-US" altLang="zh-CN" b="0" dirty="0">
                <a:cs typeface="宋体" panose="02010600030101010101" pitchFamily="2" charset="-122"/>
              </a:rPr>
              <a:t>Alter table </a:t>
            </a:r>
            <a:r>
              <a:rPr lang="en-US" altLang="zh-CN" b="0" dirty="0" err="1">
                <a:cs typeface="宋体" panose="02010600030101010101" pitchFamily="2" charset="-122"/>
              </a:rPr>
              <a:t>test_lock</a:t>
            </a:r>
            <a:r>
              <a:rPr lang="en-US" altLang="zh-CN" b="0" dirty="0">
                <a:cs typeface="宋体" panose="02010600030101010101" pitchFamily="2" charset="-122"/>
              </a:rPr>
              <a:t> lock mode(row);</a:t>
            </a:r>
          </a:p>
          <a:p>
            <a:pPr marL="0" indent="0">
              <a:buNone/>
            </a:pPr>
            <a:r>
              <a:rPr lang="zh-CN" altLang="en-US" sz="1800" dirty="0">
                <a:cs typeface="宋体" panose="02010600030101010101" pitchFamily="2" charset="-122"/>
              </a:rPr>
              <a:t>提示：可以通过设置</a:t>
            </a:r>
            <a:r>
              <a:rPr lang="en-US" altLang="zh-CN" sz="1800" dirty="0">
                <a:cs typeface="宋体" panose="02010600030101010101" pitchFamily="2" charset="-122"/>
              </a:rPr>
              <a:t>USELASTCOMMITTED</a:t>
            </a:r>
            <a:r>
              <a:rPr lang="zh-CN" altLang="en-US" sz="1800" dirty="0">
                <a:cs typeface="宋体" panose="02010600030101010101" pitchFamily="2" charset="-122"/>
              </a:rPr>
              <a:t>控制其他隔离级别自动使用</a:t>
            </a:r>
            <a:r>
              <a:rPr lang="en-US" altLang="zh-CN" sz="1800" dirty="0">
                <a:cs typeface="宋体" panose="02010600030101010101" pitchFamily="2" charset="-122"/>
              </a:rPr>
              <a:t>last committed</a:t>
            </a:r>
            <a:r>
              <a:rPr lang="zh-CN" altLang="en-US" sz="1800" dirty="0">
                <a:cs typeface="宋体" panose="02010600030101010101" pitchFamily="2" charset="-122"/>
              </a:rPr>
              <a:t>级别</a:t>
            </a:r>
          </a:p>
        </p:txBody>
      </p:sp>
      <p:graphicFrame>
        <p:nvGraphicFramePr>
          <p:cNvPr id="1098852" name="Group 100"/>
          <p:cNvGraphicFramePr>
            <a:graphicFrameLocks noGrp="1"/>
          </p:cNvGraphicFramePr>
          <p:nvPr>
            <p:ph sz="quarter" idx="4294967295"/>
            <p:extLst>
              <p:ext uri="{D42A27DB-BD31-4B8C-83A1-F6EECF244321}">
                <p14:modId xmlns:p14="http://schemas.microsoft.com/office/powerpoint/2010/main" val="1348514442"/>
              </p:ext>
            </p:extLst>
          </p:nvPr>
        </p:nvGraphicFramePr>
        <p:xfrm>
          <a:off x="2021306" y="2535739"/>
          <a:ext cx="8590782" cy="3924918"/>
        </p:xfrm>
        <a:graphic>
          <a:graphicData uri="http://schemas.openxmlformats.org/drawingml/2006/table">
            <a:tbl>
              <a:tblPr/>
              <a:tblGrid>
                <a:gridCol w="3222708">
                  <a:extLst>
                    <a:ext uri="{9D8B030D-6E8A-4147-A177-3AD203B41FA5}">
                      <a16:colId xmlns:a16="http://schemas.microsoft.com/office/drawing/2014/main" xmlns="" val="20000"/>
                    </a:ext>
                  </a:extLst>
                </a:gridCol>
                <a:gridCol w="3578199">
                  <a:extLst>
                    <a:ext uri="{9D8B030D-6E8A-4147-A177-3AD203B41FA5}">
                      <a16:colId xmlns:a16="http://schemas.microsoft.com/office/drawing/2014/main" xmlns="" val="20001"/>
                    </a:ext>
                  </a:extLst>
                </a:gridCol>
                <a:gridCol w="1789875">
                  <a:extLst>
                    <a:ext uri="{9D8B030D-6E8A-4147-A177-3AD203B41FA5}">
                      <a16:colId xmlns:a16="http://schemas.microsoft.com/office/drawing/2014/main" xmlns="" val="20002"/>
                    </a:ext>
                  </a:extLst>
                </a:gridCol>
              </a:tblGrid>
              <a:tr h="297738">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1</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Session 2 output</a:t>
                      </a: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6789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--With committed read default</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Begin work;</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isolation committed read last committed;</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Set lock mode to wait 5;</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7822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test_lock where c1&gt;=3;</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437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Update test_lock set c2='new' where c1=1;</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7822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c1&gt;=3;</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437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Insert into test_lock values(3, 'new');</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7822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c1&gt;=3;</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437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Rollback; </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78220">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c1&gt;=3;</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abc</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abc</a:t>
                      </a: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43706">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Commit work;</a:t>
                      </a: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526524">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txBody>
                  <a:tcPr marL="81610" marR="81610" marT="40806" marB="4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Select * from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test_lock</a:t>
                      </a: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 where c1&gt;=3;</a:t>
                      </a:r>
                    </a:p>
                  </a:txBody>
                  <a:tcPr marL="81610" marR="81610" marT="40806" marB="4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6F183"/>
                    </a:solidFill>
                  </a:tcPr>
                </a:tc>
                <a:tc>
                  <a:txBody>
                    <a:bodyPr/>
                    <a:lstStyle/>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1 new</a:t>
                      </a: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2 </a:t>
                      </a:r>
                      <a:r>
                        <a:rPr kumimoji="0" lang="en-US" altLang="zh-CN" sz="1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abc</a:t>
                      </a:r>
                      <a:endPar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381000" marR="0" lvl="0" indent="-381000" algn="l" defTabSz="914400" rtl="0" eaLnBrk="0" fontAlgn="base" latinLnBrk="0" hangingPunct="0">
                        <a:lnSpc>
                          <a:spcPct val="100000"/>
                        </a:lnSpc>
                        <a:spcBef>
                          <a:spcPct val="0"/>
                        </a:spcBef>
                        <a:spcAft>
                          <a:spcPct val="0"/>
                        </a:spcAft>
                        <a:buClr>
                          <a:schemeClr val="accent2"/>
                        </a:buClr>
                        <a:buSzTx/>
                        <a:buFont typeface="Wingdings" panose="05000000000000000000" charset="0"/>
                        <a:buNone/>
                      </a:pPr>
                      <a:r>
                        <a:rPr kumimoji="0" lang="en-US" altLang="zh-CN" sz="1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rPr>
                        <a:t>3 new</a:t>
                      </a:r>
                    </a:p>
                  </a:txBody>
                  <a:tcPr marL="81610" marR="81610" marT="40806" marB="4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
        <p:nvSpPr>
          <p:cNvPr id="5" name="灯片编号占位符 4"/>
          <p:cNvSpPr>
            <a:spLocks noGrp="1"/>
          </p:cNvSpPr>
          <p:nvPr>
            <p:ph type="sldNum" sz="quarter" idx="4294967295"/>
          </p:nvPr>
        </p:nvSpPr>
        <p:spPr/>
        <p:txBody>
          <a:bodyPr/>
          <a:lstStyle/>
          <a:p>
            <a:pPr>
              <a:buClr>
                <a:srgbClr val="FD0000"/>
              </a:buClr>
              <a:defRPr/>
            </a:pPr>
            <a:fld id="{F573F9B9-ACF9-4EF4-B2EB-E3BC326B9101}" type="slidenum">
              <a:rPr lang="zh-CN" altLang="en-US" smtClean="0"/>
              <a:t>52</a:t>
            </a:fld>
            <a:endParaRPr lang="zh-CN" altLang="en-US"/>
          </a:p>
        </p:txBody>
      </p:sp>
    </p:spTree>
    <p:extLst>
      <p:ext uri="{BB962C8B-B14F-4D97-AF65-F5344CB8AC3E}">
        <p14:creationId xmlns:p14="http://schemas.microsoft.com/office/powerpoint/2010/main" val="1432460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Rectangle 2"/>
          <p:cNvSpPr>
            <a:spLocks noGrp="1" noChangeArrowheads="1"/>
          </p:cNvSpPr>
          <p:nvPr>
            <p:ph type="title"/>
          </p:nvPr>
        </p:nvSpPr>
        <p:spPr/>
        <p:txBody>
          <a:bodyPr/>
          <a:lstStyle/>
          <a:p>
            <a:r>
              <a:rPr lang="zh-CN" altLang="en-US" dirty="0">
                <a:cs typeface="宋体" panose="02010600030101010101" pitchFamily="2" charset="-122"/>
              </a:rPr>
              <a:t>隔离级别、并发控制及锁的示例演示</a:t>
            </a:r>
          </a:p>
        </p:txBody>
      </p:sp>
      <p:sp>
        <p:nvSpPr>
          <p:cNvPr id="1115139" name="Rectangle 3"/>
          <p:cNvSpPr>
            <a:spLocks noGrp="1" noChangeArrowheads="1"/>
          </p:cNvSpPr>
          <p:nvPr>
            <p:ph type="body" sz="quarter" idx="10"/>
          </p:nvPr>
        </p:nvSpPr>
        <p:spPr/>
        <p:txBody>
          <a:bodyPr/>
          <a:lstStyle/>
          <a:p>
            <a:pPr>
              <a:lnSpc>
                <a:spcPct val="150000"/>
              </a:lnSpc>
            </a:pPr>
            <a:r>
              <a:rPr lang="zh-CN" altLang="en-US" dirty="0">
                <a:cs typeface="宋体" panose="02010600030101010101" pitchFamily="2" charset="-122"/>
              </a:rPr>
              <a:t>场景</a:t>
            </a:r>
            <a:r>
              <a:rPr lang="en-US" altLang="zh-CN" dirty="0">
                <a:cs typeface="宋体" panose="02010600030101010101" pitchFamily="2" charset="-122"/>
              </a:rPr>
              <a:t>4</a:t>
            </a:r>
            <a:r>
              <a:rPr lang="zh-CN" altLang="en-US" dirty="0">
                <a:cs typeface="宋体" panose="02010600030101010101" pitchFamily="2" charset="-122"/>
              </a:rPr>
              <a:t>：</a:t>
            </a:r>
            <a:r>
              <a:rPr lang="en-US" altLang="zh-CN" dirty="0">
                <a:cs typeface="宋体" panose="02010600030101010101" pitchFamily="2" charset="-122"/>
              </a:rPr>
              <a:t>last committed</a:t>
            </a:r>
          </a:p>
          <a:p>
            <a:pPr>
              <a:lnSpc>
                <a:spcPct val="150000"/>
              </a:lnSpc>
            </a:pPr>
            <a:r>
              <a:rPr lang="en-US" altLang="zh-CN" dirty="0">
                <a:cs typeface="宋体" panose="02010600030101010101" pitchFamily="2" charset="-122"/>
              </a:rPr>
              <a:t>Last committed</a:t>
            </a:r>
            <a:r>
              <a:rPr lang="zh-CN" altLang="en-US" dirty="0">
                <a:cs typeface="宋体" panose="02010600030101010101" pitchFamily="2" charset="-122"/>
              </a:rPr>
              <a:t>介于</a:t>
            </a:r>
            <a:r>
              <a:rPr lang="en-US" altLang="zh-CN" dirty="0">
                <a:cs typeface="宋体" panose="02010600030101010101" pitchFamily="2" charset="-122"/>
              </a:rPr>
              <a:t>dirty read </a:t>
            </a:r>
            <a:r>
              <a:rPr lang="zh-CN" altLang="en-US" dirty="0">
                <a:cs typeface="宋体" panose="02010600030101010101" pitchFamily="2" charset="-122"/>
              </a:rPr>
              <a:t>和</a:t>
            </a:r>
            <a:r>
              <a:rPr lang="en-US" altLang="zh-CN" dirty="0">
                <a:cs typeface="宋体" panose="02010600030101010101" pitchFamily="2" charset="-122"/>
              </a:rPr>
              <a:t>committed read</a:t>
            </a:r>
            <a:r>
              <a:rPr lang="zh-CN" altLang="en-US" dirty="0">
                <a:cs typeface="宋体" panose="02010600030101010101" pitchFamily="2" charset="-122"/>
              </a:rPr>
              <a:t>隔离级别之间的一种隔离级别</a:t>
            </a: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优点：能解决脏读问题，并发性高；不需要锁资源，能避免</a:t>
            </a:r>
            <a:r>
              <a:rPr lang="en-US" altLang="zh-CN" dirty="0">
                <a:cs typeface="宋体" panose="02010600030101010101" pitchFamily="2" charset="-122"/>
              </a:rPr>
              <a:t>committed read</a:t>
            </a:r>
            <a:r>
              <a:rPr lang="zh-CN" altLang="en-US" dirty="0">
                <a:cs typeface="宋体" panose="02010600030101010101" pitchFamily="2" charset="-122"/>
              </a:rPr>
              <a:t>带来的锁问题，</a:t>
            </a:r>
          </a:p>
          <a:p>
            <a:pPr>
              <a:lnSpc>
                <a:spcPct val="150000"/>
              </a:lnSpc>
            </a:pPr>
            <a:r>
              <a:rPr lang="zh-CN" altLang="en-US" dirty="0">
                <a:cs typeface="宋体" panose="02010600030101010101" pitchFamily="2" charset="-122"/>
              </a:rPr>
              <a:t>缺点：幻影读、不可重复读</a:t>
            </a: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53</a:t>
            </a:fld>
            <a:endParaRPr lang="zh-CN" altLang="en-US"/>
          </a:p>
        </p:txBody>
      </p:sp>
    </p:spTree>
    <p:extLst>
      <p:ext uri="{BB962C8B-B14F-4D97-AF65-F5344CB8AC3E}">
        <p14:creationId xmlns:p14="http://schemas.microsoft.com/office/powerpoint/2010/main" val="1153558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6" name="Rectangle 2"/>
          <p:cNvSpPr>
            <a:spLocks noGrp="1" noChangeArrowheads="1"/>
          </p:cNvSpPr>
          <p:nvPr>
            <p:ph type="title"/>
          </p:nvPr>
        </p:nvSpPr>
        <p:spPr/>
        <p:txBody>
          <a:bodyPr/>
          <a:lstStyle/>
          <a:p>
            <a:r>
              <a:rPr lang="en-US" altLang="zh-CN" dirty="0">
                <a:cs typeface="宋体" panose="02010600030101010101" pitchFamily="2" charset="-122"/>
              </a:rPr>
              <a:t>GBase 8s –</a:t>
            </a:r>
            <a:r>
              <a:rPr lang="zh-CN" altLang="en-US" dirty="0">
                <a:cs typeface="宋体" panose="02010600030101010101" pitchFamily="2" charset="-122"/>
              </a:rPr>
              <a:t>锁的监控</a:t>
            </a:r>
          </a:p>
        </p:txBody>
      </p:sp>
      <p:sp>
        <p:nvSpPr>
          <p:cNvPr id="1081347" name="Rectangle 3"/>
          <p:cNvSpPr>
            <a:spLocks noGrp="1" noChangeArrowheads="1"/>
          </p:cNvSpPr>
          <p:nvPr>
            <p:ph type="body" sz="quarter" idx="10"/>
          </p:nvPr>
        </p:nvSpPr>
        <p:spPr/>
        <p:txBody>
          <a:bodyPr>
            <a:normAutofit fontScale="70000" lnSpcReduction="20000"/>
          </a:bodyPr>
          <a:lstStyle/>
          <a:p>
            <a:pPr>
              <a:lnSpc>
                <a:spcPct val="200000"/>
              </a:lnSpc>
            </a:pPr>
            <a:r>
              <a:rPr lang="zh-CN" altLang="en-US" sz="3100" dirty="0"/>
              <a:t>监控</a:t>
            </a:r>
            <a:r>
              <a:rPr lang="en-US" altLang="zh-CN" sz="3100" dirty="0"/>
              <a:t>session</a:t>
            </a:r>
            <a:r>
              <a:rPr lang="zh-CN" altLang="en-US" sz="3100" dirty="0"/>
              <a:t>的隔离级别</a:t>
            </a:r>
            <a:r>
              <a:rPr lang="en-US" altLang="zh-CN" sz="3100" dirty="0"/>
              <a:t>:</a:t>
            </a:r>
          </a:p>
          <a:p>
            <a:pPr lvl="1">
              <a:lnSpc>
                <a:spcPct val="120000"/>
              </a:lnSpc>
            </a:pPr>
            <a:r>
              <a:rPr lang="zh-CN" altLang="en-US" sz="2900" dirty="0">
                <a:ea typeface="宋体" panose="02010600030101010101" pitchFamily="2" charset="-122"/>
                <a:cs typeface="宋体" panose="02010600030101010101" pitchFamily="2" charset="-122"/>
              </a:rPr>
              <a:t>使用</a:t>
            </a:r>
            <a:r>
              <a:rPr lang="en-US" altLang="zh-CN" sz="2900" dirty="0">
                <a:ea typeface="宋体" panose="02010600030101010101" pitchFamily="2" charset="-122"/>
                <a:cs typeface="宋体" panose="02010600030101010101" pitchFamily="2" charset="-122"/>
              </a:rPr>
              <a:t>: </a:t>
            </a:r>
            <a:r>
              <a:rPr lang="en-US" altLang="zh-CN" sz="2900" dirty="0" err="1">
                <a:latin typeface="Courier New" panose="02070309020205020404" charset="0"/>
                <a:ea typeface="宋体" panose="02010600030101010101" pitchFamily="2" charset="-122"/>
                <a:cs typeface="宋体" panose="02010600030101010101" pitchFamily="2" charset="-122"/>
              </a:rPr>
              <a:t>onstat</a:t>
            </a:r>
            <a:r>
              <a:rPr lang="en-US" altLang="zh-CN" sz="2900" dirty="0">
                <a:latin typeface="Courier New" panose="02070309020205020404" charset="0"/>
                <a:ea typeface="宋体" panose="02010600030101010101" pitchFamily="2" charset="-122"/>
                <a:cs typeface="宋体" panose="02010600030101010101" pitchFamily="2" charset="-122"/>
              </a:rPr>
              <a:t> –g </a:t>
            </a:r>
            <a:r>
              <a:rPr lang="en-US" altLang="zh-CN" sz="2900" dirty="0" err="1">
                <a:latin typeface="Courier New" panose="02070309020205020404" charset="0"/>
                <a:ea typeface="宋体" panose="02010600030101010101" pitchFamily="2" charset="-122"/>
                <a:cs typeface="宋体" panose="02010600030101010101" pitchFamily="2" charset="-122"/>
              </a:rPr>
              <a:t>sql</a:t>
            </a:r>
            <a:r>
              <a:rPr lang="en-US" altLang="zh-CN" sz="2900" dirty="0">
                <a:latin typeface="Courier New" panose="02070309020205020404" charset="0"/>
                <a:ea typeface="宋体" panose="02010600030101010101" pitchFamily="2" charset="-122"/>
                <a:cs typeface="宋体" panose="02010600030101010101" pitchFamily="2" charset="-122"/>
              </a:rPr>
              <a:t>  </a:t>
            </a:r>
            <a:r>
              <a:rPr lang="zh-CN" altLang="en-US" sz="2900" dirty="0">
                <a:ea typeface="宋体" panose="02010600030101010101" pitchFamily="2" charset="-122"/>
                <a:cs typeface="宋体" panose="02010600030101010101" pitchFamily="2" charset="-122"/>
              </a:rPr>
              <a:t>或者</a:t>
            </a:r>
            <a:r>
              <a:rPr lang="zh-CN" altLang="en-US" sz="2900" dirty="0">
                <a:latin typeface="Courier New" panose="02070309020205020404" charset="0"/>
                <a:ea typeface="宋体" panose="02010600030101010101" pitchFamily="2" charset="-122"/>
                <a:cs typeface="宋体" panose="02010600030101010101" pitchFamily="2" charset="-122"/>
              </a:rPr>
              <a:t>  </a:t>
            </a:r>
            <a:r>
              <a:rPr lang="en-US" altLang="zh-CN" sz="2900" dirty="0" err="1">
                <a:latin typeface="Courier New" panose="02070309020205020404" charset="0"/>
                <a:ea typeface="宋体" panose="02010600030101010101" pitchFamily="2" charset="-122"/>
                <a:cs typeface="宋体" panose="02010600030101010101" pitchFamily="2" charset="-122"/>
              </a:rPr>
              <a:t>onstat</a:t>
            </a:r>
            <a:r>
              <a:rPr lang="en-US" altLang="zh-CN" sz="2900" dirty="0">
                <a:latin typeface="Courier New" panose="02070309020205020404" charset="0"/>
                <a:ea typeface="宋体" panose="02010600030101010101" pitchFamily="2" charset="-122"/>
                <a:cs typeface="宋体" panose="02010600030101010101" pitchFamily="2" charset="-122"/>
              </a:rPr>
              <a:t> –g </a:t>
            </a:r>
            <a:r>
              <a:rPr lang="en-US" altLang="zh-CN" sz="2900" dirty="0" err="1">
                <a:latin typeface="Courier New" panose="02070309020205020404" charset="0"/>
                <a:ea typeface="宋体" panose="02010600030101010101" pitchFamily="2" charset="-122"/>
                <a:cs typeface="宋体" panose="02010600030101010101" pitchFamily="2" charset="-122"/>
              </a:rPr>
              <a:t>ses</a:t>
            </a:r>
            <a:endParaRPr lang="en-US" altLang="zh-CN" sz="2900" dirty="0">
              <a:latin typeface="Courier New" panose="02070309020205020404" charset="0"/>
              <a:ea typeface="宋体" panose="02010600030101010101" pitchFamily="2" charset="-122"/>
              <a:cs typeface="宋体" panose="02010600030101010101" pitchFamily="2" charset="-122"/>
            </a:endParaRPr>
          </a:p>
          <a:p>
            <a:pPr lvl="1">
              <a:lnSpc>
                <a:spcPct val="120000"/>
              </a:lnSpc>
            </a:pPr>
            <a:r>
              <a:rPr lang="zh-CN" altLang="en-US" sz="2900" dirty="0">
                <a:ea typeface="宋体" panose="02010600030101010101" pitchFamily="2" charset="-122"/>
                <a:cs typeface="宋体" panose="02010600030101010101" pitchFamily="2" charset="-122"/>
              </a:rPr>
              <a:t>查看</a:t>
            </a:r>
            <a:r>
              <a:rPr lang="en-US" altLang="zh-CN" sz="2900" dirty="0" err="1">
                <a:ea typeface="宋体" panose="02010600030101010101" pitchFamily="2" charset="-122"/>
                <a:cs typeface="宋体" panose="02010600030101010101" pitchFamily="2" charset="-122"/>
              </a:rPr>
              <a:t>sid</a:t>
            </a:r>
            <a:r>
              <a:rPr lang="zh-CN" altLang="en-US" sz="2900" dirty="0">
                <a:ea typeface="宋体" panose="02010600030101010101" pitchFamily="2" charset="-122"/>
                <a:cs typeface="宋体" panose="02010600030101010101" pitchFamily="2" charset="-122"/>
              </a:rPr>
              <a:t>的详细信息</a:t>
            </a:r>
            <a:r>
              <a:rPr lang="en-US" altLang="zh-CN" sz="2900" dirty="0">
                <a:ea typeface="宋体" panose="02010600030101010101" pitchFamily="2" charset="-122"/>
                <a:cs typeface="宋体" panose="02010600030101010101" pitchFamily="2" charset="-122"/>
              </a:rPr>
              <a:t>: </a:t>
            </a:r>
            <a:r>
              <a:rPr lang="en-US" altLang="zh-CN" sz="2900" dirty="0" err="1">
                <a:latin typeface="Courier New" panose="02070309020205020404" charset="0"/>
                <a:ea typeface="宋体" panose="02010600030101010101" pitchFamily="2" charset="-122"/>
                <a:cs typeface="宋体" panose="02010600030101010101" pitchFamily="2" charset="-122"/>
              </a:rPr>
              <a:t>onstat</a:t>
            </a:r>
            <a:r>
              <a:rPr lang="en-US" altLang="zh-CN" sz="2900" dirty="0">
                <a:latin typeface="Courier New" panose="02070309020205020404" charset="0"/>
                <a:ea typeface="宋体" panose="02010600030101010101" pitchFamily="2" charset="-122"/>
                <a:cs typeface="宋体" panose="02010600030101010101" pitchFamily="2" charset="-122"/>
              </a:rPr>
              <a:t> –g </a:t>
            </a:r>
            <a:r>
              <a:rPr lang="en-US" altLang="zh-CN" sz="2900" dirty="0" err="1">
                <a:latin typeface="Courier New" panose="02070309020205020404" charset="0"/>
                <a:ea typeface="宋体" panose="02010600030101010101" pitchFamily="2" charset="-122"/>
                <a:cs typeface="宋体" panose="02010600030101010101" pitchFamily="2" charset="-122"/>
              </a:rPr>
              <a:t>sql</a:t>
            </a:r>
            <a:r>
              <a:rPr lang="en-US" altLang="zh-CN" sz="2900" dirty="0">
                <a:latin typeface="Courier New" panose="02070309020205020404" charset="0"/>
                <a:ea typeface="宋体" panose="02010600030101010101" pitchFamily="2" charset="-122"/>
                <a:cs typeface="宋体" panose="02010600030101010101" pitchFamily="2" charset="-122"/>
              </a:rPr>
              <a:t> </a:t>
            </a:r>
            <a:r>
              <a:rPr lang="en-US" altLang="zh-CN" sz="2900" i="1" dirty="0" err="1">
                <a:latin typeface="Courier New" panose="02070309020205020404" charset="0"/>
                <a:ea typeface="宋体" panose="02010600030101010101" pitchFamily="2" charset="-122"/>
                <a:cs typeface="宋体" panose="02010600030101010101" pitchFamily="2" charset="-122"/>
              </a:rPr>
              <a:t>sid</a:t>
            </a:r>
            <a:endParaRPr lang="en-US" altLang="zh-CN" sz="2900" dirty="0">
              <a:cs typeface="宋体" panose="02010600030101010101" pitchFamily="2" charset="-122"/>
            </a:endParaRPr>
          </a:p>
          <a:p>
            <a:pPr>
              <a:lnSpc>
                <a:spcPct val="200000"/>
              </a:lnSpc>
            </a:pPr>
            <a:r>
              <a:rPr lang="zh-CN" altLang="en-US" sz="3100" dirty="0"/>
              <a:t>查看用户进程锁等待情况</a:t>
            </a:r>
            <a:endParaRPr lang="en-US" altLang="zh-CN" sz="3100" dirty="0"/>
          </a:p>
          <a:p>
            <a:pPr lvl="1">
              <a:lnSpc>
                <a:spcPct val="120000"/>
              </a:lnSpc>
            </a:pPr>
            <a:r>
              <a:rPr lang="zh-CN" altLang="en-US" sz="2600" dirty="0">
                <a:ea typeface="宋体" panose="02010600030101010101" pitchFamily="2" charset="-122"/>
                <a:cs typeface="宋体" panose="02010600030101010101" pitchFamily="2" charset="-122"/>
              </a:rPr>
              <a:t>使用</a:t>
            </a:r>
            <a:r>
              <a:rPr lang="en-US" altLang="zh-CN" sz="2600" dirty="0">
                <a:ea typeface="宋体" panose="02010600030101010101" pitchFamily="2" charset="-122"/>
                <a:cs typeface="宋体" panose="02010600030101010101" pitchFamily="2" charset="-122"/>
              </a:rPr>
              <a:t>: </a:t>
            </a:r>
            <a:r>
              <a:rPr lang="en-US" altLang="zh-CN" sz="2600" dirty="0" err="1">
                <a:latin typeface="Courier New" panose="02070309020205020404" charset="0"/>
                <a:ea typeface="宋体" panose="02010600030101010101" pitchFamily="2" charset="-122"/>
                <a:cs typeface="宋体" panose="02010600030101010101" pitchFamily="2" charset="-122"/>
              </a:rPr>
              <a:t>onstat</a:t>
            </a:r>
            <a:r>
              <a:rPr lang="en-US" altLang="zh-CN" sz="2600" dirty="0">
                <a:latin typeface="Courier New" panose="02070309020205020404" charset="0"/>
                <a:ea typeface="宋体" panose="02010600030101010101" pitchFamily="2" charset="-122"/>
                <a:cs typeface="宋体" panose="02010600030101010101" pitchFamily="2" charset="-122"/>
              </a:rPr>
              <a:t> –u</a:t>
            </a:r>
          </a:p>
          <a:p>
            <a:pPr>
              <a:lnSpc>
                <a:spcPct val="200000"/>
              </a:lnSpc>
            </a:pPr>
            <a:r>
              <a:rPr lang="zh-CN" altLang="en-US" sz="3100" dirty="0"/>
              <a:t>查看锁使用和等待情况</a:t>
            </a:r>
            <a:r>
              <a:rPr lang="en-US" altLang="zh-CN" sz="3100" dirty="0"/>
              <a:t>:</a:t>
            </a:r>
          </a:p>
          <a:p>
            <a:pPr lvl="1">
              <a:lnSpc>
                <a:spcPct val="120000"/>
              </a:lnSpc>
            </a:pPr>
            <a:r>
              <a:rPr lang="zh-CN" altLang="en-US" sz="2600" dirty="0">
                <a:ea typeface="宋体" panose="02010600030101010101" pitchFamily="2" charset="-122"/>
                <a:cs typeface="宋体" panose="02010600030101010101" pitchFamily="2" charset="-122"/>
              </a:rPr>
              <a:t>使用</a:t>
            </a:r>
            <a:r>
              <a:rPr lang="en-US" altLang="zh-CN" sz="2600" dirty="0">
                <a:ea typeface="宋体" panose="02010600030101010101" pitchFamily="2" charset="-122"/>
                <a:cs typeface="宋体" panose="02010600030101010101" pitchFamily="2" charset="-122"/>
              </a:rPr>
              <a:t>: </a:t>
            </a:r>
            <a:r>
              <a:rPr lang="en-US" altLang="zh-CN" sz="2600" dirty="0" err="1">
                <a:latin typeface="Courier New" panose="02070309020205020404" charset="0"/>
                <a:ea typeface="宋体" panose="02010600030101010101" pitchFamily="2" charset="-122"/>
                <a:cs typeface="宋体" panose="02010600030101010101" pitchFamily="2" charset="-122"/>
              </a:rPr>
              <a:t>onstat</a:t>
            </a:r>
            <a:r>
              <a:rPr lang="en-US" altLang="zh-CN" sz="2600" dirty="0">
                <a:latin typeface="Courier New" panose="02070309020205020404" charset="0"/>
                <a:ea typeface="宋体" panose="02010600030101010101" pitchFamily="2" charset="-122"/>
                <a:cs typeface="宋体" panose="02010600030101010101" pitchFamily="2" charset="-122"/>
              </a:rPr>
              <a:t> -k</a:t>
            </a:r>
          </a:p>
          <a:p>
            <a:pPr>
              <a:lnSpc>
                <a:spcPct val="200000"/>
              </a:lnSpc>
            </a:pPr>
            <a:r>
              <a:rPr lang="zh-CN" altLang="en-US" sz="3100" dirty="0">
                <a:cs typeface="宋体" panose="02010600030101010101" pitchFamily="2" charset="-122"/>
              </a:rPr>
              <a:t>监控数据库事务及其状态</a:t>
            </a:r>
            <a:r>
              <a:rPr lang="en-US" altLang="zh-CN" sz="3100" dirty="0">
                <a:cs typeface="宋体" panose="02010600030101010101" pitchFamily="2" charset="-122"/>
              </a:rPr>
              <a:t>:</a:t>
            </a:r>
          </a:p>
          <a:p>
            <a:pPr lvl="1">
              <a:lnSpc>
                <a:spcPct val="120000"/>
              </a:lnSpc>
            </a:pPr>
            <a:r>
              <a:rPr lang="zh-CN" altLang="en-US" sz="2600" dirty="0">
                <a:ea typeface="宋体" panose="02010600030101010101" pitchFamily="2" charset="-122"/>
              </a:rPr>
              <a:t>使用</a:t>
            </a:r>
            <a:r>
              <a:rPr lang="en-US" altLang="zh-CN" sz="2600" dirty="0">
                <a:ea typeface="宋体" panose="02010600030101010101" pitchFamily="2" charset="-122"/>
              </a:rPr>
              <a:t>: </a:t>
            </a:r>
            <a:r>
              <a:rPr lang="en-US" altLang="zh-CN" sz="2600" dirty="0" err="1">
                <a:ea typeface="宋体" panose="02010600030101010101" pitchFamily="2" charset="-122"/>
              </a:rPr>
              <a:t>onstat</a:t>
            </a:r>
            <a:r>
              <a:rPr lang="en-US" altLang="zh-CN" sz="2600" dirty="0">
                <a:ea typeface="宋体" panose="02010600030101010101" pitchFamily="2" charset="-122"/>
              </a:rPr>
              <a:t> -x</a:t>
            </a:r>
          </a:p>
          <a:p>
            <a:pPr lvl="1">
              <a:buFont typeface="Arial" panose="020B0604020202020204" pitchFamily="34" charset="0"/>
              <a:buNone/>
            </a:pPr>
            <a:endParaRPr lang="zh-CN" altLang="en-US" dirty="0">
              <a:latin typeface="Courier New" panose="02070309020205020404" charset="0"/>
              <a:ea typeface="宋体" panose="02010600030101010101" pitchFamily="2" charset="-122"/>
              <a:cs typeface="宋体" panose="02010600030101010101" pitchFamily="2" charset="-122"/>
            </a:endParaRPr>
          </a:p>
        </p:txBody>
      </p:sp>
      <p:sp>
        <p:nvSpPr>
          <p:cNvPr id="4" name="灯片编号占位符 3"/>
          <p:cNvSpPr>
            <a:spLocks noGrp="1"/>
          </p:cNvSpPr>
          <p:nvPr>
            <p:ph type="sldNum" sz="quarter" idx="4294967295"/>
          </p:nvPr>
        </p:nvSpPr>
        <p:spPr/>
        <p:txBody>
          <a:bodyPr/>
          <a:lstStyle/>
          <a:p>
            <a:fld id="{6F14581E-91BE-4DD1-BEE9-FCA9855E5E43}" type="slidenum">
              <a:rPr lang="zh-CN" altLang="en-US" smtClean="0"/>
              <a:t>54</a:t>
            </a:fld>
            <a:endParaRPr lang="zh-CN" altLang="en-US"/>
          </a:p>
        </p:txBody>
      </p:sp>
    </p:spTree>
    <p:extLst>
      <p:ext uri="{BB962C8B-B14F-4D97-AF65-F5344CB8AC3E}">
        <p14:creationId xmlns:p14="http://schemas.microsoft.com/office/powerpoint/2010/main" val="26969900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r>
              <a:rPr lang="zh-CN" altLang="en-US">
                <a:cs typeface="宋体" panose="02010600030101010101" pitchFamily="2" charset="-122"/>
              </a:rPr>
              <a:t>监控表锁情况</a:t>
            </a:r>
            <a:r>
              <a:rPr lang="en-US" altLang="zh-CN">
                <a:cs typeface="宋体" panose="02010600030101010101" pitchFamily="2" charset="-122"/>
              </a:rPr>
              <a:t>—</a:t>
            </a:r>
            <a:r>
              <a:rPr lang="zh-CN" altLang="en-US">
                <a:cs typeface="宋体" panose="02010600030101010101" pitchFamily="2" charset="-122"/>
              </a:rPr>
              <a:t>示例</a:t>
            </a:r>
          </a:p>
        </p:txBody>
      </p:sp>
      <p:sp>
        <p:nvSpPr>
          <p:cNvPr id="1091587" name="Rectangle 3"/>
          <p:cNvSpPr>
            <a:spLocks noGrp="1" noChangeArrowheads="1"/>
          </p:cNvSpPr>
          <p:nvPr>
            <p:ph type="body" sz="quarter" idx="10"/>
          </p:nvPr>
        </p:nvSpPr>
        <p:spPr/>
        <p:txBody>
          <a:bodyPr>
            <a:normAutofit/>
          </a:bodyPr>
          <a:lstStyle/>
          <a:p>
            <a:pPr>
              <a:lnSpc>
                <a:spcPct val="150000"/>
              </a:lnSpc>
            </a:pPr>
            <a:r>
              <a:rPr lang="zh-CN" altLang="en-US" dirty="0">
                <a:cs typeface="宋体" panose="02010600030101010101" pitchFamily="2" charset="-122"/>
              </a:rPr>
              <a:t>表被锁</a:t>
            </a:r>
            <a:endParaRPr lang="en-US" altLang="zh-CN" dirty="0">
              <a:cs typeface="宋体" panose="02010600030101010101" pitchFamily="2" charset="-122"/>
            </a:endParaRPr>
          </a:p>
          <a:p>
            <a:pPr lvl="1">
              <a:lnSpc>
                <a:spcPct val="150000"/>
              </a:lnSpc>
            </a:pPr>
            <a:r>
              <a:rPr lang="en-US" altLang="zh-CN" dirty="0">
                <a:ea typeface="宋体" panose="02010600030101010101" pitchFamily="2" charset="-122"/>
                <a:cs typeface="宋体" panose="02010600030101010101" pitchFamily="2" charset="-122"/>
              </a:rPr>
              <a:t>ISAM error: key value locked </a:t>
            </a:r>
            <a:endParaRPr lang="zh-CN" altLang="en-US" dirty="0">
              <a:ea typeface="宋体" panose="02010600030101010101" pitchFamily="2" charset="-122"/>
              <a:cs typeface="宋体" panose="02010600030101010101" pitchFamily="2" charset="-122"/>
            </a:endParaRPr>
          </a:p>
          <a:p>
            <a:pPr>
              <a:lnSpc>
                <a:spcPct val="150000"/>
              </a:lnSpc>
            </a:pPr>
            <a:r>
              <a:rPr lang="zh-CN" altLang="en-US" dirty="0">
                <a:cs typeface="宋体" panose="02010600030101010101" pitchFamily="2" charset="-122"/>
              </a:rPr>
              <a:t>查询表的在数据库中的内部表号</a:t>
            </a:r>
          </a:p>
          <a:p>
            <a:pPr lvl="1">
              <a:lnSpc>
                <a:spcPct val="150000"/>
              </a:lnSpc>
            </a:pPr>
            <a:r>
              <a:rPr lang="en-US" altLang="zh-CN" dirty="0">
                <a:ea typeface="宋体" panose="02010600030101010101" pitchFamily="2" charset="-122"/>
                <a:cs typeface="宋体" panose="02010600030101010101" pitchFamily="2" charset="-122"/>
              </a:rPr>
              <a:t>select hex(</a:t>
            </a:r>
            <a:r>
              <a:rPr lang="en-US" altLang="zh-CN" dirty="0" err="1">
                <a:ea typeface="宋体" panose="02010600030101010101" pitchFamily="2" charset="-122"/>
                <a:cs typeface="宋体" panose="02010600030101010101" pitchFamily="2" charset="-122"/>
              </a:rPr>
              <a:t>partnum</a:t>
            </a:r>
            <a:r>
              <a:rPr lang="en-US" altLang="zh-CN" dirty="0">
                <a:ea typeface="宋体" panose="02010600030101010101" pitchFamily="2" charset="-122"/>
                <a:cs typeface="宋体" panose="02010600030101010101" pitchFamily="2" charset="-122"/>
              </a:rPr>
              <a:t>) from </a:t>
            </a:r>
            <a:r>
              <a:rPr lang="en-US" altLang="zh-CN" dirty="0" err="1">
                <a:ea typeface="宋体" panose="02010600030101010101" pitchFamily="2" charset="-122"/>
                <a:cs typeface="宋体" panose="02010600030101010101" pitchFamily="2" charset="-122"/>
              </a:rPr>
              <a:t>systables</a:t>
            </a:r>
            <a:r>
              <a:rPr lang="en-US" altLang="zh-CN" dirty="0">
                <a:ea typeface="宋体" panose="02010600030101010101" pitchFamily="2" charset="-122"/>
                <a:cs typeface="宋体" panose="02010600030101010101" pitchFamily="2" charset="-122"/>
              </a:rPr>
              <a:t> where </a:t>
            </a:r>
            <a:r>
              <a:rPr lang="en-US" altLang="zh-CN" dirty="0" err="1">
                <a:ea typeface="宋体" panose="02010600030101010101" pitchFamily="2" charset="-122"/>
                <a:cs typeface="宋体" panose="02010600030101010101" pitchFamily="2" charset="-122"/>
              </a:rPr>
              <a:t>tabname</a:t>
            </a:r>
            <a:r>
              <a:rPr lang="en-US" altLang="zh-CN" dirty="0">
                <a:ea typeface="宋体" panose="02010600030101010101" pitchFamily="2" charset="-122"/>
                <a:cs typeface="宋体" panose="02010600030101010101" pitchFamily="2" charset="-122"/>
              </a:rPr>
              <a:t>="</a:t>
            </a:r>
            <a:r>
              <a:rPr lang="en-US" altLang="zh-CN" dirty="0" err="1">
                <a:ea typeface="宋体" panose="02010600030101010101" pitchFamily="2" charset="-122"/>
                <a:cs typeface="宋体" panose="02010600030101010101" pitchFamily="2" charset="-122"/>
              </a:rPr>
              <a:t>test_lock</a:t>
            </a:r>
            <a:r>
              <a:rPr lang="en-US" altLang="zh-CN" dirty="0">
                <a:ea typeface="宋体" panose="02010600030101010101" pitchFamily="2" charset="-122"/>
                <a:cs typeface="宋体" panose="02010600030101010101" pitchFamily="2" charset="-122"/>
              </a:rPr>
              <a:t>";</a:t>
            </a:r>
          </a:p>
          <a:p>
            <a:pPr marL="341630" lvl="1" indent="0">
              <a:lnSpc>
                <a:spcPct val="150000"/>
              </a:lnSpc>
              <a:buNone/>
            </a:pPr>
            <a:r>
              <a:rPr lang="en-US" altLang="zh-CN" dirty="0">
                <a:ea typeface="宋体" panose="02010600030101010101" pitchFamily="2" charset="-122"/>
                <a:cs typeface="宋体" panose="02010600030101010101" pitchFamily="2" charset="-122"/>
              </a:rPr>
              <a:t>    </a:t>
            </a:r>
            <a:r>
              <a:rPr lang="zh-CN" altLang="en-US" dirty="0">
                <a:ea typeface="宋体" panose="02010600030101010101" pitchFamily="2" charset="-122"/>
                <a:cs typeface="宋体" panose="02010600030101010101" pitchFamily="2" charset="-122"/>
              </a:rPr>
              <a:t>返回值为：</a:t>
            </a:r>
            <a:r>
              <a:rPr lang="en-US" altLang="zh-CN" dirty="0">
                <a:ea typeface="宋体" panose="02010600030101010101" pitchFamily="2" charset="-122"/>
                <a:cs typeface="宋体" panose="02010600030101010101" pitchFamily="2" charset="-122"/>
              </a:rPr>
              <a:t>0x00</a:t>
            </a:r>
            <a:r>
              <a:rPr lang="en-US" altLang="zh-CN" dirty="0">
                <a:solidFill>
                  <a:srgbClr val="FF0000"/>
                </a:solidFill>
                <a:ea typeface="宋体" panose="02010600030101010101" pitchFamily="2" charset="-122"/>
                <a:cs typeface="宋体" panose="02010600030101010101" pitchFamily="2" charset="-122"/>
              </a:rPr>
              <a:t>4000D4</a:t>
            </a:r>
          </a:p>
          <a:p>
            <a:pPr>
              <a:lnSpc>
                <a:spcPct val="150000"/>
              </a:lnSpc>
            </a:pPr>
            <a:r>
              <a:rPr lang="zh-CN" altLang="en-US" dirty="0">
                <a:cs typeface="宋体" panose="02010600030101010101" pitchFamily="2" charset="-122"/>
              </a:rPr>
              <a:t>查找上锁的用户线索 </a:t>
            </a:r>
          </a:p>
          <a:p>
            <a:pPr lvl="1">
              <a:lnSpc>
                <a:spcPct val="150000"/>
              </a:lnSpc>
            </a:pPr>
            <a:r>
              <a:rPr lang="en-US" altLang="zh-CN" dirty="0" err="1">
                <a:ea typeface="宋体" panose="02010600030101010101" pitchFamily="2" charset="-122"/>
                <a:cs typeface="宋体" panose="02010600030101010101" pitchFamily="2" charset="-122"/>
              </a:rPr>
              <a:t>onstat</a:t>
            </a:r>
            <a:r>
              <a:rPr lang="en-US" altLang="zh-CN"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k|grep</a:t>
            </a:r>
            <a:r>
              <a:rPr lang="en-US" altLang="zh-CN" dirty="0">
                <a:ea typeface="宋体" panose="02010600030101010101" pitchFamily="2" charset="-122"/>
                <a:cs typeface="宋体" panose="02010600030101010101" pitchFamily="2" charset="-122"/>
              </a:rPr>
              <a:t> </a:t>
            </a:r>
            <a:r>
              <a:rPr lang="en-US" altLang="zh-CN" dirty="0">
                <a:solidFill>
                  <a:srgbClr val="FF0000"/>
                </a:solidFill>
                <a:ea typeface="宋体" panose="02010600030101010101" pitchFamily="2" charset="-122"/>
                <a:cs typeface="宋体" panose="02010600030101010101" pitchFamily="2" charset="-122"/>
              </a:rPr>
              <a:t>4000D4 -</a:t>
            </a:r>
            <a:r>
              <a:rPr lang="en-US" altLang="zh-CN" dirty="0" err="1">
                <a:solidFill>
                  <a:srgbClr val="FF0000"/>
                </a:solidFill>
                <a:ea typeface="宋体" panose="02010600030101010101" pitchFamily="2" charset="-122"/>
                <a:cs typeface="宋体" panose="02010600030101010101" pitchFamily="2" charset="-122"/>
              </a:rPr>
              <a:t>i</a:t>
            </a:r>
            <a:endParaRPr lang="en-US" altLang="zh-CN" dirty="0">
              <a:solidFill>
                <a:srgbClr val="FF0000"/>
              </a:solidFill>
              <a:ea typeface="宋体" panose="02010600030101010101" pitchFamily="2" charset="-122"/>
              <a:cs typeface="宋体" panose="02010600030101010101" pitchFamily="2" charset="-122"/>
            </a:endParaRPr>
          </a:p>
          <a:p>
            <a:pPr marL="341630" lvl="1" indent="0">
              <a:lnSpc>
                <a:spcPct val="150000"/>
              </a:lnSpc>
              <a:buNone/>
            </a:pPr>
            <a:r>
              <a:rPr lang="en-US" altLang="zh-CN" dirty="0">
                <a:ea typeface="宋体" panose="02010600030101010101" pitchFamily="2" charset="-122"/>
                <a:cs typeface="宋体" panose="02010600030101010101" pitchFamily="2" charset="-122"/>
              </a:rPr>
              <a:t>45228970    0     </a:t>
            </a:r>
            <a:r>
              <a:rPr lang="en-US" altLang="zh-CN" b="1" dirty="0">
                <a:solidFill>
                  <a:schemeClr val="hlink"/>
                </a:solidFill>
                <a:ea typeface="宋体" panose="02010600030101010101" pitchFamily="2" charset="-122"/>
                <a:cs typeface="宋体" panose="02010600030101010101" pitchFamily="2" charset="-122"/>
              </a:rPr>
              <a:t>985c8638</a:t>
            </a:r>
            <a:r>
              <a:rPr lang="en-US" altLang="zh-CN" dirty="0">
                <a:ea typeface="宋体" panose="02010600030101010101" pitchFamily="2" charset="-122"/>
                <a:cs typeface="宋体" panose="02010600030101010101" pitchFamily="2" charset="-122"/>
              </a:rPr>
              <a:t>       452288f0        +IX          4000d4   0            0       </a:t>
            </a:r>
          </a:p>
          <a:p>
            <a:pPr marL="341630" lvl="1" indent="0">
              <a:lnSpc>
                <a:spcPct val="150000"/>
              </a:lnSpc>
              <a:buNone/>
            </a:pPr>
            <a:r>
              <a:rPr lang="en-US" altLang="zh-CN" dirty="0">
                <a:ea typeface="宋体" panose="02010600030101010101" pitchFamily="2" charset="-122"/>
                <a:cs typeface="宋体" panose="02010600030101010101" pitchFamily="2" charset="-122"/>
              </a:rPr>
              <a:t>45228a70    0      </a:t>
            </a:r>
            <a:r>
              <a:rPr lang="en-US" altLang="zh-CN" b="1" dirty="0">
                <a:solidFill>
                  <a:schemeClr val="hlink"/>
                </a:solidFill>
                <a:ea typeface="宋体" panose="02010600030101010101" pitchFamily="2" charset="-122"/>
                <a:cs typeface="宋体" panose="02010600030101010101" pitchFamily="2" charset="-122"/>
              </a:rPr>
              <a:t>985c8638</a:t>
            </a:r>
            <a:r>
              <a:rPr lang="en-US" altLang="zh-CN" dirty="0">
                <a:ea typeface="宋体" panose="02010600030101010101" pitchFamily="2" charset="-122"/>
                <a:cs typeface="宋体" panose="02010600030101010101" pitchFamily="2" charset="-122"/>
              </a:rPr>
              <a:t>       45228970      HDR+X    4000d4   101         0     U </a:t>
            </a:r>
          </a:p>
        </p:txBody>
      </p:sp>
      <p:sp>
        <p:nvSpPr>
          <p:cNvPr id="4" name="灯片编号占位符 3"/>
          <p:cNvSpPr>
            <a:spLocks noGrp="1"/>
          </p:cNvSpPr>
          <p:nvPr>
            <p:ph type="sldNum" sz="quarter" idx="4294967295"/>
          </p:nvPr>
        </p:nvSpPr>
        <p:spPr/>
        <p:txBody>
          <a:bodyPr/>
          <a:lstStyle/>
          <a:p>
            <a:fld id="{843FDE6D-2E60-40CA-B9A9-021DD7C4E2C0}" type="slidenum">
              <a:rPr lang="zh-CN" altLang="en-US" smtClean="0"/>
              <a:t>55</a:t>
            </a:fld>
            <a:endParaRPr lang="zh-CN" altLang="en-US"/>
          </a:p>
        </p:txBody>
      </p:sp>
    </p:spTree>
    <p:extLst>
      <p:ext uri="{BB962C8B-B14F-4D97-AF65-F5344CB8AC3E}">
        <p14:creationId xmlns:p14="http://schemas.microsoft.com/office/powerpoint/2010/main" val="10823528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r>
              <a:rPr lang="zh-CN" altLang="en-US">
                <a:cs typeface="宋体" panose="02010600030101010101" pitchFamily="2" charset="-122"/>
              </a:rPr>
              <a:t>监控表锁情况</a:t>
            </a:r>
            <a:r>
              <a:rPr lang="en-US" altLang="zh-CN">
                <a:cs typeface="宋体" panose="02010600030101010101" pitchFamily="2" charset="-122"/>
              </a:rPr>
              <a:t>—</a:t>
            </a:r>
            <a:r>
              <a:rPr lang="zh-CN" altLang="en-US">
                <a:cs typeface="宋体" panose="02010600030101010101" pitchFamily="2" charset="-122"/>
              </a:rPr>
              <a:t>示例</a:t>
            </a:r>
          </a:p>
        </p:txBody>
      </p:sp>
      <p:sp>
        <p:nvSpPr>
          <p:cNvPr id="1091587" name="Rectangle 3"/>
          <p:cNvSpPr>
            <a:spLocks noGrp="1" noChangeArrowheads="1"/>
          </p:cNvSpPr>
          <p:nvPr>
            <p:ph type="body" sz="quarter" idx="10"/>
          </p:nvPr>
        </p:nvSpPr>
        <p:spPr/>
        <p:txBody>
          <a:bodyPr>
            <a:normAutofit fontScale="92500" lnSpcReduction="20000"/>
          </a:bodyPr>
          <a:lstStyle/>
          <a:p>
            <a:pPr>
              <a:lnSpc>
                <a:spcPct val="150000"/>
              </a:lnSpc>
            </a:pPr>
            <a:r>
              <a:rPr lang="zh-CN" altLang="en-US" b="0" dirty="0">
                <a:cs typeface="宋体" panose="02010600030101010101" pitchFamily="2" charset="-122"/>
              </a:rPr>
              <a:t>查找用户线索对应的会话</a:t>
            </a:r>
            <a:r>
              <a:rPr lang="zh-CN" altLang="en-US" dirty="0">
                <a:cs typeface="宋体" panose="02010600030101010101" pitchFamily="2" charset="-122"/>
              </a:rPr>
              <a:t> </a:t>
            </a:r>
          </a:p>
          <a:p>
            <a:pPr lvl="1">
              <a:lnSpc>
                <a:spcPct val="150000"/>
              </a:lnSpc>
            </a:pPr>
            <a:r>
              <a:rPr lang="en-US" altLang="zh-CN" dirty="0" err="1">
                <a:ea typeface="宋体" panose="02010600030101010101" pitchFamily="2" charset="-122"/>
                <a:cs typeface="宋体" panose="02010600030101010101" pitchFamily="2" charset="-122"/>
              </a:rPr>
              <a:t>onstat</a:t>
            </a:r>
            <a:r>
              <a:rPr lang="en-US" altLang="zh-CN"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u|grep</a:t>
            </a:r>
            <a:r>
              <a:rPr lang="en-US" altLang="zh-CN" dirty="0">
                <a:ea typeface="宋体" panose="02010600030101010101" pitchFamily="2" charset="-122"/>
                <a:cs typeface="宋体" panose="02010600030101010101" pitchFamily="2" charset="-122"/>
              </a:rPr>
              <a:t> </a:t>
            </a:r>
            <a:r>
              <a:rPr lang="en-US" altLang="zh-CN" b="1" dirty="0">
                <a:solidFill>
                  <a:schemeClr val="hlink"/>
                </a:solidFill>
                <a:ea typeface="宋体" panose="02010600030101010101" pitchFamily="2" charset="-122"/>
                <a:cs typeface="宋体" panose="02010600030101010101" pitchFamily="2" charset="-122"/>
              </a:rPr>
              <a:t>985c8638 </a:t>
            </a:r>
          </a:p>
          <a:p>
            <a:pPr marL="0" indent="-1270">
              <a:lnSpc>
                <a:spcPct val="150000"/>
              </a:lnSpc>
              <a:buNone/>
            </a:pPr>
            <a:r>
              <a:rPr lang="en-US" altLang="zh-CN" sz="1600" dirty="0">
                <a:ea typeface="宋体" panose="02010600030101010101" pitchFamily="2" charset="-122"/>
                <a:cs typeface="宋体" panose="02010600030101010101" pitchFamily="2" charset="-122"/>
              </a:rPr>
              <a:t>address        flags      </a:t>
            </a:r>
            <a:r>
              <a:rPr lang="en-US" altLang="zh-CN" sz="1600" dirty="0" err="1">
                <a:ea typeface="宋体" panose="02010600030101010101" pitchFamily="2" charset="-122"/>
                <a:cs typeface="宋体" panose="02010600030101010101" pitchFamily="2" charset="-122"/>
              </a:rPr>
              <a:t>sessid</a:t>
            </a:r>
            <a:r>
              <a:rPr lang="en-US" altLang="zh-CN" sz="1600" dirty="0">
                <a:ea typeface="宋体" panose="02010600030101010101" pitchFamily="2" charset="-122"/>
                <a:cs typeface="宋体" panose="02010600030101010101" pitchFamily="2" charset="-122"/>
              </a:rPr>
              <a:t>    user           </a:t>
            </a:r>
            <a:r>
              <a:rPr lang="en-US" altLang="zh-CN" sz="1600" dirty="0" err="1">
                <a:ea typeface="宋体" panose="02010600030101010101" pitchFamily="2" charset="-122"/>
                <a:cs typeface="宋体" panose="02010600030101010101" pitchFamily="2" charset="-122"/>
              </a:rPr>
              <a:t>tty</a:t>
            </a:r>
            <a:r>
              <a:rPr lang="en-US" altLang="zh-CN" sz="1600" dirty="0">
                <a:ea typeface="宋体" panose="02010600030101010101" pitchFamily="2" charset="-122"/>
                <a:cs typeface="宋体" panose="02010600030101010101" pitchFamily="2" charset="-122"/>
              </a:rPr>
              <a:t>                wait     tout locks  </a:t>
            </a:r>
            <a:r>
              <a:rPr lang="en-US" altLang="zh-CN" sz="1600" dirty="0" err="1">
                <a:ea typeface="宋体" panose="02010600030101010101" pitchFamily="2" charset="-122"/>
                <a:cs typeface="宋体" panose="02010600030101010101" pitchFamily="2" charset="-122"/>
              </a:rPr>
              <a:t>nreads</a:t>
            </a:r>
            <a:r>
              <a:rPr lang="en-US" altLang="zh-CN" sz="1600" dirty="0">
                <a:ea typeface="宋体" panose="02010600030101010101" pitchFamily="2" charset="-122"/>
                <a:cs typeface="宋体" panose="02010600030101010101" pitchFamily="2" charset="-122"/>
              </a:rPr>
              <a:t>   </a:t>
            </a:r>
            <a:r>
              <a:rPr lang="en-US" altLang="zh-CN" sz="1600" dirty="0" err="1">
                <a:ea typeface="宋体" panose="02010600030101010101" pitchFamily="2" charset="-122"/>
                <a:cs typeface="宋体" panose="02010600030101010101" pitchFamily="2" charset="-122"/>
              </a:rPr>
              <a:t>nwrites</a:t>
            </a:r>
            <a:endParaRPr lang="en-US" altLang="zh-CN" sz="1600" dirty="0">
              <a:ea typeface="宋体" panose="02010600030101010101" pitchFamily="2" charset="-122"/>
              <a:cs typeface="宋体" panose="02010600030101010101" pitchFamily="2" charset="-122"/>
            </a:endParaRPr>
          </a:p>
          <a:p>
            <a:pPr marL="0" indent="-1270">
              <a:lnSpc>
                <a:spcPct val="150000"/>
              </a:lnSpc>
              <a:buNone/>
            </a:pPr>
            <a:r>
              <a:rPr lang="en-US" altLang="zh-CN" sz="1600" dirty="0">
                <a:ea typeface="宋体" panose="02010600030101010101" pitchFamily="2" charset="-122"/>
                <a:cs typeface="宋体" panose="02010600030101010101" pitchFamily="2" charset="-122"/>
              </a:rPr>
              <a:t>985c8638      Y-BP---  </a:t>
            </a:r>
            <a:r>
              <a:rPr lang="en-US" altLang="zh-CN" sz="1600" b="1" dirty="0">
                <a:solidFill>
                  <a:srgbClr val="33CC33"/>
                </a:solidFill>
                <a:ea typeface="宋体" panose="02010600030101010101" pitchFamily="2" charset="-122"/>
                <a:cs typeface="宋体" panose="02010600030101010101" pitchFamily="2" charset="-122"/>
              </a:rPr>
              <a:t>41 </a:t>
            </a:r>
            <a:r>
              <a:rPr lang="en-US" altLang="zh-CN" sz="1600" dirty="0">
                <a:ea typeface="宋体" panose="02010600030101010101" pitchFamily="2" charset="-122"/>
                <a:cs typeface="宋体" panose="02010600030101010101" pitchFamily="2" charset="-122"/>
              </a:rPr>
              <a:t>       </a:t>
            </a:r>
            <a:r>
              <a:rPr lang="en-US" altLang="zh-CN" sz="1600" dirty="0" err="1">
                <a:ea typeface="宋体" panose="02010600030101010101" pitchFamily="2" charset="-122"/>
                <a:cs typeface="宋体" panose="02010600030101010101" pitchFamily="2" charset="-122"/>
              </a:rPr>
              <a:t>gbasedbt</a:t>
            </a:r>
            <a:r>
              <a:rPr lang="en-US" altLang="zh-CN" sz="1600" dirty="0">
                <a:ea typeface="宋体" panose="02010600030101010101" pitchFamily="2" charset="-122"/>
                <a:cs typeface="宋体" panose="02010600030101010101" pitchFamily="2" charset="-122"/>
              </a:rPr>
              <a:t> -   9a2a0328    0          3                0            0</a:t>
            </a:r>
          </a:p>
          <a:p>
            <a:pPr>
              <a:lnSpc>
                <a:spcPct val="150000"/>
              </a:lnSpc>
            </a:pPr>
            <a:r>
              <a:rPr lang="zh-CN" altLang="en-US" b="0" dirty="0">
                <a:cs typeface="宋体" panose="02010600030101010101" pitchFamily="2" charset="-122"/>
              </a:rPr>
              <a:t>查看事务及锁的情况</a:t>
            </a:r>
          </a:p>
          <a:p>
            <a:pPr lvl="1">
              <a:lnSpc>
                <a:spcPct val="150000"/>
              </a:lnSpc>
            </a:pPr>
            <a:r>
              <a:rPr lang="en-US" altLang="zh-CN" dirty="0" err="1">
                <a:ea typeface="宋体" panose="02010600030101010101" pitchFamily="2" charset="-122"/>
                <a:cs typeface="宋体" panose="02010600030101010101" pitchFamily="2" charset="-122"/>
              </a:rPr>
              <a:t>onstat</a:t>
            </a:r>
            <a:r>
              <a:rPr lang="en-US" altLang="zh-CN" dirty="0">
                <a:ea typeface="宋体" panose="02010600030101010101" pitchFamily="2" charset="-122"/>
                <a:cs typeface="宋体" panose="02010600030101010101" pitchFamily="2" charset="-122"/>
              </a:rPr>
              <a:t> -</a:t>
            </a:r>
            <a:r>
              <a:rPr lang="en-US" altLang="zh-CN" dirty="0" err="1">
                <a:ea typeface="宋体" panose="02010600030101010101" pitchFamily="2" charset="-122"/>
                <a:cs typeface="宋体" panose="02010600030101010101" pitchFamily="2" charset="-122"/>
              </a:rPr>
              <a:t>x|grep</a:t>
            </a:r>
            <a:r>
              <a:rPr lang="en-US" altLang="zh-CN" b="1" dirty="0">
                <a:ea typeface="宋体" panose="02010600030101010101" pitchFamily="2" charset="-122"/>
                <a:cs typeface="宋体" panose="02010600030101010101" pitchFamily="2" charset="-122"/>
              </a:rPr>
              <a:t> </a:t>
            </a:r>
            <a:r>
              <a:rPr lang="en-US" altLang="zh-CN" b="1" dirty="0">
                <a:solidFill>
                  <a:schemeClr val="hlink"/>
                </a:solidFill>
                <a:ea typeface="宋体" panose="02010600030101010101" pitchFamily="2" charset="-122"/>
                <a:cs typeface="宋体" panose="02010600030101010101" pitchFamily="2" charset="-122"/>
              </a:rPr>
              <a:t>985c8638</a:t>
            </a:r>
            <a:endParaRPr lang="en-US" altLang="zh-CN" b="1" dirty="0">
              <a:ea typeface="宋体" panose="02010600030101010101" pitchFamily="2" charset="-122"/>
              <a:cs typeface="宋体" panose="02010600030101010101" pitchFamily="2" charset="-122"/>
            </a:endParaRPr>
          </a:p>
          <a:p>
            <a:pPr>
              <a:lnSpc>
                <a:spcPct val="150000"/>
              </a:lnSpc>
            </a:pPr>
            <a:r>
              <a:rPr lang="zh-CN" altLang="en-US" b="0" dirty="0">
                <a:cs typeface="宋体" panose="02010600030101010101" pitchFamily="2" charset="-122"/>
              </a:rPr>
              <a:t>找到相应的</a:t>
            </a:r>
            <a:r>
              <a:rPr lang="en-US" altLang="zh-CN" b="0" dirty="0">
                <a:cs typeface="宋体" panose="02010600030101010101" pitchFamily="2" charset="-122"/>
              </a:rPr>
              <a:t>session </a:t>
            </a:r>
            <a:r>
              <a:rPr lang="zh-CN" altLang="en-US" b="0" dirty="0">
                <a:cs typeface="宋体" panose="02010600030101010101" pitchFamily="2" charset="-122"/>
              </a:rPr>
              <a:t>及</a:t>
            </a:r>
            <a:r>
              <a:rPr lang="en-US" altLang="zh-CN" b="0" dirty="0">
                <a:cs typeface="宋体" panose="02010600030101010101" pitchFamily="2" charset="-122"/>
              </a:rPr>
              <a:t>SQL</a:t>
            </a:r>
          </a:p>
          <a:p>
            <a:pPr lvl="1">
              <a:lnSpc>
                <a:spcPct val="150000"/>
              </a:lnSpc>
            </a:pPr>
            <a:r>
              <a:rPr lang="en-US" altLang="zh-CN" dirty="0" err="1">
                <a:ea typeface="宋体" panose="02010600030101010101" pitchFamily="2" charset="-122"/>
                <a:cs typeface="宋体" panose="02010600030101010101" pitchFamily="2" charset="-122"/>
              </a:rPr>
              <a:t>onstat</a:t>
            </a:r>
            <a:r>
              <a:rPr lang="en-US" altLang="zh-CN" dirty="0">
                <a:ea typeface="宋体" panose="02010600030101010101" pitchFamily="2" charset="-122"/>
                <a:cs typeface="宋体" panose="02010600030101010101" pitchFamily="2" charset="-122"/>
              </a:rPr>
              <a:t> -g </a:t>
            </a:r>
            <a:r>
              <a:rPr lang="en-US" altLang="zh-CN" dirty="0" err="1">
                <a:ea typeface="宋体" panose="02010600030101010101" pitchFamily="2" charset="-122"/>
                <a:cs typeface="宋体" panose="02010600030101010101" pitchFamily="2" charset="-122"/>
              </a:rPr>
              <a:t>ses</a:t>
            </a:r>
            <a:r>
              <a:rPr lang="en-US" altLang="zh-CN" dirty="0">
                <a:ea typeface="宋体" panose="02010600030101010101" pitchFamily="2" charset="-122"/>
                <a:cs typeface="宋体" panose="02010600030101010101" pitchFamily="2" charset="-122"/>
              </a:rPr>
              <a:t> 41</a:t>
            </a:r>
            <a:endParaRPr lang="zh-CN" altLang="en-US" b="1" dirty="0">
              <a:ea typeface="宋体" panose="02010600030101010101" pitchFamily="2" charset="-122"/>
              <a:cs typeface="宋体" panose="02010600030101010101" pitchFamily="2" charset="-122"/>
            </a:endParaRPr>
          </a:p>
          <a:p>
            <a:pPr>
              <a:lnSpc>
                <a:spcPct val="150000"/>
              </a:lnSpc>
            </a:pPr>
            <a:r>
              <a:rPr lang="zh-CN" altLang="en-US" b="0" dirty="0">
                <a:cs typeface="宋体" panose="02010600030101010101" pitchFamily="2" charset="-122"/>
              </a:rPr>
              <a:t>杀掉</a:t>
            </a:r>
            <a:r>
              <a:rPr lang="en-US" altLang="zh-CN" b="0" dirty="0">
                <a:cs typeface="宋体" panose="02010600030101010101" pitchFamily="2" charset="-122"/>
              </a:rPr>
              <a:t>session</a:t>
            </a:r>
          </a:p>
          <a:p>
            <a:pPr lvl="1">
              <a:lnSpc>
                <a:spcPct val="150000"/>
              </a:lnSpc>
            </a:pPr>
            <a:r>
              <a:rPr lang="en-US" altLang="zh-CN" dirty="0" err="1">
                <a:ea typeface="宋体" panose="02010600030101010101" pitchFamily="2" charset="-122"/>
                <a:cs typeface="宋体" panose="02010600030101010101" pitchFamily="2" charset="-122"/>
              </a:rPr>
              <a:t>onmode</a:t>
            </a:r>
            <a:r>
              <a:rPr lang="en-US" altLang="zh-CN" dirty="0">
                <a:ea typeface="宋体" panose="02010600030101010101" pitchFamily="2" charset="-122"/>
                <a:cs typeface="宋体" panose="02010600030101010101" pitchFamily="2" charset="-122"/>
              </a:rPr>
              <a:t> -z 41</a:t>
            </a:r>
          </a:p>
        </p:txBody>
      </p:sp>
      <p:sp>
        <p:nvSpPr>
          <p:cNvPr id="4" name="灯片编号占位符 3"/>
          <p:cNvSpPr>
            <a:spLocks noGrp="1"/>
          </p:cNvSpPr>
          <p:nvPr>
            <p:ph type="sldNum" sz="quarter" idx="4294967295"/>
          </p:nvPr>
        </p:nvSpPr>
        <p:spPr/>
        <p:txBody>
          <a:bodyPr/>
          <a:lstStyle/>
          <a:p>
            <a:fld id="{843FDE6D-2E60-40CA-B9A9-021DD7C4E2C0}" type="slidenum">
              <a:rPr lang="zh-CN" altLang="en-US" smtClean="0"/>
              <a:t>56</a:t>
            </a:fld>
            <a:endParaRPr lang="zh-CN" altLang="en-US"/>
          </a:p>
        </p:txBody>
      </p:sp>
    </p:spTree>
    <p:extLst>
      <p:ext uri="{BB962C8B-B14F-4D97-AF65-F5344CB8AC3E}">
        <p14:creationId xmlns:p14="http://schemas.microsoft.com/office/powerpoint/2010/main" val="25279954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 you !</a:t>
            </a:r>
            <a:endParaRPr lang="zh-CN" altLang="en-US" dirty="0"/>
          </a:p>
        </p:txBody>
      </p:sp>
    </p:spTree>
    <p:extLst>
      <p:ext uri="{BB962C8B-B14F-4D97-AF65-F5344CB8AC3E}">
        <p14:creationId xmlns:p14="http://schemas.microsoft.com/office/powerpoint/2010/main" val="41142109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8902</Words>
  <Application>Microsoft Office PowerPoint</Application>
  <PresentationFormat>自定义</PresentationFormat>
  <Paragraphs>886</Paragraphs>
  <Slides>58</Slides>
  <Notes>49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58</vt:i4>
      </vt:variant>
    </vt:vector>
  </HeadingPairs>
  <TitlesOfParts>
    <vt:vector size="68" baseType="lpstr">
      <vt:lpstr>Arial</vt:lpstr>
      <vt:lpstr>宋体</vt:lpstr>
      <vt:lpstr>微软雅黑</vt:lpstr>
      <vt:lpstr>Wingdings</vt:lpstr>
      <vt:lpstr>Verdana</vt:lpstr>
      <vt:lpstr>Courier</vt:lpstr>
      <vt:lpstr>Calibri Light</vt:lpstr>
      <vt:lpstr>Calibri</vt:lpstr>
      <vt:lpstr>Courier New</vt:lpstr>
      <vt:lpstr>Office 主题</vt:lpstr>
      <vt:lpstr>GBase 8s数据库锁与隔离级别 </vt:lpstr>
      <vt:lpstr>目标</vt:lpstr>
      <vt:lpstr>事务（Transactions ）</vt:lpstr>
      <vt:lpstr>事务（Transactions ）</vt:lpstr>
      <vt:lpstr>事务 – Isolation</vt:lpstr>
      <vt:lpstr>并发控制</vt:lpstr>
      <vt:lpstr>事务的串行调度</vt:lpstr>
      <vt:lpstr>串行调度</vt:lpstr>
      <vt:lpstr>如何改进性能? 非串行调度</vt:lpstr>
      <vt:lpstr>并发调度 – 举例和问题</vt:lpstr>
      <vt:lpstr>脏读 –问题与举例</vt:lpstr>
      <vt:lpstr>不可重复读 –问题和举例</vt:lpstr>
      <vt:lpstr>幻影读 –问题与举例</vt:lpstr>
      <vt:lpstr>锁机制</vt:lpstr>
      <vt:lpstr>锁机制</vt:lpstr>
      <vt:lpstr>锁的类型 (1) </vt:lpstr>
      <vt:lpstr>锁的类型 (2)</vt:lpstr>
      <vt:lpstr>锁的类型 (3)</vt:lpstr>
      <vt:lpstr>Lock 兼容矩阵</vt:lpstr>
      <vt:lpstr>Lock的有效期</vt:lpstr>
      <vt:lpstr>GBase 8s Lock 粒度 (lock 范围) (1)</vt:lpstr>
      <vt:lpstr>GBase 8s Lock 粒度 (lock 范围) (2)</vt:lpstr>
      <vt:lpstr>GBase 8s Lock 粒度 (lock 范围) (2)</vt:lpstr>
      <vt:lpstr>GBase 8s Lock 粒度 (lock 范围) (3)</vt:lpstr>
      <vt:lpstr>GBase 8s Lock 粒度 (lock 范围) (4)</vt:lpstr>
      <vt:lpstr>哪一种锁粒度是最优的呢?</vt:lpstr>
      <vt:lpstr>事务的隔离级别</vt:lpstr>
      <vt:lpstr>GBase 8s 隔离级别: Dirty Read (1)</vt:lpstr>
      <vt:lpstr>GBase 8s 隔离级别: Dirty Read (2)</vt:lpstr>
      <vt:lpstr>GBase 8s 隔离级别: Committed Read (3)</vt:lpstr>
      <vt:lpstr>GBase 8s 隔离级别: Committed Read (4)</vt:lpstr>
      <vt:lpstr>GBase 8s 隔离级别: Cursor Stability (5)</vt:lpstr>
      <vt:lpstr>GBase 8s 隔离级别: Cursor Stability (6)</vt:lpstr>
      <vt:lpstr>GBase 8s 隔离级别: Repeatable Read (7)</vt:lpstr>
      <vt:lpstr>GBase 8s 隔离级别: Repeatable Read (8)</vt:lpstr>
      <vt:lpstr>GBase 8s 隔离级别: Last Committed Read (9)</vt:lpstr>
      <vt:lpstr>GBase 8s 隔离级别: Last Committed Read (10)</vt:lpstr>
      <vt:lpstr>GBase 8s 隔离级别: Last Committed Read (11)</vt:lpstr>
      <vt:lpstr>GBase 8s 隔离级别: Last Committed Read (11)</vt:lpstr>
      <vt:lpstr> GBase 8s 隔离级别对照</vt:lpstr>
      <vt:lpstr>不同隔离级别能解决的问题情况</vt:lpstr>
      <vt:lpstr>设置 Transaction/Session的锁等待模式</vt:lpstr>
      <vt:lpstr>死锁</vt:lpstr>
      <vt:lpstr>GBase 8s – 数据库系统中锁的个数</vt:lpstr>
      <vt:lpstr>数据库默认的隔离级别</vt:lpstr>
      <vt:lpstr>隔离级别、并发控制及锁的示例演示</vt:lpstr>
      <vt:lpstr>隔离级别、并发控制及锁的示例演示</vt:lpstr>
      <vt:lpstr>隔离级别、并发控制及锁的示例演示</vt:lpstr>
      <vt:lpstr>隔离级别、并发控制及锁的示例演示</vt:lpstr>
      <vt:lpstr>隔离级别、并发控制及锁的示例演示</vt:lpstr>
      <vt:lpstr>隔离级别、并发控制及锁的示例演示</vt:lpstr>
      <vt:lpstr>隔离级别、并发控制及锁的示例演示</vt:lpstr>
      <vt:lpstr>隔离级别、并发控制及锁的示例演示</vt:lpstr>
      <vt:lpstr>隔离级别、并发控制及锁的示例演示</vt:lpstr>
      <vt:lpstr>GBase 8s –锁的监控</vt:lpstr>
      <vt:lpstr>监控表锁情况—示例</vt:lpstr>
      <vt:lpstr>监控表锁情况—示例</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2019-01-08T05:17:16Z</dcterms:modified>
  <cp:revision>1001</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