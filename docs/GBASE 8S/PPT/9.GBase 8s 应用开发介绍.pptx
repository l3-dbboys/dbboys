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6" r:id="rId10"/>
    <p:sldId id="427" r:id="rId11"/>
    <p:sldId id="424" r:id="rId12"/>
    <p:sldId id="438" r:id="rId13"/>
    <p:sldId id="428" r:id="rId14"/>
    <p:sldId id="429" r:id="rId15"/>
    <p:sldId id="430" r:id="rId16"/>
    <p:sldId id="431" r:id="rId17"/>
    <p:sldId id="432" r:id="rId18"/>
    <p:sldId id="435" r:id="rId19"/>
    <p:sldId id="436" r:id="rId20"/>
    <p:sldId id="433" r:id="rId21"/>
    <p:sldId id="442" r:id="rId22"/>
    <p:sldId id="439" r:id="rId23"/>
    <p:sldId id="440" r:id="rId24"/>
    <p:sldId id="441" r:id="rId25"/>
    <p:sldId id="407" r:id="rId26"/>
  </p:sldIdLst>
  <p:sldSz cx="12192000" cy="6858000"/>
  <p:notesSz cx="6858000" cy="9144000"/>
  <p:embeddedFontLst>
    <p:embeddedFont>
      <p:font typeface="微软雅黑" pitchFamily="34" charset="-122"/>
      <p:regular r:id="rId29"/>
      <p:bold r:id="rId30"/>
    </p:embeddedFont>
    <p:embeddedFont>
      <p:font typeface="Calibri Light" pitchFamily="34" charset="0"/>
      <p:regular r:id="rId31"/>
      <p:italic r:id="rId32"/>
    </p:embeddedFont>
    <p:embeddedFont>
      <p:font typeface="Verdana" pitchFamily="34" charset="0"/>
      <p:regular r:id="rId33"/>
      <p:bold r:id="rId34"/>
      <p:italic r:id="rId35"/>
      <p:boldItalic r:id="rId36"/>
    </p:embeddedFont>
    <p:embeddedFont>
      <p:font typeface="Calibri" pitchFamily="34" charset="0"/>
      <p:regular r:id="rId37"/>
      <p:bold r:id="rId38"/>
      <p:italic r:id="rId39"/>
      <p:boldItalic r:id="rId40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656"/>
    <a:srgbClr val="B5B5B5"/>
    <a:srgbClr val="DE1208"/>
    <a:srgbClr val="85898F"/>
    <a:srgbClr val="DADEE6"/>
    <a:srgbClr val="494545"/>
    <a:srgbClr val="5A6783"/>
    <a:srgbClr val="F15B67"/>
    <a:srgbClr val="A1A1A1"/>
    <a:srgbClr val="3D4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2" autoAdjust="0"/>
    <p:restoredTop sz="80847" autoAdjust="0"/>
  </p:normalViewPr>
  <p:slideViewPr>
    <p:cSldViewPr snapToGrid="0">
      <p:cViewPr>
        <p:scale>
          <a:sx n="70" d="100"/>
          <a:sy n="70" d="100"/>
        </p:scale>
        <p:origin x="-474" y="456"/>
      </p:cViewPr>
      <p:guideLst>
        <p:guide orient="horz" pos="1104"/>
        <p:guide orient="horz" pos="4040"/>
        <p:guide pos="325"/>
        <p:guide pos="7106"/>
        <p:guide pos="174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192" y="-78"/>
      </p:cViewPr>
      <p:guideLst>
        <p:guide orient="horz" pos="2843"/>
        <p:guide pos="2166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notesMasters/notesMaster1.xml" Type="http://schemas.openxmlformats.org/officeDocument/2006/relationships/notesMaster"/><Relationship Id="rId28" Target="handoutMasters/handoutMaster1.xml" Type="http://schemas.openxmlformats.org/officeDocument/2006/relationships/handoutMaster"/><Relationship Id="rId29" Target="fonts/font1.fntdata" Type="http://schemas.openxmlformats.org/officeDocument/2006/relationships/font"/><Relationship Id="rId3" Target="slides/slide2.xml" Type="http://schemas.openxmlformats.org/officeDocument/2006/relationships/slide"/><Relationship Id="rId30" Target="fonts/font2.fntdata" Type="http://schemas.openxmlformats.org/officeDocument/2006/relationships/font"/><Relationship Id="rId31" Target="fonts/font3.fntdata" Type="http://schemas.openxmlformats.org/officeDocument/2006/relationships/font"/><Relationship Id="rId32" Target="fonts/font4.fntdata" Type="http://schemas.openxmlformats.org/officeDocument/2006/relationships/font"/><Relationship Id="rId33" Target="fonts/font5.fntdata" Type="http://schemas.openxmlformats.org/officeDocument/2006/relationships/font"/><Relationship Id="rId34" Target="fonts/font6.fntdata" Type="http://schemas.openxmlformats.org/officeDocument/2006/relationships/font"/><Relationship Id="rId35" Target="fonts/font7.fntdata" Type="http://schemas.openxmlformats.org/officeDocument/2006/relationships/font"/><Relationship Id="rId36" Target="fonts/font8.fntdata" Type="http://schemas.openxmlformats.org/officeDocument/2006/relationships/font"/><Relationship Id="rId37" Target="fonts/font9.fntdata" Type="http://schemas.openxmlformats.org/officeDocument/2006/relationships/font"/><Relationship Id="rId38" Target="fonts/font10.fntdata" Type="http://schemas.openxmlformats.org/officeDocument/2006/relationships/font"/><Relationship Id="rId39" Target="fonts/font11.fntdata" Type="http://schemas.openxmlformats.org/officeDocument/2006/relationships/font"/><Relationship Id="rId4" Target="slides/slide3.xml" Type="http://schemas.openxmlformats.org/officeDocument/2006/relationships/slide"/><Relationship Id="rId40" Target="fonts/font12.fntdata" Type="http://schemas.openxmlformats.org/officeDocument/2006/relationships/font"/><Relationship Id="rId41" Target="presProps.xml" Type="http://schemas.openxmlformats.org/officeDocument/2006/relationships/presProps"/><Relationship Id="rId42" Target="viewProps.xml" Type="http://schemas.openxmlformats.org/officeDocument/2006/relationships/viewProps"/><Relationship Id="rId43" Target="theme/theme1.xml" Type="http://schemas.openxmlformats.org/officeDocument/2006/relationships/theme"/><Relationship Id="rId44" Target="tableStyles.xml" Type="http://schemas.openxmlformats.org/officeDocument/2006/relationships/tableStyles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2019-01-07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026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6622AFC-370D-4D83-BC2C-E3B279A36771}" type="datetimeFigureOut">
              <a:rPr lang="zh-CN" altLang="en-US"/>
              <a:t>2019-01-07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B37621B-8712-439F-AD62-D011FD133EC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696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b="1" dirty="0" smtClean="0">
                <a:sym typeface="+mn-ea"/>
              </a:rPr>
              <a:t>版本要求：</a:t>
            </a:r>
            <a:endParaRPr lang="zh-CN" altLang="en-US" sz="1800" b="1" dirty="0" smtClean="0"/>
          </a:p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ym typeface="+mn-ea"/>
              </a:rPr>
              <a:t>jdk</a:t>
            </a:r>
            <a:r>
              <a:rPr lang="zh-CN" altLang="en-US" sz="1800" dirty="0" smtClean="0">
                <a:sym typeface="+mn-ea"/>
              </a:rPr>
              <a:t>：</a:t>
            </a:r>
            <a:r>
              <a:rPr lang="en-US" altLang="zh-CN" sz="1800" dirty="0" smtClean="0">
                <a:sym typeface="+mn-ea"/>
              </a:rPr>
              <a:t>1.5</a:t>
            </a:r>
            <a:r>
              <a:rPr lang="zh-CN" altLang="en-US" sz="1800" dirty="0" smtClean="0">
                <a:sym typeface="+mn-ea"/>
              </a:rPr>
              <a:t>（含）以上</a:t>
            </a:r>
            <a:endParaRPr lang="zh-CN" altLang="en-US" sz="1800" dirty="0" smtClean="0"/>
          </a:p>
          <a:p>
            <a:pPr lvl="1">
              <a:lnSpc>
                <a:spcPct val="150000"/>
              </a:lnSpc>
            </a:pPr>
            <a:r>
              <a:rPr lang="zh-CN" altLang="en-US" sz="1800" dirty="0" smtClean="0">
                <a:sym typeface="+mn-ea"/>
              </a:rPr>
              <a:t>当前</a:t>
            </a:r>
            <a:r>
              <a:rPr lang="en-US" altLang="zh-CN" sz="1800" dirty="0" err="1" smtClean="0">
                <a:sym typeface="+mn-ea"/>
              </a:rPr>
              <a:t>jdbc</a:t>
            </a:r>
            <a:r>
              <a:rPr lang="zh-CN" altLang="en-US" sz="1800" dirty="0" smtClean="0">
                <a:sym typeface="+mn-ea"/>
              </a:rPr>
              <a:t>安装包版本：JDBC.4.10.JC4G1_1.6.3.25.tar</a:t>
            </a:r>
            <a:endParaRPr lang="zh-CN" altLang="en-US" sz="18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759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/>
              <a:t>public static final String </a:t>
            </a:r>
            <a:r>
              <a:rPr lang="en-US" altLang="zh-CN" sz="1200" i="1" dirty="0" smtClean="0"/>
              <a:t>URL = "</a:t>
            </a:r>
            <a:r>
              <a:rPr lang="en-US" altLang="zh-CN" sz="1200" i="1" dirty="0" err="1" smtClean="0"/>
              <a:t>jdbc:gbasedbt-sqli</a:t>
            </a:r>
            <a:r>
              <a:rPr lang="en-US" altLang="zh-CN" sz="1200" i="1" dirty="0" smtClean="0"/>
              <a:t>://192.168.12.20:9088/</a:t>
            </a:r>
            <a:r>
              <a:rPr lang="en-US" altLang="zh-CN" sz="1200" i="1" dirty="0" err="1" smtClean="0"/>
              <a:t>sysmaster:GBASEDBTSERVER</a:t>
            </a:r>
            <a:r>
              <a:rPr lang="en-US" altLang="zh-CN" sz="1200" i="1" dirty="0" smtClean="0"/>
              <a:t>=</a:t>
            </a:r>
            <a:r>
              <a:rPr lang="en-US" altLang="zh-CN" sz="1200" i="1" dirty="0" err="1" smtClean="0"/>
              <a:t>gbaseserver;CLIENT_LOCALE</a:t>
            </a:r>
            <a:r>
              <a:rPr lang="en-US" altLang="zh-CN" sz="1200" i="1" dirty="0" smtClean="0"/>
              <a:t>=zh_cn.gb18030-2000;DB_LOCALE=zh_cn.gb18030-2000;NEWCODESET=gb18030,gb18030-2000,5488;user=</a:t>
            </a:r>
            <a:r>
              <a:rPr lang="en-US" altLang="zh-CN" sz="1200" i="1" dirty="0" err="1" smtClean="0"/>
              <a:t>gbasedbt;password</a:t>
            </a:r>
            <a:r>
              <a:rPr lang="en-US" altLang="zh-CN" sz="1200" i="1" dirty="0" smtClean="0"/>
              <a:t>=</a:t>
            </a:r>
            <a:r>
              <a:rPr lang="en-US" altLang="zh-CN" sz="1200" i="1" dirty="0" err="1" smtClean="0"/>
              <a:t>gbasedbt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00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/>
              <a:t>public static final String </a:t>
            </a:r>
            <a:r>
              <a:rPr lang="en-US" altLang="zh-CN" sz="1200" i="1" dirty="0" smtClean="0"/>
              <a:t>URL = "</a:t>
            </a:r>
            <a:r>
              <a:rPr lang="en-US" altLang="zh-CN" sz="1200" i="1" dirty="0" err="1" smtClean="0"/>
              <a:t>jdbc:GBASEDBT-sqli</a:t>
            </a:r>
            <a:r>
              <a:rPr lang="en-US" altLang="zh-CN" sz="1200" i="1" dirty="0" smtClean="0"/>
              <a:t>://192.168.12.20:9088/</a:t>
            </a:r>
            <a:r>
              <a:rPr lang="en-US" altLang="zh-CN" sz="1200" i="1" dirty="0" err="1" smtClean="0"/>
              <a:t>sysmaster:GBASEDBTSERVER</a:t>
            </a:r>
            <a:r>
              <a:rPr lang="en-US" altLang="zh-CN" sz="1200" i="1" dirty="0" smtClean="0"/>
              <a:t>=</a:t>
            </a:r>
            <a:r>
              <a:rPr lang="en-US" altLang="zh-CN" sz="1200" i="1" dirty="0" err="1" smtClean="0"/>
              <a:t>gbaseserver;CLIENT_LOCALE</a:t>
            </a:r>
            <a:r>
              <a:rPr lang="en-US" altLang="zh-CN" sz="1200" i="1" dirty="0" smtClean="0"/>
              <a:t>=zh_cn.gb18030-2000;DB_LOCALE=zh_cn.gb18030-2000;NEWCODESET=gb18030,gb18030-2000,5488;user=</a:t>
            </a:r>
            <a:r>
              <a:rPr lang="en-US" altLang="zh-CN" sz="1200" i="1" dirty="0" err="1" smtClean="0"/>
              <a:t>GBASEDBT;password</a:t>
            </a:r>
            <a:r>
              <a:rPr lang="en-US" altLang="zh-CN" sz="1200" i="1" dirty="0" smtClean="0"/>
              <a:t>=GBASEDBT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787C887-E0EA-48E6-9009-742CC8F3D7AC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240716" y="601711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380" kern="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8175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 userDrawn="1"/>
        </p:nvSpPr>
        <p:spPr bwMode="auto">
          <a:xfrm>
            <a:off x="227398" y="2690706"/>
            <a:ext cx="3288080" cy="323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500" b="1" spc="650" baseline="0" dirty="0" smtClean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让世界用上中国的数据库</a:t>
            </a:r>
            <a:endParaRPr lang="zh-CN" altLang="en-US" sz="1500" b="1" spc="650" baseline="0" dirty="0">
              <a:solidFill>
                <a:srgbClr val="4945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5506720" y="2395515"/>
            <a:ext cx="6461760" cy="56944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南大通用数据技术股份有限公司</a:t>
            </a:r>
            <a:endParaRPr lang="zh-CN" altLang="en-US" dirty="0"/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36148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300" kern="0" spc="0" baseline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300" kern="0" spc="0" baseline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3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Title&amp;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标题文字</a:t>
            </a:r>
            <a:endParaRPr lang="zh-CN" altLang="en-US" dirty="0"/>
          </a:p>
        </p:txBody>
      </p:sp>
      <p:sp>
        <p:nvSpPr>
          <p:cNvPr id="4" name="TextBox 3"/>
          <p:cNvSpPr txBox="1"/>
          <p:nvPr userDrawn="1"/>
        </p:nvSpPr>
        <p:spPr bwMode="auto">
          <a:xfrm>
            <a:off x="2710008" y="6533909"/>
            <a:ext cx="43633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en-US" altLang="zh-CN" sz="1600" b="0" kern="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Title&amp;段落文本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标题文字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755650" y="1248508"/>
            <a:ext cx="1071880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0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 smtClean="0"/>
              <a:t>第一级</a:t>
            </a:r>
          </a:p>
          <a:p>
            <a:pPr lvl="1"/>
            <a:r>
              <a:rPr lang="zh-CN" altLang="en-US" dirty="0" smtClean="0"/>
              <a:t>第二级</a:t>
            </a:r>
            <a:endParaRPr lang="zh-CN" altLang="en-US" dirty="0"/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2681156" y="6533909"/>
            <a:ext cx="49404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r>
              <a:rPr lang="zh-CN" altLang="en-US" sz="1600" b="0" kern="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1600" b="0" kern="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Title&amp;文字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标题文字</a:t>
            </a:r>
            <a:endParaRPr lang="zh-CN" altLang="en-US" dirty="0"/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77280" y="1248508"/>
            <a:ext cx="529717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 smtClean="0"/>
              <a:t>第一级</a:t>
            </a:r>
          </a:p>
          <a:p>
            <a:pPr lvl="1"/>
            <a:r>
              <a:rPr lang="zh-CN" altLang="en-US" dirty="0" smtClean="0"/>
              <a:t>第二级</a:t>
            </a:r>
            <a:endParaRPr lang="zh-CN" altLang="en-US" dirty="0"/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2710009" y="6533909"/>
            <a:ext cx="436337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en-US" altLang="zh-CN" sz="1600" b="0" kern="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037516" y="605775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200" kern="0" spc="15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6143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236371" y="3381035"/>
            <a:ext cx="7816361" cy="611845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5A67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Thank you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13796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200" kern="0" spc="0" baseline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200" kern="0" spc="0" baseline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2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 txBox="1"/>
          <p:nvPr userDrawn="1"/>
        </p:nvSpPr>
        <p:spPr>
          <a:xfrm>
            <a:off x="4445779" y="1516752"/>
            <a:ext cx="3189069" cy="1582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Q&amp;A</a:t>
            </a:r>
            <a:endParaRPr kumimoji="0" lang="zh-CN" altLang="en-US" sz="96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6" name="图片 15" descr="logo_02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215120" y="5520055"/>
            <a:ext cx="2692400" cy="504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theme/theme1.xml" Type="http://schemas.openxmlformats.org/officeDocument/2006/relationships/theme"/><Relationship Id="rId7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6738"/>
            <a:ext cx="168275" cy="454025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4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GBase</a:t>
            </a:r>
            <a:r>
              <a:rPr lang="en-US" altLang="zh-CN" dirty="0" smtClean="0"/>
              <a:t> 8s</a:t>
            </a:r>
            <a:r>
              <a:rPr lang="zh-CN" altLang="en-US" dirty="0" smtClean="0"/>
              <a:t> 常用</a:t>
            </a:r>
            <a:r>
              <a:rPr lang="zh-CN" altLang="zh-CN" dirty="0" smtClean="0"/>
              <a:t>接口介绍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了解</a:t>
            </a:r>
            <a:r>
              <a:rPr lang="en-US" altLang="zh-CN" dirty="0" err="1" smtClean="0"/>
              <a:t>GBase</a:t>
            </a:r>
            <a:r>
              <a:rPr lang="en-US" altLang="zh-CN" dirty="0" smtClean="0"/>
              <a:t> 8s</a:t>
            </a:r>
            <a:r>
              <a:rPr lang="zh-CN" altLang="en-US" dirty="0" smtClean="0"/>
              <a:t>支持的接口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掌握</a:t>
            </a:r>
            <a:r>
              <a:rPr lang="en-US" altLang="zh-CN" dirty="0" err="1" smtClean="0"/>
              <a:t>GBase</a:t>
            </a:r>
            <a:r>
              <a:rPr lang="en-US" altLang="zh-CN" dirty="0" smtClean="0"/>
              <a:t> 8s</a:t>
            </a:r>
            <a:r>
              <a:rPr lang="zh-CN" altLang="en-US" dirty="0" smtClean="0"/>
              <a:t>的常用接口配置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cs typeface="宋体" panose="02010600030101010101" pitchFamily="2" charset="-122"/>
              </a:rPr>
              <a:t>概述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545" y="1196340"/>
            <a:ext cx="6847840" cy="5105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宋体" panose="02010600030101010101" pitchFamily="2" charset="-122"/>
              </a:rPr>
              <a:t>使用</a:t>
            </a:r>
            <a:r>
              <a:rPr lang="en-US" altLang="zh-CN" dirty="0">
                <a:cs typeface="宋体" panose="02010600030101010101" pitchFamily="2" charset="-122"/>
              </a:rPr>
              <a:t>ESQLC</a:t>
            </a:r>
            <a:r>
              <a:rPr lang="zh-CN" altLang="en-US" dirty="0">
                <a:cs typeface="宋体" panose="02010600030101010101" pitchFamily="2" charset="-122"/>
              </a:rPr>
              <a:t>存取</a:t>
            </a:r>
            <a:r>
              <a:rPr lang="en-US" altLang="zh-CN" dirty="0" err="1">
                <a:cs typeface="宋体" panose="02010600030101010101" pitchFamily="2" charset="-122"/>
              </a:rPr>
              <a:t>GBase</a:t>
            </a:r>
            <a:r>
              <a:rPr lang="en-US" altLang="zh-CN" dirty="0"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cs typeface="宋体" panose="02010600030101010101" pitchFamily="2" charset="-122"/>
              </a:rPr>
              <a:t>8s</a:t>
            </a:r>
            <a:r>
              <a:rPr lang="zh-CN" altLang="en-US" dirty="0" smtClean="0">
                <a:cs typeface="宋体" panose="02010600030101010101" pitchFamily="2" charset="-122"/>
              </a:rPr>
              <a:t>数</a:t>
            </a:r>
            <a:r>
              <a:rPr lang="zh-CN" altLang="en-US" dirty="0">
                <a:cs typeface="宋体" panose="02010600030101010101" pitchFamily="2" charset="-122"/>
              </a:rPr>
              <a:t>据</a:t>
            </a:r>
          </a:p>
        </p:txBody>
      </p:sp>
      <p:sp>
        <p:nvSpPr>
          <p:cNvPr id="1027075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850900" y="1033304"/>
            <a:ext cx="10718800" cy="488791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cs typeface="宋体" panose="02010600030101010101" pitchFamily="2" charset="-122"/>
                <a:sym typeface="+mn-ea"/>
              </a:rPr>
              <a:t>ESQLC</a:t>
            </a:r>
            <a:r>
              <a:rPr lang="zh-CN" altLang="en-US" sz="2400" dirty="0" smtClean="0">
                <a:cs typeface="宋体" panose="02010600030101010101" pitchFamily="2" charset="-122"/>
                <a:sym typeface="+mn-ea"/>
              </a:rPr>
              <a:t>是在</a:t>
            </a:r>
            <a:r>
              <a:rPr lang="en-US" altLang="zh-CN" sz="2400" dirty="0" smtClean="0"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sz="2400" dirty="0" smtClean="0">
                <a:cs typeface="宋体" panose="02010600030101010101" pitchFamily="2" charset="-122"/>
                <a:sym typeface="+mn-ea"/>
              </a:rPr>
              <a:t>语言程序中直接嵌入</a:t>
            </a:r>
            <a:r>
              <a:rPr lang="en-US" altLang="zh-CN" sz="2400" dirty="0" smtClean="0">
                <a:cs typeface="宋体" panose="02010600030101010101" pitchFamily="2" charset="-122"/>
                <a:sym typeface="+mn-ea"/>
              </a:rPr>
              <a:t>SQL</a:t>
            </a:r>
            <a:r>
              <a:rPr lang="zh-CN" altLang="en-US" sz="2400" dirty="0" smtClean="0">
                <a:cs typeface="宋体" panose="02010600030101010101" pitchFamily="2" charset="-122"/>
                <a:sym typeface="+mn-ea"/>
              </a:rPr>
              <a:t>语句。执行流程如下：</a:t>
            </a:r>
          </a:p>
          <a:p>
            <a:pPr marL="34163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0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altLang="zh-CN" sz="20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sz="2000" dirty="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流程图: 过程 8"/>
          <p:cNvSpPr/>
          <p:nvPr/>
        </p:nvSpPr>
        <p:spPr bwMode="auto">
          <a:xfrm>
            <a:off x="1991360" y="5036820"/>
            <a:ext cx="4970780" cy="1198879"/>
          </a:xfrm>
          <a:prstGeom prst="flowChartProcess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indent="-11938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altLang="en-US" b="1" dirty="0" smtClean="0">
                <a:cs typeface="宋体" panose="02010600030101010101" pitchFamily="2" charset="-122"/>
                <a:sym typeface="+mn-ea"/>
              </a:rPr>
              <a:t>编译执行示例：</a:t>
            </a:r>
            <a:endParaRPr lang="pt-BR" altLang="zh-CN" b="1" dirty="0" smtClean="0">
              <a:cs typeface="宋体" panose="02010600030101010101" pitchFamily="2" charset="-122"/>
              <a:sym typeface="+mn-ea"/>
            </a:endParaRPr>
          </a:p>
          <a:p>
            <a:pPr marL="119380" indent="-11938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altLang="pt-BR" dirty="0" smtClean="0"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编译：</a:t>
            </a:r>
            <a:r>
              <a:rPr lang="pt-BR" altLang="zh-CN" dirty="0" smtClean="0">
                <a:cs typeface="宋体" panose="02010600030101010101" pitchFamily="2" charset="-122"/>
                <a:sym typeface="+mn-ea"/>
              </a:rPr>
              <a:t>esql  </a:t>
            </a:r>
            <a:r>
              <a:rPr lang="pt-BR" altLang="zh-CN" dirty="0">
                <a:cs typeface="宋体" panose="02010600030101010101" pitchFamily="2" charset="-122"/>
                <a:sym typeface="+mn-ea"/>
              </a:rPr>
              <a:t>demo1.ec </a:t>
            </a:r>
            <a:r>
              <a:rPr lang="pt-BR" altLang="zh-CN" dirty="0" smtClean="0">
                <a:cs typeface="宋体" panose="02010600030101010101" pitchFamily="2" charset="-122"/>
                <a:sym typeface="+mn-ea"/>
              </a:rPr>
              <a:t> -</a:t>
            </a:r>
            <a:r>
              <a:rPr lang="pt-BR" altLang="zh-CN" dirty="0">
                <a:cs typeface="宋体" panose="02010600030101010101" pitchFamily="2" charset="-122"/>
                <a:sym typeface="+mn-ea"/>
              </a:rPr>
              <a:t>l  lib.a   -o  </a:t>
            </a:r>
            <a:r>
              <a:rPr lang="pt-BR" altLang="zh-CN" dirty="0" smtClean="0">
                <a:cs typeface="宋体" panose="02010600030101010101" pitchFamily="2" charset="-122"/>
                <a:sym typeface="+mn-ea"/>
              </a:rPr>
              <a:t>demo1.ece</a:t>
            </a:r>
          </a:p>
          <a:p>
            <a:pPr marL="119380" indent="-11938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altLang="en-US" dirty="0">
                <a:cs typeface="宋体" panose="02010600030101010101" pitchFamily="2" charset="-122"/>
                <a:sym typeface="+mn-ea"/>
              </a:rPr>
              <a:t>执行：</a:t>
            </a:r>
            <a:r>
              <a:rPr lang="en-US" altLang="zh-CN" dirty="0">
                <a:cs typeface="宋体" panose="02010600030101010101" pitchFamily="2" charset="-122"/>
                <a:sym typeface="+mn-ea"/>
              </a:rPr>
              <a:t>./demo1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2104" y="1498275"/>
            <a:ext cx="26780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源文件示例：</a:t>
            </a:r>
            <a:r>
              <a:rPr lang="en-US" altLang="zh-CN" b="1" dirty="0"/>
              <a:t>demo</a:t>
            </a:r>
            <a:r>
              <a:rPr lang="en-US" altLang="zh-CN" b="1" dirty="0" smtClean="0"/>
              <a:t>.ec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 bwMode="auto">
          <a:xfrm>
            <a:off x="7077189" y="1531501"/>
            <a:ext cx="3063600" cy="50040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流程图: 过程 2"/>
          <p:cNvSpPr/>
          <p:nvPr/>
        </p:nvSpPr>
        <p:spPr bwMode="auto">
          <a:xfrm>
            <a:off x="2767685" y="1583055"/>
            <a:ext cx="4194000" cy="339724"/>
          </a:xfrm>
          <a:prstGeom prst="flowChart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indent="-119380" algn="ctr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en-US" altLang="zh-CN" dirty="0">
                <a:cs typeface="宋体" panose="02010600030101010101" pitchFamily="2" charset="-122"/>
                <a:sym typeface="+mn-ea"/>
              </a:rPr>
              <a:t>vi</a:t>
            </a:r>
            <a:r>
              <a:rPr lang="zh-CN" altLang="en-US" dirty="0">
                <a:cs typeface="宋体" panose="02010600030101010101" pitchFamily="2" charset="-122"/>
                <a:sym typeface="+mn-ea"/>
              </a:rPr>
              <a:t>编辑</a:t>
            </a:r>
            <a:r>
              <a:rPr lang="en-US" altLang="zh-CN" dirty="0">
                <a:cs typeface="宋体" panose="02010600030101010101" pitchFamily="2" charset="-122"/>
                <a:sym typeface="+mn-ea"/>
              </a:rPr>
              <a:t>ESQLC</a:t>
            </a:r>
            <a:r>
              <a:rPr lang="zh-CN" altLang="en-US" dirty="0">
                <a:cs typeface="宋体" panose="02010600030101010101" pitchFamily="2" charset="-122"/>
                <a:sym typeface="+mn-ea"/>
              </a:rPr>
              <a:t>程序（</a:t>
            </a:r>
            <a:r>
              <a:rPr lang="en-US" altLang="zh-CN" dirty="0"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dirty="0" err="1">
                <a:cs typeface="宋体" panose="02010600030101010101" pitchFamily="2" charset="-122"/>
                <a:sym typeface="+mn-ea"/>
              </a:rPr>
              <a:t>ec</a:t>
            </a:r>
            <a:r>
              <a:rPr lang="zh-CN" altLang="zh-CN" dirty="0">
                <a:cs typeface="宋体" panose="02010600030101010101" pitchFamily="2" charset="-122"/>
                <a:sym typeface="+mn-ea"/>
              </a:rPr>
              <a:t>文件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>
            <a:off x="4799965" y="1922780"/>
            <a:ext cx="0" cy="2343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sp>
        <p:nvSpPr>
          <p:cNvPr id="13" name="流程图: 过程 12"/>
          <p:cNvSpPr/>
          <p:nvPr/>
        </p:nvSpPr>
        <p:spPr bwMode="auto">
          <a:xfrm>
            <a:off x="2748000" y="2157730"/>
            <a:ext cx="4194000" cy="339724"/>
          </a:xfrm>
          <a:prstGeom prst="flowChart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indent="-119380" algn="ctr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将</a:t>
            </a:r>
            <a:r>
              <a:rPr lang="en-US" altLang="zh-CN" dirty="0" smtClean="0"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dirty="0" err="1" smtClean="0">
                <a:cs typeface="宋体" panose="02010600030101010101" pitchFamily="2" charset="-122"/>
                <a:sym typeface="+mn-ea"/>
              </a:rPr>
              <a:t>ec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文件转换成</a:t>
            </a:r>
            <a:r>
              <a:rPr lang="en-US" altLang="zh-CN" dirty="0" smtClean="0">
                <a:cs typeface="宋体" panose="02010600030101010101" pitchFamily="2" charset="-122"/>
                <a:sym typeface="+mn-ea"/>
              </a:rPr>
              <a:t>.c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文件</a:t>
            </a:r>
            <a:endParaRPr lang="zh-CN" altLang="en-US" dirty="0">
              <a:cs typeface="宋体" panose="02010600030101010101" pitchFamily="2" charset="-122"/>
              <a:sym typeface="+mn-ea"/>
            </a:endParaRPr>
          </a:p>
        </p:txBody>
      </p:sp>
      <p:sp>
        <p:nvSpPr>
          <p:cNvPr id="16" name="流程图: 过程 15"/>
          <p:cNvSpPr/>
          <p:nvPr/>
        </p:nvSpPr>
        <p:spPr bwMode="auto">
          <a:xfrm>
            <a:off x="2748000" y="2752090"/>
            <a:ext cx="4192270" cy="339724"/>
          </a:xfrm>
          <a:prstGeom prst="flowChart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indent="-119380" algn="ctr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调用</a:t>
            </a:r>
            <a:r>
              <a:rPr lang="en-US" altLang="zh-CN" dirty="0"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编译器将</a:t>
            </a:r>
            <a:r>
              <a:rPr lang="en-US" altLang="zh-CN" dirty="0" smtClean="0"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文件转换成</a:t>
            </a:r>
            <a:r>
              <a:rPr lang="en-US" altLang="zh-CN" dirty="0" smtClean="0">
                <a:cs typeface="宋体" panose="02010600030101010101" pitchFamily="2" charset="-122"/>
                <a:sym typeface="+mn-ea"/>
              </a:rPr>
              <a:t>.o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目标文件</a:t>
            </a:r>
            <a:endParaRPr lang="zh-CN" altLang="en-US" dirty="0">
              <a:cs typeface="宋体" panose="02010600030101010101" pitchFamily="2" charset="-122"/>
              <a:sym typeface="+mn-ea"/>
            </a:endParaRPr>
          </a:p>
        </p:txBody>
      </p:sp>
      <p:sp>
        <p:nvSpPr>
          <p:cNvPr id="18" name="流程图: 过程 17"/>
          <p:cNvSpPr/>
          <p:nvPr/>
        </p:nvSpPr>
        <p:spPr bwMode="auto">
          <a:xfrm>
            <a:off x="2748000" y="3312795"/>
            <a:ext cx="4192270" cy="837564"/>
          </a:xfrm>
          <a:prstGeom prst="flowChart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indent="-119380" algn="ctr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altLang="en-US" dirty="0">
                <a:cs typeface="宋体" panose="02010600030101010101" pitchFamily="2" charset="-122"/>
                <a:sym typeface="+mn-ea"/>
              </a:rPr>
              <a:t>调用</a:t>
            </a:r>
            <a:r>
              <a:rPr lang="en-US" altLang="zh-CN" dirty="0"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dirty="0">
                <a:cs typeface="宋体" panose="02010600030101010101" pitchFamily="2" charset="-122"/>
                <a:sym typeface="+mn-ea"/>
              </a:rPr>
              <a:t>语言标准库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dirty="0" smtClean="0">
                <a:cs typeface="宋体" panose="02010600030101010101" pitchFamily="2" charset="-122"/>
                <a:sym typeface="+mn-ea"/>
              </a:rPr>
              <a:t>GBASEDBT-ESQL/C</a:t>
            </a:r>
            <a:r>
              <a:rPr lang="zh-CN" altLang="en-US" dirty="0">
                <a:cs typeface="宋体" panose="02010600030101010101" pitchFamily="2" charset="-122"/>
                <a:sym typeface="+mn-ea"/>
              </a:rPr>
              <a:t>库以及用户自己所链接的库生成可执行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文件（</a:t>
            </a:r>
            <a:r>
              <a:rPr lang="en-US" altLang="zh-CN" dirty="0" smtClean="0"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dirty="0" err="1" smtClean="0">
                <a:cs typeface="宋体" panose="02010600030101010101" pitchFamily="2" charset="-122"/>
                <a:sym typeface="+mn-ea"/>
              </a:rPr>
              <a:t>ece</a:t>
            </a:r>
            <a:r>
              <a:rPr lang="zh-CN" altLang="en-US" dirty="0" smtClean="0">
                <a:cs typeface="宋体" panose="02010600030101010101" pitchFamily="2" charset="-122"/>
                <a:sym typeface="+mn-ea"/>
              </a:rPr>
              <a:t>文件）</a:t>
            </a:r>
            <a:endParaRPr lang="zh-CN" altLang="en-US" dirty="0"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398270" y="2640965"/>
            <a:ext cx="747395" cy="9759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r>
              <a:rPr lang="zh-CN" altLang="en-US" sz="1600" b="1" dirty="0" smtClean="0">
                <a:latin typeface="Arial" panose="020B0604020202020204" pitchFamily="34" charset="0"/>
              </a:rPr>
              <a:t>使用</a:t>
            </a:r>
            <a:r>
              <a:rPr lang="en-US" altLang="zh-CN" sz="1600" b="1" dirty="0" err="1" smtClean="0">
                <a:latin typeface="Arial" panose="020B0604020202020204" pitchFamily="34" charset="0"/>
              </a:rPr>
              <a:t>e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命令编译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4783455" y="2508250"/>
            <a:ext cx="0" cy="2343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11" name="直接箭头连接符 10"/>
          <p:cNvCxnSpPr/>
          <p:nvPr/>
        </p:nvCxnSpPr>
        <p:spPr bwMode="auto">
          <a:xfrm>
            <a:off x="4780915" y="3095625"/>
            <a:ext cx="0" cy="2343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22" name="直接箭头连接符 21"/>
          <p:cNvCxnSpPr/>
          <p:nvPr/>
        </p:nvCxnSpPr>
        <p:spPr bwMode="auto">
          <a:xfrm>
            <a:off x="4778375" y="4155440"/>
            <a:ext cx="0" cy="2343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sp>
        <p:nvSpPr>
          <p:cNvPr id="23" name="流程图: 过程 22"/>
          <p:cNvSpPr/>
          <p:nvPr/>
        </p:nvSpPr>
        <p:spPr bwMode="auto">
          <a:xfrm>
            <a:off x="2748000" y="4365625"/>
            <a:ext cx="4194000" cy="339724"/>
          </a:xfrm>
          <a:prstGeom prst="flowChart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indent="-119380" algn="ctr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</a:pPr>
            <a:r>
              <a:rPr lang="zh-CN" dirty="0"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执行生成的可执行文件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489" y="1958265"/>
            <a:ext cx="2880320" cy="4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左大括号 1"/>
          <p:cNvSpPr/>
          <p:nvPr/>
        </p:nvSpPr>
        <p:spPr>
          <a:xfrm>
            <a:off x="2357755" y="2336800"/>
            <a:ext cx="360045" cy="1584325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宋体" panose="02010600030101010101" pitchFamily="2" charset="-122"/>
              </a:rPr>
              <a:t>使用</a:t>
            </a:r>
            <a:r>
              <a:rPr lang="en-US" altLang="zh-CN" dirty="0">
                <a:cs typeface="宋体" panose="02010600030101010101" pitchFamily="2" charset="-122"/>
              </a:rPr>
              <a:t>ESQLC</a:t>
            </a:r>
            <a:r>
              <a:rPr lang="zh-CN" altLang="en-US" dirty="0" smtClean="0">
                <a:cs typeface="宋体" panose="02010600030101010101" pitchFamily="2" charset="-122"/>
              </a:rPr>
              <a:t>存取</a:t>
            </a:r>
            <a:r>
              <a:rPr lang="en-US" altLang="zh-CN" dirty="0" err="1" smtClean="0">
                <a:cs typeface="宋体" panose="02010600030101010101" pitchFamily="2" charset="-122"/>
              </a:rPr>
              <a:t>GBase</a:t>
            </a:r>
            <a:r>
              <a:rPr lang="en-US" altLang="zh-CN" dirty="0" smtClean="0">
                <a:cs typeface="宋体" panose="02010600030101010101" pitchFamily="2" charset="-122"/>
              </a:rPr>
              <a:t> 8s</a:t>
            </a:r>
            <a:r>
              <a:rPr lang="zh-CN" altLang="en-US" dirty="0" smtClean="0">
                <a:cs typeface="宋体" panose="02010600030101010101" pitchFamily="2" charset="-122"/>
              </a:rPr>
              <a:t>数据</a:t>
            </a:r>
            <a:endParaRPr lang="zh-CN" altLang="en-US" dirty="0"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62200" y="1888584"/>
            <a:ext cx="7162800" cy="3888105"/>
            <a:chOff x="1320" y="2075"/>
            <a:chExt cx="11280" cy="6123"/>
          </a:xfrm>
        </p:grpSpPr>
        <p:sp>
          <p:nvSpPr>
            <p:cNvPr id="1035268" name="Rectangle 4"/>
            <p:cNvSpPr>
              <a:spLocks noChangeArrowheads="1"/>
            </p:cNvSpPr>
            <p:nvPr/>
          </p:nvSpPr>
          <p:spPr bwMode="auto">
            <a:xfrm>
              <a:off x="8640" y="2075"/>
              <a:ext cx="3960" cy="54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269" name="Text Box 5"/>
            <p:cNvSpPr txBox="1">
              <a:spLocks noChangeArrowheads="1"/>
            </p:cNvSpPr>
            <p:nvPr/>
          </p:nvSpPr>
          <p:spPr bwMode="auto">
            <a:xfrm>
              <a:off x="9480" y="2195"/>
              <a:ext cx="2228" cy="5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Linux</a:t>
              </a:r>
              <a:r>
                <a:rPr lang="zh-CN" altLang="en-US"/>
                <a:t>服务器</a:t>
              </a:r>
            </a:p>
          </p:txBody>
        </p:sp>
        <p:sp>
          <p:nvSpPr>
            <p:cNvPr id="1035271" name="Text Box 7"/>
            <p:cNvSpPr txBox="1">
              <a:spLocks noChangeArrowheads="1"/>
            </p:cNvSpPr>
            <p:nvPr/>
          </p:nvSpPr>
          <p:spPr bwMode="auto">
            <a:xfrm>
              <a:off x="9704" y="4115"/>
              <a:ext cx="1886" cy="5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err="1" smtClean="0">
                  <a:cs typeface="宋体" panose="02010600030101010101" pitchFamily="2" charset="-122"/>
                </a:rPr>
                <a:t>GBase</a:t>
              </a:r>
              <a:r>
                <a:rPr lang="en-US" altLang="zh-CN" dirty="0" smtClean="0">
                  <a:cs typeface="宋体" panose="02010600030101010101" pitchFamily="2" charset="-122"/>
                </a:rPr>
                <a:t> 8s</a:t>
              </a:r>
              <a:endParaRPr lang="en-US" altLang="zh-CN" dirty="0"/>
            </a:p>
          </p:txBody>
        </p:sp>
        <p:sp>
          <p:nvSpPr>
            <p:cNvPr id="1035278" name="AutoShape 14"/>
            <p:cNvSpPr>
              <a:spLocks noChangeArrowheads="1"/>
            </p:cNvSpPr>
            <p:nvPr/>
          </p:nvSpPr>
          <p:spPr bwMode="auto">
            <a:xfrm>
              <a:off x="4920" y="6635"/>
              <a:ext cx="4320" cy="120"/>
            </a:xfrm>
            <a:prstGeom prst="rightArrow">
              <a:avLst>
                <a:gd name="adj1" fmla="val 50000"/>
                <a:gd name="adj2" fmla="val 900000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279" name="AutoShape 15"/>
            <p:cNvSpPr>
              <a:spLocks noChangeArrowheads="1"/>
            </p:cNvSpPr>
            <p:nvPr/>
          </p:nvSpPr>
          <p:spPr bwMode="auto">
            <a:xfrm>
              <a:off x="4920" y="6395"/>
              <a:ext cx="4320" cy="120"/>
            </a:xfrm>
            <a:prstGeom prst="leftArrow">
              <a:avLst>
                <a:gd name="adj1" fmla="val 50000"/>
                <a:gd name="adj2" fmla="val 900000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267" name="Rectangle 3"/>
            <p:cNvSpPr>
              <a:spLocks noChangeArrowheads="1"/>
            </p:cNvSpPr>
            <p:nvPr/>
          </p:nvSpPr>
          <p:spPr bwMode="auto">
            <a:xfrm>
              <a:off x="1320" y="2075"/>
              <a:ext cx="3840" cy="54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272" name="Text Box 8"/>
            <p:cNvSpPr txBox="1">
              <a:spLocks noChangeArrowheads="1"/>
            </p:cNvSpPr>
            <p:nvPr/>
          </p:nvSpPr>
          <p:spPr bwMode="auto">
            <a:xfrm>
              <a:off x="1440" y="2195"/>
              <a:ext cx="3308" cy="5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/>
                <a:t>Linux</a:t>
              </a:r>
              <a:r>
                <a:rPr lang="zh-CN" altLang="en-US" dirty="0" smtClean="0"/>
                <a:t>客户端</a:t>
              </a:r>
              <a:r>
                <a:rPr lang="zh-CN" altLang="en-US" dirty="0"/>
                <a:t>计算机</a:t>
              </a:r>
            </a:p>
          </p:txBody>
        </p:sp>
        <p:sp>
          <p:nvSpPr>
            <p:cNvPr id="1035274" name="Rectangle 10"/>
            <p:cNvSpPr>
              <a:spLocks noChangeArrowheads="1"/>
            </p:cNvSpPr>
            <p:nvPr/>
          </p:nvSpPr>
          <p:spPr bwMode="auto">
            <a:xfrm>
              <a:off x="2040" y="3035"/>
              <a:ext cx="2280" cy="108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ESQLC</a:t>
              </a:r>
            </a:p>
            <a:p>
              <a:pPr algn="ctr"/>
              <a:r>
                <a:rPr lang="zh-CN" altLang="en-US"/>
                <a:t>客户端程序</a:t>
              </a:r>
            </a:p>
          </p:txBody>
        </p:sp>
        <p:sp>
          <p:nvSpPr>
            <p:cNvPr id="1035277" name="AutoShape 13"/>
            <p:cNvSpPr>
              <a:spLocks noChangeArrowheads="1"/>
            </p:cNvSpPr>
            <p:nvPr/>
          </p:nvSpPr>
          <p:spPr bwMode="auto">
            <a:xfrm>
              <a:off x="2520" y="4115"/>
              <a:ext cx="120" cy="180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35280" name="AutoShape 16"/>
            <p:cNvSpPr>
              <a:spLocks noChangeArrowheads="1"/>
            </p:cNvSpPr>
            <p:nvPr/>
          </p:nvSpPr>
          <p:spPr bwMode="auto">
            <a:xfrm>
              <a:off x="3720" y="4115"/>
              <a:ext cx="120" cy="1800"/>
            </a:xfrm>
            <a:prstGeom prst="upArrow">
              <a:avLst>
                <a:gd name="adj1" fmla="val 50000"/>
                <a:gd name="adj2" fmla="val 375000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35281" name="Rectangle 17"/>
            <p:cNvSpPr>
              <a:spLocks noChangeArrowheads="1"/>
            </p:cNvSpPr>
            <p:nvPr/>
          </p:nvSpPr>
          <p:spPr bwMode="auto">
            <a:xfrm>
              <a:off x="1560" y="5915"/>
              <a:ext cx="3360" cy="108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CSDK</a:t>
              </a:r>
            </a:p>
          </p:txBody>
        </p:sp>
        <p:sp>
          <p:nvSpPr>
            <p:cNvPr id="1035270" name="Rectangle 6"/>
            <p:cNvSpPr>
              <a:spLocks noChangeArrowheads="1"/>
            </p:cNvSpPr>
            <p:nvPr/>
          </p:nvSpPr>
          <p:spPr bwMode="auto">
            <a:xfrm>
              <a:off x="9203" y="3247"/>
              <a:ext cx="2760" cy="384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35290" name="Text Box 26"/>
            <p:cNvSpPr txBox="1">
              <a:spLocks noChangeArrowheads="1"/>
            </p:cNvSpPr>
            <p:nvPr/>
          </p:nvSpPr>
          <p:spPr bwMode="auto">
            <a:xfrm>
              <a:off x="1895" y="7618"/>
              <a:ext cx="2388" cy="5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9.125.66.130</a:t>
              </a:r>
            </a:p>
          </p:txBody>
        </p:sp>
        <p:sp>
          <p:nvSpPr>
            <p:cNvPr id="1035291" name="Text Box 27"/>
            <p:cNvSpPr txBox="1">
              <a:spLocks noChangeArrowheads="1"/>
            </p:cNvSpPr>
            <p:nvPr/>
          </p:nvSpPr>
          <p:spPr bwMode="auto">
            <a:xfrm>
              <a:off x="9480" y="7595"/>
              <a:ext cx="2188" cy="5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9.125.66.53</a:t>
              </a:r>
            </a:p>
          </p:txBody>
        </p:sp>
        <p:sp>
          <p:nvSpPr>
            <p:cNvPr id="1035293" name="Text Box 29"/>
            <p:cNvSpPr txBox="1">
              <a:spLocks noChangeArrowheads="1"/>
            </p:cNvSpPr>
            <p:nvPr/>
          </p:nvSpPr>
          <p:spPr bwMode="auto">
            <a:xfrm>
              <a:off x="9240" y="6275"/>
              <a:ext cx="1088" cy="5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9088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207568" y="1165364"/>
            <a:ext cx="424847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概览图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宋体" panose="02010600030101010101" pitchFamily="2" charset="-122"/>
              </a:rPr>
              <a:t>使用</a:t>
            </a:r>
            <a:r>
              <a:rPr lang="en-US" altLang="zh-CN" dirty="0">
                <a:cs typeface="宋体" panose="02010600030101010101" pitchFamily="2" charset="-122"/>
              </a:rPr>
              <a:t>ESQLC</a:t>
            </a:r>
            <a:r>
              <a:rPr lang="zh-CN" altLang="en-US" dirty="0">
                <a:cs typeface="宋体" panose="02010600030101010101" pitchFamily="2" charset="-122"/>
              </a:rPr>
              <a:t>存取</a:t>
            </a:r>
            <a:r>
              <a:rPr lang="en-US" altLang="zh-CN" dirty="0" err="1">
                <a:cs typeface="宋体" panose="02010600030101010101" pitchFamily="2" charset="-122"/>
              </a:rPr>
              <a:t>GBase</a:t>
            </a:r>
            <a:r>
              <a:rPr lang="en-US" altLang="zh-CN" dirty="0"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cs typeface="宋体" panose="02010600030101010101" pitchFamily="2" charset="-122"/>
              </a:rPr>
              <a:t>8s</a:t>
            </a:r>
            <a:r>
              <a:rPr lang="zh-CN" altLang="en-US" dirty="0" smtClean="0">
                <a:cs typeface="宋体" panose="02010600030101010101" pitchFamily="2" charset="-122"/>
              </a:rPr>
              <a:t>数</a:t>
            </a:r>
            <a:r>
              <a:rPr lang="zh-CN" altLang="en-US" dirty="0">
                <a:cs typeface="宋体" panose="02010600030101010101" pitchFamily="2" charset="-122"/>
              </a:rPr>
              <a:t>据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800" dirty="0"/>
              <a:t>任何可以交互式输入的 </a:t>
            </a:r>
            <a:r>
              <a:rPr kumimoji="1" lang="en-US" altLang="zh-CN" sz="1800" dirty="0"/>
              <a:t>SQL</a:t>
            </a:r>
            <a:r>
              <a:rPr kumimoji="1" lang="zh-CN" altLang="en-US" sz="1800" dirty="0"/>
              <a:t>语句，例如数据定义语句、数据检索语句、数据控制语句等，都可以嵌入到</a:t>
            </a:r>
            <a:r>
              <a:rPr kumimoji="1" lang="en-US" altLang="zh-CN" sz="1800" dirty="0"/>
              <a:t>C</a:t>
            </a:r>
            <a:r>
              <a:rPr kumimoji="1" lang="zh-CN" altLang="en-US" sz="1800" dirty="0"/>
              <a:t>程序</a:t>
            </a:r>
            <a:r>
              <a:rPr kumimoji="1" lang="zh-CN" altLang="en-US" sz="1800" dirty="0" smtClean="0"/>
              <a:t>中，可以</a:t>
            </a:r>
            <a:r>
              <a:rPr kumimoji="1" lang="zh-CN" altLang="en-US" sz="1800" dirty="0"/>
              <a:t>使用两种方法指明 </a:t>
            </a:r>
            <a:r>
              <a:rPr kumimoji="1" lang="en-US" altLang="zh-CN" sz="1800" dirty="0"/>
              <a:t>SQL</a:t>
            </a:r>
            <a:r>
              <a:rPr kumimoji="1" lang="zh-CN" altLang="en-US" sz="1800" dirty="0" smtClean="0"/>
              <a:t>语句</a:t>
            </a:r>
            <a:r>
              <a:rPr kumimoji="1" lang="en-US" altLang="zh-CN" sz="1800" dirty="0" smtClean="0"/>
              <a:t> </a:t>
            </a:r>
            <a:r>
              <a:rPr kumimoji="1" lang="zh-CN" altLang="en-US" sz="1800" dirty="0" smtClean="0"/>
              <a:t>：</a:t>
            </a:r>
            <a:endParaRPr kumimoji="1" lang="en-US" altLang="zh-CN" sz="1800" dirty="0" smtClean="0"/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kumimoji="1" lang="zh-CN" altLang="en-US" dirty="0" smtClean="0"/>
              <a:t>一种</a:t>
            </a:r>
            <a:r>
              <a:rPr kumimoji="1" lang="zh-CN" altLang="en-US" dirty="0"/>
              <a:t>是在 </a:t>
            </a:r>
            <a:r>
              <a:rPr kumimoji="1" lang="en-US" altLang="zh-CN" dirty="0"/>
              <a:t>SQL </a:t>
            </a:r>
            <a:r>
              <a:rPr kumimoji="1" lang="zh-CN" altLang="en-US" dirty="0"/>
              <a:t>语句之前用“</a:t>
            </a:r>
            <a:r>
              <a:rPr kumimoji="1" lang="en-US" altLang="zh-CN" dirty="0"/>
              <a:t>$”</a:t>
            </a:r>
            <a:r>
              <a:rPr kumimoji="1" lang="zh-CN" altLang="en-US" dirty="0"/>
              <a:t>作为前缀，如</a:t>
            </a:r>
            <a:r>
              <a:rPr kumimoji="1" lang="zh-CN" altLang="en-US" dirty="0" smtClean="0"/>
              <a:t>：</a:t>
            </a:r>
            <a:endParaRPr kumimoji="1" lang="zh-CN" altLang="en-US" dirty="0"/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#include &lt;</a:t>
            </a:r>
            <a:r>
              <a:rPr kumimoji="1" lang="en-US" altLang="zh-CN" dirty="0" err="1"/>
              <a:t>stdio.h</a:t>
            </a:r>
            <a:r>
              <a:rPr kumimoji="1" lang="en-US" altLang="zh-CN" dirty="0"/>
              <a:t>&gt;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main()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{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$ database book;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$ delete from book where </a:t>
            </a:r>
            <a:r>
              <a:rPr kumimoji="1" lang="en-US" altLang="zh-CN" dirty="0" err="1"/>
              <a:t>book_num</a:t>
            </a:r>
            <a:r>
              <a:rPr kumimoji="1" lang="en-US" altLang="zh-CN" dirty="0"/>
              <a:t>=100;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}  </a:t>
            </a:r>
          </a:p>
          <a:p>
            <a:pPr marL="684530" lvl="1" indent="-342900">
              <a:lnSpc>
                <a:spcPct val="100000"/>
              </a:lnSpc>
              <a:buFont typeface="+mj-lt"/>
              <a:buAutoNum type="arabicPeriod" startAt="2"/>
            </a:pPr>
            <a:r>
              <a:rPr kumimoji="1" lang="zh-CN" altLang="en-US" dirty="0"/>
              <a:t>另一种是在</a:t>
            </a:r>
            <a:r>
              <a:rPr kumimoji="1" lang="en-US" altLang="zh-CN" dirty="0"/>
              <a:t>SQL</a:t>
            </a:r>
            <a:r>
              <a:rPr kumimoji="1" lang="zh-CN" altLang="en-US" dirty="0"/>
              <a:t>语句之前使用</a:t>
            </a:r>
            <a:r>
              <a:rPr kumimoji="1" lang="en-US" altLang="zh-CN" dirty="0"/>
              <a:t>ANSI</a:t>
            </a:r>
            <a:r>
              <a:rPr kumimoji="1" lang="zh-CN" altLang="en-US" dirty="0"/>
              <a:t>标准的</a:t>
            </a:r>
            <a:r>
              <a:rPr kumimoji="1" lang="en-US" altLang="zh-CN" dirty="0"/>
              <a:t>EXEC SQL</a:t>
            </a:r>
            <a:r>
              <a:rPr kumimoji="1" lang="zh-CN" altLang="en-US" dirty="0"/>
              <a:t>关键字来标识，如</a:t>
            </a:r>
            <a:r>
              <a:rPr kumimoji="1" lang="zh-CN" altLang="en-US" dirty="0" smtClean="0"/>
              <a:t>：</a:t>
            </a:r>
            <a:endParaRPr kumimoji="1" lang="zh-CN" altLang="en-US" dirty="0"/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#include &lt;</a:t>
            </a:r>
            <a:r>
              <a:rPr kumimoji="1" lang="en-US" altLang="zh-CN" dirty="0" err="1"/>
              <a:t>stdio.h</a:t>
            </a:r>
            <a:r>
              <a:rPr kumimoji="1" lang="en-US" altLang="zh-CN" dirty="0"/>
              <a:t>&gt;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main()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{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EXEC SQL database book;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/>
              <a:t>EXEC SQL delete from book where </a:t>
            </a:r>
            <a:r>
              <a:rPr kumimoji="1" lang="en-US" altLang="zh-CN" dirty="0" err="1"/>
              <a:t>book_num</a:t>
            </a:r>
            <a:r>
              <a:rPr kumimoji="1" lang="en-US" altLang="zh-CN" dirty="0"/>
              <a:t>=100;  </a:t>
            </a:r>
          </a:p>
          <a:p>
            <a:pPr lvl="1">
              <a:lnSpc>
                <a:spcPct val="100000"/>
              </a:lnSpc>
              <a:buNone/>
            </a:pPr>
            <a:r>
              <a:rPr kumimoji="1" lang="en-US" altLang="zh-CN" dirty="0" smtClean="0"/>
              <a:t>} </a:t>
            </a:r>
            <a:endParaRPr kumimoji="1"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宋体" panose="02010600030101010101" pitchFamily="2" charset="-122"/>
              </a:rPr>
              <a:t>使用</a:t>
            </a:r>
            <a:r>
              <a:rPr lang="en-US" altLang="zh-CN" dirty="0">
                <a:cs typeface="宋体" panose="02010600030101010101" pitchFamily="2" charset="-122"/>
              </a:rPr>
              <a:t>ESQLC</a:t>
            </a:r>
            <a:r>
              <a:rPr lang="zh-CN" altLang="en-US" dirty="0">
                <a:cs typeface="宋体" panose="02010600030101010101" pitchFamily="2" charset="-122"/>
              </a:rPr>
              <a:t>存取</a:t>
            </a:r>
            <a:r>
              <a:rPr lang="en-US" altLang="zh-CN" dirty="0" err="1">
                <a:cs typeface="宋体" panose="02010600030101010101" pitchFamily="2" charset="-122"/>
              </a:rPr>
              <a:t>GBase</a:t>
            </a:r>
            <a:r>
              <a:rPr lang="en-US" altLang="zh-CN" dirty="0"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cs typeface="宋体" panose="02010600030101010101" pitchFamily="2" charset="-122"/>
              </a:rPr>
              <a:t>8s</a:t>
            </a:r>
            <a:r>
              <a:rPr lang="zh-CN" altLang="en-US" dirty="0" smtClean="0">
                <a:cs typeface="宋体" panose="02010600030101010101" pitchFamily="2" charset="-122"/>
              </a:rPr>
              <a:t>数</a:t>
            </a:r>
            <a:r>
              <a:rPr lang="zh-CN" altLang="en-US" dirty="0">
                <a:cs typeface="宋体" panose="02010600030101010101" pitchFamily="2" charset="-122"/>
              </a:rPr>
              <a:t>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dirty="0" smtClean="0"/>
              <a:t>ESQLC</a:t>
            </a:r>
            <a:r>
              <a:rPr lang="zh-CN" altLang="en-US" dirty="0" smtClean="0"/>
              <a:t>编程基本步骤</a:t>
            </a:r>
            <a:endParaRPr lang="en-US" altLang="zh-CN" dirty="0" smtClean="0"/>
          </a:p>
          <a:p>
            <a:pPr marL="8001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 smtClean="0"/>
              <a:t>导</a:t>
            </a:r>
            <a:r>
              <a:rPr lang="zh-CN" altLang="en-US" dirty="0"/>
              <a:t>入</a:t>
            </a:r>
            <a:r>
              <a:rPr lang="zh-CN" altLang="en-US" dirty="0" smtClean="0"/>
              <a:t>头文件</a:t>
            </a:r>
            <a:endParaRPr lang="en-US" altLang="zh-CN" dirty="0" smtClean="0"/>
          </a:p>
          <a:p>
            <a:pPr marL="685800" lvl="2" indent="0">
              <a:lnSpc>
                <a:spcPct val="200000"/>
              </a:lnSpc>
              <a:buNone/>
            </a:pPr>
            <a:r>
              <a:rPr lang="en-US" altLang="zh-CN" dirty="0" err="1" smtClean="0"/>
              <a:t>sqlca.h</a:t>
            </a:r>
            <a:r>
              <a:rPr lang="zh-CN" altLang="en-US" dirty="0" smtClean="0"/>
              <a:t>建立应用程序和数据库的</a:t>
            </a:r>
            <a:r>
              <a:rPr lang="en-US" altLang="zh-CN" dirty="0" smtClean="0"/>
              <a:t>SQL</a:t>
            </a:r>
            <a:r>
              <a:rPr lang="zh-CN" altLang="en-US" dirty="0" smtClean="0"/>
              <a:t>通信区域</a:t>
            </a:r>
            <a:endParaRPr lang="en-US" altLang="zh-CN" dirty="0" smtClean="0"/>
          </a:p>
          <a:p>
            <a:pPr marL="8001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 smtClean="0"/>
              <a:t>声明宿主变量</a:t>
            </a:r>
            <a:endParaRPr lang="en-US" altLang="zh-CN" dirty="0" smtClean="0"/>
          </a:p>
          <a:p>
            <a:pPr marL="8001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 smtClean="0"/>
              <a:t>连接到数据库服务器</a:t>
            </a:r>
            <a:endParaRPr lang="en-US" altLang="zh-CN" dirty="0" smtClean="0"/>
          </a:p>
          <a:p>
            <a:pPr marL="8001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 smtClean="0"/>
              <a:t>通过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语句操作数据</a:t>
            </a:r>
            <a:endParaRPr lang="en-US" altLang="zh-CN" dirty="0" smtClean="0"/>
          </a:p>
          <a:p>
            <a:pPr marL="8001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 smtClean="0"/>
              <a:t>处理错误和结果信息</a:t>
            </a:r>
            <a:endParaRPr lang="en-US" altLang="zh-CN" dirty="0" smtClean="0"/>
          </a:p>
          <a:p>
            <a:pPr marL="342900" lvl="1" indent="0">
              <a:lnSpc>
                <a:spcPct val="200000"/>
              </a:lnSpc>
              <a:buNone/>
            </a:pPr>
            <a:r>
              <a:rPr lang="zh-CN" altLang="en-US" dirty="0" smtClean="0"/>
              <a:t>注：</a:t>
            </a:r>
            <a:r>
              <a:rPr lang="en-US" altLang="zh-CN" dirty="0" smtClean="0"/>
              <a:t>ESQLC</a:t>
            </a:r>
            <a:r>
              <a:rPr lang="zh-CN" altLang="en-US" dirty="0" smtClean="0"/>
              <a:t>中支持游标、预处理、事务等</a:t>
            </a:r>
            <a:r>
              <a:rPr lang="en-US" altLang="zh-CN" dirty="0" err="1" smtClean="0"/>
              <a:t>sql</a:t>
            </a:r>
            <a:endParaRPr lang="zh-CN" altLang="en-US" dirty="0"/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6960096" y="1165829"/>
            <a:ext cx="3417055" cy="509929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vert="horz" wrap="square" lIns="0" tIns="0" rIns="0" bIns="0" numCol="1" anchor="t" anchorCtr="0" compatLnSpc="1">
            <a:normAutofit fontScale="92500" lnSpcReduction="10000"/>
          </a:bodyPr>
          <a:lstStyle>
            <a:lvl1pPr marL="2273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702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-2305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259205" indent="-2305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6021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0593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5165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9737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4309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70000"/>
              </a:lnSpc>
              <a:buFontTx/>
              <a:buNone/>
            </a:pPr>
            <a:r>
              <a:rPr kumimoji="1" lang="zh-CN" altLang="en-US" sz="1200" b="1" kern="0" dirty="0" smtClean="0"/>
              <a:t>  简单的</a:t>
            </a:r>
            <a:r>
              <a:rPr kumimoji="1" lang="en-US" altLang="zh-CN" sz="1200" b="1" kern="0" dirty="0" smtClean="0"/>
              <a:t>ESQL/C</a:t>
            </a:r>
            <a:r>
              <a:rPr kumimoji="1" lang="zh-CN" altLang="en-US" sz="1200" b="1" kern="0" dirty="0" smtClean="0"/>
              <a:t>程序：</a:t>
            </a:r>
            <a:endParaRPr kumimoji="1" lang="en-US" altLang="zh-CN" sz="1200" b="1" kern="0" dirty="0" smtClean="0"/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#include &lt;</a:t>
            </a:r>
            <a:r>
              <a:rPr kumimoji="1" lang="en-US" altLang="zh-CN" sz="1200" b="1" kern="0" dirty="0" err="1" smtClean="0"/>
              <a:t>stdio.h</a:t>
            </a:r>
            <a:r>
              <a:rPr kumimoji="1" lang="en-US" altLang="zh-CN" sz="1200" b="1" kern="0" dirty="0" smtClean="0"/>
              <a:t>&gt;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$include </a:t>
            </a:r>
            <a:r>
              <a:rPr kumimoji="1" lang="en-US" altLang="zh-CN" sz="1200" b="1" kern="0" dirty="0" err="1" smtClean="0"/>
              <a:t>sqlca</a:t>
            </a:r>
            <a:r>
              <a:rPr kumimoji="1" lang="en-US" altLang="zh-CN" sz="1200" b="1" kern="0" dirty="0" smtClean="0"/>
              <a:t>; </a:t>
            </a:r>
          </a:p>
          <a:p>
            <a:pPr marL="342900" lvl="1" indent="0">
              <a:buFontTx/>
              <a:buNone/>
            </a:pPr>
            <a:endParaRPr kumimoji="1" lang="en-US" altLang="zh-CN" sz="1200" b="1" kern="0" dirty="0" smtClean="0"/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main()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{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$char </a:t>
            </a:r>
            <a:r>
              <a:rPr kumimoji="1" lang="en-US" altLang="zh-CN" sz="1200" b="1" kern="0" dirty="0" err="1" smtClean="0"/>
              <a:t>fname</a:t>
            </a:r>
            <a:r>
              <a:rPr kumimoji="1" lang="en-US" altLang="zh-CN" sz="1200" b="1" kern="0" dirty="0" smtClean="0"/>
              <a:t>[15];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$char </a:t>
            </a:r>
            <a:r>
              <a:rPr kumimoji="1" lang="en-US" altLang="zh-CN" sz="1200" b="1" kern="0" dirty="0" err="1" smtClean="0"/>
              <a:t>lname</a:t>
            </a:r>
            <a:r>
              <a:rPr kumimoji="1" lang="en-US" altLang="zh-CN" sz="1200" b="1" kern="0" dirty="0" smtClean="0"/>
              <a:t>[20];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err="1" smtClean="0"/>
              <a:t>int</a:t>
            </a:r>
            <a:r>
              <a:rPr kumimoji="1" lang="en-US" altLang="zh-CN" sz="1200" b="1" kern="0" dirty="0" smtClean="0"/>
              <a:t> </a:t>
            </a:r>
            <a:r>
              <a:rPr kumimoji="1" lang="en-US" altLang="zh-CN" sz="1200" b="1" kern="0" dirty="0" err="1" smtClean="0"/>
              <a:t>i</a:t>
            </a:r>
            <a:r>
              <a:rPr kumimoji="1" lang="en-US" altLang="zh-CN" sz="1200" b="1" kern="0" dirty="0" smtClean="0"/>
              <a:t>;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err="1" smtClean="0"/>
              <a:t>printf</a:t>
            </a:r>
            <a:r>
              <a:rPr kumimoji="1" lang="en-US" altLang="zh-CN" sz="1200" b="1" kern="0" dirty="0" smtClean="0"/>
              <a:t>( "This is a ESQL/C Program!\n" );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$database book;  </a:t>
            </a:r>
          </a:p>
          <a:p>
            <a:pPr marL="342900" lvl="1" indent="0">
              <a:buFontTx/>
              <a:buNone/>
            </a:pPr>
            <a:r>
              <a:rPr kumimoji="1" lang="en-US" altLang="zh-CN" sz="1200" b="1" kern="0" dirty="0" smtClean="0"/>
              <a:t>$declare </a:t>
            </a:r>
            <a:r>
              <a:rPr kumimoji="1" lang="en-US" altLang="zh-CN" sz="1200" b="1" kern="0" dirty="0" err="1" smtClean="0"/>
              <a:t>democursor</a:t>
            </a:r>
            <a:r>
              <a:rPr kumimoji="1" lang="en-US" altLang="zh-CN" sz="1200" b="1" kern="0" dirty="0" smtClean="0"/>
              <a:t> cursor for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select </a:t>
            </a:r>
            <a:r>
              <a:rPr kumimoji="1" lang="en-US" altLang="zh-CN" sz="1200" b="1" dirty="0" err="1"/>
              <a:t>fname,lname</a:t>
            </a:r>
            <a:r>
              <a:rPr kumimoji="1" lang="en-US" altLang="zh-CN" sz="1200" b="1" dirty="0"/>
              <a:t> into $</a:t>
            </a:r>
            <a:r>
              <a:rPr kumimoji="1" lang="en-US" altLang="zh-CN" sz="1200" b="1" dirty="0" err="1"/>
              <a:t>fname</a:t>
            </a:r>
            <a:r>
              <a:rPr kumimoji="1" lang="en-US" altLang="zh-CN" sz="1200" b="1" dirty="0"/>
              <a:t>, $</a:t>
            </a:r>
            <a:r>
              <a:rPr kumimoji="1" lang="en-US" altLang="zh-CN" sz="1200" b="1" dirty="0" err="1"/>
              <a:t>lname</a:t>
            </a:r>
            <a:r>
              <a:rPr kumimoji="1" lang="en-US" altLang="zh-CN" sz="1200" b="1" dirty="0"/>
              <a:t>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from </a:t>
            </a:r>
            <a:r>
              <a:rPr kumimoji="1" lang="en-US" altLang="zh-CN" sz="1200" b="1" dirty="0" err="1"/>
              <a:t>bookname</a:t>
            </a:r>
            <a:r>
              <a:rPr kumimoji="1" lang="en-US" altLang="zh-CN" sz="1200" b="1" dirty="0"/>
              <a:t>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where </a:t>
            </a:r>
            <a:r>
              <a:rPr kumimoji="1" lang="en-US" altLang="zh-CN" sz="1200" b="1" dirty="0" err="1"/>
              <a:t>lname</a:t>
            </a:r>
            <a:r>
              <a:rPr kumimoji="1" lang="en-US" altLang="zh-CN" sz="1200" b="1" dirty="0"/>
              <a:t>&gt;"C";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$open </a:t>
            </a:r>
            <a:r>
              <a:rPr kumimoji="1" lang="en-US" altLang="zh-CN" sz="1200" b="1" dirty="0" err="1"/>
              <a:t>democursor</a:t>
            </a:r>
            <a:r>
              <a:rPr kumimoji="1" lang="en-US" altLang="zh-CN" sz="1200" b="1" dirty="0"/>
              <a:t>;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for(   ) {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$fetch </a:t>
            </a:r>
            <a:r>
              <a:rPr kumimoji="1" lang="en-US" altLang="zh-CN" sz="1200" b="1" dirty="0" err="1"/>
              <a:t>democursor</a:t>
            </a:r>
            <a:r>
              <a:rPr kumimoji="1" lang="en-US" altLang="zh-CN" sz="1200" b="1" dirty="0"/>
              <a:t>;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if ( </a:t>
            </a:r>
            <a:r>
              <a:rPr kumimoji="1" lang="en-US" altLang="zh-CN" sz="1200" b="1" dirty="0" err="1"/>
              <a:t>sqlca.sqlcode</a:t>
            </a:r>
            <a:r>
              <a:rPr kumimoji="1" lang="en-US" altLang="zh-CN" sz="1200" b="1" dirty="0"/>
              <a:t>==100 )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break;  </a:t>
            </a:r>
          </a:p>
          <a:p>
            <a:pPr marL="342900" lvl="1" indent="0">
              <a:buNone/>
            </a:pPr>
            <a:r>
              <a:rPr kumimoji="1" lang="en-US" altLang="zh-CN" sz="1200" b="1" dirty="0" err="1"/>
              <a:t>printf</a:t>
            </a:r>
            <a:r>
              <a:rPr kumimoji="1" lang="en-US" altLang="zh-CN" sz="1200" b="1" dirty="0"/>
              <a:t>( "%</a:t>
            </a:r>
            <a:r>
              <a:rPr kumimoji="1" lang="en-US" altLang="zh-CN" sz="1200" b="1" dirty="0" err="1"/>
              <a:t>s%s</a:t>
            </a:r>
            <a:r>
              <a:rPr kumimoji="1" lang="en-US" altLang="zh-CN" sz="1200" b="1" dirty="0"/>
              <a:t>\n", </a:t>
            </a:r>
            <a:r>
              <a:rPr kumimoji="1" lang="en-US" altLang="zh-CN" sz="1200" b="1" dirty="0" err="1"/>
              <a:t>fname</a:t>
            </a:r>
            <a:r>
              <a:rPr kumimoji="1" lang="en-US" altLang="zh-CN" sz="1200" b="1" dirty="0"/>
              <a:t>, </a:t>
            </a:r>
            <a:r>
              <a:rPr kumimoji="1" lang="en-US" altLang="zh-CN" sz="1200" b="1" dirty="0" err="1"/>
              <a:t>lname</a:t>
            </a:r>
            <a:r>
              <a:rPr kumimoji="1" lang="en-US" altLang="zh-CN" sz="1200" b="1" dirty="0"/>
              <a:t> );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}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$close </a:t>
            </a:r>
            <a:r>
              <a:rPr kumimoji="1" lang="en-US" altLang="zh-CN" sz="1200" b="1" dirty="0" err="1"/>
              <a:t>demecursor</a:t>
            </a:r>
            <a:r>
              <a:rPr kumimoji="1" lang="en-US" altLang="zh-CN" sz="1200" b="1" dirty="0"/>
              <a:t>;  </a:t>
            </a:r>
          </a:p>
          <a:p>
            <a:pPr marL="342900" lvl="1" indent="0">
              <a:buNone/>
            </a:pPr>
            <a:r>
              <a:rPr kumimoji="1" lang="en-US" altLang="zh-CN" sz="1200" b="1" dirty="0" err="1"/>
              <a:t>printf</a:t>
            </a:r>
            <a:r>
              <a:rPr kumimoji="1" lang="en-US" altLang="zh-CN" sz="1200" b="1" dirty="0"/>
              <a:t>( "\</a:t>
            </a:r>
            <a:r>
              <a:rPr kumimoji="1" lang="en-US" altLang="zh-CN" sz="1200" b="1" dirty="0" err="1"/>
              <a:t>nProgram</a:t>
            </a:r>
            <a:r>
              <a:rPr kumimoji="1" lang="en-US" altLang="zh-CN" sz="1200" b="1" dirty="0"/>
              <a:t> Over.\n" );  </a:t>
            </a:r>
          </a:p>
          <a:p>
            <a:pPr marL="342900" lvl="1" indent="0">
              <a:buNone/>
            </a:pPr>
            <a:r>
              <a:rPr kumimoji="1" lang="en-US" altLang="zh-CN" sz="1200" b="1" dirty="0"/>
              <a:t>} </a:t>
            </a:r>
          </a:p>
          <a:p>
            <a:pPr marL="342900" lvl="1" indent="0">
              <a:buFontTx/>
              <a:buNone/>
            </a:pPr>
            <a:endParaRPr kumimoji="1" lang="zh-CN" altLang="en-US" sz="1200" kern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宋体" panose="02010600030101010101" pitchFamily="2" charset="-122"/>
              </a:rPr>
              <a:t>使用</a:t>
            </a:r>
            <a:r>
              <a:rPr lang="en-US" altLang="zh-CN" dirty="0">
                <a:cs typeface="宋体" panose="02010600030101010101" pitchFamily="2" charset="-122"/>
              </a:rPr>
              <a:t>ESQLC</a:t>
            </a:r>
            <a:r>
              <a:rPr lang="zh-CN" altLang="en-US" dirty="0">
                <a:cs typeface="宋体" panose="02010600030101010101" pitchFamily="2" charset="-122"/>
              </a:rPr>
              <a:t>存取</a:t>
            </a:r>
            <a:r>
              <a:rPr lang="en-US" altLang="zh-CN" dirty="0" err="1">
                <a:cs typeface="宋体" panose="02010600030101010101" pitchFamily="2" charset="-122"/>
              </a:rPr>
              <a:t>GBase</a:t>
            </a:r>
            <a:r>
              <a:rPr lang="en-US" altLang="zh-CN" dirty="0"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cs typeface="宋体" panose="02010600030101010101" pitchFamily="2" charset="-122"/>
              </a:rPr>
              <a:t>8s</a:t>
            </a:r>
            <a:r>
              <a:rPr lang="zh-CN" altLang="en-US" dirty="0" smtClean="0">
                <a:cs typeface="宋体" panose="02010600030101010101" pitchFamily="2" charset="-122"/>
              </a:rPr>
              <a:t>数</a:t>
            </a:r>
            <a:r>
              <a:rPr lang="zh-CN" altLang="en-US" dirty="0">
                <a:cs typeface="宋体" panose="02010600030101010101" pitchFamily="2" charset="-122"/>
              </a:rPr>
              <a:t>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8s</a:t>
            </a:r>
            <a:r>
              <a:rPr lang="zh-CN" altLang="en-US" dirty="0" smtClean="0"/>
              <a:t>数据库客户端和服务器端都提供了</a:t>
            </a:r>
            <a:r>
              <a:rPr lang="en-US" altLang="zh-CN" dirty="0" smtClean="0"/>
              <a:t>esqlc</a:t>
            </a:r>
            <a:r>
              <a:rPr lang="zh-CN" altLang="en-US" dirty="0" smtClean="0"/>
              <a:t>的程序示例：</a:t>
            </a:r>
            <a:r>
              <a:rPr lang="en-US" altLang="zh-CN" dirty="0" smtClean="0"/>
              <a:t>demo</a:t>
            </a:r>
            <a:r>
              <a:rPr lang="zh-CN" altLang="en-US" dirty="0" smtClean="0"/>
              <a:t>目录</a:t>
            </a:r>
          </a:p>
          <a:p>
            <a:pPr marL="341630" lvl="1" indent="0">
              <a:buNone/>
            </a:pPr>
            <a:r>
              <a:rPr lang="zh-CN" altLang="en-US" dirty="0"/>
              <a:t>        </a:t>
            </a:r>
            <a:r>
              <a:rPr lang="zh-CN" altLang="en-US" b="1" dirty="0" smtClean="0"/>
              <a:t>$</a:t>
            </a:r>
            <a:r>
              <a:rPr lang="en-US" altLang="zh-CN" b="1" dirty="0" smtClean="0"/>
              <a:t>GBASEDBT</a:t>
            </a:r>
            <a:r>
              <a:rPr lang="zh-CN" altLang="en-US" b="1" dirty="0" smtClean="0"/>
              <a:t>DIR/demo/esqlc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744980" y="1827530"/>
            <a:ext cx="8716010" cy="3599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/>
              <a:t>[</a:t>
            </a:r>
            <a:r>
              <a:rPr lang="en-US" altLang="zh-CN" sz="1200" b="1" dirty="0" err="1" smtClean="0"/>
              <a:t>gbasedbt</a:t>
            </a:r>
            <a:r>
              <a:rPr lang="zh-CN" altLang="en-US" sz="1200" b="1" dirty="0" smtClean="0"/>
              <a:t>@GB</a:t>
            </a:r>
            <a:r>
              <a:rPr lang="en-US" altLang="zh-CN" sz="1200" b="1" dirty="0" smtClean="0"/>
              <a:t>8s</a:t>
            </a:r>
            <a:r>
              <a:rPr lang="zh-CN" altLang="en-US" sz="1200" b="1" dirty="0" smtClean="0"/>
              <a:t> </a:t>
            </a:r>
            <a:r>
              <a:rPr lang="zh-CN" altLang="en-US" sz="1200" b="1" dirty="0"/>
              <a:t>esqlc]$ pwd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/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home/</a:t>
            </a:r>
            <a:r>
              <a:rPr lang="en-US" altLang="zh-CN" sz="1200" b="1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/gbase/demo/esqlc</a:t>
            </a:r>
            <a:endParaRPr lang="zh-CN" altLang="en-US" sz="1200" b="1" dirty="0">
              <a:solidFill>
                <a:srgbClr val="FF0000"/>
              </a:solidFill>
            </a:endParaRPr>
          </a:p>
          <a:p>
            <a:r>
              <a:rPr lang="zh-CN" altLang="en-US" sz="1200" b="1" dirty="0" smtClean="0"/>
              <a:t>[</a:t>
            </a:r>
            <a:r>
              <a:rPr lang="en-US" altLang="zh-CN" sz="1200" b="1" dirty="0" err="1" smtClean="0"/>
              <a:t>gbasedbt</a:t>
            </a:r>
            <a:r>
              <a:rPr lang="zh-CN" altLang="en-US" sz="1200" b="1" dirty="0" smtClean="0"/>
              <a:t>@GB</a:t>
            </a:r>
            <a:r>
              <a:rPr lang="en-US" altLang="zh-CN" sz="1200" b="1" dirty="0" smtClean="0"/>
              <a:t>8s</a:t>
            </a:r>
            <a:r>
              <a:rPr lang="zh-CN" altLang="en-US" sz="1200" b="1" dirty="0" smtClean="0"/>
              <a:t> </a:t>
            </a:r>
            <a:r>
              <a:rPr lang="zh-CN" altLang="en-US" sz="1200" b="1" dirty="0"/>
              <a:t>esqlc]$ ls</a:t>
            </a:r>
          </a:p>
          <a:p>
            <a:r>
              <a:rPr lang="zh-CN" altLang="en-US" sz="1200" dirty="0"/>
              <a:t>blobload.ec    cn_10049.rs     decfcvt.ec      dtcvasc.ec      inpfuncs.c     lvarptr.ec     rgetmsg.ec    sqgetdbs.ec</a:t>
            </a:r>
          </a:p>
          <a:p>
            <a:r>
              <a:rPr lang="zh-CN" altLang="en-US" sz="1200" dirty="0"/>
              <a:t>bycmpr.ec      collect.ec      decmul.ec       dtcvfmtasc.ec   int8add.ec     makefile       risnull.ec    sqldetachdemo.ec</a:t>
            </a:r>
          </a:p>
          <a:p>
            <a:r>
              <a:rPr lang="zh-CN" altLang="en-US" sz="1200" dirty="0"/>
              <a:t>bycopy.ec      create_clob.ec  decround.ec     dtextend.ec     int8cvasc.ec   manufact.unl   rjulmdy.ec    state.unl</a:t>
            </a:r>
          </a:p>
          <a:p>
            <a:r>
              <a:rPr lang="zh-CN" altLang="en-US" sz="1200" dirty="0"/>
              <a:t>byfill.ec      cust_calls.unl  decsub.ec       dtsub.ec        int8cvdec.ec   mkstores       rleapyear.ec  stcat.ec</a:t>
            </a:r>
          </a:p>
          <a:p>
            <a:r>
              <a:rPr lang="zh-CN" altLang="en-US" sz="1200" dirty="0"/>
              <a:t>byleng.ec      customer.unl    dectoasc.ec     dtsubinv.ec     int8div.ec     orders.unl     rmdyjul.ec    stchar.ec</a:t>
            </a:r>
          </a:p>
          <a:p>
            <a:r>
              <a:rPr lang="zh-CN" altLang="en-US" sz="1200" dirty="0"/>
              <a:t>call_type.unl  dbload1.cmd     dectodbl.ec     dttoasc.ec      int8sub.ec     pamdemo.ec     rsetnull.ec   stcmpr.ec</a:t>
            </a:r>
          </a:p>
          <a:p>
            <a:r>
              <a:rPr lang="zh-CN" altLang="en-US" sz="1200" dirty="0"/>
              <a:t>catalog.unl    dbload2.cmd     dectoint.ec     dttofmtasc.ec   </a:t>
            </a:r>
            <a:r>
              <a:rPr lang="zh-CN" altLang="en-US" sz="1200" dirty="0" smtClean="0"/>
              <a:t>int</a:t>
            </a:r>
            <a:r>
              <a:rPr lang="en-US" altLang="zh-CN" sz="1200" dirty="0" smtClean="0"/>
              <a:t>8s</a:t>
            </a:r>
            <a:r>
              <a:rPr lang="zh-CN" altLang="en-US" sz="1200" dirty="0" smtClean="0"/>
              <a:t>oasc.ec   </a:t>
            </a:r>
            <a:r>
              <a:rPr lang="zh-CN" altLang="en-US" sz="1200" dirty="0"/>
              <a:t>prdesc.c       rstod.ec      stcopy.ec</a:t>
            </a:r>
          </a:p>
          <a:p>
            <a:r>
              <a:rPr lang="zh-CN" altLang="en-US" sz="1200" dirty="0"/>
              <a:t>cn_10001.gif   decadd.ec       dectolong.ec    dyn_sql.ec      </a:t>
            </a:r>
            <a:r>
              <a:rPr lang="zh-CN" altLang="en-US" sz="1200" dirty="0" smtClean="0"/>
              <a:t>int</a:t>
            </a:r>
            <a:r>
              <a:rPr lang="en-US" altLang="zh-CN" sz="1200" dirty="0" smtClean="0"/>
              <a:t>8s</a:t>
            </a:r>
            <a:r>
              <a:rPr lang="zh-CN" altLang="en-US" sz="1200" dirty="0" smtClean="0"/>
              <a:t>odec.ec   </a:t>
            </a:r>
            <a:r>
              <a:rPr lang="zh-CN" altLang="en-US" sz="1200" dirty="0"/>
              <a:t>rdayofweek.ec  rstoi.ec      stleng.ec</a:t>
            </a:r>
          </a:p>
          <a:p>
            <a:r>
              <a:rPr lang="zh-CN" altLang="en-US" sz="1200" dirty="0"/>
              <a:t>cn_10001.rs    deccmp.ec       dectrunc.ec     exp_chk.ec      intoasc.ec     rdefmtdate.ec  rstol.ec      stock.unl</a:t>
            </a:r>
          </a:p>
          <a:p>
            <a:r>
              <a:rPr lang="zh-CN" altLang="en-US" sz="1200" dirty="0"/>
              <a:t>cn_10027.gif   deccopy.ec     </a:t>
            </a:r>
            <a:r>
              <a:rPr lang="zh-CN" altLang="en-US" sz="1200" b="1" dirty="0"/>
              <a:t> </a:t>
            </a:r>
            <a:r>
              <a:rPr lang="zh-CN" altLang="en-US" sz="1200" b="1" dirty="0">
                <a:solidFill>
                  <a:srgbClr val="FF0000"/>
                </a:solidFill>
              </a:rPr>
              <a:t>demo1.ec</a:t>
            </a:r>
            <a:r>
              <a:rPr lang="zh-CN" altLang="en-US" sz="1200" dirty="0"/>
              <a:t>        getcd_me.ec     intofmtasc.ec  rdownshift.ec  rstrdate.ec   timeout.ec</a:t>
            </a:r>
          </a:p>
          <a:p>
            <a:r>
              <a:rPr lang="zh-CN" altLang="en-US" sz="1200" dirty="0"/>
              <a:t>cn_10027.rs    deccvasc.ec     demo2.ec        getcd_nf.ec     invdivdbl.ec   README         rtoday.ec     unload.ec</a:t>
            </a:r>
          </a:p>
          <a:p>
            <a:r>
              <a:rPr lang="zh-CN" altLang="en-US" sz="1200" dirty="0"/>
              <a:t>cn_10031.gif   deccvdbl.ec     demo3.ec        getcd_of.ec     invdivinv.ec   rfmtdate.ec    rtypalign.ec  updcd_me.ec</a:t>
            </a:r>
          </a:p>
          <a:p>
            <a:r>
              <a:rPr lang="zh-CN" altLang="en-US" sz="1200" dirty="0"/>
              <a:t>cn_10031.rs    deccvint.ec     demo4.ec        getdiag.ec      invextend.ec   rfmtdec.ec     rtypmsize.ec  updcd_nf.ec</a:t>
            </a:r>
          </a:p>
          <a:p>
            <a:r>
              <a:rPr lang="zh-CN" altLang="en-US" sz="1200" dirty="0"/>
              <a:t>cn_10046.gif   deccvlong.ec    dispcat_pic.ec  get_lo_info.ec  invmuldbl.ec   rfmtdouble.ec  rtypname.ec   updcd_of.ec</a:t>
            </a:r>
          </a:p>
          <a:p>
            <a:r>
              <a:rPr lang="zh-CN" altLang="en-US" sz="1200" dirty="0"/>
              <a:t>cn_10046.rs    decdiv.ec       dtaddinv.ec     incvasc.ec      items.unl      rfmtlong.ec    rtypwidth.ec  upd_lo_descr.ec</a:t>
            </a:r>
          </a:p>
          <a:p>
            <a:r>
              <a:rPr lang="zh-CN" altLang="en-US" sz="1200" dirty="0"/>
              <a:t>cn_10049.gif   dececvt.ec      dtcurrent.ec    incvfmtasc.ec   ldchar.ec      rgetlmsg.ec    rupshift.ec   varchar.ec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40585" y="5310505"/>
            <a:ext cx="7760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demo</a:t>
            </a:r>
            <a:r>
              <a:rPr lang="zh-CN" altLang="en-US" dirty="0"/>
              <a:t>示例模板提供了</a:t>
            </a:r>
            <a:r>
              <a:rPr lang="en-US" altLang="zh-CN" dirty="0" err="1"/>
              <a:t>esqlc</a:t>
            </a:r>
            <a:r>
              <a:rPr lang="zh-CN" altLang="en-US" dirty="0">
                <a:ea typeface="宋体" panose="02010600030101010101" pitchFamily="2" charset="-122"/>
              </a:rPr>
              <a:t>的各种常用</a:t>
            </a:r>
            <a:r>
              <a:rPr lang="zh-CN" altLang="en-US" dirty="0"/>
              <a:t>语法示例，初次接触</a:t>
            </a:r>
            <a:r>
              <a:rPr lang="en-US" altLang="zh-CN" dirty="0" err="1"/>
              <a:t>esqlc</a:t>
            </a:r>
            <a:r>
              <a:rPr lang="zh-CN" altLang="en-US" dirty="0">
                <a:ea typeface="宋体" panose="02010600030101010101" pitchFamily="2" charset="-122"/>
              </a:rPr>
              <a:t>的学习者</a:t>
            </a:r>
            <a:r>
              <a:rPr lang="zh-CN" altLang="en-US" dirty="0"/>
              <a:t>可以根据自己的需要参考相应的模板语法使用</a:t>
            </a: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JDBC</a:t>
            </a:r>
            <a:r>
              <a:rPr lang="zh-CN" altLang="en-US" dirty="0" smtClean="0">
                <a:sym typeface="+mn-ea"/>
              </a:rPr>
              <a:t>驱动的获取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b="1" dirty="0" err="1" smtClean="0">
                <a:sym typeface="+mn-ea"/>
              </a:rPr>
              <a:t>jdbc</a:t>
            </a:r>
            <a:r>
              <a:rPr lang="zh-CN" altLang="en-US" sz="1800" b="1" dirty="0">
                <a:sym typeface="+mn-ea"/>
              </a:rPr>
              <a:t>安装</a:t>
            </a:r>
            <a:endParaRPr lang="zh-CN" altLang="en-US" sz="1800" b="1" dirty="0"/>
          </a:p>
          <a:p>
            <a:pPr marL="341630" lvl="1" indent="0">
              <a:lnSpc>
                <a:spcPct val="100000"/>
              </a:lnSpc>
              <a:buNone/>
            </a:pPr>
            <a:r>
              <a:rPr lang="zh-CN" altLang="en-US" sz="1800" dirty="0">
                <a:sym typeface="+mn-ea"/>
              </a:rPr>
              <a:t>安装包解压后生成setup.jar，执行setup.jar获取</a:t>
            </a:r>
            <a:r>
              <a:rPr lang="en-US" altLang="zh-CN" sz="1800" dirty="0">
                <a:sym typeface="+mn-ea"/>
              </a:rPr>
              <a:t>jdbc</a:t>
            </a:r>
            <a:r>
              <a:rPr lang="zh-CN" altLang="en-US" sz="1800" dirty="0">
                <a:sym typeface="+mn-ea"/>
              </a:rPr>
              <a:t>驱动</a:t>
            </a:r>
            <a:r>
              <a:rPr lang="en-US" altLang="zh-CN" sz="1800" dirty="0">
                <a:sym typeface="+mn-ea"/>
              </a:rPr>
              <a:t>jar</a:t>
            </a:r>
            <a:r>
              <a:rPr lang="zh-CN" altLang="en-US" sz="1800" dirty="0">
                <a:sym typeface="+mn-ea"/>
              </a:rPr>
              <a:t>包</a:t>
            </a:r>
            <a:br>
              <a:rPr lang="zh-CN" altLang="en-US" sz="1800" dirty="0">
                <a:sym typeface="+mn-ea"/>
              </a:rPr>
            </a:br>
            <a:r>
              <a:rPr lang="zh-CN" altLang="en-US" sz="1800" dirty="0">
                <a:sym typeface="+mn-ea"/>
              </a:rPr>
              <a:t>（dir 指的是setup.jar 文件的位置）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sym typeface="+mn-ea"/>
              </a:rPr>
              <a:t>图形化执行方式：java -jar dir/setup.jar -i gui</a:t>
            </a:r>
            <a:endParaRPr lang="zh-CN" altLang="en-US" sz="1800" dirty="0"/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sym typeface="+mn-ea"/>
              </a:rPr>
              <a:t>控制台执行方式：java -jar dir/setup.jar -i console</a:t>
            </a:r>
            <a:endParaRPr lang="zh-CN" altLang="en-US" sz="1800" dirty="0"/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441575" y="2949215"/>
            <a:ext cx="8645525" cy="3094990"/>
            <a:chOff x="3845" y="5141"/>
            <a:chExt cx="13615" cy="487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5" y="7195"/>
              <a:ext cx="5159" cy="282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81" y="7825"/>
              <a:ext cx="1980" cy="219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cxnSp>
          <p:nvCxnSpPr>
            <p:cNvPr id="10" name="直接箭头连接符 9"/>
            <p:cNvCxnSpPr/>
            <p:nvPr/>
          </p:nvCxnSpPr>
          <p:spPr>
            <a:xfrm>
              <a:off x="4551" y="8112"/>
              <a:ext cx="5092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" name="椭圆 10"/>
            <p:cNvSpPr/>
            <p:nvPr/>
          </p:nvSpPr>
          <p:spPr>
            <a:xfrm>
              <a:off x="9721" y="7903"/>
              <a:ext cx="1474" cy="341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75" y="5261"/>
              <a:ext cx="1875" cy="47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330" y="5141"/>
              <a:ext cx="2130" cy="487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cxnSp>
          <p:nvCxnSpPr>
            <p:cNvPr id="16" name="直接箭头连接符 15"/>
            <p:cNvCxnSpPr/>
            <p:nvPr/>
          </p:nvCxnSpPr>
          <p:spPr>
            <a:xfrm>
              <a:off x="4893" y="7473"/>
              <a:ext cx="794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7" name="直接箭头连接符 16"/>
            <p:cNvCxnSpPr/>
            <p:nvPr/>
          </p:nvCxnSpPr>
          <p:spPr>
            <a:xfrm>
              <a:off x="13868" y="5464"/>
              <a:ext cx="1462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27" name=" 227"/>
            <p:cNvSpPr/>
            <p:nvPr/>
          </p:nvSpPr>
          <p:spPr>
            <a:xfrm>
              <a:off x="11195" y="8290"/>
              <a:ext cx="1450" cy="454"/>
            </a:xfrm>
            <a:prstGeom prst="wedgeEllipseCallout">
              <a:avLst>
                <a:gd name="adj1" fmla="val -47034"/>
                <a:gd name="adj2" fmla="val -90308"/>
              </a:avLst>
            </a:prstGeom>
            <a:solidFill>
              <a:srgbClr val="FFFF99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zh-CN" sz="1200" dirty="0">
                  <a:solidFill>
                    <a:schemeClr val="tx1"/>
                  </a:solidFill>
                  <a:ea typeface="宋体" panose="02010600030101010101" pitchFamily="2" charset="-122"/>
                </a:rPr>
                <a:t>驱动包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JDBC</a:t>
            </a:r>
            <a:r>
              <a:rPr lang="zh-CN" altLang="en-US" dirty="0" smtClean="0">
                <a:sym typeface="+mn-ea"/>
              </a:rPr>
              <a:t>程序示例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sym typeface="+mn-ea"/>
              </a:rPr>
              <a:t>jdbc</a:t>
            </a:r>
            <a:r>
              <a:rPr lang="zh-CN" altLang="en-US" sz="1800" dirty="0">
                <a:sym typeface="+mn-ea"/>
              </a:rPr>
              <a:t>编程步骤：</a:t>
            </a:r>
            <a:endParaRPr lang="zh-CN" altLang="en-US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>
                <a:sym typeface="+mn-ea"/>
              </a:rPr>
              <a:t>创建工程</a:t>
            </a:r>
            <a:r>
              <a:rPr lang="en-US" altLang="zh-CN" sz="1800" dirty="0">
                <a:sym typeface="+mn-ea"/>
              </a:rPr>
              <a:t>——&gt;</a:t>
            </a:r>
            <a:r>
              <a:rPr lang="zh-CN" altLang="zh-CN" sz="1800" dirty="0">
                <a:sym typeface="+mn-ea"/>
              </a:rPr>
              <a:t>导入</a:t>
            </a:r>
            <a:r>
              <a:rPr lang="en-US" altLang="zh-CN" sz="1800" dirty="0">
                <a:sym typeface="+mn-ea"/>
              </a:rPr>
              <a:t>ifxjdbc.jar</a:t>
            </a:r>
            <a:r>
              <a:rPr lang="zh-CN" altLang="zh-CN" sz="1800" dirty="0">
                <a:sym typeface="+mn-ea"/>
              </a:rPr>
              <a:t>驱动</a:t>
            </a:r>
            <a:r>
              <a:rPr lang="en-US" altLang="zh-CN" sz="1800" dirty="0">
                <a:sym typeface="+mn-ea"/>
              </a:rPr>
              <a:t>——&gt;</a:t>
            </a:r>
            <a:r>
              <a:rPr lang="zh-CN" altLang="zh-CN" sz="1800" dirty="0">
                <a:sym typeface="+mn-ea"/>
              </a:rPr>
              <a:t>编</a:t>
            </a:r>
            <a:r>
              <a:rPr lang="zh-CN" altLang="zh-CN" sz="1800" dirty="0" smtClean="0">
                <a:sym typeface="+mn-ea"/>
              </a:rPr>
              <a:t>写</a:t>
            </a:r>
            <a:r>
              <a:rPr lang="en-US" altLang="zh-CN" sz="1800" dirty="0" smtClean="0">
                <a:sym typeface="+mn-ea"/>
              </a:rPr>
              <a:t>8s</a:t>
            </a:r>
            <a:r>
              <a:rPr lang="zh-CN" altLang="en-US" sz="1800" dirty="0" smtClean="0">
                <a:sym typeface="+mn-ea"/>
              </a:rPr>
              <a:t>数</a:t>
            </a:r>
            <a:r>
              <a:rPr lang="zh-CN" altLang="en-US" sz="1800" dirty="0">
                <a:sym typeface="+mn-ea"/>
              </a:rPr>
              <a:t>据库应用</a:t>
            </a:r>
            <a:r>
              <a:rPr lang="zh-CN" altLang="zh-CN" sz="1800" dirty="0">
                <a:sym typeface="+mn-ea"/>
              </a:rPr>
              <a:t>程序</a:t>
            </a:r>
            <a:endParaRPr lang="zh-CN" altLang="zh-CN" sz="1800" dirty="0"/>
          </a:p>
          <a:p>
            <a:pPr>
              <a:lnSpc>
                <a:spcPct val="150000"/>
              </a:lnSpc>
            </a:pPr>
            <a:r>
              <a:rPr lang="zh-CN" altLang="zh-CN" sz="1800" dirty="0">
                <a:sym typeface="+mn-ea"/>
              </a:rPr>
              <a:t>示例演示及说明</a:t>
            </a:r>
            <a:endParaRPr lang="zh-CN" altLang="zh-CN" sz="1800" dirty="0"/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450975" y="2982595"/>
            <a:ext cx="3071495" cy="2560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/>
              <a:t>contest</a:t>
            </a:r>
            <a:r>
              <a:rPr lang="en-US" altLang="zh-CN" b="1">
                <a:ea typeface="宋体" panose="02010600030101010101" pitchFamily="2" charset="-122"/>
              </a:rPr>
              <a:t>.java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数据库基本连接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数据库中建表并插入数据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查询表数据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创建存储过程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调用存储过程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84775" y="4628515"/>
            <a:ext cx="3404870" cy="914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ea typeface="宋体" panose="02010600030101010101" pitchFamily="2" charset="-122"/>
              </a:rPr>
              <a:t>selectTest.java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预处理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84775" y="2982595"/>
            <a:ext cx="3404870" cy="1325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ea typeface="宋体" panose="02010600030101010101" pitchFamily="2" charset="-122"/>
              </a:rPr>
              <a:t>protest.java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>
                <a:ea typeface="宋体" panose="02010600030101010101" pitchFamily="2" charset="-122"/>
              </a:rPr>
              <a:t>创建带</a:t>
            </a:r>
            <a:r>
              <a:rPr lang="en-US" altLang="zh-CN">
                <a:ea typeface="宋体" panose="02010600030101010101" pitchFamily="2" charset="-122"/>
              </a:rPr>
              <a:t>in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out</a:t>
            </a:r>
            <a:r>
              <a:rPr lang="zh-CN" altLang="en-US">
                <a:ea typeface="宋体" panose="02010600030101010101" pitchFamily="2" charset="-122"/>
              </a:rPr>
              <a:t>参数存储过程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>
                <a:ea typeface="宋体" panose="02010600030101010101" pitchFamily="2" charset="-122"/>
              </a:rPr>
              <a:t>调用带参存储过程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 smtClean="0"/>
              <a:t>简单连接介绍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495300" y="1333501"/>
            <a:ext cx="5143500" cy="3355974"/>
          </a:xfrm>
          <a:prstGeom prst="rect">
            <a:avLst/>
          </a:prstGeom>
        </p:spPr>
        <p:txBody>
          <a:bodyPr/>
          <a:lstStyle/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import java.sql.Connection;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import java.sql.DriverManager;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import java.sql.SQLException;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import java.text.SimpleDateFormat;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import java.util.Date;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endParaRPr lang="en-US" altLang="zh-CN" sz="1400" spc="0" dirty="0" err="1">
              <a:solidFill>
                <a:schemeClr val="tx1"/>
              </a:solidFill>
            </a:endParaRP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public class contest {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endParaRPr lang="en-US" altLang="zh-CN" sz="1400" spc="0" dirty="0" err="1">
              <a:solidFill>
                <a:schemeClr val="tx1"/>
              </a:solidFill>
            </a:endParaRP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>
                <a:solidFill>
                  <a:srgbClr val="FF0000"/>
                </a:solidFill>
              </a:rPr>
              <a:t>public static final String URL = "</a:t>
            </a:r>
            <a:r>
              <a:rPr lang="en-US" altLang="zh-CN" sz="1400" spc="0" dirty="0" err="1" smtClean="0">
                <a:solidFill>
                  <a:srgbClr val="FF0000"/>
                </a:solidFill>
              </a:rPr>
              <a:t>jdbc:gbasedbt-sqli</a:t>
            </a:r>
            <a:r>
              <a:rPr lang="en-US" altLang="zh-CN" sz="1400" spc="0" dirty="0">
                <a:solidFill>
                  <a:srgbClr val="FF0000"/>
                </a:solidFill>
              </a:rPr>
              <a:t>://</a:t>
            </a:r>
            <a:r>
              <a:rPr lang="en-US" altLang="zh-CN" sz="1400" spc="0" dirty="0" smtClean="0">
                <a:solidFill>
                  <a:srgbClr val="FF0000"/>
                </a:solidFill>
              </a:rPr>
              <a:t>192.168.12.20:9088/</a:t>
            </a:r>
            <a:r>
              <a:rPr lang="en-US" altLang="zh-CN" sz="1400" spc="0" dirty="0" err="1" smtClean="0">
                <a:solidFill>
                  <a:srgbClr val="FF0000"/>
                </a:solidFill>
              </a:rPr>
              <a:t>sysmaster:GBASEDBTSERVER</a:t>
            </a:r>
            <a:r>
              <a:rPr lang="en-US" altLang="zh-CN" sz="1400" spc="0" dirty="0" smtClean="0">
                <a:solidFill>
                  <a:srgbClr val="FF0000"/>
                </a:solidFill>
              </a:rPr>
              <a:t>=</a:t>
            </a:r>
            <a:r>
              <a:rPr lang="en-US" altLang="zh-CN" sz="1400" spc="0" dirty="0" err="1" smtClean="0">
                <a:solidFill>
                  <a:srgbClr val="FF0000"/>
                </a:solidFill>
              </a:rPr>
              <a:t>gbaseserver;CLIENT_LOCALE</a:t>
            </a:r>
            <a:r>
              <a:rPr lang="en-US" altLang="zh-CN" sz="1400" spc="0" dirty="0" smtClean="0">
                <a:solidFill>
                  <a:srgbClr val="FF0000"/>
                </a:solidFill>
              </a:rPr>
              <a:t>=zh_cn.gb18030-2000;DB_LOCALE=zh_cn.gb18030-2000;NEWCODESET=gb18030,gb18030-2000,5488;user=</a:t>
            </a:r>
            <a:r>
              <a:rPr lang="en-US" altLang="zh-CN" sz="1400" spc="0" dirty="0" err="1" smtClean="0">
                <a:solidFill>
                  <a:srgbClr val="FF0000"/>
                </a:solidFill>
              </a:rPr>
              <a:t>gbasedbt;password</a:t>
            </a:r>
            <a:r>
              <a:rPr lang="en-US" altLang="zh-CN" sz="1400" spc="0" dirty="0" smtClean="0">
                <a:solidFill>
                  <a:srgbClr val="FF0000"/>
                </a:solidFill>
              </a:rPr>
              <a:t>=</a:t>
            </a:r>
            <a:r>
              <a:rPr lang="en-US" altLang="zh-CN" sz="1400" spc="0" dirty="0" err="1" smtClean="0">
                <a:solidFill>
                  <a:srgbClr val="FF0000"/>
                </a:solidFill>
              </a:rPr>
              <a:t>gbasedbt</a:t>
            </a:r>
            <a:r>
              <a:rPr lang="en-US" altLang="zh-CN" sz="1400" spc="0" dirty="0" smtClean="0">
                <a:solidFill>
                  <a:srgbClr val="FF0000"/>
                </a:solidFill>
              </a:rPr>
              <a:t>";</a:t>
            </a:r>
            <a:endParaRPr lang="en-US" altLang="zh-CN" sz="1400" spc="0" dirty="0">
              <a:solidFill>
                <a:srgbClr val="FF0000"/>
              </a:solidFill>
            </a:endParaRP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public static void main(String[] args)  throws SQLException {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Connection conn = null;</a:t>
            </a:r>
          </a:p>
          <a:p>
            <a:pPr marL="342900" indent="-342900" algn="l" ea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altLang="zh-CN" sz="1400" spc="0" dirty="0" err="1">
                <a:solidFill>
                  <a:schemeClr val="tx1"/>
                </a:solidFill>
              </a:rPr>
              <a:t>SimpleDateFormat df = new SimpleDateFormat("yyyy-MM-dd HH:mm:ss");//设置日期格式</a:t>
            </a: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6218555" y="1282700"/>
            <a:ext cx="4834255" cy="4889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2273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702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-2305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259205" indent="-2305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6021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0593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5165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9737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4309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err="1"/>
              <a:t>System.</a:t>
            </a:r>
            <a:r>
              <a:rPr lang="en-US" altLang="zh-CN" sz="1400" i="1" dirty="0" err="1"/>
              <a:t>out.println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df.format</a:t>
            </a:r>
            <a:r>
              <a:rPr lang="en-US" altLang="zh-CN" sz="1400" i="1" dirty="0"/>
              <a:t>(new Date()));// new Date()</a:t>
            </a:r>
            <a:r>
              <a:rPr lang="zh-CN" altLang="en-US" sz="1400" i="1" dirty="0"/>
              <a:t>为获取当前系统时间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num</a:t>
            </a:r>
            <a:r>
              <a:rPr lang="en-US" altLang="zh-CN" sz="1400" dirty="0"/>
              <a:t>=3</a:t>
            </a:r>
            <a:r>
              <a:rPr lang="en-US" altLang="zh-CN" sz="1400" dirty="0" smtClean="0"/>
              <a:t>;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smtClean="0"/>
              <a:t>try </a:t>
            </a:r>
            <a:r>
              <a:rPr lang="en-US" altLang="zh-CN" sz="1400" dirty="0"/>
              <a:t>{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err="1">
                <a:solidFill>
                  <a:srgbClr val="FF0000"/>
                </a:solidFill>
              </a:rPr>
              <a:t>Class.</a:t>
            </a:r>
            <a:r>
              <a:rPr lang="en-US" altLang="zh-CN" sz="1400" i="1" dirty="0" err="1">
                <a:solidFill>
                  <a:srgbClr val="FF0000"/>
                </a:solidFill>
              </a:rPr>
              <a:t>forName</a:t>
            </a:r>
            <a:r>
              <a:rPr lang="en-US" altLang="zh-CN" sz="1400" i="1" dirty="0">
                <a:solidFill>
                  <a:srgbClr val="FF0000"/>
                </a:solidFill>
              </a:rPr>
              <a:t>("</a:t>
            </a:r>
            <a:r>
              <a:rPr lang="en-US" altLang="zh-CN" sz="1400" i="1" dirty="0" err="1" smtClean="0">
                <a:solidFill>
                  <a:srgbClr val="FF0000"/>
                </a:solidFill>
              </a:rPr>
              <a:t>com.gbasedbt.jdbc.IfxDriver</a:t>
            </a:r>
            <a:r>
              <a:rPr lang="en-US" altLang="zh-CN" sz="1400" i="1" dirty="0">
                <a:solidFill>
                  <a:srgbClr val="FF0000"/>
                </a:solidFill>
              </a:rPr>
              <a:t>");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nn-NO" altLang="zh-CN" sz="1400" dirty="0"/>
              <a:t>for (int i = 0; i &lt; num; i++) {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>
                <a:solidFill>
                  <a:srgbClr val="FF0000"/>
                </a:solidFill>
              </a:rPr>
              <a:t>conn = </a:t>
            </a:r>
            <a:r>
              <a:rPr lang="en-US" altLang="zh-CN" sz="1400" dirty="0" err="1">
                <a:solidFill>
                  <a:srgbClr val="FF0000"/>
                </a:solidFill>
              </a:rPr>
              <a:t>DriverManager.</a:t>
            </a:r>
            <a:r>
              <a:rPr lang="en-US" altLang="zh-CN" sz="1400" i="1" dirty="0" err="1">
                <a:solidFill>
                  <a:srgbClr val="FF0000"/>
                </a:solidFill>
              </a:rPr>
              <a:t>getConnection</a:t>
            </a:r>
            <a:r>
              <a:rPr lang="en-US" altLang="zh-CN" sz="1400" i="1" dirty="0">
                <a:solidFill>
                  <a:srgbClr val="FF0000"/>
                </a:solidFill>
              </a:rPr>
              <a:t>(URL);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smtClean="0"/>
              <a:t>}</a:t>
            </a:r>
            <a:endParaRPr lang="zh-CN" altLang="en-US" sz="1400" dirty="0"/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/>
              <a:t>} catch (</a:t>
            </a:r>
            <a:r>
              <a:rPr lang="en-US" altLang="zh-CN" sz="1400" dirty="0" err="1"/>
              <a:t>ClassNotFoundException</a:t>
            </a:r>
            <a:r>
              <a:rPr lang="en-US" altLang="zh-CN" sz="1400" dirty="0"/>
              <a:t> e) {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err="1"/>
              <a:t>e.printStackTrace</a:t>
            </a:r>
            <a:r>
              <a:rPr lang="en-US" altLang="zh-CN" sz="1400" dirty="0"/>
              <a:t>();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/>
              <a:t>}finally{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err="1"/>
              <a:t>System.</a:t>
            </a:r>
            <a:r>
              <a:rPr lang="en-US" altLang="zh-CN" sz="1400" i="1" dirty="0" err="1"/>
              <a:t>out.println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df.format</a:t>
            </a:r>
            <a:r>
              <a:rPr lang="en-US" altLang="zh-CN" sz="1400" i="1" dirty="0"/>
              <a:t>(new Date()));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/>
              <a:t>}</a:t>
            </a:r>
          </a:p>
          <a:p>
            <a:pPr marL="342900" indent="-342900">
              <a:buFont typeface="+mj-lt"/>
              <a:buAutoNum type="arabicPeriod" startAt="11"/>
            </a:pPr>
            <a:endParaRPr lang="zh-CN" altLang="en-US" sz="1400" dirty="0"/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smtClean="0"/>
              <a:t>}</a:t>
            </a:r>
          </a:p>
          <a:p>
            <a:pPr marL="342900" indent="-342900">
              <a:buFont typeface="+mj-lt"/>
              <a:buAutoNum type="arabicPeriod" startAt="11"/>
            </a:pPr>
            <a:endParaRPr lang="en-US" altLang="zh-CN" sz="1400" dirty="0"/>
          </a:p>
          <a:p>
            <a:pPr marL="342900" indent="-342900">
              <a:buFont typeface="+mj-lt"/>
              <a:buAutoNum type="arabicPeriod" startAt="11"/>
            </a:pPr>
            <a:r>
              <a:rPr lang="en-US" altLang="zh-CN" sz="1400" dirty="0" smtClean="0"/>
              <a:t>}</a:t>
            </a:r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hibernate </a:t>
            </a:r>
            <a:r>
              <a:rPr lang="zh-CN" altLang="en-US"/>
              <a:t>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 marL="341630" lvl="1" indent="0">
              <a:lnSpc>
                <a:spcPct val="100000"/>
              </a:lnSpc>
              <a:buFont typeface="+mj-lt"/>
              <a:buNone/>
            </a:pPr>
            <a:r>
              <a:rPr lang="zh-CN" altLang="en-US" sz="1200" dirty="0"/>
              <a:t>&lt;hibernate-configuration&gt;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	&lt;session-factory&gt;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		&lt;property name="show_sql"&gt;true&lt;/property&gt;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		&lt;property name="format_sql"&gt;true&lt;/property&gt;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		&lt;property name="current_session_context_class"&gt;thread&lt;/property&gt;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		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FF0000"/>
                </a:solidFill>
              </a:rPr>
              <a:t>     </a:t>
            </a:r>
            <a:r>
              <a:rPr lang="zh-CN" altLang="en-US" sz="1200" dirty="0"/>
              <a:t>   </a:t>
            </a:r>
            <a:r>
              <a:rPr lang="zh-CN" altLang="en-US" sz="1200" dirty="0">
                <a:solidFill>
                  <a:srgbClr val="FF0000"/>
                </a:solidFill>
              </a:rPr>
              <a:t>&lt;property name="hibernate.connection.driver_class"&gt;</a:t>
            </a:r>
            <a:r>
              <a:rPr lang="zh-CN" altLang="en-US" sz="1200" dirty="0" smtClean="0">
                <a:solidFill>
                  <a:srgbClr val="FF0000"/>
                </a:solidFill>
              </a:rPr>
              <a:t>com.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200" dirty="0" smtClean="0">
                <a:solidFill>
                  <a:srgbClr val="FF0000"/>
                </a:solidFill>
              </a:rPr>
              <a:t>.jdbc.IfxDriver</a:t>
            </a:r>
            <a:r>
              <a:rPr lang="zh-CN" altLang="en-US" sz="1200" dirty="0">
                <a:solidFill>
                  <a:srgbClr val="FF0000"/>
                </a:solidFill>
              </a:rPr>
              <a:t>&lt;/property&gt;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FF0000"/>
                </a:solidFill>
              </a:rPr>
              <a:t>        &lt;property name="hibernate.connection.password</a:t>
            </a:r>
            <a:r>
              <a:rPr lang="zh-CN" altLang="en-US" sz="1200" dirty="0" smtClean="0">
                <a:solidFill>
                  <a:srgbClr val="FF0000"/>
                </a:solidFill>
              </a:rPr>
              <a:t>"&gt;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200" dirty="0" smtClean="0">
                <a:solidFill>
                  <a:srgbClr val="FF0000"/>
                </a:solidFill>
              </a:rPr>
              <a:t>&lt;/</a:t>
            </a:r>
            <a:r>
              <a:rPr lang="zh-CN" altLang="en-US" sz="1200" dirty="0">
                <a:solidFill>
                  <a:srgbClr val="FF0000"/>
                </a:solidFill>
              </a:rPr>
              <a:t>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FF0000"/>
                </a:solidFill>
              </a:rPr>
              <a:t>        &lt;property name="hibernate.connection.url"&gt;</a:t>
            </a:r>
            <a:r>
              <a:rPr lang="zh-CN" altLang="en-US" sz="1200" dirty="0" smtClean="0">
                <a:solidFill>
                  <a:srgbClr val="FF0000"/>
                </a:solidFill>
              </a:rPr>
              <a:t>jdbc: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200" dirty="0" smtClean="0">
                <a:solidFill>
                  <a:srgbClr val="FF0000"/>
                </a:solidFill>
              </a:rPr>
              <a:t>-sqli</a:t>
            </a:r>
            <a:r>
              <a:rPr lang="zh-CN" altLang="en-US" sz="1200" dirty="0">
                <a:solidFill>
                  <a:srgbClr val="FF0000"/>
                </a:solidFill>
              </a:rPr>
              <a:t>://</a:t>
            </a:r>
            <a:r>
              <a:rPr lang="zh-CN" altLang="en-US" sz="1200" dirty="0" smtClean="0">
                <a:solidFill>
                  <a:srgbClr val="FF0000"/>
                </a:solidFill>
              </a:rPr>
              <a:t>192.168.12.101:9100/hibernate: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200" dirty="0" smtClean="0">
                <a:solidFill>
                  <a:srgbClr val="FF0000"/>
                </a:solidFill>
              </a:rPr>
              <a:t>server=gbaseserver;db_locale=zh_cn.GB18030-2000;client_locale=zh_cn.GB18030-2000</a:t>
            </a:r>
            <a:r>
              <a:rPr lang="zh-CN" altLang="en-US" sz="1200" dirty="0">
                <a:solidFill>
                  <a:srgbClr val="FF0000"/>
                </a:solidFill>
              </a:rPr>
              <a:t>&lt;/property&gt;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FF0000"/>
                </a:solidFill>
              </a:rPr>
              <a:t>        &lt;property name="hibernate.connection.username</a:t>
            </a:r>
            <a:r>
              <a:rPr lang="zh-CN" altLang="en-US" sz="1200" dirty="0" smtClean="0">
                <a:solidFill>
                  <a:srgbClr val="FF0000"/>
                </a:solidFill>
              </a:rPr>
              <a:t>"&gt;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200" dirty="0" smtClean="0">
                <a:solidFill>
                  <a:srgbClr val="FF0000"/>
                </a:solidFill>
              </a:rPr>
              <a:t>&lt;/</a:t>
            </a:r>
            <a:r>
              <a:rPr lang="zh-CN" altLang="en-US" sz="1200" dirty="0">
                <a:solidFill>
                  <a:srgbClr val="FF0000"/>
                </a:solidFill>
              </a:rPr>
              <a:t>property&gt;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FF0000"/>
                </a:solidFill>
              </a:rPr>
              <a:t>        &lt;property name="hibernate.dialect"&gt;</a:t>
            </a:r>
            <a:r>
              <a:rPr lang="zh-CN" altLang="en-US" sz="1200" dirty="0" smtClean="0">
                <a:solidFill>
                  <a:srgbClr val="FF0000"/>
                </a:solidFill>
              </a:rPr>
              <a:t>org.hibernate.dialect.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GBase</a:t>
            </a:r>
            <a:r>
              <a:rPr lang="zh-CN" altLang="en-US" sz="1200" dirty="0" smtClean="0">
                <a:solidFill>
                  <a:srgbClr val="FF0000"/>
                </a:solidFill>
              </a:rPr>
              <a:t>Dialect</a:t>
            </a:r>
            <a:r>
              <a:rPr lang="zh-CN" altLang="en-US" sz="1200" dirty="0">
                <a:solidFill>
                  <a:srgbClr val="FF0000"/>
                </a:solidFill>
              </a:rPr>
              <a:t>&lt;/property&gt; </a:t>
            </a:r>
            <a:r>
              <a:rPr lang="zh-CN" altLang="en-US" sz="1200" dirty="0"/>
              <a:t>  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        &lt;property name="hibernate.query.substitutions"&gt;true 't', false 'f'&lt;/property&gt;               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        &lt;mapping resource="test/student.hbm.xml"/&gt;		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	&lt;/session-factory&gt;</a:t>
            </a:r>
          </a:p>
          <a:p>
            <a:pPr marL="0" indent="0">
              <a:lnSpc>
                <a:spcPct val="100000"/>
              </a:lnSpc>
              <a:buFont typeface="+mj-lt"/>
              <a:buNone/>
            </a:pPr>
            <a:r>
              <a:rPr lang="zh-CN" altLang="en-US" sz="1200" dirty="0"/>
              <a:t>      &lt;/hibernate-configuration&gt;</a:t>
            </a:r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zh-CN" sz="1200" dirty="0" smtClean="0"/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zh-CN" sz="1200" dirty="0" smtClean="0"/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CSDK</a:t>
            </a:r>
            <a:r>
              <a:rPr lang="zh-CN" altLang="en-US" dirty="0" smtClean="0">
                <a:sym typeface="+mn-ea"/>
              </a:rPr>
              <a:t>安装配置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ym typeface="+mn-ea"/>
              </a:rPr>
              <a:t>版本要求：</a:t>
            </a:r>
            <a:endParaRPr lang="zh-CN" altLang="en-US" sz="1800" b="1" dirty="0"/>
          </a:p>
          <a:p>
            <a:pPr marL="341630" lvl="1" indent="0">
              <a:lnSpc>
                <a:spcPct val="150000"/>
              </a:lnSpc>
              <a:buNone/>
            </a:pPr>
            <a:r>
              <a:rPr lang="zh-CN" altLang="en-US" sz="1800" dirty="0">
                <a:sym typeface="+mn-ea"/>
              </a:rPr>
              <a:t>使用</a:t>
            </a:r>
            <a:r>
              <a:rPr lang="en-US" altLang="zh-CN" sz="1800" dirty="0">
                <a:sym typeface="+mn-ea"/>
              </a:rPr>
              <a:t>ADO.NET</a:t>
            </a:r>
            <a:r>
              <a:rPr lang="zh-CN" altLang="zh-CN" sz="1800" dirty="0">
                <a:sym typeface="+mn-ea"/>
              </a:rPr>
              <a:t>或</a:t>
            </a:r>
            <a:r>
              <a:rPr lang="en-US" altLang="zh-CN" sz="1800" dirty="0">
                <a:sym typeface="+mn-ea"/>
              </a:rPr>
              <a:t>ODBC</a:t>
            </a:r>
            <a:r>
              <a:rPr lang="zh-CN" altLang="en-US" sz="1800" dirty="0">
                <a:sym typeface="+mn-ea"/>
              </a:rPr>
              <a:t>连</a:t>
            </a:r>
            <a:r>
              <a:rPr lang="zh-CN" altLang="en-US" sz="1800" dirty="0" smtClean="0">
                <a:sym typeface="+mn-ea"/>
              </a:rPr>
              <a:t>接</a:t>
            </a:r>
            <a:r>
              <a:rPr lang="en-US" altLang="zh-CN" sz="1800" dirty="0" smtClean="0">
                <a:sym typeface="+mn-ea"/>
              </a:rPr>
              <a:t>8s</a:t>
            </a:r>
            <a:r>
              <a:rPr lang="zh-CN" altLang="en-US" sz="1800" dirty="0" smtClean="0">
                <a:sym typeface="+mn-ea"/>
              </a:rPr>
              <a:t>都</a:t>
            </a:r>
            <a:r>
              <a:rPr lang="zh-CN" altLang="en-US" sz="1800" dirty="0">
                <a:sym typeface="+mn-ea"/>
              </a:rPr>
              <a:t>需要安</a:t>
            </a:r>
            <a:r>
              <a:rPr lang="zh-CN" altLang="en-US" sz="1800" dirty="0" smtClean="0">
                <a:sym typeface="+mn-ea"/>
              </a:rPr>
              <a:t>装</a:t>
            </a:r>
            <a:r>
              <a:rPr lang="en-US" altLang="zh-CN" sz="1800" dirty="0" smtClean="0">
                <a:sym typeface="+mn-ea"/>
              </a:rPr>
              <a:t>8s</a:t>
            </a:r>
            <a:r>
              <a:rPr lang="zh-CN" altLang="en-US" sz="1800" dirty="0" smtClean="0">
                <a:sym typeface="+mn-ea"/>
              </a:rPr>
              <a:t>的</a:t>
            </a:r>
            <a:r>
              <a:rPr lang="zh-CN" altLang="en-US" sz="1800" dirty="0">
                <a:sym typeface="+mn-ea"/>
              </a:rPr>
              <a:t>客户端</a:t>
            </a:r>
            <a:r>
              <a:rPr lang="en-US" altLang="zh-CN" sz="1800" dirty="0">
                <a:sym typeface="+mn-ea"/>
              </a:rPr>
              <a:t>CSDK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根据自己要编写的应用程序位数来确定安装的</a:t>
            </a:r>
            <a:r>
              <a:rPr lang="en-US" altLang="zh-CN" sz="1800" dirty="0">
                <a:sym typeface="+mn-ea"/>
              </a:rPr>
              <a:t>CSDK</a:t>
            </a:r>
            <a:r>
              <a:rPr lang="zh-CN" altLang="en-US" sz="1800" dirty="0">
                <a:sym typeface="+mn-ea"/>
              </a:rPr>
              <a:t>包：</a:t>
            </a:r>
            <a:endParaRPr lang="zh-CN" altLang="en-US" sz="1800" dirty="0"/>
          </a:p>
          <a:p>
            <a:pPr marL="341630" lvl="1" indent="0">
              <a:lnSpc>
                <a:spcPct val="150000"/>
              </a:lnSpc>
              <a:buNone/>
            </a:pPr>
            <a:r>
              <a:rPr lang="en-US" altLang="zh-CN" sz="1800" dirty="0">
                <a:sym typeface="+mn-ea"/>
              </a:rPr>
              <a:t>64</a:t>
            </a:r>
            <a:r>
              <a:rPr lang="zh-CN" altLang="en-US" sz="1800" dirty="0">
                <a:sym typeface="+mn-ea"/>
              </a:rPr>
              <a:t>位：</a:t>
            </a:r>
            <a:r>
              <a:rPr lang="en-US" altLang="zh-CN" sz="1800" dirty="0" smtClean="0">
                <a:sym typeface="+mn-ea"/>
              </a:rPr>
              <a:t>clientsdk.X.X.XXXXX.XWIN.ZIP</a:t>
            </a:r>
            <a:endParaRPr lang="en-US" altLang="zh-CN" sz="1800" dirty="0"/>
          </a:p>
          <a:p>
            <a:pPr marL="341630" lvl="1" indent="0">
              <a:lnSpc>
                <a:spcPct val="150000"/>
              </a:lnSpc>
              <a:buNone/>
            </a:pPr>
            <a:r>
              <a:rPr lang="en-US" altLang="zh-CN" sz="1800" dirty="0">
                <a:sym typeface="+mn-ea"/>
              </a:rPr>
              <a:t>32</a:t>
            </a:r>
            <a:r>
              <a:rPr lang="zh-CN" altLang="en-US" sz="1800" dirty="0">
                <a:sym typeface="+mn-ea"/>
              </a:rPr>
              <a:t>位：</a:t>
            </a:r>
            <a:r>
              <a:rPr lang="zh-CN" altLang="en-US" sz="1800" dirty="0" smtClean="0">
                <a:sym typeface="+mn-ea"/>
              </a:rPr>
              <a:t>clientsdk.</a:t>
            </a:r>
            <a:r>
              <a:rPr lang="en-US" altLang="zh-CN" sz="1800" dirty="0" smtClean="0">
                <a:sym typeface="+mn-ea"/>
              </a:rPr>
              <a:t>X</a:t>
            </a:r>
            <a:r>
              <a:rPr lang="zh-CN" altLang="en-US" sz="1800" dirty="0" smtClean="0">
                <a:sym typeface="+mn-ea"/>
              </a:rPr>
              <a:t>.</a:t>
            </a:r>
            <a:r>
              <a:rPr lang="en-US" altLang="zh-CN" sz="1800" dirty="0" smtClean="0">
                <a:sym typeface="+mn-ea"/>
              </a:rPr>
              <a:t>X</a:t>
            </a:r>
            <a:r>
              <a:rPr lang="zh-CN" altLang="en-US" sz="1800" dirty="0" smtClean="0">
                <a:sym typeface="+mn-ea"/>
              </a:rPr>
              <a:t>.</a:t>
            </a:r>
            <a:r>
              <a:rPr lang="en-US" altLang="zh-CN" sz="1800" dirty="0" smtClean="0">
                <a:sym typeface="+mn-ea"/>
              </a:rPr>
              <a:t>XXXXX.X</a:t>
            </a:r>
            <a:r>
              <a:rPr lang="zh-CN" altLang="en-US" sz="1800" dirty="0" smtClean="0">
                <a:sym typeface="+mn-ea"/>
              </a:rPr>
              <a:t>.WIN.ZIP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ym typeface="+mn-ea"/>
              </a:rPr>
              <a:t>csdk</a:t>
            </a:r>
            <a:r>
              <a:rPr lang="zh-CN" altLang="en-US" sz="1800" b="1" dirty="0">
                <a:sym typeface="+mn-ea"/>
              </a:rPr>
              <a:t>安装</a:t>
            </a:r>
            <a:endParaRPr lang="zh-CN" altLang="en-US" sz="1800" b="1" dirty="0"/>
          </a:p>
          <a:p>
            <a:pPr marL="341630" lvl="1" indent="0">
              <a:lnSpc>
                <a:spcPct val="150000"/>
              </a:lnSpc>
              <a:buNone/>
            </a:pPr>
            <a:r>
              <a:rPr lang="zh-CN" altLang="en-US" sz="1800" dirty="0">
                <a:sym typeface="+mn-ea"/>
              </a:rPr>
              <a:t>安装包解压后生成installclientsdk.exe，执行该文件安装即可</a:t>
            </a:r>
            <a:br>
              <a:rPr lang="zh-CN" altLang="en-US" sz="1800" dirty="0">
                <a:sym typeface="+mn-ea"/>
              </a:rPr>
            </a:br>
            <a:r>
              <a:rPr lang="zh-CN" altLang="en-US" sz="1800" dirty="0">
                <a:sym typeface="+mn-ea"/>
              </a:rPr>
              <a:t>（安装路径尽量不要带中文）</a:t>
            </a:r>
          </a:p>
          <a:p>
            <a:pPr marL="341630" lvl="1" indent="0">
              <a:lnSpc>
                <a:spcPct val="150000"/>
              </a:lnSpc>
              <a:buNone/>
            </a:pPr>
            <a:endParaRPr lang="zh-CN" altLang="en-US" sz="1800" dirty="0"/>
          </a:p>
          <a:p>
            <a:pPr>
              <a:lnSpc>
                <a:spcPct val="150000"/>
              </a:lnSpc>
            </a:pPr>
            <a:endParaRPr lang="zh-CN" altLang="en-US" sz="1800" dirty="0"/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0" y="4700270"/>
            <a:ext cx="3519805" cy="15132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CSDK</a:t>
            </a:r>
            <a:r>
              <a:rPr lang="zh-CN" altLang="en-US" dirty="0" smtClean="0">
                <a:sym typeface="+mn-ea"/>
              </a:rPr>
              <a:t>安装配置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ym typeface="+mn-ea"/>
              </a:rPr>
              <a:t>CSDK</a:t>
            </a:r>
            <a:r>
              <a:rPr lang="zh-CN" altLang="en-US" sz="1800" b="1" dirty="0">
                <a:sym typeface="+mn-ea"/>
              </a:rPr>
              <a:t>配置：</a:t>
            </a:r>
            <a:endParaRPr lang="zh-CN" altLang="en-US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Environment</a:t>
            </a:r>
            <a:r>
              <a:rPr lang="zh-CN" altLang="zh-CN" sz="1800" dirty="0">
                <a:ea typeface="宋体" panose="02010600030101010101" pitchFamily="2" charset="-122"/>
                <a:sym typeface="+mn-ea"/>
              </a:rPr>
              <a:t>中需将数据库端编码和客户端编码设置与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server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环境变量中一致</a:t>
            </a:r>
            <a:endParaRPr lang="zh-CN" altLang="en-US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/>
          </a:p>
          <a:p>
            <a:pPr marL="6858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93" y="2718117"/>
            <a:ext cx="2480524" cy="272351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120775" y="3791585"/>
            <a:ext cx="1224280" cy="2882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296" y="2169795"/>
            <a:ext cx="4719098" cy="400939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2345055" y="3935730"/>
            <a:ext cx="2446655" cy="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椭圆 12"/>
          <p:cNvSpPr/>
          <p:nvPr/>
        </p:nvSpPr>
        <p:spPr>
          <a:xfrm>
            <a:off x="5039372" y="2556510"/>
            <a:ext cx="864235" cy="2882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CSDK</a:t>
            </a:r>
            <a:r>
              <a:rPr lang="zh-CN" altLang="en-US" dirty="0" smtClean="0">
                <a:sym typeface="+mn-ea"/>
              </a:rPr>
              <a:t>安装配置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463265" y="1131570"/>
            <a:ext cx="10718800" cy="48895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ym typeface="+mn-ea"/>
              </a:rPr>
              <a:t>CSDK</a:t>
            </a:r>
            <a:r>
              <a:rPr lang="zh-CN" altLang="zh-CN" sz="1800" b="1" dirty="0">
                <a:sym typeface="+mn-ea"/>
              </a:rPr>
              <a:t>测试</a:t>
            </a:r>
            <a:r>
              <a:rPr lang="zh-CN" altLang="en-US" sz="1800" b="1" dirty="0">
                <a:sym typeface="+mn-ea"/>
              </a:rPr>
              <a:t>：</a:t>
            </a:r>
            <a:endParaRPr lang="zh-CN" altLang="en-US" sz="18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ConnectTestDemo</a:t>
            </a:r>
            <a:r>
              <a:rPr lang="zh-CN" altLang="zh-CN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Database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下拉列表框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选</a:t>
            </a:r>
            <a:r>
              <a:rPr lang="zh-CN" altLang="en-US" sz="1800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出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来数</a:t>
            </a:r>
            <a:r>
              <a:rPr lang="zh-CN" altLang="en-US" sz="1800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据</a:t>
            </a:r>
            <a:r>
              <a:rPr lang="zh-CN" altLang="en-US" sz="1800" dirty="0" smtClean="0">
                <a:ea typeface="宋体" panose="02010600030101010101" pitchFamily="2" charset="-122"/>
                <a:sym typeface="+mn-ea"/>
              </a:rPr>
              <a:t>库，执行查询语句成功为</a:t>
            </a:r>
            <a:r>
              <a:rPr lang="zh-CN" altLang="en-US" sz="1800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配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置成功</a:t>
            </a:r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428" y="2544444"/>
            <a:ext cx="2480524" cy="272351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920875" y="2654300"/>
            <a:ext cx="1541780" cy="3600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462655" y="2834640"/>
            <a:ext cx="2004695" cy="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126" y="1364779"/>
            <a:ext cx="5000483" cy="4954799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9630438" y="3577767"/>
            <a:ext cx="337303" cy="328434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362364" y="3960793"/>
            <a:ext cx="887105" cy="582526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C#.NET</a:t>
            </a:r>
            <a:r>
              <a:rPr lang="zh-CN" altLang="en-US" dirty="0" smtClean="0">
                <a:sym typeface="+mn-ea"/>
              </a:rPr>
              <a:t>程序示例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 smtClean="0">
                <a:sym typeface="+mn-ea"/>
              </a:rPr>
              <a:t>C#.NET</a:t>
            </a:r>
            <a:r>
              <a:rPr lang="zh-CN" altLang="en-US" sz="1800" dirty="0" smtClean="0">
                <a:sym typeface="+mn-ea"/>
              </a:rPr>
              <a:t>程序示例</a:t>
            </a:r>
          </a:p>
          <a:p>
            <a:pPr marL="0" indent="0">
              <a:buNone/>
            </a:pPr>
            <a:r>
              <a:rPr lang="zh-CN" altLang="en-US" sz="1800" dirty="0" smtClean="0">
                <a:sym typeface="+mn-ea"/>
              </a:rPr>
              <a:t>使用</a:t>
            </a:r>
            <a:r>
              <a:rPr lang="en-US" altLang="zh-CN" sz="1800" dirty="0" smtClean="0">
                <a:sym typeface="+mn-ea"/>
              </a:rPr>
              <a:t>C#.NET</a:t>
            </a:r>
            <a:r>
              <a:rPr lang="zh-CN" altLang="zh-CN" sz="1800" dirty="0" smtClean="0">
                <a:sym typeface="+mn-ea"/>
              </a:rPr>
              <a:t>进行</a:t>
            </a:r>
            <a:r>
              <a:rPr lang="en-US" altLang="zh-CN" sz="1800" dirty="0" smtClean="0">
                <a:sym typeface="+mn-ea"/>
              </a:rPr>
              <a:t>8s</a:t>
            </a:r>
            <a:r>
              <a:rPr lang="zh-CN" altLang="en-US" sz="1800" dirty="0" smtClean="0">
                <a:sym typeface="+mn-ea"/>
              </a:rPr>
              <a:t>数据库应用程序开发</a:t>
            </a:r>
          </a:p>
          <a:p>
            <a:pPr marL="341630" lvl="1" indent="0">
              <a:buNone/>
            </a:pPr>
            <a:r>
              <a:rPr lang="zh-CN" altLang="en-US" sz="1800" dirty="0" smtClean="0">
                <a:sym typeface="+mn-ea"/>
              </a:rPr>
              <a:t>新建项目</a:t>
            </a:r>
            <a:r>
              <a:rPr lang="en-US" altLang="zh-CN" sz="1800" dirty="0" smtClean="0">
                <a:sym typeface="+mn-ea"/>
              </a:rPr>
              <a:t>——&gt;</a:t>
            </a:r>
            <a:r>
              <a:rPr lang="zh-CN" altLang="zh-CN" sz="1800" dirty="0" smtClean="0">
                <a:sym typeface="+mn-ea"/>
              </a:rPr>
              <a:t>添加引用</a:t>
            </a:r>
            <a:r>
              <a:rPr lang="en-US" altLang="zh-CN" sz="1800" dirty="0" smtClean="0">
                <a:sym typeface="+mn-ea"/>
              </a:rPr>
              <a:t>——&gt;</a:t>
            </a:r>
            <a:r>
              <a:rPr lang="zh-CN" altLang="zh-CN" sz="1800" dirty="0" smtClean="0">
                <a:sym typeface="+mn-ea"/>
              </a:rPr>
              <a:t>在安装目录的</a:t>
            </a:r>
            <a:r>
              <a:rPr lang="en-US" altLang="zh-CN" sz="1800" dirty="0" smtClean="0">
                <a:sym typeface="+mn-ea"/>
              </a:rPr>
              <a:t>bin</a:t>
            </a:r>
            <a:r>
              <a:rPr lang="zh-CN" altLang="en-US" sz="1800" dirty="0" smtClean="0">
                <a:sym typeface="+mn-ea"/>
              </a:rPr>
              <a:t>下选择需要的</a:t>
            </a:r>
            <a:r>
              <a:rPr lang="en-US" altLang="zh-CN" sz="1800" dirty="0" smtClean="0">
                <a:sym typeface="+mn-ea"/>
              </a:rPr>
              <a:t>dll</a:t>
            </a:r>
            <a:r>
              <a:rPr lang="zh-CN" altLang="en-US" sz="1800" dirty="0" smtClean="0">
                <a:sym typeface="+mn-ea"/>
              </a:rPr>
              <a:t>文件</a:t>
            </a:r>
            <a:r>
              <a:rPr lang="en-US" altLang="zh-CN" sz="1800" dirty="0" smtClean="0">
                <a:sym typeface="+mn-ea"/>
              </a:rPr>
              <a:t>——&gt;</a:t>
            </a:r>
            <a:r>
              <a:rPr lang="zh-CN" altLang="en-US" sz="1800" dirty="0" smtClean="0">
                <a:sym typeface="+mn-ea"/>
              </a:rPr>
              <a:t>编写程序</a:t>
            </a:r>
          </a:p>
          <a:p>
            <a:pPr>
              <a:lnSpc>
                <a:spcPct val="150000"/>
              </a:lnSpc>
            </a:pPr>
            <a:endParaRPr lang="zh-CN" altLang="en-US" sz="1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0" y="2432685"/>
            <a:ext cx="2085975" cy="23387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5590" y="4370070"/>
            <a:ext cx="6049010" cy="2450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using IBM.Data.Informix;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public static IfxConnection getCon()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{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HOST = "192.168.12.150"; // 数据库服务器的ip地址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SERVICENUM = "9088"; // 数据库服务器的端口号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SERVER = "ol_</a:t>
            </a:r>
            <a:r>
              <a:rPr lang="en-US" altLang="zh-CN" sz="10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gbasedbt</a:t>
            </a: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1210"; // 数据库服务器的名字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DATABASE = "test"; // bank18030是本程序要访问的数据库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USER = "</a:t>
            </a:r>
            <a:r>
              <a:rPr lang="en-US" altLang="zh-CN" sz="10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gbasedbt</a:t>
            </a: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"; // 用户名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PASSWORD = "</a:t>
            </a:r>
            <a:r>
              <a:rPr lang="en-US" altLang="zh-CN" sz="10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gbasedbt</a:t>
            </a: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"; // 密码  ***需要将mypasswd改成真正的密码***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DATABASELOCALE = "zh_cn.utf8"; // 设置数据库服务器端的LOCALE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const string CLIENTLOCALE = "zh_cn.utf8"; // 设置客户端的LOCALE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string myConnectionString = "Host = " + HOST + "; " +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"Service=" + SERVICENUM + "; " +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"Server=" + SERVER + "; " +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"Database=" + DATABASE + "; " +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"User Id=" + USER + "; " +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"Password=" + PASSWORD + "; " +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"Client Locale=" + CLIENTLOCALE + ";" + 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               "Database Locale=" + DATABASELOCALE + ";";</a:t>
            </a: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10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70600" y="4658360"/>
            <a:ext cx="5953125" cy="17564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 IfxConnection conn = new IfxConnection();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 conn.ConnectionString = myConnectionString;  //设置连接字符串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//conn.DatabaseLocale = DATABASELOCALE;  // 设置数据库服务器端的LOCALE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//conn.ClientLocale = CLIENTLOCALE;  //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return conn;         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}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IfxConnection  mycon = conn.getCon();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0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        mycon.Open();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C#.NET</a:t>
            </a:r>
            <a:r>
              <a:rPr lang="zh-CN" altLang="en-US" dirty="0" smtClean="0">
                <a:sym typeface="+mn-ea"/>
              </a:rPr>
              <a:t>程序示例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1800" b="1" dirty="0" smtClean="0">
                <a:sym typeface="+mn-ea"/>
              </a:rPr>
              <a:t>编码注意事项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 smtClean="0">
                <a:sym typeface="+mn-ea"/>
              </a:rPr>
              <a:t>8s</a:t>
            </a:r>
            <a:r>
              <a:rPr lang="zh-CN" altLang="en-US" sz="1600" b="1" dirty="0" smtClean="0">
                <a:sym typeface="+mn-ea"/>
              </a:rPr>
              <a:t>默认安装后的默认编码是（ 该编码不支持中文）：8859-1</a:t>
            </a:r>
          </a:p>
          <a:p>
            <a:pPr lvl="1">
              <a:lnSpc>
                <a:spcPct val="150000"/>
              </a:lnSpc>
            </a:pPr>
            <a:r>
              <a:rPr lang="zh-CN" altLang="en-US" sz="1600" b="1" dirty="0" smtClean="0">
                <a:sym typeface="+mn-ea"/>
              </a:rPr>
              <a:t>设置编码需要确认是</a:t>
            </a:r>
            <a:r>
              <a:rPr lang="en-US" altLang="zh-CN" sz="1600" b="1" dirty="0" err="1" smtClean="0">
                <a:sym typeface="+mn-ea"/>
              </a:rPr>
              <a:t>GBase</a:t>
            </a:r>
            <a:r>
              <a:rPr lang="en-US" altLang="zh-CN" sz="1600" b="1" dirty="0" smtClean="0">
                <a:sym typeface="+mn-ea"/>
              </a:rPr>
              <a:t> 8s</a:t>
            </a:r>
            <a:r>
              <a:rPr lang="zh-CN" altLang="en-US" sz="1600" b="1" dirty="0" smtClean="0">
                <a:sym typeface="+mn-ea"/>
              </a:rPr>
              <a:t>支持的编码</a:t>
            </a:r>
          </a:p>
          <a:p>
            <a:pPr marL="341630" lvl="1" indent="0">
              <a:lnSpc>
                <a:spcPct val="150000"/>
              </a:lnSpc>
              <a:buNone/>
            </a:pPr>
            <a:r>
              <a:rPr lang="zh-CN" altLang="en-US" sz="1600" b="1" dirty="0" smtClean="0">
                <a:sym typeface="+mn-ea"/>
              </a:rPr>
              <a:t>示例：查看</a:t>
            </a:r>
            <a:r>
              <a:rPr lang="en-US" altLang="zh-CN" sz="1600" b="1" dirty="0" smtClean="0">
                <a:sym typeface="+mn-ea"/>
              </a:rPr>
              <a:t>8s</a:t>
            </a:r>
            <a:r>
              <a:rPr lang="zh-CN" altLang="en-US" sz="1600" b="1" dirty="0" smtClean="0">
                <a:sym typeface="+mn-ea"/>
              </a:rPr>
              <a:t>是否支持</a:t>
            </a:r>
            <a:r>
              <a:rPr lang="en-US" altLang="zh-CN" sz="1600" b="1" dirty="0" smtClean="0">
                <a:sym typeface="+mn-ea"/>
              </a:rPr>
              <a:t>utf8</a:t>
            </a:r>
            <a:r>
              <a:rPr lang="zh-CN" altLang="en-US" sz="1600" b="1" dirty="0" smtClean="0">
                <a:sym typeface="+mn-ea"/>
              </a:rPr>
              <a:t>编码</a:t>
            </a:r>
          </a:p>
          <a:p>
            <a:pPr marL="341630" lvl="1" indent="0">
              <a:lnSpc>
                <a:spcPct val="100000"/>
              </a:lnSpc>
              <a:buNone/>
            </a:pPr>
            <a:r>
              <a:rPr lang="en-US" altLang="zh-CN" sz="1600" b="1" dirty="0" smtClean="0">
                <a:sym typeface="+mn-ea"/>
              </a:rPr>
              <a:t>cd  </a:t>
            </a:r>
            <a:r>
              <a:rPr lang="zh-CN" altLang="en-US" sz="1600" b="1" dirty="0" smtClean="0">
                <a:sym typeface="+mn-ea"/>
              </a:rPr>
              <a:t>/home/</a:t>
            </a:r>
            <a:r>
              <a:rPr lang="en-US" altLang="zh-CN" sz="1600" b="1" dirty="0" err="1" smtClean="0">
                <a:sym typeface="+mn-ea"/>
              </a:rPr>
              <a:t>gbasedbt</a:t>
            </a:r>
            <a:r>
              <a:rPr lang="zh-CN" altLang="en-US" sz="1600" b="1" dirty="0" smtClean="0">
                <a:sym typeface="+mn-ea"/>
              </a:rPr>
              <a:t>/gbase/gls</a:t>
            </a:r>
            <a:r>
              <a:rPr lang="en-US" altLang="zh-CN" sz="1600" b="1" dirty="0" smtClean="0">
                <a:sym typeface="+mn-ea"/>
              </a:rPr>
              <a:t>/cm3</a:t>
            </a:r>
          </a:p>
          <a:p>
            <a:pPr marL="341630" lvl="1" indent="0">
              <a:lnSpc>
                <a:spcPct val="100000"/>
              </a:lnSpc>
              <a:buNone/>
            </a:pPr>
            <a:r>
              <a:rPr lang="en-US" altLang="zh-CN" sz="1600" b="1" dirty="0" smtClean="0">
                <a:sym typeface="+mn-ea"/>
              </a:rPr>
              <a:t> cat registry|grep utf8</a:t>
            </a:r>
          </a:p>
          <a:p>
            <a:pPr marL="341630"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ym typeface="+mn-ea"/>
              </a:rPr>
              <a:t>utf8		57372   # 0xe01c</a:t>
            </a:r>
          </a:p>
          <a:p>
            <a:pPr marL="341630" lvl="1" indent="0">
              <a:lnSpc>
                <a:spcPct val="100000"/>
              </a:lnSpc>
              <a:buNone/>
            </a:pPr>
            <a:r>
              <a:rPr lang="en-US" altLang="zh-CN" sz="1600" b="1" dirty="0" smtClean="0">
                <a:sym typeface="+mn-ea"/>
              </a:rPr>
              <a:t>cd  </a:t>
            </a:r>
            <a:r>
              <a:rPr lang="zh-CN" altLang="en-US" sz="1600" b="1" dirty="0" smtClean="0">
                <a:sym typeface="+mn-ea"/>
              </a:rPr>
              <a:t>/home/</a:t>
            </a:r>
            <a:r>
              <a:rPr lang="en-US" altLang="zh-CN" sz="1600" b="1" dirty="0" err="1" smtClean="0">
                <a:sym typeface="+mn-ea"/>
              </a:rPr>
              <a:t>gbasedbt</a:t>
            </a:r>
            <a:r>
              <a:rPr lang="zh-CN" altLang="en-US" sz="1600" b="1" dirty="0" smtClean="0">
                <a:sym typeface="+mn-ea"/>
              </a:rPr>
              <a:t>/gbase/gls</a:t>
            </a:r>
            <a:r>
              <a:rPr lang="en-US" altLang="zh-CN" sz="1600" b="1" dirty="0" smtClean="0">
                <a:sym typeface="+mn-ea"/>
              </a:rPr>
              <a:t>/lc11/en_us</a:t>
            </a:r>
          </a:p>
          <a:p>
            <a:pPr marL="341630" lvl="1" indent="0">
              <a:lnSpc>
                <a:spcPct val="150000"/>
              </a:lnSpc>
              <a:buNone/>
            </a:pPr>
            <a:r>
              <a:rPr lang="zh-CN" altLang="zh-CN" sz="1600" dirty="0" smtClean="0">
                <a:sym typeface="+mn-ea"/>
              </a:rPr>
              <a:t>如果存在</a:t>
            </a:r>
            <a:r>
              <a:rPr lang="en-US" altLang="zh-CN" sz="1600" dirty="0" smtClean="0">
                <a:sym typeface="+mn-ea"/>
              </a:rPr>
              <a:t>e01c.lco</a:t>
            </a:r>
            <a:r>
              <a:rPr lang="zh-CN" altLang="zh-CN" sz="1600" dirty="0" smtClean="0">
                <a:sym typeface="+mn-ea"/>
              </a:rPr>
              <a:t>，则</a:t>
            </a:r>
            <a:r>
              <a:rPr lang="en-US" altLang="zh-CN" sz="1600" dirty="0" smtClean="0">
                <a:sym typeface="+mn-ea"/>
              </a:rPr>
              <a:t>8s</a:t>
            </a:r>
            <a:r>
              <a:rPr lang="zh-CN" altLang="en-US" sz="1600" dirty="0" smtClean="0">
                <a:sym typeface="+mn-ea"/>
              </a:rPr>
              <a:t>支持</a:t>
            </a:r>
            <a:r>
              <a:rPr lang="en-US" altLang="zh-CN" sz="1600" dirty="0" smtClean="0">
                <a:sym typeface="+mn-ea"/>
              </a:rPr>
              <a:t>utf8</a:t>
            </a:r>
            <a:r>
              <a:rPr lang="zh-CN" altLang="zh-CN" sz="1600" dirty="0" smtClean="0">
                <a:sym typeface="+mn-ea"/>
              </a:rPr>
              <a:t>，</a:t>
            </a:r>
            <a:r>
              <a:rPr lang="en-US" altLang="zh-CN" sz="1600" dirty="0" smtClean="0">
                <a:sym typeface="+mn-ea"/>
              </a:rPr>
              <a:t>8s</a:t>
            </a:r>
            <a:r>
              <a:rPr lang="zh-CN" altLang="en-US" sz="1600" dirty="0" smtClean="0">
                <a:sym typeface="+mn-ea"/>
              </a:rPr>
              <a:t>的相关</a:t>
            </a:r>
            <a:r>
              <a:rPr lang="en-US" altLang="zh-CN" sz="1600" dirty="0" smtClean="0">
                <a:sym typeface="+mn-ea"/>
              </a:rPr>
              <a:t>LOCALE</a:t>
            </a:r>
            <a:r>
              <a:rPr lang="zh-CN" altLang="en-US" sz="1600" dirty="0" smtClean="0">
                <a:sym typeface="+mn-ea"/>
              </a:rPr>
              <a:t>参数都可以设置为：</a:t>
            </a:r>
            <a:r>
              <a:rPr lang="en-US" altLang="zh-CN" sz="1600" dirty="0" smtClean="0">
                <a:sym typeface="+mn-ea"/>
              </a:rPr>
              <a:t>en_us.utf8</a:t>
            </a:r>
          </a:p>
          <a:p>
            <a:pPr lvl="1">
              <a:lnSpc>
                <a:spcPct val="150000"/>
              </a:lnSpc>
            </a:pPr>
            <a:r>
              <a:rPr lang="zh-CN" altLang="zh-CN" sz="1600" dirty="0" smtClean="0">
                <a:sym typeface="+mn-ea"/>
              </a:rPr>
              <a:t>客户端和服务器端如果设置了不同的</a:t>
            </a:r>
            <a:r>
              <a:rPr lang="en-US" altLang="zh-CN" sz="1600" dirty="0" smtClean="0">
                <a:sym typeface="+mn-ea"/>
              </a:rPr>
              <a:t>DB_LOCALE</a:t>
            </a:r>
            <a:r>
              <a:rPr lang="zh-CN" altLang="zh-CN" sz="1600" dirty="0" smtClean="0">
                <a:sym typeface="+mn-ea"/>
              </a:rPr>
              <a:t>和</a:t>
            </a:r>
            <a:r>
              <a:rPr lang="en-US" altLang="zh-CN" sz="1600" dirty="0" smtClean="0">
                <a:sym typeface="+mn-ea"/>
              </a:rPr>
              <a:t>CLIENT_LOCALE</a:t>
            </a:r>
            <a:r>
              <a:rPr lang="zh-CN" altLang="zh-CN" sz="1600" dirty="0" smtClean="0">
                <a:sym typeface="+mn-ea"/>
              </a:rPr>
              <a:t>，需要确认其可以互相转换：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CN" sz="1600" b="1" dirty="0" smtClean="0">
                <a:sym typeface="+mn-ea"/>
              </a:rPr>
              <a:t>      cd  </a:t>
            </a:r>
            <a:r>
              <a:rPr lang="zh-CN" altLang="en-US" sz="1600" b="1" dirty="0" smtClean="0">
                <a:sym typeface="+mn-ea"/>
              </a:rPr>
              <a:t>/home/</a:t>
            </a:r>
            <a:r>
              <a:rPr lang="en-US" altLang="zh-CN" sz="1600" b="1" dirty="0" err="1" smtClean="0">
                <a:sym typeface="+mn-ea"/>
              </a:rPr>
              <a:t>gbasedbt</a:t>
            </a:r>
            <a:r>
              <a:rPr lang="zh-CN" altLang="en-US" sz="1600" b="1" dirty="0" smtClean="0">
                <a:sym typeface="+mn-ea"/>
              </a:rPr>
              <a:t>/gbase/gls</a:t>
            </a:r>
            <a:r>
              <a:rPr lang="en-US" altLang="zh-CN" sz="1600" b="1" dirty="0" smtClean="0">
                <a:sym typeface="+mn-ea"/>
              </a:rPr>
              <a:t>/cv9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CN" sz="1600" b="1" dirty="0" smtClean="0">
                <a:sym typeface="+mn-ea"/>
              </a:rPr>
              <a:t>      0333e01c.cvo</a:t>
            </a:r>
          </a:p>
          <a:p>
            <a:pPr marL="341630" lvl="1" indent="0">
              <a:lnSpc>
                <a:spcPct val="150000"/>
              </a:lnSpc>
              <a:buNone/>
            </a:pPr>
            <a:endParaRPr lang="zh-CN" alt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ODBC</a:t>
            </a:r>
            <a:r>
              <a:rPr lang="zh-CN" altLang="en-US" dirty="0" smtClean="0">
                <a:sym typeface="+mn-ea"/>
              </a:rPr>
              <a:t>配置</a:t>
            </a:r>
            <a:r>
              <a:rPr lang="en-US" altLang="zh-CN" dirty="0" smtClean="0">
                <a:sym typeface="+mn-ea"/>
              </a:rPr>
              <a:t>(windows)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ym typeface="+mn-ea"/>
              </a:rPr>
              <a:t>ODBC</a:t>
            </a:r>
            <a:r>
              <a:rPr lang="zh-CN" sz="1800" b="1" dirty="0" smtClean="0">
                <a:sym typeface="+mn-ea"/>
              </a:rPr>
              <a:t>驱动安装</a:t>
            </a:r>
            <a:endParaRPr lang="zh-CN" sz="1800" b="1" dirty="0" smtClean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ym typeface="+mn-ea"/>
              </a:rPr>
              <a:t>安装对应位数的</a:t>
            </a:r>
            <a:r>
              <a:rPr lang="en-US" altLang="zh-CN" sz="1800" dirty="0" smtClean="0">
                <a:sym typeface="+mn-ea"/>
              </a:rPr>
              <a:t>csdk</a:t>
            </a:r>
            <a:endParaRPr lang="en-US" altLang="zh-CN" sz="1800" dirty="0" smtClean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ym typeface="+mn-ea"/>
              </a:rPr>
              <a:t>csdk</a:t>
            </a:r>
            <a:r>
              <a:rPr lang="zh-CN" altLang="en-US" sz="1800" dirty="0" smtClean="0">
                <a:sym typeface="+mn-ea"/>
              </a:rPr>
              <a:t>配置和测试</a:t>
            </a:r>
            <a:endParaRPr lang="zh-CN" altLang="en-US" sz="1800" dirty="0" smtClean="0"/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ym typeface="+mn-ea"/>
              </a:rPr>
              <a:t>ODBC</a:t>
            </a:r>
            <a:r>
              <a:rPr lang="zh-CN" altLang="en-US" sz="1800" dirty="0" smtClean="0">
                <a:sym typeface="+mn-ea"/>
              </a:rPr>
              <a:t>配置</a:t>
            </a:r>
            <a:endParaRPr lang="zh-CN" altLang="en-US" sz="1800" dirty="0" smtClean="0"/>
          </a:p>
          <a:p>
            <a:pPr marL="341630" lvl="1" indent="0">
              <a:lnSpc>
                <a:spcPct val="150000"/>
              </a:lnSpc>
              <a:buNone/>
            </a:pPr>
            <a:r>
              <a:rPr lang="en-US" altLang="zh-CN" sz="1800" dirty="0" smtClean="0">
                <a:sym typeface="+mn-ea"/>
              </a:rPr>
              <a:t>64</a:t>
            </a:r>
            <a:r>
              <a:rPr lang="zh-CN" altLang="en-US" sz="1800" dirty="0" smtClean="0">
                <a:sym typeface="+mn-ea"/>
              </a:rPr>
              <a:t>位配置：C:\windows\System32</a:t>
            </a:r>
            <a:r>
              <a:rPr lang="en-US" altLang="zh-CN" sz="1800" dirty="0" smtClean="0">
                <a:sym typeface="+mn-ea"/>
              </a:rPr>
              <a:t>\odbcad32.exe</a:t>
            </a:r>
            <a:endParaRPr lang="en-US" altLang="zh-CN" sz="1800" dirty="0" smtClean="0"/>
          </a:p>
          <a:p>
            <a:pPr marL="341630" lvl="1" indent="0">
              <a:lnSpc>
                <a:spcPct val="150000"/>
              </a:lnSpc>
              <a:buNone/>
            </a:pP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70" y="3707130"/>
            <a:ext cx="3190215" cy="2637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614" y="3707130"/>
            <a:ext cx="2809517" cy="26371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285" y="4876165"/>
            <a:ext cx="1895475" cy="29908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椭圆 9"/>
          <p:cNvSpPr/>
          <p:nvPr/>
        </p:nvSpPr>
        <p:spPr>
          <a:xfrm>
            <a:off x="6895753" y="4302442"/>
            <a:ext cx="575945" cy="14414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en-US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028432" y="4215765"/>
            <a:ext cx="2016125" cy="79184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8" name=" 227"/>
          <p:cNvSpPr/>
          <p:nvPr/>
        </p:nvSpPr>
        <p:spPr>
          <a:xfrm>
            <a:off x="9180830" y="4215765"/>
            <a:ext cx="1856740" cy="433705"/>
          </a:xfrm>
          <a:prstGeom prst="wedgeEllipseCallout">
            <a:avLst>
              <a:gd name="adj1" fmla="val -957"/>
              <a:gd name="adj2" fmla="val 87481"/>
            </a:avLst>
          </a:prstGeom>
          <a:solidFill>
            <a:srgbClr val="FFFF99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编码需与数据库</a:t>
            </a:r>
            <a:r>
              <a:rPr lang="en-US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  <a:t>server</a:t>
            </a:r>
            <a:r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  <a:t>一致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宋体" panose="02010600030101010101" pitchFamily="2" charset="-122"/>
                <a:sym typeface="+mn-ea"/>
              </a:rPr>
              <a:t>ODBC</a:t>
            </a:r>
            <a:r>
              <a:rPr lang="zh-CN" altLang="en-US" dirty="0">
                <a:cs typeface="宋体" panose="02010600030101010101" pitchFamily="2" charset="-122"/>
                <a:sym typeface="+mn-ea"/>
              </a:rPr>
              <a:t>示例</a:t>
            </a:r>
            <a:endParaRPr lang="zh-CN" altLang="en-US" dirty="0"/>
          </a:p>
        </p:txBody>
      </p:sp>
      <p:pic>
        <p:nvPicPr>
          <p:cNvPr id="2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1310005"/>
            <a:ext cx="6795770" cy="4687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ODBC</a:t>
            </a:r>
            <a:r>
              <a:rPr lang="zh-CN" altLang="en-US" dirty="0" smtClean="0">
                <a:sym typeface="+mn-ea"/>
              </a:rPr>
              <a:t>配置</a:t>
            </a:r>
            <a:r>
              <a:rPr lang="en-US" altLang="zh-CN" dirty="0" smtClean="0">
                <a:sym typeface="+mn-ea"/>
              </a:rPr>
              <a:t>(linux)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 smtClean="0"/>
              <a:t>LINUX</a:t>
            </a:r>
            <a:r>
              <a:rPr lang="zh-CN" altLang="en-US" dirty="0" smtClean="0"/>
              <a:t>下配置当前用户可使用的</a:t>
            </a:r>
            <a:r>
              <a:rPr lang="en-US" altLang="zh-CN" dirty="0" smtClean="0"/>
              <a:t>ODBC</a:t>
            </a:r>
            <a:r>
              <a:rPr lang="zh-CN" altLang="en-US" dirty="0" smtClean="0"/>
              <a:t>连接步骤 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安装</a:t>
            </a:r>
            <a:r>
              <a:rPr lang="en-US" altLang="zh-CN" dirty="0" smtClean="0"/>
              <a:t>CSDK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 smtClean="0"/>
              <a:t>cp</a:t>
            </a:r>
            <a:r>
              <a:rPr lang="en-US" altLang="zh-CN" dirty="0" smtClean="0"/>
              <a:t> </a:t>
            </a:r>
            <a:r>
              <a:rPr lang="zh-CN" altLang="en-US" dirty="0" smtClean="0"/>
              <a:t> </a:t>
            </a:r>
            <a:r>
              <a:rPr lang="en-US" altLang="zh-CN" dirty="0" smtClean="0"/>
              <a:t>${GBASEDBTDIR}/</a:t>
            </a:r>
            <a:r>
              <a:rPr lang="en-US" altLang="zh-CN" dirty="0" err="1" smtClean="0"/>
              <a:t>etc</a:t>
            </a:r>
            <a:r>
              <a:rPr lang="en-US" altLang="zh-CN" dirty="0" smtClean="0"/>
              <a:t>/odbc.ini     /home/</a:t>
            </a:r>
            <a:r>
              <a:rPr lang="en-US" altLang="zh-CN" dirty="0" err="1" smtClean="0"/>
              <a:t>gbasedbt</a:t>
            </a:r>
            <a:r>
              <a:rPr lang="en-US" altLang="zh-CN" dirty="0" smtClean="0"/>
              <a:t>/.odbc.ini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环境变量增加：</a:t>
            </a:r>
            <a:endParaRPr lang="en-US" altLang="zh-CN" dirty="0"/>
          </a:p>
          <a:p>
            <a:pPr marL="687070" lvl="2" indent="0">
              <a:lnSpc>
                <a:spcPct val="150000"/>
              </a:lnSpc>
              <a:buNone/>
            </a:pPr>
            <a:r>
              <a:rPr lang="en-US" altLang="zh-CN" dirty="0"/>
              <a:t>export LD_LIBRARY_PATH</a:t>
            </a:r>
            <a:r>
              <a:rPr lang="en-US" altLang="zh-CN" dirty="0" smtClean="0"/>
              <a:t>=${GBASEDBTDIR</a:t>
            </a:r>
            <a:r>
              <a:rPr lang="en-US" altLang="zh-CN" dirty="0"/>
              <a:t>}/lib</a:t>
            </a:r>
            <a:r>
              <a:rPr lang="en-US" altLang="zh-CN" dirty="0" smtClean="0"/>
              <a:t>:${GBASEDBTDIR</a:t>
            </a:r>
            <a:r>
              <a:rPr lang="en-US" altLang="zh-CN" dirty="0"/>
              <a:t>}/lib/</a:t>
            </a:r>
            <a:r>
              <a:rPr lang="en-US" altLang="zh-CN" dirty="0" err="1"/>
              <a:t>esql</a:t>
            </a:r>
            <a:r>
              <a:rPr lang="en-US" altLang="zh-CN" dirty="0">
                <a:solidFill>
                  <a:schemeClr val="accent1"/>
                </a:solidFill>
              </a:rPr>
              <a:t>:</a:t>
            </a:r>
          </a:p>
          <a:p>
            <a:pPr marL="687070" lvl="2" indent="0">
              <a:lnSpc>
                <a:spcPct val="150000"/>
              </a:lnSpc>
              <a:buNone/>
            </a:pPr>
            <a:r>
              <a:rPr lang="en-US" altLang="zh-CN" dirty="0" smtClean="0">
                <a:solidFill>
                  <a:schemeClr val="accent1"/>
                </a:solidFill>
              </a:rPr>
              <a:t>${GBASEDBTDIR</a:t>
            </a:r>
            <a:r>
              <a:rPr lang="en-US" altLang="zh-CN" dirty="0">
                <a:solidFill>
                  <a:schemeClr val="accent1"/>
                </a:solidFill>
              </a:rPr>
              <a:t>}/</a:t>
            </a:r>
            <a:r>
              <a:rPr lang="en-US" altLang="zh-CN" dirty="0" smtClean="0">
                <a:solidFill>
                  <a:schemeClr val="accent1"/>
                </a:solidFill>
              </a:rPr>
              <a:t>lib/cli</a:t>
            </a:r>
            <a:endParaRPr lang="en-US" altLang="zh-CN" dirty="0" smtClean="0"/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/>
              <a:t>vi  ~/.odbc.ini</a:t>
            </a:r>
          </a:p>
          <a:p>
            <a:pPr marL="685800" lvl="1" indent="-342900">
              <a:buFont typeface="+mj-lt"/>
              <a:buAutoNum type="arabicPeriod"/>
            </a:pPr>
            <a:endParaRPr lang="en-US" altLang="zh-CN" dirty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972820" lvl="2" indent="-285750"/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685800" lvl="1" indent="-3429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13738" y="4383514"/>
            <a:ext cx="5832648" cy="1599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</a:t>
            </a:r>
            <a:r>
              <a:rPr lang="en-US" altLang="zh-CN" sz="1400" dirty="0" smtClean="0">
                <a:solidFill>
                  <a:srgbClr val="FF0000"/>
                </a:solidFill>
              </a:rPr>
              <a:t>gbase8s</a:t>
            </a:r>
            <a:r>
              <a:rPr lang="en-US" altLang="zh-CN" sz="1400" dirty="0" smtClean="0"/>
              <a:t>]</a:t>
            </a:r>
            <a:endParaRPr lang="en-US" altLang="zh-CN" sz="1400" dirty="0"/>
          </a:p>
          <a:p>
            <a:r>
              <a:rPr lang="en-US" altLang="zh-CN" sz="1400" dirty="0"/>
              <a:t>Driver</a:t>
            </a:r>
            <a:r>
              <a:rPr lang="en-US" altLang="zh-CN" sz="1400" dirty="0" smtClean="0"/>
              <a:t>=</a:t>
            </a:r>
            <a:r>
              <a:rPr lang="en-US" altLang="zh-CN" sz="1400" dirty="0" smtClean="0">
                <a:solidFill>
                  <a:srgbClr val="FF0000"/>
                </a:solidFill>
              </a:rPr>
              <a:t>${GBASEDBTDIR</a:t>
            </a:r>
            <a:r>
              <a:rPr lang="en-US" altLang="zh-CN" sz="1400" dirty="0">
                <a:solidFill>
                  <a:srgbClr val="FF0000"/>
                </a:solidFill>
              </a:rPr>
              <a:t>}/lib/cli/iclit09b.so</a:t>
            </a:r>
          </a:p>
          <a:p>
            <a:r>
              <a:rPr lang="en-US" altLang="zh-CN" sz="1400" dirty="0" smtClean="0"/>
              <a:t>Description=</a:t>
            </a:r>
            <a:r>
              <a:rPr lang="en-US" altLang="zh-CN" sz="1400" dirty="0" err="1" smtClean="0"/>
              <a:t>GBase</a:t>
            </a:r>
            <a:r>
              <a:rPr lang="en-US" altLang="zh-CN" sz="1400" dirty="0" smtClean="0"/>
              <a:t> </a:t>
            </a:r>
            <a:r>
              <a:rPr lang="en-US" altLang="zh-CN" sz="1400" dirty="0"/>
              <a:t>ODBC DRIVER</a:t>
            </a:r>
          </a:p>
          <a:p>
            <a:r>
              <a:rPr lang="en-US" altLang="zh-CN" sz="1400" dirty="0"/>
              <a:t>Database=</a:t>
            </a:r>
            <a:r>
              <a:rPr lang="en-US" altLang="zh-CN" sz="1400" dirty="0" err="1">
                <a:solidFill>
                  <a:srgbClr val="FF0000"/>
                </a:solidFill>
              </a:rPr>
              <a:t>sysmaster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 smtClean="0"/>
              <a:t>LogonID</a:t>
            </a:r>
            <a:r>
              <a:rPr lang="en-US" altLang="zh-CN" sz="1400" dirty="0" smtClean="0"/>
              <a:t>=</a:t>
            </a:r>
            <a:r>
              <a:rPr lang="en-US" altLang="zh-CN" sz="1400" dirty="0" err="1" smtClean="0">
                <a:solidFill>
                  <a:srgbClr val="FF0000"/>
                </a:solidFill>
              </a:rPr>
              <a:t>gbasedbt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 smtClean="0"/>
              <a:t>pwd</a:t>
            </a:r>
            <a:r>
              <a:rPr lang="en-US" altLang="zh-CN" sz="1400" dirty="0" smtClean="0"/>
              <a:t>=</a:t>
            </a:r>
            <a:r>
              <a:rPr lang="en-US" altLang="zh-CN" sz="1400" dirty="0" err="1" smtClean="0">
                <a:solidFill>
                  <a:schemeClr val="accent1"/>
                </a:solidFill>
              </a:rPr>
              <a:t>gbasedbt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r>
              <a:rPr lang="en-US" altLang="zh-CN" sz="1400" dirty="0" err="1"/>
              <a:t>Servername</a:t>
            </a:r>
            <a:r>
              <a:rPr lang="en-US" altLang="zh-CN" sz="1400" dirty="0"/>
              <a:t>=</a:t>
            </a:r>
            <a:r>
              <a:rPr lang="en-US" altLang="zh-CN" sz="1400" dirty="0" err="1">
                <a:solidFill>
                  <a:schemeClr val="accent1"/>
                </a:solidFill>
              </a:rPr>
              <a:t>gbaseserver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ODBC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77462" y="1194083"/>
            <a:ext cx="9099550" cy="46101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/>
              <a:t>ODBC</a:t>
            </a:r>
            <a:r>
              <a:rPr lang="zh-CN" altLang="en-US" sz="2400" dirty="0" smtClean="0"/>
              <a:t>连接测试</a:t>
            </a:r>
            <a:endParaRPr lang="en-US" altLang="zh-CN" sz="2400" dirty="0" smtClean="0"/>
          </a:p>
          <a:p>
            <a:pPr marL="972820" lvl="2" indent="-285750"/>
            <a:r>
              <a:rPr lang="zh-CN" altLang="en-US" sz="1800" dirty="0" smtClean="0"/>
              <a:t>方法一：使用</a:t>
            </a:r>
            <a:r>
              <a:rPr lang="en-US" altLang="zh-CN" sz="1800" dirty="0" err="1" smtClean="0"/>
              <a:t>GBase</a:t>
            </a:r>
            <a:r>
              <a:rPr lang="en-US" altLang="zh-CN" sz="1800" dirty="0" smtClean="0"/>
              <a:t> 8s</a:t>
            </a:r>
            <a:r>
              <a:rPr lang="zh-CN" altLang="en-US" sz="1800" dirty="0" smtClean="0"/>
              <a:t>提供的</a:t>
            </a:r>
            <a:r>
              <a:rPr lang="en-US" altLang="zh-CN" sz="1800" dirty="0" smtClean="0"/>
              <a:t>demo</a:t>
            </a:r>
            <a:r>
              <a:rPr lang="zh-CN" altLang="en-US" sz="1800" dirty="0" smtClean="0"/>
              <a:t>测试</a:t>
            </a:r>
            <a:r>
              <a:rPr lang="en-US" altLang="zh-CN" sz="1800" dirty="0" smtClean="0"/>
              <a:t>C</a:t>
            </a:r>
            <a:r>
              <a:rPr lang="zh-CN" altLang="en-US" sz="1800" dirty="0" smtClean="0"/>
              <a:t>程序</a:t>
            </a:r>
            <a:endParaRPr lang="en-US" altLang="zh-CN" sz="1800" dirty="0" smtClean="0"/>
          </a:p>
          <a:p>
            <a:pPr marL="1031875" lvl="3" indent="0">
              <a:buNone/>
            </a:pPr>
            <a:r>
              <a:rPr lang="en-US" altLang="zh-CN" sz="1600" dirty="0"/>
              <a:t>v</a:t>
            </a:r>
            <a:r>
              <a:rPr lang="en-US" altLang="zh-CN" sz="1600" dirty="0" smtClean="0"/>
              <a:t>i   ${GBASEDBTDIR}/demo/cli</a:t>
            </a:r>
          </a:p>
          <a:p>
            <a:pPr marL="1031875" lvl="3" indent="0">
              <a:buNone/>
            </a:pPr>
            <a:r>
              <a:rPr lang="en-US" altLang="zh-CN" sz="1600" dirty="0"/>
              <a:t>m</a:t>
            </a:r>
            <a:r>
              <a:rPr lang="en-US" altLang="zh-CN" sz="1600" dirty="0" smtClean="0"/>
              <a:t>ake</a:t>
            </a:r>
          </a:p>
          <a:p>
            <a:pPr marL="1031875" lvl="3" indent="0">
              <a:buNone/>
            </a:pPr>
            <a:r>
              <a:rPr lang="en-US" altLang="zh-CN" sz="1600" dirty="0" smtClean="0"/>
              <a:t>./</a:t>
            </a:r>
            <a:r>
              <a:rPr lang="en-US" altLang="zh-CN" sz="1600" dirty="0" err="1" smtClean="0"/>
              <a:t>dbcreate</a:t>
            </a:r>
            <a:r>
              <a:rPr lang="en-US" altLang="zh-CN" sz="1600" dirty="0" smtClean="0"/>
              <a:t>   </a:t>
            </a:r>
            <a:endParaRPr lang="en-US" altLang="zh-CN" sz="1600" dirty="0"/>
          </a:p>
          <a:p>
            <a:pPr marL="1031875" lvl="3" indent="0">
              <a:buNone/>
            </a:pPr>
            <a:r>
              <a:rPr lang="en-US" altLang="zh-CN" sz="1600" dirty="0" smtClean="0"/>
              <a:t>./</a:t>
            </a:r>
            <a:r>
              <a:rPr lang="en-US" altLang="zh-CN" sz="1600" dirty="0" err="1" smtClean="0"/>
              <a:t>dbdrop</a:t>
            </a:r>
            <a:endParaRPr lang="en-US" altLang="zh-CN" sz="1600" dirty="0" smtClean="0"/>
          </a:p>
          <a:p>
            <a:pPr marL="1031875" lvl="3" indent="0">
              <a:buNone/>
            </a:pPr>
            <a:endParaRPr lang="en-US" altLang="zh-CN" sz="1600" dirty="0" smtClean="0"/>
          </a:p>
          <a:p>
            <a:pPr marL="1031875" lvl="3" indent="0">
              <a:buNone/>
            </a:pPr>
            <a:endParaRPr lang="en-US" altLang="zh-CN" sz="1600" dirty="0" smtClean="0"/>
          </a:p>
          <a:p>
            <a:pPr marL="1031875" lvl="3" indent="0">
              <a:buNone/>
            </a:pPr>
            <a:endParaRPr lang="en-US" altLang="zh-CN" sz="1600" dirty="0"/>
          </a:p>
          <a:p>
            <a:pPr marL="1031875" lvl="3" indent="0">
              <a:buNone/>
            </a:pPr>
            <a:endParaRPr lang="en-US" altLang="zh-CN" sz="1600" dirty="0" smtClean="0"/>
          </a:p>
          <a:p>
            <a:pPr marL="1031875" lvl="3" indent="0">
              <a:buNone/>
            </a:pPr>
            <a:endParaRPr lang="en-US" altLang="zh-CN" sz="1600" dirty="0"/>
          </a:p>
          <a:p>
            <a:pPr marL="1031875" lvl="3" indent="0">
              <a:buNone/>
            </a:pPr>
            <a:endParaRPr lang="en-US" altLang="zh-CN" sz="1600" dirty="0" smtClean="0"/>
          </a:p>
          <a:p>
            <a:pPr marL="972820" lvl="2" indent="-285750"/>
            <a:r>
              <a:rPr lang="zh-CN" altLang="en-US" sz="1800" dirty="0" smtClean="0"/>
              <a:t>方法二：</a:t>
            </a:r>
            <a:r>
              <a:rPr lang="en-US" altLang="zh-CN" sz="1800" dirty="0" err="1" smtClean="0"/>
              <a:t>isql</a:t>
            </a:r>
            <a:r>
              <a:rPr lang="en-US" altLang="zh-CN" sz="1800" dirty="0" smtClean="0"/>
              <a:t>  gbase8s   -v </a:t>
            </a:r>
            <a:r>
              <a:rPr lang="zh-CN" altLang="en-US" sz="1800" dirty="0" smtClean="0"/>
              <a:t>注：使用该测试命令需要安装</a:t>
            </a:r>
            <a:r>
              <a:rPr lang="en-US" altLang="zh-CN" sz="1800" dirty="0" err="1" smtClean="0"/>
              <a:t>unix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odbc</a:t>
            </a:r>
            <a:r>
              <a:rPr lang="zh-CN" altLang="en-US" sz="1800" dirty="0" smtClean="0"/>
              <a:t>包</a:t>
            </a:r>
            <a:endParaRPr lang="en-US" altLang="zh-CN" sz="1800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sz="2000" dirty="0"/>
          </a:p>
          <a:p>
            <a:pPr marL="685800" lvl="1" indent="-342900">
              <a:buFont typeface="+mj-lt"/>
              <a:buAutoNum type="arabicPeriod"/>
            </a:pPr>
            <a:endParaRPr lang="en-US" altLang="zh-CN" sz="2000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sz="2000" dirty="0" smtClean="0"/>
          </a:p>
          <a:p>
            <a:pPr marL="685800" lvl="1" indent="-342900">
              <a:buFont typeface="+mj-lt"/>
              <a:buAutoNum type="arabicPeriod"/>
            </a:pPr>
            <a:endParaRPr lang="en-US" altLang="zh-CN" sz="2000" dirty="0" smtClean="0"/>
          </a:p>
          <a:p>
            <a:pPr marL="685800" lvl="1" indent="-342900">
              <a:buFont typeface="+mj-lt"/>
              <a:buAutoNum type="arabicPeriod"/>
            </a:pPr>
            <a:endParaRPr lang="zh-CN" altLang="en-US" sz="2000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2206253" y="3099245"/>
            <a:ext cx="3843818" cy="160659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</p:spPr>
        <p:txBody>
          <a:bodyPr wrap="square" rtlCol="0" anchor="b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[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gbasedbt@gbase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cli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]$ ./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dbdrop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gbase8s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12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Using specified DSN: gbase8s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STEP 1 done…connected to database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STEP 2 done…Sample Database Dropped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12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Hit &lt;Enter&gt; to terminate the program…</a:t>
            </a:r>
            <a:endParaRPr lang="zh-CN" altLang="en-US" sz="12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248510" y="5000886"/>
            <a:ext cx="3843818" cy="160659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</p:spPr>
        <p:txBody>
          <a:bodyPr wrap="square" rtlCol="0" anchor="b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[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gbasedbt@gbase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cli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]$ 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isql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gbase8s –v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+-----------------------------------------+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| Connected!                                          |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| 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sql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-statement                                      |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| help [</a:t>
            </a:r>
            <a:r>
              <a:rPr lang="en-US" altLang="zh-CN" sz="1200" kern="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tablename</a:t>
            </a: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]                                 |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| quit                                                      |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1200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+-----------------------------------------+</a:t>
            </a:r>
            <a:endParaRPr lang="zh-CN" altLang="en-US" sz="1200" kern="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4389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GBase</a:t>
            </a:r>
            <a:r>
              <a:rPr lang="en-US" altLang="zh-CN" dirty="0" smtClean="0"/>
              <a:t> 8s </a:t>
            </a:r>
            <a:r>
              <a:rPr lang="zh-CN" altLang="en-US" dirty="0" smtClean="0"/>
              <a:t>应用开发优化建议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70000"/>
              </a:lnSpc>
            </a:pPr>
            <a:r>
              <a:rPr lang="zh-CN" altLang="en-US" dirty="0" smtClean="0"/>
              <a:t>对于频繁连接就断开数据库的应用可考虑使用</a:t>
            </a:r>
            <a:r>
              <a:rPr lang="zh-CN" altLang="en-US" dirty="0"/>
              <a:t>连接</a:t>
            </a:r>
            <a:r>
              <a:rPr lang="zh-CN" altLang="en-US" dirty="0" smtClean="0"/>
              <a:t>池。</a:t>
            </a:r>
            <a:endParaRPr lang="en-US" altLang="zh-CN" dirty="0" smtClean="0"/>
          </a:p>
          <a:p>
            <a:pPr>
              <a:lnSpc>
                <a:spcPct val="70000"/>
              </a:lnSpc>
            </a:pPr>
            <a:endParaRPr lang="en-US" altLang="zh-CN" dirty="0" smtClean="0"/>
          </a:p>
          <a:p>
            <a:pPr>
              <a:lnSpc>
                <a:spcPct val="70000"/>
              </a:lnSpc>
            </a:pPr>
            <a:r>
              <a:rPr lang="zh-CN" altLang="en-US" dirty="0" smtClean="0"/>
              <a:t>尽量减少网络开销：</a:t>
            </a:r>
            <a:endParaRPr lang="en-US" altLang="zh-CN" dirty="0" smtClean="0"/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>
                <a:latin typeface="Calibri" panose="020F0502020204030204" charset="0"/>
              </a:rPr>
              <a:t>使用</a:t>
            </a:r>
            <a:r>
              <a:rPr lang="en-US" altLang="zh-CN" dirty="0" smtClean="0">
                <a:latin typeface="Calibri" panose="020F0502020204030204" charset="0"/>
              </a:rPr>
              <a:t> </a:t>
            </a:r>
            <a:r>
              <a:rPr lang="en-US" altLang="zh-CN" dirty="0" err="1">
                <a:latin typeface="Calibri" panose="020F0502020204030204" charset="0"/>
              </a:rPr>
              <a:t>AutoCommit</a:t>
            </a:r>
            <a:endParaRPr lang="en-US" altLang="zh-CN" dirty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合理利用</a:t>
            </a:r>
            <a:r>
              <a:rPr lang="en-US" altLang="zh-CN" dirty="0" smtClean="0">
                <a:latin typeface="Calibri" panose="020F0502020204030204" charset="0"/>
              </a:rPr>
              <a:t>Fetch Buffer Size(</a:t>
            </a:r>
            <a:r>
              <a:rPr lang="en-US" altLang="zh-CN" b="1" i="1" dirty="0" smtClean="0">
                <a:latin typeface="Calibri" panose="020F0502020204030204" charset="0"/>
              </a:rPr>
              <a:t>FET_BUF_SIZE</a:t>
            </a:r>
            <a:r>
              <a:rPr lang="zh-CN" altLang="en-US" b="1" i="1" dirty="0" smtClean="0">
                <a:latin typeface="Calibri" panose="020F0502020204030204" charset="0"/>
              </a:rPr>
              <a:t>，默认</a:t>
            </a:r>
            <a:r>
              <a:rPr lang="en-US" altLang="zh-CN" b="1" i="1" dirty="0" smtClean="0">
                <a:latin typeface="Calibri" panose="020F0502020204030204" charset="0"/>
              </a:rPr>
              <a:t>4KB)</a:t>
            </a:r>
            <a:endParaRPr lang="en-US" altLang="zh-CN" dirty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>
                <a:latin typeface="Calibri" panose="020F0502020204030204" charset="0"/>
              </a:rPr>
              <a:t>使用</a:t>
            </a:r>
            <a:r>
              <a:rPr lang="en-US" altLang="zh-CN" dirty="0" smtClean="0">
                <a:latin typeface="Calibri" panose="020F0502020204030204" charset="0"/>
              </a:rPr>
              <a:t>Deferred-Prepare</a:t>
            </a:r>
            <a:endParaRPr lang="en-US" altLang="zh-CN" dirty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使用</a:t>
            </a:r>
            <a:r>
              <a:rPr lang="en-US" altLang="zh-CN" dirty="0" smtClean="0">
                <a:latin typeface="Calibri" panose="020F0502020204030204" charset="0"/>
              </a:rPr>
              <a:t>Bulk </a:t>
            </a:r>
            <a:r>
              <a:rPr lang="en-US" altLang="zh-CN" dirty="0">
                <a:latin typeface="Calibri" panose="020F0502020204030204" charset="0"/>
              </a:rPr>
              <a:t>inserts with insert cursor</a:t>
            </a: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r>
              <a:rPr lang="zh-CN" altLang="en-US" dirty="0" smtClean="0">
                <a:latin typeface="Calibri" panose="020F0502020204030204" charset="0"/>
              </a:rPr>
              <a:t>合理利用静态和动态</a:t>
            </a:r>
            <a:r>
              <a:rPr lang="en-US" altLang="zh-CN" dirty="0" smtClean="0">
                <a:latin typeface="Calibri" panose="020F0502020204030204" charset="0"/>
              </a:rPr>
              <a:t>(Prepared)SQL Statement</a:t>
            </a: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静态</a:t>
            </a:r>
            <a:r>
              <a:rPr lang="en-US" altLang="zh-CN" dirty="0" smtClean="0">
                <a:latin typeface="Calibri" panose="020F0502020204030204" charset="0"/>
              </a:rPr>
              <a:t>SQL</a:t>
            </a:r>
            <a:r>
              <a:rPr lang="zh-CN" altLang="en-US" dirty="0" smtClean="0">
                <a:latin typeface="Calibri" panose="020F0502020204030204" charset="0"/>
              </a:rPr>
              <a:t>语句执行无需在执行时动态输入变量值。单次执行。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动态</a:t>
            </a:r>
            <a:r>
              <a:rPr lang="en-US" altLang="zh-CN" dirty="0" smtClean="0">
                <a:latin typeface="Calibri" panose="020F0502020204030204" charset="0"/>
              </a:rPr>
              <a:t>SQL</a:t>
            </a:r>
            <a:r>
              <a:rPr lang="zh-CN" altLang="en-US" dirty="0" smtClean="0">
                <a:latin typeface="Calibri" panose="020F0502020204030204" charset="0"/>
              </a:rPr>
              <a:t>语句需邦定变量，</a:t>
            </a:r>
            <a:r>
              <a:rPr lang="en-US" altLang="zh-CN" dirty="0" smtClean="0">
                <a:latin typeface="Calibri" panose="020F0502020204030204" charset="0"/>
              </a:rPr>
              <a:t>Prepare</a:t>
            </a:r>
            <a:r>
              <a:rPr lang="zh-CN" altLang="en-US" dirty="0">
                <a:latin typeface="Calibri" panose="020F0502020204030204" charset="0"/>
              </a:rPr>
              <a:t>一</a:t>
            </a:r>
            <a:r>
              <a:rPr lang="zh-CN" altLang="en-US" dirty="0" smtClean="0">
                <a:latin typeface="Calibri" panose="020F0502020204030204" charset="0"/>
              </a:rPr>
              <a:t>次，多次执行</a:t>
            </a:r>
            <a:r>
              <a:rPr lang="zh-CN" altLang="en-US" dirty="0">
                <a:latin typeface="Calibri" panose="020F0502020204030204" charset="0"/>
              </a:rPr>
              <a:t>。</a:t>
            </a:r>
            <a:endParaRPr lang="en-US" altLang="zh-CN" dirty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r>
              <a:rPr lang="zh-CN" altLang="en-US" dirty="0" smtClean="0">
                <a:latin typeface="Calibri" panose="020F0502020204030204" charset="0"/>
              </a:rPr>
              <a:t>根据具体场景使用或关掉索引</a:t>
            </a:r>
            <a:r>
              <a:rPr lang="en-US" altLang="zh-CN" dirty="0" smtClean="0">
                <a:latin typeface="Calibri" panose="020F0502020204030204" charset="0"/>
              </a:rPr>
              <a:t>(Indexes)</a:t>
            </a:r>
            <a:r>
              <a:rPr lang="zh-CN" altLang="en-US" dirty="0" smtClean="0">
                <a:latin typeface="Calibri" panose="020F0502020204030204" charset="0"/>
              </a:rPr>
              <a:t>和约束</a:t>
            </a:r>
            <a:r>
              <a:rPr lang="en-US" altLang="zh-CN" dirty="0" smtClean="0">
                <a:latin typeface="Calibri" panose="020F0502020204030204" charset="0"/>
              </a:rPr>
              <a:t>(</a:t>
            </a:r>
            <a:r>
              <a:rPr lang="en-US" altLang="zh-CN" dirty="0" err="1" smtClean="0">
                <a:latin typeface="Calibri" panose="020F0502020204030204" charset="0"/>
              </a:rPr>
              <a:t>Contraints</a:t>
            </a:r>
            <a:r>
              <a:rPr lang="en-US" altLang="zh-CN" dirty="0" smtClean="0">
                <a:latin typeface="Calibri" panose="020F0502020204030204" charset="0"/>
              </a:rPr>
              <a:t>)</a:t>
            </a:r>
          </a:p>
          <a:p>
            <a:pPr marL="0" indent="0" eaLnBrk="1" hangingPunct="1">
              <a:lnSpc>
                <a:spcPct val="70000"/>
              </a:lnSpc>
              <a:spcBef>
                <a:spcPts val="600"/>
              </a:spcBef>
              <a:buNone/>
            </a:pPr>
            <a:endParaRPr lang="en-US" altLang="zh-CN" dirty="0">
              <a:latin typeface="Calibri" panose="020F0502020204030204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74896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GBase</a:t>
            </a:r>
            <a:r>
              <a:rPr lang="en-US" altLang="zh-CN" dirty="0" smtClean="0"/>
              <a:t> 8s </a:t>
            </a:r>
            <a:r>
              <a:rPr lang="zh-CN" altLang="en-US" dirty="0" smtClean="0"/>
              <a:t>应用开发优</a:t>
            </a:r>
            <a:r>
              <a:rPr lang="zh-CN" altLang="en-US" dirty="0"/>
              <a:t>化建议（</a:t>
            </a:r>
            <a:r>
              <a:rPr lang="zh-CN" altLang="en-US" dirty="0" smtClean="0"/>
              <a:t>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r>
              <a:rPr lang="zh-CN" altLang="en-US" dirty="0" smtClean="0">
                <a:latin typeface="Calibri" panose="020F0502020204030204" charset="0"/>
              </a:rPr>
              <a:t>在导入数据时，可考虑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>
                <a:latin typeface="Calibri" panose="020F0502020204030204" charset="0"/>
              </a:rPr>
              <a:t>使用</a:t>
            </a:r>
            <a:r>
              <a:rPr lang="en-US" altLang="zh-CN" dirty="0">
                <a:latin typeface="Calibri" panose="020F0502020204030204" charset="0"/>
              </a:rPr>
              <a:t>Bulk inserts with insert cursor</a:t>
            </a: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关掉索引</a:t>
            </a:r>
            <a:r>
              <a:rPr lang="en-US" altLang="zh-CN" dirty="0" smtClean="0">
                <a:latin typeface="Calibri" panose="020F0502020204030204" charset="0"/>
              </a:rPr>
              <a:t>(SET INDEXES)</a:t>
            </a:r>
            <a:r>
              <a:rPr lang="zh-CN" altLang="en-US" dirty="0" smtClean="0">
                <a:latin typeface="Calibri" panose="020F0502020204030204" charset="0"/>
              </a:rPr>
              <a:t>和约束</a:t>
            </a:r>
            <a:r>
              <a:rPr lang="en-US" altLang="zh-CN" dirty="0" smtClean="0">
                <a:latin typeface="Calibri" panose="020F0502020204030204" charset="0"/>
              </a:rPr>
              <a:t>(SET CONSTRAINTS)</a:t>
            </a: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使用裸表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r>
              <a:rPr lang="zh-CN" altLang="en-US" dirty="0" smtClean="0">
                <a:latin typeface="Calibri" panose="020F0502020204030204" charset="0"/>
              </a:rPr>
              <a:t>合理使用隔离级别和锁</a:t>
            </a:r>
            <a:r>
              <a:rPr lang="zh-CN" altLang="en-US" dirty="0">
                <a:latin typeface="Calibri" panose="020F0502020204030204" charset="0"/>
              </a:rPr>
              <a:t>模</a:t>
            </a:r>
            <a:r>
              <a:rPr lang="zh-CN" altLang="en-US" dirty="0" smtClean="0">
                <a:latin typeface="Calibri" panose="020F0502020204030204" charset="0"/>
              </a:rPr>
              <a:t>式以避免锁等待和死锁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zh-CN" dirty="0" smtClean="0">
                <a:latin typeface="Calibri" panose="020F0502020204030204" charset="0"/>
              </a:rPr>
              <a:t>SET ISOLATION</a:t>
            </a:r>
            <a:endParaRPr lang="en-US" altLang="zh-CN" dirty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zh-CN" dirty="0" smtClean="0">
                <a:latin typeface="Calibri" panose="020F0502020204030204" charset="0"/>
              </a:rPr>
              <a:t>SET LOCK MODE</a:t>
            </a:r>
            <a:endParaRPr lang="en-US" altLang="zh-CN" dirty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r>
              <a:rPr lang="zh-CN" altLang="en-US" dirty="0" smtClean="0">
                <a:latin typeface="Calibri" panose="020F0502020204030204" charset="0"/>
              </a:rPr>
              <a:t>合理使用游标</a:t>
            </a:r>
            <a:r>
              <a:rPr lang="en-US" altLang="zh-CN" dirty="0" smtClean="0">
                <a:latin typeface="Calibri" panose="020F0502020204030204" charset="0"/>
              </a:rPr>
              <a:t>(Cursors):</a:t>
            </a: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zh-CN" dirty="0" smtClean="0">
                <a:latin typeface="Calibri" panose="020F0502020204030204" charset="0"/>
              </a:rPr>
              <a:t>Sequential(</a:t>
            </a:r>
            <a:r>
              <a:rPr lang="zh-CN" altLang="en-US" dirty="0" smtClean="0">
                <a:latin typeface="Calibri" panose="020F0502020204030204" charset="0"/>
              </a:rPr>
              <a:t>默认</a:t>
            </a:r>
            <a:r>
              <a:rPr lang="en-US" altLang="zh-CN" dirty="0" smtClean="0">
                <a:latin typeface="Calibri" panose="020F0502020204030204" charset="0"/>
              </a:rPr>
              <a:t>)</a:t>
            </a:r>
            <a:r>
              <a:rPr lang="zh-CN" altLang="en-US" dirty="0" smtClean="0">
                <a:latin typeface="Calibri" panose="020F0502020204030204" charset="0"/>
              </a:rPr>
              <a:t>：单次使用，性能好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zh-CN" dirty="0" smtClean="0">
                <a:latin typeface="Calibri" panose="020F0502020204030204" charset="0"/>
              </a:rPr>
              <a:t>Scroll</a:t>
            </a:r>
            <a:r>
              <a:rPr lang="zh-CN" altLang="en-US" dirty="0" smtClean="0">
                <a:latin typeface="Calibri" panose="020F0502020204030204" charset="0"/>
              </a:rPr>
              <a:t>：重复使用，成本高。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zh-CN" dirty="0" smtClean="0">
                <a:latin typeface="Calibri" panose="020F0502020204030204" charset="0"/>
              </a:rPr>
              <a:t>Hold: </a:t>
            </a:r>
            <a:r>
              <a:rPr lang="zh-CN" altLang="en-US" dirty="0" smtClean="0">
                <a:latin typeface="Calibri" panose="020F0502020204030204" charset="0"/>
              </a:rPr>
              <a:t>事务结束游标仍保持有效。</a:t>
            </a:r>
            <a:endParaRPr lang="en-US" altLang="zh-CN" dirty="0" smtClean="0">
              <a:latin typeface="Calibri" panose="020F0502020204030204" charset="0"/>
            </a:endParaRPr>
          </a:p>
          <a:p>
            <a:pPr marL="0" indent="0" eaLnBrk="1" hangingPunct="1">
              <a:lnSpc>
                <a:spcPct val="70000"/>
              </a:lnSpc>
              <a:spcBef>
                <a:spcPts val="600"/>
              </a:spcBef>
              <a:buNone/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endParaRPr lang="en-US" altLang="zh-CN" dirty="0">
              <a:latin typeface="Calibri" panose="020F0502020204030204" charset="0"/>
            </a:endParaRPr>
          </a:p>
          <a:p>
            <a:pPr lvl="1" eaLnBrk="1" hangingPunct="1">
              <a:lnSpc>
                <a:spcPct val="7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2818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GBase</a:t>
            </a:r>
            <a:r>
              <a:rPr lang="en-US" altLang="zh-CN" dirty="0" smtClean="0"/>
              <a:t> 8s </a:t>
            </a:r>
            <a:r>
              <a:rPr lang="zh-CN" altLang="en-US" dirty="0" smtClean="0"/>
              <a:t>应用开发优</a:t>
            </a:r>
            <a:r>
              <a:rPr lang="zh-CN" altLang="en-US" dirty="0"/>
              <a:t>化建议（</a:t>
            </a:r>
            <a:r>
              <a:rPr lang="zh-CN" altLang="en-US" dirty="0" smtClean="0"/>
              <a:t>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charset="0"/>
              </a:rPr>
              <a:t>合理使用</a:t>
            </a:r>
            <a:r>
              <a:rPr lang="en-US" altLang="zh-CN" dirty="0">
                <a:latin typeface="Calibri" panose="020F0502020204030204" charset="0"/>
              </a:rPr>
              <a:t>Stored Procedures</a:t>
            </a:r>
            <a:r>
              <a:rPr lang="zh-CN" altLang="en-US" dirty="0">
                <a:latin typeface="Calibri" panose="020F0502020204030204" charset="0"/>
              </a:rPr>
              <a:t>和</a:t>
            </a:r>
            <a:r>
              <a:rPr lang="en-US" altLang="zh-CN" dirty="0">
                <a:latin typeface="Calibri" panose="020F0502020204030204" charset="0"/>
              </a:rPr>
              <a:t>UDR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已经编译和优化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 smtClean="0">
                <a:latin typeface="Calibri" panose="020F0502020204030204" charset="0"/>
              </a:rPr>
              <a:t>提高数据库安全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>
                <a:latin typeface="Calibri" panose="020F0502020204030204" charset="0"/>
              </a:rPr>
              <a:t>减少返回结果集，提高网络利用率，但会增加服务器资源使用</a:t>
            </a:r>
            <a:r>
              <a:rPr lang="zh-CN" altLang="en-US" dirty="0" smtClean="0">
                <a:latin typeface="Calibri" panose="020F0502020204030204" charset="0"/>
              </a:rPr>
              <a:t>。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尽量避免数据类型转换</a:t>
            </a:r>
            <a:endParaRPr lang="en-US" altLang="zh-CN" dirty="0" smtClean="0"/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zh-CN" altLang="en-US" dirty="0"/>
              <a:t>应用和数据库使用相同</a:t>
            </a:r>
            <a:r>
              <a:rPr lang="zh-CN" altLang="en-US" dirty="0" smtClean="0"/>
              <a:t>数据类型</a:t>
            </a:r>
            <a:endParaRPr lang="en-US" altLang="zh-CN" dirty="0" smtClean="0"/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Calibri" panose="020F0502020204030204" charset="0"/>
              </a:rPr>
              <a:t>尽量避免字符集转换</a:t>
            </a:r>
            <a:endParaRPr lang="en-US" altLang="zh-CN" dirty="0" smtClean="0">
              <a:latin typeface="Calibri" panose="020F0502020204030204" charset="0"/>
            </a:endParaRP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zh-CN" dirty="0" smtClean="0">
                <a:latin typeface="Calibri" panose="020F0502020204030204" charset="0"/>
              </a:rPr>
              <a:t>CLIENT_LOCALE</a:t>
            </a:r>
            <a:r>
              <a:rPr lang="zh-CN" altLang="en-US" dirty="0" smtClean="0">
                <a:latin typeface="Calibri" panose="020F0502020204030204" charset="0"/>
              </a:rPr>
              <a:t>和</a:t>
            </a:r>
            <a:r>
              <a:rPr lang="en-US" altLang="zh-CN" dirty="0">
                <a:latin typeface="Calibri" panose="020F0502020204030204" charset="0"/>
              </a:rPr>
              <a:t>DB_LOCALE</a:t>
            </a:r>
            <a:r>
              <a:rPr lang="zh-CN" altLang="en-US" dirty="0">
                <a:latin typeface="Calibri" panose="020F0502020204030204" charset="0"/>
              </a:rPr>
              <a:t>使用相同</a:t>
            </a:r>
            <a:r>
              <a:rPr lang="zh-CN" altLang="en-US" dirty="0" smtClean="0">
                <a:latin typeface="Calibri" panose="020F0502020204030204" charset="0"/>
              </a:rPr>
              <a:t>字符集</a:t>
            </a:r>
            <a:endParaRPr lang="en-US" altLang="zh-CN" dirty="0">
              <a:latin typeface="Calibri" panose="020F0502020204030204" charset="0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 smtClean="0">
                <a:latin typeface="Calibri" panose="020F0502020204030204" charset="0"/>
              </a:rPr>
              <a:t>尽量使用数据库已提供的数据类型。</a:t>
            </a: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endParaRPr lang="en-US" altLang="zh-CN" dirty="0" smtClean="0">
              <a:latin typeface="Calibri" panose="020F0502020204030204" charset="0"/>
            </a:endParaRPr>
          </a:p>
          <a:p>
            <a:pPr eaLnBrk="1" hangingPunct="1">
              <a:spcBef>
                <a:spcPts val="600"/>
              </a:spcBef>
            </a:pPr>
            <a:endParaRPr lang="en-US" altLang="zh-CN" dirty="0">
              <a:latin typeface="Calibri" panose="020F050202020403020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3556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 you !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anchor="b"/>
      <a:lstStyle>
        <a:defPPr algn="ctr">
          <a:spcBef>
            <a:spcPct val="20000"/>
          </a:spcBef>
          <a:buClr>
            <a:schemeClr val="hlink"/>
          </a:buClr>
          <a:buFont typeface="Wingdings" panose="05000000000000000000" pitchFamily="2" charset="2"/>
          <a:buNone/>
          <a:defRPr sz="3200" b="1" kern="0" dirty="0" smtClean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j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2385</Words>
  <Application>Microsoft Office PowerPoint</Application>
  <PresentationFormat>自定义</PresentationFormat>
  <Paragraphs>368</Paragraphs>
  <Slides>25</Slides>
  <Notes>8</Notes>
  <HiddenSlides>3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微软雅黑</vt:lpstr>
      <vt:lpstr>Calibri Light</vt:lpstr>
      <vt:lpstr>Wingdings</vt:lpstr>
      <vt:lpstr>Verdana</vt:lpstr>
      <vt:lpstr>Calibri</vt:lpstr>
      <vt:lpstr>Office 主题</vt:lpstr>
      <vt:lpstr>GBase 8s 常用接口介绍</vt:lpstr>
      <vt:lpstr>目标</vt:lpstr>
      <vt:lpstr>概述</vt:lpstr>
      <vt:lpstr>使用ESQLC存取GBase 8s数据</vt:lpstr>
      <vt:lpstr>使用ESQLC存取GBase 8s数据</vt:lpstr>
      <vt:lpstr>使用ESQLC存取GBase 8s数据</vt:lpstr>
      <vt:lpstr>使用ESQLC存取GBase 8s数据</vt:lpstr>
      <vt:lpstr>使用ESQLC存取GBase 8s数据  </vt:lpstr>
      <vt:lpstr>JDBC驱动的获取</vt:lpstr>
      <vt:lpstr>JDBC程序示例</vt:lpstr>
      <vt:lpstr>JDBC简单连接介绍</vt:lpstr>
      <vt:lpstr>hibernate 配置</vt:lpstr>
      <vt:lpstr>CSDK安装配置</vt:lpstr>
      <vt:lpstr>CSDK安装配置</vt:lpstr>
      <vt:lpstr>CSDK安装配置</vt:lpstr>
      <vt:lpstr>C#.NET程序示例</vt:lpstr>
      <vt:lpstr>C#.NET程序示例</vt:lpstr>
      <vt:lpstr>ODBC配置(windows)</vt:lpstr>
      <vt:lpstr>ODBC示例</vt:lpstr>
      <vt:lpstr>ODBC配置(linux)</vt:lpstr>
      <vt:lpstr>ODBC测试</vt:lpstr>
      <vt:lpstr>GBase 8s 应用开发优化建议</vt:lpstr>
      <vt:lpstr>GBase 8s 应用开发优化建议（续）</vt:lpstr>
      <vt:lpstr>GBase 8s 应用开发优化建议（续）</vt:lpstr>
      <vt:lpstr>Thank you !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2013-08-14T15:08:00Z</dcterms:created>
  <dc:creator>Gbase Market</dc:creator>
  <cp:lastModifiedBy>3</cp:lastModifiedBy>
  <dcterms:modified xsi:type="dcterms:W3CDTF">2019-01-07T14:45:35Z</dcterms:modified>
  <cp:revision>1003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