
<file path=[Content_Types].xml><?xml version="1.0" encoding="utf-8"?>
<Types xmlns="http://schemas.openxmlformats.org/package/2006/content-types">
  <Default ContentType="application/vnd.openxmlformats-officedocument.oleObject" Extension="bin"/>
  <Default ContentType="image/x-emf" Extension="emf"/>
  <Default ContentType="application/x-fontdata" Extension="fntdata"/>
  <Default ContentType="image/jpeg" Extension="jpeg"/>
  <Default ContentType="image/png" Extension="png"/>
  <Default ContentType="application/vnd.openxmlformats-package.relationships+xml" Extension="rels"/>
  <Default ContentType="application/vnd.openxmlformats-officedocument.vmlDrawing" Extension="vml"/>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68"/>
  </p:notesMasterIdLst>
  <p:handoutMasterIdLst>
    <p:handoutMasterId r:id="rId69"/>
  </p:handoutMasterIdLst>
  <p:sldIdLst>
    <p:sldId id="413" r:id="rId2"/>
    <p:sldId id="414" r:id="rId3"/>
    <p:sldId id="401" r:id="rId4"/>
    <p:sldId id="417" r:id="rId5"/>
    <p:sldId id="418" r:id="rId6"/>
    <p:sldId id="419" r:id="rId7"/>
    <p:sldId id="420" r:id="rId8"/>
    <p:sldId id="421" r:id="rId9"/>
    <p:sldId id="422" r:id="rId10"/>
    <p:sldId id="423" r:id="rId11"/>
    <p:sldId id="424" r:id="rId12"/>
    <p:sldId id="425" r:id="rId13"/>
    <p:sldId id="426" r:id="rId14"/>
    <p:sldId id="427" r:id="rId15"/>
    <p:sldId id="428" r:id="rId16"/>
    <p:sldId id="429" r:id="rId17"/>
    <p:sldId id="430" r:id="rId18"/>
    <p:sldId id="431" r:id="rId19"/>
    <p:sldId id="432" r:id="rId20"/>
    <p:sldId id="433" r:id="rId21"/>
    <p:sldId id="434" r:id="rId22"/>
    <p:sldId id="435" r:id="rId23"/>
    <p:sldId id="404" r:id="rId24"/>
    <p:sldId id="437" r:id="rId25"/>
    <p:sldId id="438" r:id="rId26"/>
    <p:sldId id="439" r:id="rId27"/>
    <p:sldId id="440" r:id="rId28"/>
    <p:sldId id="441" r:id="rId29"/>
    <p:sldId id="442" r:id="rId30"/>
    <p:sldId id="443" r:id="rId31"/>
    <p:sldId id="444" r:id="rId32"/>
    <p:sldId id="477" r:id="rId33"/>
    <p:sldId id="446" r:id="rId34"/>
    <p:sldId id="447" r:id="rId35"/>
    <p:sldId id="448" r:id="rId36"/>
    <p:sldId id="449" r:id="rId37"/>
    <p:sldId id="450" r:id="rId38"/>
    <p:sldId id="451" r:id="rId39"/>
    <p:sldId id="452" r:id="rId40"/>
    <p:sldId id="453" r:id="rId41"/>
    <p:sldId id="454" r:id="rId42"/>
    <p:sldId id="455" r:id="rId43"/>
    <p:sldId id="478" r:id="rId44"/>
    <p:sldId id="457" r:id="rId45"/>
    <p:sldId id="458" r:id="rId46"/>
    <p:sldId id="459" r:id="rId47"/>
    <p:sldId id="460" r:id="rId48"/>
    <p:sldId id="461" r:id="rId49"/>
    <p:sldId id="462" r:id="rId50"/>
    <p:sldId id="463" r:id="rId51"/>
    <p:sldId id="464" r:id="rId52"/>
    <p:sldId id="465" r:id="rId53"/>
    <p:sldId id="466" r:id="rId54"/>
    <p:sldId id="467" r:id="rId55"/>
    <p:sldId id="468" r:id="rId56"/>
    <p:sldId id="469" r:id="rId57"/>
    <p:sldId id="470" r:id="rId58"/>
    <p:sldId id="471" r:id="rId59"/>
    <p:sldId id="472" r:id="rId60"/>
    <p:sldId id="473" r:id="rId61"/>
    <p:sldId id="474" r:id="rId62"/>
    <p:sldId id="475" r:id="rId63"/>
    <p:sldId id="512" r:id="rId64"/>
    <p:sldId id="509" r:id="rId65"/>
    <p:sldId id="510" r:id="rId66"/>
    <p:sldId id="479" r:id="rId67"/>
  </p:sldIdLst>
  <p:sldSz cx="12192000" cy="6858000"/>
  <p:notesSz cx="6858000" cy="9144000"/>
  <p:embeddedFontLst>
    <p:embeddedFont>
      <p:font typeface="Calibri" pitchFamily="34" charset="0"/>
      <p:regular r:id="rId70"/>
      <p:bold r:id="rId71"/>
      <p:italic r:id="rId72"/>
      <p:boldItalic r:id="rId73"/>
    </p:embeddedFont>
    <p:embeddedFont>
      <p:font typeface="微软雅黑" pitchFamily="34" charset="-122"/>
      <p:regular r:id="rId74"/>
      <p:bold r:id="rId75"/>
    </p:embeddedFont>
    <p:embeddedFont>
      <p:font typeface="华文楷体" pitchFamily="2" charset="-122"/>
      <p:regular r:id="rId76"/>
    </p:embeddedFont>
    <p:embeddedFont>
      <p:font typeface="Calibri Light" pitchFamily="34" charset="0"/>
      <p:regular r:id="rId77"/>
      <p:italic r:id="rId78"/>
    </p:embeddedFont>
    <p:embeddedFont>
      <p:font typeface="Verdana" pitchFamily="34" charset="0"/>
      <p:regular r:id="rId79"/>
      <p:bold r:id="rId80"/>
      <p:italic r:id="rId81"/>
      <p:boldItalic r:id="rId82"/>
    </p:embeddedFont>
    <p:embeddedFont>
      <p:font typeface="Webdings" pitchFamily="18" charset="2"/>
      <p:regular r:id="rId83"/>
    </p:embeddedFont>
    <p:embeddedFont>
      <p:font typeface="Corbel" pitchFamily="34" charset="0"/>
      <p:regular r:id="rId84"/>
      <p:bold r:id="rId85"/>
      <p:italic r:id="rId86"/>
      <p:boldItalic r:id="rId87"/>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5656"/>
    <a:srgbClr val="B5B5B5"/>
    <a:srgbClr val="DE1208"/>
    <a:srgbClr val="85898F"/>
    <a:srgbClr val="DADEE6"/>
    <a:srgbClr val="494545"/>
    <a:srgbClr val="5A6783"/>
    <a:srgbClr val="F15B67"/>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32" autoAdjust="0"/>
    <p:restoredTop sz="99878" autoAdjust="0"/>
  </p:normalViewPr>
  <p:slideViewPr>
    <p:cSldViewPr snapToGrid="0">
      <p:cViewPr>
        <p:scale>
          <a:sx n="75" d="100"/>
          <a:sy n="75" d="100"/>
        </p:scale>
        <p:origin x="-270" y="-234"/>
      </p:cViewPr>
      <p:guideLst>
        <p:guide orient="horz" pos="1094"/>
        <p:guide orient="horz" pos="4065"/>
        <p:guide pos="325"/>
        <p:guide pos="7106"/>
        <p:guide pos="174"/>
        <p:guide pos="3810"/>
      </p:guideLst>
    </p:cSldViewPr>
  </p:slid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880"/>
        <p:guide pos="2143"/>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slides/slide45.xml" Type="http://schemas.openxmlformats.org/officeDocument/2006/relationships/slide"/><Relationship Id="rId47" Target="slides/slide46.xml" Type="http://schemas.openxmlformats.org/officeDocument/2006/relationships/slide"/><Relationship Id="rId48" Target="slides/slide47.xml" Type="http://schemas.openxmlformats.org/officeDocument/2006/relationships/slide"/><Relationship Id="rId49" Target="slides/slide48.xml" Type="http://schemas.openxmlformats.org/officeDocument/2006/relationships/slide"/><Relationship Id="rId5" Target="slides/slide4.xml" Type="http://schemas.openxmlformats.org/officeDocument/2006/relationships/slide"/><Relationship Id="rId50" Target="slides/slide49.xml" Type="http://schemas.openxmlformats.org/officeDocument/2006/relationships/slide"/><Relationship Id="rId51" Target="slides/slide50.xml" Type="http://schemas.openxmlformats.org/officeDocument/2006/relationships/slide"/><Relationship Id="rId52" Target="slides/slide51.xml" Type="http://schemas.openxmlformats.org/officeDocument/2006/relationships/slide"/><Relationship Id="rId53" Target="slides/slide52.xml" Type="http://schemas.openxmlformats.org/officeDocument/2006/relationships/slide"/><Relationship Id="rId54" Target="slides/slide53.xml" Type="http://schemas.openxmlformats.org/officeDocument/2006/relationships/slide"/><Relationship Id="rId55" Target="slides/slide54.xml" Type="http://schemas.openxmlformats.org/officeDocument/2006/relationships/slide"/><Relationship Id="rId56" Target="slides/slide55.xml" Type="http://schemas.openxmlformats.org/officeDocument/2006/relationships/slide"/><Relationship Id="rId57" Target="slides/slide56.xml" Type="http://schemas.openxmlformats.org/officeDocument/2006/relationships/slide"/><Relationship Id="rId58" Target="slides/slide57.xml" Type="http://schemas.openxmlformats.org/officeDocument/2006/relationships/slide"/><Relationship Id="rId59" Target="slides/slide58.xml" Type="http://schemas.openxmlformats.org/officeDocument/2006/relationships/slide"/><Relationship Id="rId6" Target="slides/slide5.xml" Type="http://schemas.openxmlformats.org/officeDocument/2006/relationships/slide"/><Relationship Id="rId60" Target="slides/slide59.xml" Type="http://schemas.openxmlformats.org/officeDocument/2006/relationships/slide"/><Relationship Id="rId61" Target="slides/slide60.xml" Type="http://schemas.openxmlformats.org/officeDocument/2006/relationships/slide"/><Relationship Id="rId62" Target="slides/slide61.xml" Type="http://schemas.openxmlformats.org/officeDocument/2006/relationships/slide"/><Relationship Id="rId63" Target="slides/slide62.xml" Type="http://schemas.openxmlformats.org/officeDocument/2006/relationships/slide"/><Relationship Id="rId64" Target="slides/slide63.xml" Type="http://schemas.openxmlformats.org/officeDocument/2006/relationships/slide"/><Relationship Id="rId65" Target="slides/slide64.xml" Type="http://schemas.openxmlformats.org/officeDocument/2006/relationships/slide"/><Relationship Id="rId66" Target="slides/slide65.xml" Type="http://schemas.openxmlformats.org/officeDocument/2006/relationships/slide"/><Relationship Id="rId67" Target="slides/slide66.xml" Type="http://schemas.openxmlformats.org/officeDocument/2006/relationships/slide"/><Relationship Id="rId68" Target="notesMasters/notesMaster1.xml" Type="http://schemas.openxmlformats.org/officeDocument/2006/relationships/notesMaster"/><Relationship Id="rId69" Target="handoutMasters/handoutMaster1.xml" Type="http://schemas.openxmlformats.org/officeDocument/2006/relationships/handoutMaster"/><Relationship Id="rId7" Target="slides/slide6.xml" Type="http://schemas.openxmlformats.org/officeDocument/2006/relationships/slide"/><Relationship Id="rId70" Target="fonts/font1.fntdata" Type="http://schemas.openxmlformats.org/officeDocument/2006/relationships/font"/><Relationship Id="rId71" Target="fonts/font2.fntdata" Type="http://schemas.openxmlformats.org/officeDocument/2006/relationships/font"/><Relationship Id="rId72" Target="fonts/font3.fntdata" Type="http://schemas.openxmlformats.org/officeDocument/2006/relationships/font"/><Relationship Id="rId73" Target="fonts/font4.fntdata" Type="http://schemas.openxmlformats.org/officeDocument/2006/relationships/font"/><Relationship Id="rId74" Target="fonts/font5.fntdata" Type="http://schemas.openxmlformats.org/officeDocument/2006/relationships/font"/><Relationship Id="rId75" Target="fonts/font6.fntdata" Type="http://schemas.openxmlformats.org/officeDocument/2006/relationships/font"/><Relationship Id="rId76" Target="fonts/font7.fntdata" Type="http://schemas.openxmlformats.org/officeDocument/2006/relationships/font"/><Relationship Id="rId77" Target="fonts/font8.fntdata" Type="http://schemas.openxmlformats.org/officeDocument/2006/relationships/font"/><Relationship Id="rId78" Target="fonts/font9.fntdata" Type="http://schemas.openxmlformats.org/officeDocument/2006/relationships/font"/><Relationship Id="rId79" Target="fonts/font10.fntdata" Type="http://schemas.openxmlformats.org/officeDocument/2006/relationships/font"/><Relationship Id="rId8" Target="slides/slide7.xml" Type="http://schemas.openxmlformats.org/officeDocument/2006/relationships/slide"/><Relationship Id="rId80" Target="fonts/font11.fntdata" Type="http://schemas.openxmlformats.org/officeDocument/2006/relationships/font"/><Relationship Id="rId81" Target="fonts/font12.fntdata" Type="http://schemas.openxmlformats.org/officeDocument/2006/relationships/font"/><Relationship Id="rId82" Target="fonts/font13.fntdata" Type="http://schemas.openxmlformats.org/officeDocument/2006/relationships/font"/><Relationship Id="rId83" Target="fonts/font14.fntdata" Type="http://schemas.openxmlformats.org/officeDocument/2006/relationships/font"/><Relationship Id="rId84" Target="fonts/font15.fntdata" Type="http://schemas.openxmlformats.org/officeDocument/2006/relationships/font"/><Relationship Id="rId85" Target="fonts/font16.fntdata" Type="http://schemas.openxmlformats.org/officeDocument/2006/relationships/font"/><Relationship Id="rId86" Target="fonts/font17.fntdata" Type="http://schemas.openxmlformats.org/officeDocument/2006/relationships/font"/><Relationship Id="rId87" Target="fonts/font18.fntdata" Type="http://schemas.openxmlformats.org/officeDocument/2006/relationships/font"/><Relationship Id="rId88" Target="presProps.xml" Type="http://schemas.openxmlformats.org/officeDocument/2006/relationships/presProps"/><Relationship Id="rId89" Target="viewProps.xml" Type="http://schemas.openxmlformats.org/officeDocument/2006/relationships/viewProps"/><Relationship Id="rId9" Target="slides/slide8.xml" Type="http://schemas.openxmlformats.org/officeDocument/2006/relationships/slide"/><Relationship Id="rId90" Target="theme/theme1.xml" Type="http://schemas.openxmlformats.org/officeDocument/2006/relationships/theme"/><Relationship Id="rId91" Target="tableStyles.xml" Type="http://schemas.openxmlformats.org/officeDocument/2006/relationships/tableStyles"/></Relationships>
</file>

<file path=ppt/drawings/_rels/vmlDrawing1.vml.rels><?xml version="1.0" encoding="UTF-8" standalone="yes"?><Relationships xmlns="http://schemas.openxmlformats.org/package/2006/relationships"><Relationship Id="rId1" Target="../media/image10.emf" Type="http://schemas.openxmlformats.org/officeDocument/2006/relationships/image"/></Relationships>
</file>

<file path=ppt/drawings/_rels/vmlDrawing2.vml.rels><?xml version="1.0" encoding="UTF-8" standalone="yes"?><Relationships xmlns="http://schemas.openxmlformats.org/package/2006/relationships"><Relationship Id="rId1" Target="../media/image11.png" Type="http://schemas.openxmlformats.org/officeDocument/2006/relationships/imag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2019-01-08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2628403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pPr>
                <a:defRPr/>
              </a:pPr>
              <a:t>2019-01-08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pPr>
                <a:defRPr/>
              </a:pPr>
              <a:t>‹#›</a:t>
            </a:fld>
            <a:endParaRPr lang="zh-CN" altLang="en-US"/>
          </a:p>
        </p:txBody>
      </p:sp>
    </p:spTree>
    <p:extLst>
      <p:ext uri="{BB962C8B-B14F-4D97-AF65-F5344CB8AC3E}">
        <p14:creationId xmlns:p14="http://schemas.microsoft.com/office/powerpoint/2010/main" val="3773177554"/>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8E2537-6EF2-4B38-B437-3A990DAF8DA9}" type="slidenum">
              <a:rPr lang="en-US" altLang="zh-CN" smtClean="0"/>
              <a:pPr>
                <a:defRPr/>
              </a:pPr>
              <a:t>0</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p:sp>
      <p:sp>
        <p:nvSpPr>
          <p:cNvPr id="675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675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835906B2-B341-CB4E-BBAA-7429DD52D861}" type="slidenum">
              <a:rPr lang="zh-CN" altLang="en-US" sz="1300">
                <a:solidFill>
                  <a:schemeClr val="tx1"/>
                </a:solidFill>
                <a:latin typeface="Arial" panose="020B0604020202020204" pitchFamily="34" charset="0"/>
              </a:rPr>
              <a:pPr eaLnBrk="1" hangingPunct="1"/>
              <a:t>1</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pPr>
                <a:defRPr/>
              </a:pPr>
              <a:t>2</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686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9CB411CC-69FE-5F48-A962-63BD101DE351}" type="slidenum">
              <a:rPr lang="zh-CN" altLang="en-US" sz="1300">
                <a:solidFill>
                  <a:schemeClr val="tx1"/>
                </a:solidFill>
                <a:latin typeface="Arial" panose="020B0604020202020204" pitchFamily="34" charset="0"/>
              </a:rPr>
              <a:pPr eaLnBrk="1" hangingPunct="1"/>
              <a:t>3</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noChangeArrowheads="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7BE0890E-76ED-0E43-AAF5-A01785D215C3}" type="slidenum">
              <a:rPr lang="zh-CN" altLang="en-US" sz="1300">
                <a:solidFill>
                  <a:schemeClr val="tx1"/>
                </a:solidFill>
                <a:latin typeface="Arial" panose="020B0604020202020204" pitchFamily="34" charset="0"/>
              </a:rPr>
              <a:pPr eaLnBrk="1" hangingPunct="1"/>
              <a:t>4</a:t>
            </a:fld>
            <a:endParaRPr lang="en-US" altLang="zh-CN" sz="1300">
              <a:solidFill>
                <a:schemeClr val="tx1"/>
              </a:solidFill>
              <a:latin typeface="Arial" panose="020B0604020202020204" pitchFamily="34" charset="0"/>
            </a:endParaRPr>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cs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706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D40DE980-56D8-274F-A457-45F218FFB18D}" type="slidenum">
              <a:rPr lang="zh-CN" altLang="en-US" sz="1300">
                <a:solidFill>
                  <a:schemeClr val="tx1"/>
                </a:solidFill>
                <a:latin typeface="Arial" panose="020B0604020202020204" pitchFamily="34" charset="0"/>
              </a:rPr>
              <a:pPr eaLnBrk="1" hangingPunct="1"/>
              <a:t>5</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cs typeface="宋体" panose="02010600030101010101" pitchFamily="2" charset="-122"/>
            </a:endParaRPr>
          </a:p>
        </p:txBody>
      </p:sp>
      <p:sp>
        <p:nvSpPr>
          <p:cNvPr id="716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6E3B6787-C923-3F43-898F-933B368C242C}" type="slidenum">
              <a:rPr lang="zh-CN" altLang="en-US" sz="1300">
                <a:solidFill>
                  <a:schemeClr val="tx1"/>
                </a:solidFill>
                <a:latin typeface="Arial" panose="020B0604020202020204" pitchFamily="34" charset="0"/>
              </a:rPr>
              <a:pPr eaLnBrk="1" hangingPunct="1"/>
              <a:t>6</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cs typeface="宋体" panose="02010600030101010101" pitchFamily="2" charset="-122"/>
            </a:endParaRPr>
          </a:p>
        </p:txBody>
      </p:sp>
      <p:sp>
        <p:nvSpPr>
          <p:cNvPr id="716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6E3B6787-C923-3F43-898F-933B368C242C}" type="slidenum">
              <a:rPr lang="zh-CN" altLang="en-US" sz="1300">
                <a:solidFill>
                  <a:schemeClr val="tx1"/>
                </a:solidFill>
                <a:latin typeface="Arial" panose="020B0604020202020204" pitchFamily="34" charset="0"/>
              </a:rPr>
              <a:pPr eaLnBrk="1" hangingPunct="1"/>
              <a:t>7</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p:sp>
      <p:sp>
        <p:nvSpPr>
          <p:cNvPr id="737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73732"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019EE53C-CF85-6442-AC61-7BEEC4A0BE45}" type="slidenum">
              <a:rPr lang="zh-CN" altLang="en-US" sz="1300">
                <a:solidFill>
                  <a:schemeClr val="tx1"/>
                </a:solidFill>
                <a:latin typeface="Arial" panose="020B0604020202020204" pitchFamily="34" charset="0"/>
              </a:rPr>
              <a:pPr eaLnBrk="1" hangingPunct="1"/>
              <a:t>9</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500BC887-36A4-3F4D-9B60-5F99ECC9C54D}" type="slidenum">
              <a:rPr lang="zh-CN" altLang="en-US" sz="1300">
                <a:solidFill>
                  <a:schemeClr val="tx1"/>
                </a:solidFill>
                <a:latin typeface="Arial" panose="020B0604020202020204" pitchFamily="34" charset="0"/>
              </a:rPr>
              <a:pPr eaLnBrk="1" hangingPunct="1"/>
              <a:t>10</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p:sp>
      <p:sp>
        <p:nvSpPr>
          <p:cNvPr id="757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cs typeface="宋体" panose="02010600030101010101" pitchFamily="2" charset="-122"/>
              </a:rPr>
              <a:t>Select * from address where </a:t>
            </a:r>
            <a:r>
              <a:rPr lang="en-US" altLang="zh-CN" dirty="0" err="1">
                <a:cs typeface="宋体" panose="02010600030101010101" pitchFamily="2" charset="-122"/>
              </a:rPr>
              <a:t>zipcode</a:t>
            </a:r>
            <a:r>
              <a:rPr lang="en-US" altLang="zh-CN" dirty="0">
                <a:cs typeface="宋体" panose="02010600030101010101" pitchFamily="2" charset="-122"/>
              </a:rPr>
              <a:t> =91120</a:t>
            </a:r>
          </a:p>
          <a:p>
            <a:r>
              <a:rPr lang="en-US" altLang="zh-CN" dirty="0">
                <a:cs typeface="宋体" panose="02010600030101010101" pitchFamily="2" charset="-122"/>
              </a:rPr>
              <a:t> </a:t>
            </a:r>
          </a:p>
          <a:p>
            <a:r>
              <a:rPr lang="en-US" altLang="zh-CN" dirty="0">
                <a:cs typeface="宋体" panose="02010600030101010101" pitchFamily="2" charset="-122"/>
              </a:rPr>
              <a:t>Estimated Cost: 1</a:t>
            </a:r>
          </a:p>
          <a:p>
            <a:r>
              <a:rPr lang="en-US" altLang="zh-CN" dirty="0">
                <a:cs typeface="宋体" panose="02010600030101010101" pitchFamily="2" charset="-122"/>
              </a:rPr>
              <a:t>Estimated # of Rows Returned: 1</a:t>
            </a:r>
          </a:p>
          <a:p>
            <a:r>
              <a:rPr lang="en-US" altLang="zh-CN" dirty="0">
                <a:cs typeface="宋体" panose="02010600030101010101" pitchFamily="2" charset="-122"/>
              </a:rPr>
              <a:t> </a:t>
            </a:r>
          </a:p>
          <a:p>
            <a:r>
              <a:rPr lang="en-US" altLang="zh-CN" dirty="0">
                <a:cs typeface="宋体" panose="02010600030101010101" pitchFamily="2" charset="-122"/>
              </a:rPr>
              <a:t>  1) </a:t>
            </a:r>
            <a:r>
              <a:rPr lang="en-US" altLang="zh-CN" dirty="0" err="1" smtClean="0">
                <a:cs typeface="宋体" panose="02010600030101010101" pitchFamily="2" charset="-122"/>
              </a:rPr>
              <a:t>gbasedbt.address</a:t>
            </a:r>
            <a:r>
              <a:rPr lang="en-US" altLang="zh-CN" dirty="0">
                <a:cs typeface="宋体" panose="02010600030101010101" pitchFamily="2" charset="-122"/>
              </a:rPr>
              <a:t>: INDEX PATH</a:t>
            </a:r>
          </a:p>
          <a:p>
            <a:r>
              <a:rPr lang="en-US" altLang="zh-CN" dirty="0">
                <a:cs typeface="宋体" panose="02010600030101010101" pitchFamily="2" charset="-122"/>
              </a:rPr>
              <a:t> </a:t>
            </a:r>
          </a:p>
          <a:p>
            <a:r>
              <a:rPr lang="en-US" altLang="zh-CN" dirty="0">
                <a:cs typeface="宋体" panose="02010600030101010101" pitchFamily="2" charset="-122"/>
              </a:rPr>
              <a:t>    (1) Index Name: </a:t>
            </a:r>
            <a:r>
              <a:rPr lang="en-US" altLang="zh-CN" dirty="0" err="1" smtClean="0">
                <a:cs typeface="宋体" panose="02010600030101010101" pitchFamily="2" charset="-122"/>
              </a:rPr>
              <a:t>gbasedbt.idx_address</a:t>
            </a:r>
            <a:endParaRPr lang="en-US" altLang="zh-CN" dirty="0">
              <a:cs typeface="宋体" panose="02010600030101010101" pitchFamily="2" charset="-122"/>
            </a:endParaRPr>
          </a:p>
          <a:p>
            <a:r>
              <a:rPr lang="en-US" altLang="zh-CN" dirty="0">
                <a:cs typeface="宋体" panose="02010600030101010101" pitchFamily="2" charset="-122"/>
              </a:rPr>
              <a:t>        Index Keys: </a:t>
            </a:r>
            <a:r>
              <a:rPr lang="en-US" altLang="zh-CN" dirty="0" err="1">
                <a:cs typeface="宋体" panose="02010600030101010101" pitchFamily="2" charset="-122"/>
              </a:rPr>
              <a:t>zipcode</a:t>
            </a:r>
            <a:r>
              <a:rPr lang="en-US" altLang="zh-CN" dirty="0">
                <a:cs typeface="宋体" panose="02010600030101010101" pitchFamily="2" charset="-122"/>
              </a:rPr>
              <a:t>   (Serial, fragments: 1)</a:t>
            </a:r>
          </a:p>
          <a:p>
            <a:r>
              <a:rPr lang="en-US" altLang="zh-CN" dirty="0">
                <a:cs typeface="宋体" panose="02010600030101010101" pitchFamily="2" charset="-122"/>
              </a:rPr>
              <a:t>        Fragments Scanned: (1) </a:t>
            </a:r>
            <a:r>
              <a:rPr lang="en-US" altLang="zh-CN" dirty="0" err="1">
                <a:cs typeface="宋体" panose="02010600030101010101" pitchFamily="2" charset="-122"/>
              </a:rPr>
              <a:t>datadbs02</a:t>
            </a:r>
            <a:endParaRPr lang="en-US" altLang="zh-CN" dirty="0">
              <a:cs typeface="宋体" panose="02010600030101010101" pitchFamily="2" charset="-122"/>
            </a:endParaRPr>
          </a:p>
          <a:p>
            <a:r>
              <a:rPr lang="en-US" altLang="zh-CN" dirty="0">
                <a:cs typeface="宋体" panose="02010600030101010101" pitchFamily="2" charset="-122"/>
              </a:rPr>
              <a:t>        Lower Index Filter: </a:t>
            </a:r>
            <a:r>
              <a:rPr lang="en-US" altLang="zh-CN" dirty="0" err="1" smtClean="0">
                <a:cs typeface="宋体" panose="02010600030101010101" pitchFamily="2" charset="-122"/>
              </a:rPr>
              <a:t>gbasedbt.address.zipcode</a:t>
            </a:r>
            <a:r>
              <a:rPr lang="en-US" altLang="zh-CN" dirty="0" smtClean="0">
                <a:cs typeface="宋体" panose="02010600030101010101" pitchFamily="2" charset="-122"/>
              </a:rPr>
              <a:t> </a:t>
            </a:r>
            <a:r>
              <a:rPr lang="en-US" altLang="zh-CN" dirty="0">
                <a:cs typeface="宋体" panose="02010600030101010101" pitchFamily="2" charset="-122"/>
              </a:rPr>
              <a:t>= 91120 </a:t>
            </a:r>
          </a:p>
          <a:p>
            <a:endParaRPr lang="zh-CN" altLang="en-US" dirty="0">
              <a:cs typeface="宋体" panose="02010600030101010101" pitchFamily="2" charset="-122"/>
            </a:endParaRPr>
          </a:p>
          <a:p>
            <a:r>
              <a:rPr lang="en-US" altLang="zh-CN" dirty="0">
                <a:cs typeface="宋体" panose="02010600030101010101" pitchFamily="2" charset="-122"/>
              </a:rPr>
              <a:t>Select * from address where </a:t>
            </a:r>
            <a:r>
              <a:rPr lang="en-US" altLang="zh-CN" dirty="0" err="1">
                <a:cs typeface="宋体" panose="02010600030101010101" pitchFamily="2" charset="-122"/>
              </a:rPr>
              <a:t>zipcode</a:t>
            </a:r>
            <a:r>
              <a:rPr lang="en-US" altLang="zh-CN" dirty="0">
                <a:cs typeface="宋体" panose="02010600030101010101" pitchFamily="2" charset="-122"/>
              </a:rPr>
              <a:t> &gt;=95000</a:t>
            </a:r>
          </a:p>
          <a:p>
            <a:r>
              <a:rPr lang="en-US" altLang="zh-CN" dirty="0">
                <a:cs typeface="宋体" panose="02010600030101010101" pitchFamily="2" charset="-122"/>
              </a:rPr>
              <a:t> </a:t>
            </a:r>
          </a:p>
          <a:p>
            <a:r>
              <a:rPr lang="en-US" altLang="zh-CN" dirty="0">
                <a:cs typeface="宋体" panose="02010600030101010101" pitchFamily="2" charset="-122"/>
              </a:rPr>
              <a:t>Estimated Cost: 2</a:t>
            </a:r>
          </a:p>
          <a:p>
            <a:r>
              <a:rPr lang="en-US" altLang="zh-CN" dirty="0">
                <a:cs typeface="宋体" panose="02010600030101010101" pitchFamily="2" charset="-122"/>
              </a:rPr>
              <a:t>Estimated # of Rows Returned: 1</a:t>
            </a:r>
          </a:p>
          <a:p>
            <a:r>
              <a:rPr lang="en-US" altLang="zh-CN" dirty="0">
                <a:cs typeface="宋体" panose="02010600030101010101" pitchFamily="2" charset="-122"/>
              </a:rPr>
              <a:t> </a:t>
            </a:r>
          </a:p>
          <a:p>
            <a:r>
              <a:rPr lang="en-US" altLang="zh-CN" dirty="0">
                <a:cs typeface="宋体" panose="02010600030101010101" pitchFamily="2" charset="-122"/>
              </a:rPr>
              <a:t>  1) </a:t>
            </a:r>
            <a:r>
              <a:rPr lang="en-US" altLang="zh-CN" dirty="0" err="1" smtClean="0">
                <a:cs typeface="宋体" panose="02010600030101010101" pitchFamily="2" charset="-122"/>
              </a:rPr>
              <a:t>gbasedbt.address</a:t>
            </a:r>
            <a:r>
              <a:rPr lang="en-US" altLang="zh-CN" dirty="0">
                <a:cs typeface="宋体" panose="02010600030101010101" pitchFamily="2" charset="-122"/>
              </a:rPr>
              <a:t>: INDEX PATH</a:t>
            </a:r>
          </a:p>
          <a:p>
            <a:r>
              <a:rPr lang="en-US" altLang="zh-CN" dirty="0">
                <a:cs typeface="宋体" panose="02010600030101010101" pitchFamily="2" charset="-122"/>
              </a:rPr>
              <a:t> </a:t>
            </a:r>
          </a:p>
          <a:p>
            <a:r>
              <a:rPr lang="en-US" altLang="zh-CN" dirty="0">
                <a:cs typeface="宋体" panose="02010600030101010101" pitchFamily="2" charset="-122"/>
              </a:rPr>
              <a:t>    (1) Index Name: </a:t>
            </a:r>
            <a:r>
              <a:rPr lang="en-US" altLang="zh-CN" dirty="0" err="1" smtClean="0">
                <a:cs typeface="宋体" panose="02010600030101010101" pitchFamily="2" charset="-122"/>
              </a:rPr>
              <a:t>gbasedbt.idx_address</a:t>
            </a:r>
            <a:endParaRPr lang="en-US" altLang="zh-CN" dirty="0">
              <a:cs typeface="宋体" panose="02010600030101010101" pitchFamily="2" charset="-122"/>
            </a:endParaRPr>
          </a:p>
          <a:p>
            <a:r>
              <a:rPr lang="en-US" altLang="zh-CN" dirty="0">
                <a:cs typeface="宋体" panose="02010600030101010101" pitchFamily="2" charset="-122"/>
              </a:rPr>
              <a:t>        Index Keys: </a:t>
            </a:r>
            <a:r>
              <a:rPr lang="en-US" altLang="zh-CN" dirty="0" err="1">
                <a:cs typeface="宋体" panose="02010600030101010101" pitchFamily="2" charset="-122"/>
              </a:rPr>
              <a:t>zipcode</a:t>
            </a:r>
            <a:r>
              <a:rPr lang="en-US" altLang="zh-CN" dirty="0">
                <a:cs typeface="宋体" panose="02010600030101010101" pitchFamily="2" charset="-122"/>
              </a:rPr>
              <a:t>   (Serial, fragments: 0, 2)</a:t>
            </a:r>
          </a:p>
          <a:p>
            <a:r>
              <a:rPr lang="en-US" altLang="zh-CN" dirty="0">
                <a:cs typeface="宋体" panose="02010600030101010101" pitchFamily="2" charset="-122"/>
              </a:rPr>
              <a:t>        Fragments Scanned: (0) </a:t>
            </a:r>
            <a:r>
              <a:rPr lang="en-US" altLang="zh-CN" dirty="0" err="1">
                <a:cs typeface="宋体" panose="02010600030101010101" pitchFamily="2" charset="-122"/>
              </a:rPr>
              <a:t>datadbs01</a:t>
            </a:r>
            <a:r>
              <a:rPr lang="en-US" altLang="zh-CN" dirty="0">
                <a:cs typeface="宋体" panose="02010600030101010101" pitchFamily="2" charset="-122"/>
              </a:rPr>
              <a:t>, (2) </a:t>
            </a:r>
            <a:r>
              <a:rPr lang="en-US" altLang="zh-CN" dirty="0" err="1">
                <a:cs typeface="宋体" panose="02010600030101010101" pitchFamily="2" charset="-122"/>
              </a:rPr>
              <a:t>datadbs03</a:t>
            </a:r>
            <a:endParaRPr lang="en-US" altLang="zh-CN" dirty="0">
              <a:cs typeface="宋体" panose="02010600030101010101" pitchFamily="2" charset="-122"/>
            </a:endParaRPr>
          </a:p>
          <a:p>
            <a:r>
              <a:rPr lang="en-US" altLang="zh-CN" dirty="0">
                <a:cs typeface="宋体" panose="02010600030101010101" pitchFamily="2" charset="-122"/>
              </a:rPr>
              <a:t>        Lower Index Filter: </a:t>
            </a:r>
            <a:r>
              <a:rPr lang="en-US" altLang="zh-CN" dirty="0" err="1" smtClean="0">
                <a:cs typeface="宋体" panose="02010600030101010101" pitchFamily="2" charset="-122"/>
              </a:rPr>
              <a:t>gbasedbt.address.zipcode</a:t>
            </a:r>
            <a:r>
              <a:rPr lang="en-US" altLang="zh-CN" dirty="0" smtClean="0">
                <a:cs typeface="宋体" panose="02010600030101010101" pitchFamily="2" charset="-122"/>
              </a:rPr>
              <a:t> </a:t>
            </a:r>
            <a:r>
              <a:rPr lang="en-US" altLang="zh-CN" dirty="0">
                <a:cs typeface="宋体" panose="02010600030101010101" pitchFamily="2" charset="-122"/>
              </a:rPr>
              <a:t>&gt;= 95000 </a:t>
            </a:r>
            <a:endParaRPr lang="zh-CN" altLang="en-US" dirty="0">
              <a:cs typeface="宋体" panose="02010600030101010101" pitchFamily="2" charset="-122"/>
            </a:endParaRPr>
          </a:p>
        </p:txBody>
      </p:sp>
      <p:sp>
        <p:nvSpPr>
          <p:cNvPr id="757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B30D7F35-17C2-6148-A77D-102FA2349D6B}" type="slidenum">
              <a:rPr lang="zh-CN" altLang="en-US" sz="1300">
                <a:solidFill>
                  <a:schemeClr val="tx1"/>
                </a:solidFill>
                <a:latin typeface="Arial" panose="020B0604020202020204" pitchFamily="34" charset="0"/>
              </a:rPr>
              <a:pPr eaLnBrk="1" hangingPunct="1"/>
              <a:t>11</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cs typeface="宋体" panose="02010600030101010101" pitchFamily="2" charset="-122"/>
              </a:rPr>
              <a:t>select * from employee  where </a:t>
            </a:r>
            <a:r>
              <a:rPr lang="en-US" altLang="zh-CN" dirty="0" err="1">
                <a:cs typeface="宋体" panose="02010600030101010101" pitchFamily="2" charset="-122"/>
              </a:rPr>
              <a:t>id_num</a:t>
            </a:r>
            <a:r>
              <a:rPr lang="en-US" altLang="zh-CN" dirty="0">
                <a:cs typeface="宋体" panose="02010600030101010101" pitchFamily="2" charset="-122"/>
              </a:rPr>
              <a:t>=2</a:t>
            </a:r>
          </a:p>
          <a:p>
            <a:r>
              <a:rPr lang="en-US" altLang="zh-CN" dirty="0">
                <a:cs typeface="宋体" panose="02010600030101010101" pitchFamily="2" charset="-122"/>
              </a:rPr>
              <a:t> </a:t>
            </a:r>
          </a:p>
          <a:p>
            <a:r>
              <a:rPr lang="en-US" altLang="zh-CN" dirty="0">
                <a:cs typeface="宋体" panose="02010600030101010101" pitchFamily="2" charset="-122"/>
              </a:rPr>
              <a:t>Estimated Cost: 2</a:t>
            </a:r>
          </a:p>
          <a:p>
            <a:r>
              <a:rPr lang="en-US" altLang="zh-CN" dirty="0">
                <a:cs typeface="宋体" panose="02010600030101010101" pitchFamily="2" charset="-122"/>
              </a:rPr>
              <a:t>Estimated # of Rows Returned: 1</a:t>
            </a:r>
          </a:p>
          <a:p>
            <a:r>
              <a:rPr lang="en-US" altLang="zh-CN" dirty="0">
                <a:cs typeface="宋体" panose="02010600030101010101" pitchFamily="2" charset="-122"/>
              </a:rPr>
              <a:t> </a:t>
            </a:r>
          </a:p>
          <a:p>
            <a:r>
              <a:rPr lang="en-US" altLang="zh-CN" dirty="0">
                <a:cs typeface="宋体" panose="02010600030101010101" pitchFamily="2" charset="-122"/>
              </a:rPr>
              <a:t>  1) </a:t>
            </a:r>
            <a:r>
              <a:rPr lang="en-US" altLang="zh-CN" dirty="0" err="1" smtClean="0">
                <a:cs typeface="宋体" panose="02010600030101010101" pitchFamily="2" charset="-122"/>
              </a:rPr>
              <a:t>gbasedbt.employee</a:t>
            </a:r>
            <a:r>
              <a:rPr lang="en-US" altLang="zh-CN" dirty="0">
                <a:cs typeface="宋体" panose="02010600030101010101" pitchFamily="2" charset="-122"/>
              </a:rPr>
              <a:t>: SEQUENTIAL SCAN  (Serial, fragments: 2)</a:t>
            </a:r>
          </a:p>
          <a:p>
            <a:r>
              <a:rPr lang="en-US" altLang="zh-CN" dirty="0">
                <a:cs typeface="宋体" panose="02010600030101010101" pitchFamily="2" charset="-122"/>
              </a:rPr>
              <a:t>        Fragments Scanned: (2) </a:t>
            </a:r>
            <a:r>
              <a:rPr lang="en-US" altLang="zh-CN" dirty="0" err="1">
                <a:cs typeface="宋体" panose="02010600030101010101" pitchFamily="2" charset="-122"/>
              </a:rPr>
              <a:t>datadbs03</a:t>
            </a:r>
            <a:endParaRPr lang="en-US" altLang="zh-CN" dirty="0">
              <a:cs typeface="宋体" panose="02010600030101010101" pitchFamily="2" charset="-122"/>
            </a:endParaRPr>
          </a:p>
          <a:p>
            <a:r>
              <a:rPr lang="en-US" altLang="zh-CN" dirty="0">
                <a:cs typeface="宋体" panose="02010600030101010101" pitchFamily="2" charset="-122"/>
              </a:rPr>
              <a:t> </a:t>
            </a:r>
          </a:p>
          <a:p>
            <a:r>
              <a:rPr lang="en-US" altLang="zh-CN" dirty="0">
                <a:cs typeface="宋体" panose="02010600030101010101" pitchFamily="2" charset="-122"/>
              </a:rPr>
              <a:t>        Filters: </a:t>
            </a:r>
            <a:r>
              <a:rPr lang="en-US" altLang="zh-CN" dirty="0" err="1" smtClean="0">
                <a:cs typeface="宋体" panose="02010600030101010101" pitchFamily="2" charset="-122"/>
              </a:rPr>
              <a:t>gbasedbt.employee.id_num</a:t>
            </a:r>
            <a:r>
              <a:rPr lang="en-US" altLang="zh-CN" dirty="0" smtClean="0">
                <a:cs typeface="宋体" panose="02010600030101010101" pitchFamily="2" charset="-122"/>
              </a:rPr>
              <a:t> </a:t>
            </a:r>
            <a:r>
              <a:rPr lang="en-US" altLang="zh-CN" dirty="0">
                <a:cs typeface="宋体" panose="02010600030101010101" pitchFamily="2" charset="-122"/>
              </a:rPr>
              <a:t>= 2 </a:t>
            </a:r>
          </a:p>
          <a:p>
            <a:r>
              <a:rPr lang="en-US" altLang="zh-CN" dirty="0">
                <a:cs typeface="宋体" panose="02010600030101010101" pitchFamily="2" charset="-122"/>
              </a:rPr>
              <a:t> </a:t>
            </a:r>
          </a:p>
          <a:p>
            <a:r>
              <a:rPr lang="en-US" altLang="zh-CN" dirty="0">
                <a:cs typeface="宋体" panose="02010600030101010101" pitchFamily="2" charset="-122"/>
              </a:rPr>
              <a:t> </a:t>
            </a:r>
          </a:p>
          <a:p>
            <a:r>
              <a:rPr lang="en-US" altLang="zh-CN" dirty="0">
                <a:cs typeface="宋体" panose="02010600030101010101" pitchFamily="2" charset="-122"/>
              </a:rPr>
              <a:t>--c</a:t>
            </a:r>
          </a:p>
          <a:p>
            <a:r>
              <a:rPr lang="en-US" altLang="zh-CN" dirty="0">
                <a:cs typeface="宋体" panose="02010600030101010101" pitchFamily="2" charset="-122"/>
              </a:rPr>
              <a:t>select * from employee  where </a:t>
            </a:r>
            <a:r>
              <a:rPr lang="en-US" altLang="zh-CN" dirty="0" err="1">
                <a:cs typeface="宋体" panose="02010600030101010101" pitchFamily="2" charset="-122"/>
              </a:rPr>
              <a:t>id_num</a:t>
            </a:r>
            <a:r>
              <a:rPr lang="en-US" altLang="zh-CN" dirty="0">
                <a:cs typeface="宋体" panose="02010600030101010101" pitchFamily="2" charset="-122"/>
              </a:rPr>
              <a:t>=2</a:t>
            </a:r>
          </a:p>
          <a:p>
            <a:r>
              <a:rPr lang="en-US" altLang="zh-CN" dirty="0">
                <a:cs typeface="宋体" panose="02010600030101010101" pitchFamily="2" charset="-122"/>
              </a:rPr>
              <a:t> </a:t>
            </a:r>
          </a:p>
          <a:p>
            <a:r>
              <a:rPr lang="en-US" altLang="zh-CN" dirty="0">
                <a:cs typeface="宋体" panose="02010600030101010101" pitchFamily="2" charset="-122"/>
              </a:rPr>
              <a:t>Estimated Cost: 1</a:t>
            </a:r>
          </a:p>
          <a:p>
            <a:r>
              <a:rPr lang="en-US" altLang="zh-CN" dirty="0">
                <a:cs typeface="宋体" panose="02010600030101010101" pitchFamily="2" charset="-122"/>
              </a:rPr>
              <a:t>Estimated # of Rows Returned: 1</a:t>
            </a:r>
          </a:p>
          <a:p>
            <a:r>
              <a:rPr lang="en-US" altLang="zh-CN" dirty="0">
                <a:cs typeface="宋体" panose="02010600030101010101" pitchFamily="2" charset="-122"/>
              </a:rPr>
              <a:t> </a:t>
            </a:r>
          </a:p>
          <a:p>
            <a:r>
              <a:rPr lang="en-US" altLang="zh-CN" dirty="0">
                <a:cs typeface="宋体" panose="02010600030101010101" pitchFamily="2" charset="-122"/>
              </a:rPr>
              <a:t>  1) </a:t>
            </a:r>
            <a:r>
              <a:rPr lang="en-US" altLang="zh-CN" dirty="0" err="1" smtClean="0">
                <a:cs typeface="宋体" panose="02010600030101010101" pitchFamily="2" charset="-122"/>
              </a:rPr>
              <a:t>gbasedbt.employee</a:t>
            </a:r>
            <a:r>
              <a:rPr lang="en-US" altLang="zh-CN" dirty="0">
                <a:cs typeface="宋体" panose="02010600030101010101" pitchFamily="2" charset="-122"/>
              </a:rPr>
              <a:t>: INDEX PATH</a:t>
            </a:r>
          </a:p>
          <a:p>
            <a:r>
              <a:rPr lang="en-US" altLang="zh-CN" dirty="0">
                <a:cs typeface="宋体" panose="02010600030101010101" pitchFamily="2" charset="-122"/>
              </a:rPr>
              <a:t> </a:t>
            </a:r>
          </a:p>
          <a:p>
            <a:r>
              <a:rPr lang="en-US" altLang="zh-CN" dirty="0">
                <a:cs typeface="宋体" panose="02010600030101010101" pitchFamily="2" charset="-122"/>
              </a:rPr>
              <a:t>    (1) Index Name: </a:t>
            </a:r>
            <a:r>
              <a:rPr lang="en-US" altLang="zh-CN" dirty="0" err="1" smtClean="0">
                <a:cs typeface="宋体" panose="02010600030101010101" pitchFamily="2" charset="-122"/>
              </a:rPr>
              <a:t>gbasedbt.idx_employee</a:t>
            </a:r>
            <a:endParaRPr lang="en-US" altLang="zh-CN" dirty="0">
              <a:cs typeface="宋体" panose="02010600030101010101" pitchFamily="2" charset="-122"/>
            </a:endParaRPr>
          </a:p>
          <a:p>
            <a:r>
              <a:rPr lang="en-US" altLang="zh-CN" dirty="0">
                <a:cs typeface="宋体" panose="02010600030101010101" pitchFamily="2" charset="-122"/>
              </a:rPr>
              <a:t>        Index Keys: </a:t>
            </a:r>
            <a:r>
              <a:rPr lang="en-US" altLang="zh-CN" dirty="0" err="1">
                <a:cs typeface="宋体" panose="02010600030101010101" pitchFamily="2" charset="-122"/>
              </a:rPr>
              <a:t>id_num</a:t>
            </a:r>
            <a:r>
              <a:rPr lang="en-US" altLang="zh-CN" dirty="0">
                <a:cs typeface="宋体" panose="02010600030101010101" pitchFamily="2" charset="-122"/>
              </a:rPr>
              <a:t>   (Serial, fragments: 2)</a:t>
            </a:r>
          </a:p>
          <a:p>
            <a:r>
              <a:rPr lang="en-US" altLang="zh-CN" dirty="0">
                <a:cs typeface="宋体" panose="02010600030101010101" pitchFamily="2" charset="-122"/>
              </a:rPr>
              <a:t>        Fragments Scanned: (2) </a:t>
            </a:r>
            <a:r>
              <a:rPr lang="en-US" altLang="zh-CN" dirty="0" err="1">
                <a:cs typeface="宋体" panose="02010600030101010101" pitchFamily="2" charset="-122"/>
              </a:rPr>
              <a:t>datadbs03</a:t>
            </a:r>
            <a:endParaRPr lang="en-US" altLang="zh-CN" dirty="0">
              <a:cs typeface="宋体" panose="02010600030101010101" pitchFamily="2" charset="-122"/>
            </a:endParaRPr>
          </a:p>
          <a:p>
            <a:r>
              <a:rPr lang="en-US" altLang="zh-CN" dirty="0">
                <a:cs typeface="宋体" panose="02010600030101010101" pitchFamily="2" charset="-122"/>
              </a:rPr>
              <a:t>        Lower Index Filter: </a:t>
            </a:r>
            <a:r>
              <a:rPr lang="en-US" altLang="zh-CN" dirty="0" err="1" smtClean="0">
                <a:cs typeface="宋体" panose="02010600030101010101" pitchFamily="2" charset="-122"/>
              </a:rPr>
              <a:t>gbasedbt.employee.id_num</a:t>
            </a:r>
            <a:r>
              <a:rPr lang="en-US" altLang="zh-CN" dirty="0" smtClean="0">
                <a:cs typeface="宋体" panose="02010600030101010101" pitchFamily="2" charset="-122"/>
              </a:rPr>
              <a:t> </a:t>
            </a:r>
            <a:r>
              <a:rPr lang="en-US" altLang="zh-CN" dirty="0">
                <a:cs typeface="宋体" panose="02010600030101010101" pitchFamily="2" charset="-122"/>
              </a:rPr>
              <a:t>= 2 </a:t>
            </a:r>
          </a:p>
          <a:p>
            <a:r>
              <a:rPr lang="en-US" altLang="zh-CN" dirty="0">
                <a:cs typeface="宋体" panose="02010600030101010101" pitchFamily="2" charset="-122"/>
              </a:rPr>
              <a:t> </a:t>
            </a:r>
          </a:p>
        </p:txBody>
      </p:sp>
      <p:sp>
        <p:nvSpPr>
          <p:cNvPr id="768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8A1FC8D7-CB3F-884F-9330-43B2452A663A}" type="slidenum">
              <a:rPr lang="zh-CN" altLang="en-US" sz="1300">
                <a:solidFill>
                  <a:schemeClr val="tx1"/>
                </a:solidFill>
                <a:latin typeface="Arial" panose="020B0604020202020204" pitchFamily="34" charset="0"/>
              </a:rPr>
              <a:pPr eaLnBrk="1" hangingPunct="1"/>
              <a:t>12</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77828"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77DA83D6-F6CB-C741-B280-386C06A083E2}" type="slidenum">
              <a:rPr lang="zh-CN" altLang="en-US" sz="1300">
                <a:solidFill>
                  <a:schemeClr val="tx1"/>
                </a:solidFill>
                <a:latin typeface="Arial" panose="020B0604020202020204" pitchFamily="34" charset="0"/>
              </a:rPr>
              <a:pPr eaLnBrk="1" hangingPunct="1"/>
              <a:t>13</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cs typeface="宋体" panose="02010600030101010101" pitchFamily="2" charset="-122"/>
            </a:endParaRPr>
          </a:p>
        </p:txBody>
      </p:sp>
      <p:sp>
        <p:nvSpPr>
          <p:cNvPr id="78852"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011082B9-4E17-0C4C-9774-BA4F94163F59}" type="slidenum">
              <a:rPr lang="zh-CN" altLang="en-US" sz="1300">
                <a:solidFill>
                  <a:schemeClr val="tx1"/>
                </a:solidFill>
                <a:latin typeface="Arial" panose="020B0604020202020204" pitchFamily="34" charset="0"/>
              </a:rPr>
              <a:pPr eaLnBrk="1" hangingPunct="1"/>
              <a:t>14</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1142184" y="684988"/>
            <a:ext cx="4573633" cy="3429370"/>
          </a:xfrm>
          <a:prstGeom prst="rect">
            <a:avLst/>
          </a:prstGeom>
          <a:solidFill>
            <a:srgbClr val="FFFFFF"/>
          </a:solidFill>
          <a:ln w="9360">
            <a:solidFill>
              <a:srgbClr val="000000"/>
            </a:solidFill>
            <a:miter lim="800000"/>
          </a:ln>
        </p:spPr>
        <p:txBody>
          <a:bodyPr wrap="none" anchor="ct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endParaRPr lang="zh-CN" altLang="en-US"/>
          </a:p>
        </p:txBody>
      </p:sp>
      <p:sp>
        <p:nvSpPr>
          <p:cNvPr id="79875" name="Text Box 3"/>
          <p:cNvSpPr>
            <a:spLocks noGrp="1" noChangeArrowheads="1"/>
          </p:cNvSpPr>
          <p:nvPr>
            <p:ph type="body"/>
          </p:nvPr>
        </p:nvSpPr>
        <p:spPr>
          <a:xfrm>
            <a:off x="686290" y="4344655"/>
            <a:ext cx="5485420" cy="411435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99" tIns="47319" rIns="90999" bIns="47319" anchor="ctr"/>
          <a:lstStyle/>
          <a:p>
            <a:pPr defTabSz="457200">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zh-CN">
                <a:cs typeface="宋体" panose="02010600030101010101" pitchFamily="2" charset="-122"/>
              </a:rPr>
              <a:t>Direct syntax and example shown here for fragmentation by list.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80900"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57D19E48-882D-C243-9A17-4E03AFD78D32}" type="slidenum">
              <a:rPr lang="zh-CN" altLang="en-US" sz="1300">
                <a:solidFill>
                  <a:schemeClr val="tx1"/>
                </a:solidFill>
                <a:latin typeface="Arial" panose="020B0604020202020204" pitchFamily="34" charset="0"/>
              </a:rPr>
              <a:pPr eaLnBrk="1" hangingPunct="1"/>
              <a:t>20</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1000" y="685800"/>
            <a:ext cx="6096000" cy="3430588"/>
          </a:xfrm>
        </p:spPr>
      </p:sp>
      <p:sp>
        <p:nvSpPr>
          <p:cNvPr id="81923"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cs typeface="宋体" panose="02010600030101010101" pitchFamily="2" charset="-122"/>
              </a:rPr>
              <a:t>Index can be fragmented</a:t>
            </a:r>
          </a:p>
          <a:p>
            <a:r>
              <a:rPr lang="en-US" altLang="zh-CN">
                <a:cs typeface="宋体" panose="02010600030101010101" pitchFamily="2" charset="-122"/>
              </a:rPr>
              <a:t>Index can have different fragmentation strategy than table</a:t>
            </a:r>
          </a:p>
          <a:p>
            <a:r>
              <a:rPr lang="en-US" altLang="zh-CN">
                <a:cs typeface="宋体" panose="02010600030101010101" pitchFamily="2" charset="-122"/>
              </a:rPr>
              <a:t>Index fragments can have different page size than table fragments (page size needs to be the same across all fragments of the index)</a:t>
            </a:r>
          </a:p>
          <a:p>
            <a:r>
              <a:rPr lang="en-US" altLang="zh-CN">
                <a:cs typeface="宋体" panose="02010600030101010101" pitchFamily="2" charset="-122"/>
              </a:rPr>
              <a:t>Can be explicitly fragmented using expression fragmentation, or inherit table’s fragmentation, or non-fragmented</a:t>
            </a:r>
          </a:p>
          <a:p>
            <a:endParaRPr lang="zh-CN" altLang="en-US">
              <a:cs typeface="宋体" panose="02010600030101010101" pitchFamily="2" charset="-122"/>
            </a:endParaRPr>
          </a:p>
        </p:txBody>
      </p:sp>
      <p:sp>
        <p:nvSpPr>
          <p:cNvPr id="829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B4496735-2EF8-E648-A479-13C3C6247FD5}" type="slidenum">
              <a:rPr lang="zh-CN" altLang="en-US" sz="1300">
                <a:solidFill>
                  <a:schemeClr val="tx1"/>
                </a:solidFill>
                <a:latin typeface="Arial" panose="020B0604020202020204" pitchFamily="34" charset="0"/>
              </a:rPr>
              <a:pPr eaLnBrk="1" hangingPunct="1"/>
              <a:t>23</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83972"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D374F8BB-6CDA-4E49-B1E0-0C27A05C2A06}" type="slidenum">
              <a:rPr lang="zh-CN" altLang="en-US" sz="1300">
                <a:solidFill>
                  <a:schemeClr val="tx1"/>
                </a:solidFill>
                <a:latin typeface="Arial" panose="020B0604020202020204" pitchFamily="34" charset="0"/>
              </a:rPr>
              <a:pPr eaLnBrk="1" hangingPunct="1"/>
              <a:t>24</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849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A9E4D8AD-043F-694D-BD52-C2433E5FA419}" type="slidenum">
              <a:rPr lang="zh-CN" altLang="en-US" sz="1300">
                <a:solidFill>
                  <a:schemeClr val="tx1"/>
                </a:solidFill>
                <a:latin typeface="Arial" panose="020B0604020202020204" pitchFamily="34" charset="0"/>
              </a:rPr>
              <a:pPr eaLnBrk="1" hangingPunct="1"/>
              <a:t>25</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E6F6679D-E024-5540-885D-1BAFA2358D52}" type="slidenum">
              <a:rPr lang="zh-CN" altLang="en-US" sz="1300">
                <a:solidFill>
                  <a:schemeClr val="tx1"/>
                </a:solidFill>
                <a:latin typeface="Arial" panose="020B0604020202020204" pitchFamily="34" charset="0"/>
              </a:rPr>
              <a:pPr eaLnBrk="1" hangingPunct="1"/>
              <a:t>26</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870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3C0AC7F6-4C6B-7C4E-8134-788C2A36E0E3}" type="slidenum">
              <a:rPr lang="zh-CN" altLang="en-US" sz="1300">
                <a:solidFill>
                  <a:schemeClr val="tx1"/>
                </a:solidFill>
                <a:latin typeface="Arial" panose="020B0604020202020204" pitchFamily="34" charset="0"/>
              </a:rPr>
              <a:pPr eaLnBrk="1" hangingPunct="1"/>
              <a:t>27</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88068"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07B5AB94-D030-3646-AC16-4D3CA2D5587F}" type="slidenum">
              <a:rPr lang="zh-CN" altLang="en-US" sz="1300">
                <a:solidFill>
                  <a:schemeClr val="tx1"/>
                </a:solidFill>
                <a:latin typeface="Arial" panose="020B0604020202020204" pitchFamily="34" charset="0"/>
              </a:rPr>
              <a:pPr eaLnBrk="1" hangingPunct="1"/>
              <a:t>29</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89092"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D001156C-0F64-784F-9E5A-336E959F6E4A}" type="slidenum">
              <a:rPr lang="zh-CN" altLang="en-US" sz="1300">
                <a:solidFill>
                  <a:schemeClr val="tx1"/>
                </a:solidFill>
                <a:latin typeface="Arial" panose="020B0604020202020204" pitchFamily="34" charset="0"/>
              </a:rPr>
              <a:pPr eaLnBrk="1" hangingPunct="1"/>
              <a:t>30</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90116"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22F2E4CA-07F1-2D4B-AA9A-E257613D9862}" type="slidenum">
              <a:rPr lang="zh-CN" altLang="en-US" sz="1300">
                <a:solidFill>
                  <a:schemeClr val="tx1"/>
                </a:solidFill>
                <a:latin typeface="Arial" panose="020B0604020202020204" pitchFamily="34" charset="0"/>
              </a:rPr>
              <a:pPr eaLnBrk="1" hangingPunct="1"/>
              <a:t>32</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911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0FB1BA2D-64DF-4D49-BB34-985EA9F33580}" type="slidenum">
              <a:rPr lang="zh-CN" altLang="en-US" sz="1300">
                <a:solidFill>
                  <a:schemeClr val="tx1"/>
                </a:solidFill>
                <a:latin typeface="Arial" panose="020B0604020202020204" pitchFamily="34" charset="0"/>
              </a:rPr>
              <a:pPr eaLnBrk="1" hangingPunct="1"/>
              <a:t>34</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92164"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90FB5A43-DDE4-F246-96E6-B17A46442B42}" type="slidenum">
              <a:rPr lang="zh-CN" altLang="en-US" sz="1300">
                <a:solidFill>
                  <a:schemeClr val="tx1"/>
                </a:solidFill>
                <a:latin typeface="Arial" panose="020B0604020202020204" pitchFamily="34" charset="0"/>
              </a:rPr>
              <a:pPr eaLnBrk="1" hangingPunct="1"/>
              <a:t>35</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sz="1200" b="0" dirty="0" err="1" smtClean="0"/>
              <a:t>onspaces</a:t>
            </a:r>
            <a:r>
              <a:rPr lang="en-US" altLang="zh-CN" sz="1200" b="0" dirty="0" smtClean="0"/>
              <a:t> -c -d tabdbspc1 -p /Users/</a:t>
            </a:r>
            <a:r>
              <a:rPr lang="en-US" altLang="zh-CN" sz="1200" b="0" dirty="0" err="1" smtClean="0"/>
              <a:t>gbasedbt</a:t>
            </a:r>
            <a:r>
              <a:rPr lang="en-US" altLang="zh-CN" sz="1200" b="0" dirty="0" smtClean="0"/>
              <a:t>/chunks/tabdbspc1 -o 0 -s 200000</a:t>
            </a:r>
          </a:p>
          <a:p>
            <a:pPr marL="0" indent="0">
              <a:buNone/>
            </a:pPr>
            <a:endParaRPr lang="en-US" altLang="zh-CN" sz="1200" b="0" dirty="0" smtClean="0"/>
          </a:p>
          <a:p>
            <a:pPr marL="0" indent="0">
              <a:buNone/>
            </a:pPr>
            <a:r>
              <a:rPr lang="en-US" altLang="zh-CN" sz="1200" b="0" dirty="0" err="1" smtClean="0"/>
              <a:t>onspaces</a:t>
            </a:r>
            <a:r>
              <a:rPr lang="en-US" altLang="zh-CN" sz="1200" b="0" dirty="0" smtClean="0"/>
              <a:t> -c -d tabdbspc2 -p /Users/</a:t>
            </a:r>
            <a:r>
              <a:rPr lang="en-US" altLang="zh-CN" sz="1200" b="0" dirty="0" err="1" smtClean="0"/>
              <a:t>gbasedbt</a:t>
            </a:r>
            <a:r>
              <a:rPr lang="en-US" altLang="zh-CN" sz="1200" b="0" dirty="0" smtClean="0"/>
              <a:t>/chunks/tabdbspc2 -o 0 -s 200000</a:t>
            </a:r>
          </a:p>
          <a:p>
            <a:pPr marL="0" indent="0">
              <a:buNone/>
            </a:pPr>
            <a:endParaRPr lang="en-US" altLang="zh-CN" sz="1200" b="0" dirty="0" smtClean="0"/>
          </a:p>
          <a:p>
            <a:pPr marL="0" indent="0">
              <a:buNone/>
            </a:pPr>
            <a:r>
              <a:rPr lang="en-US" altLang="zh-CN" sz="1200" b="0" dirty="0" err="1" smtClean="0"/>
              <a:t>onspaces</a:t>
            </a:r>
            <a:r>
              <a:rPr lang="en-US" altLang="zh-CN" sz="1200" b="0" dirty="0" smtClean="0"/>
              <a:t> -c -d tabdbspc3 -p /Users/</a:t>
            </a:r>
            <a:r>
              <a:rPr lang="en-US" altLang="zh-CN" sz="1200" b="0" dirty="0" err="1" smtClean="0"/>
              <a:t>gbasedbt</a:t>
            </a:r>
            <a:r>
              <a:rPr lang="en-US" altLang="zh-CN" sz="1200" b="0" dirty="0" smtClean="0"/>
              <a:t>/chunks/tabdbspc3 -o 0 -s 200000</a:t>
            </a:r>
          </a:p>
          <a:p>
            <a:pPr marL="0" indent="0">
              <a:buNone/>
            </a:pPr>
            <a:endParaRPr lang="en-US" altLang="zh-CN" sz="1200" b="0" dirty="0" smtClean="0"/>
          </a:p>
          <a:p>
            <a:pPr marL="0" indent="0">
              <a:buNone/>
            </a:pPr>
            <a:r>
              <a:rPr lang="en-US" altLang="zh-CN" sz="1200" b="0" dirty="0" err="1" smtClean="0"/>
              <a:t>onspaces</a:t>
            </a:r>
            <a:r>
              <a:rPr lang="en-US" altLang="zh-CN" sz="1200" b="0" dirty="0" smtClean="0"/>
              <a:t> -c -d idxdbspc1 -p /Users/</a:t>
            </a:r>
            <a:r>
              <a:rPr lang="en-US" altLang="zh-CN" sz="1200" b="0" dirty="0" err="1" smtClean="0"/>
              <a:t>gbasedbt</a:t>
            </a:r>
            <a:r>
              <a:rPr lang="en-US" altLang="zh-CN" sz="1200" b="0" dirty="0" smtClean="0"/>
              <a:t>/chunks/idxdbspc1 -o 0 -s 200000</a:t>
            </a:r>
          </a:p>
          <a:p>
            <a:pPr marL="0" indent="0">
              <a:buNone/>
            </a:pPr>
            <a:endParaRPr lang="en-US" altLang="zh-CN" sz="1200" b="0" dirty="0" smtClean="0"/>
          </a:p>
          <a:p>
            <a:pPr marL="0" indent="0">
              <a:buNone/>
            </a:pPr>
            <a:r>
              <a:rPr lang="en-US" altLang="zh-CN" sz="1200" b="0" dirty="0" err="1" smtClean="0"/>
              <a:t>onspaces</a:t>
            </a:r>
            <a:r>
              <a:rPr lang="en-US" altLang="zh-CN" sz="1200" b="0" dirty="0" smtClean="0"/>
              <a:t> -c -d idxdbspc2 -p /Users/</a:t>
            </a:r>
            <a:r>
              <a:rPr lang="en-US" altLang="zh-CN" sz="1200" b="0" dirty="0" err="1" smtClean="0"/>
              <a:t>gbasedbt</a:t>
            </a:r>
            <a:r>
              <a:rPr lang="en-US" altLang="zh-CN" sz="1200" b="0" dirty="0" smtClean="0"/>
              <a:t>/chunks/idxdbspc2 -o 0 -s 200000</a:t>
            </a:r>
          </a:p>
          <a:p>
            <a:pPr marL="0" indent="0">
              <a:buNone/>
            </a:pPr>
            <a:endParaRPr lang="en-US" altLang="zh-CN" sz="1200" b="0" dirty="0" smtClean="0"/>
          </a:p>
          <a:p>
            <a:pPr marL="0" indent="0">
              <a:buNone/>
            </a:pPr>
            <a:endParaRPr lang="en-US" altLang="zh-CN" sz="1200" b="0" dirty="0" smtClean="0"/>
          </a:p>
          <a:p>
            <a:pPr marL="0" indent="0">
              <a:buNone/>
            </a:pPr>
            <a:r>
              <a:rPr lang="en-US" altLang="zh-CN" sz="1200" b="0" dirty="0" smtClean="0"/>
              <a:t>Touch tabdbspc1 tabdbspc2 tabdbspc3 idxdbspc1 idxdbspc2 idxdbspc3</a:t>
            </a:r>
          </a:p>
          <a:p>
            <a:pPr marL="0" indent="0">
              <a:buNone/>
            </a:pPr>
            <a:r>
              <a:rPr lang="en-US" altLang="zh-CN" sz="1200" b="0" dirty="0" err="1" smtClean="0"/>
              <a:t>chown</a:t>
            </a:r>
            <a:r>
              <a:rPr lang="en-US" altLang="zh-CN" sz="1200" b="0" dirty="0" smtClean="0"/>
              <a:t> </a:t>
            </a:r>
            <a:r>
              <a:rPr lang="en-US" altLang="zh-CN" sz="1200" b="0" dirty="0" err="1" smtClean="0"/>
              <a:t>gbasedbt:gbasedbt</a:t>
            </a:r>
            <a:r>
              <a:rPr lang="en-US" altLang="zh-CN" sz="1200" b="0" dirty="0" smtClean="0"/>
              <a:t> tabdbspc1 tabdbspc2 tabdbspc3 idxdbspc1 idxdbspc2 idxdbspc3</a:t>
            </a:r>
          </a:p>
          <a:p>
            <a:pPr marL="0" indent="0">
              <a:buNone/>
            </a:pPr>
            <a:r>
              <a:rPr lang="en-US" altLang="zh-CN" sz="1200" b="0" dirty="0" err="1" smtClean="0"/>
              <a:t>chmod</a:t>
            </a:r>
            <a:r>
              <a:rPr lang="en-US" altLang="zh-CN" sz="1200" b="0" dirty="0" smtClean="0"/>
              <a:t> 660  tabdbspc1 tabdbspc2 tabdbspc3 idxdbspc1 idxdbspc2 idxdbspc3</a:t>
            </a:r>
          </a:p>
        </p:txBody>
      </p:sp>
      <p:sp>
        <p:nvSpPr>
          <p:cNvPr id="4" name="幻灯片编号占位符 3"/>
          <p:cNvSpPr>
            <a:spLocks noGrp="1"/>
          </p:cNvSpPr>
          <p:nvPr>
            <p:ph type="sldNum" sz="quarter" idx="10"/>
          </p:nvPr>
        </p:nvSpPr>
        <p:spPr/>
        <p:txBody>
          <a:bodyPr/>
          <a:lstStyle/>
          <a:p>
            <a:pPr>
              <a:defRPr/>
            </a:pPr>
            <a:fld id="{F113FEE7-E239-4DC1-B4E9-796E72231CDE}" type="slidenum">
              <a:rPr lang="en-US" altLang="zh-CN" smtClean="0"/>
              <a:pPr>
                <a:defRPr/>
              </a:pPr>
              <a:t>36</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931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56986F24-023B-F447-9D4B-E9D4F59D1251}" type="slidenum">
              <a:rPr lang="zh-CN" altLang="en-US" sz="1300">
                <a:solidFill>
                  <a:schemeClr val="tx1"/>
                </a:solidFill>
                <a:latin typeface="Arial" panose="020B0604020202020204" pitchFamily="34" charset="0"/>
              </a:rPr>
              <a:pPr eaLnBrk="1" hangingPunct="1"/>
              <a:t>39</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p:sp>
      <p:sp>
        <p:nvSpPr>
          <p:cNvPr id="942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942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576765B0-11DC-504D-AA33-540CD21AC327}" type="slidenum">
              <a:rPr lang="zh-CN" altLang="en-US" sz="1300">
                <a:solidFill>
                  <a:schemeClr val="tx1"/>
                </a:solidFill>
                <a:latin typeface="Arial" panose="020B0604020202020204" pitchFamily="34" charset="0"/>
              </a:rPr>
              <a:pPr eaLnBrk="1" hangingPunct="1"/>
              <a:t>43</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37ACC4A9-E91D-D247-911C-34726DF7D0ED}" type="slidenum">
              <a:rPr lang="zh-CN" altLang="en-US" sz="1300">
                <a:solidFill>
                  <a:schemeClr val="tx1"/>
                </a:solidFill>
                <a:latin typeface="Arial" panose="020B0604020202020204" pitchFamily="34" charset="0"/>
              </a:rPr>
              <a:pPr eaLnBrk="1" hangingPunct="1"/>
              <a:t>44</a:t>
            </a:fld>
            <a:endParaRPr lang="en-US" altLang="zh-CN" sz="1300">
              <a:solidFill>
                <a:schemeClr val="tx1"/>
              </a:solidFill>
              <a:latin typeface="Arial" panose="020B0604020202020204" pitchFamily="34" charset="0"/>
            </a:endParaRPr>
          </a:p>
        </p:txBody>
      </p:sp>
      <p:sp>
        <p:nvSpPr>
          <p:cNvPr id="95235" name="Rectangle 2"/>
          <p:cNvSpPr>
            <a:spLocks noGrp="1" noRot="1" noChangeAspect="1" noChangeArrowheads="1" noTextEdit="1"/>
          </p:cNvSpPr>
          <p:nvPr>
            <p:ph type="sldImg"/>
          </p:nvPr>
        </p:nvSpPr>
        <p:spPr>
          <a:xfrm>
            <a:off x="381000" y="685800"/>
            <a:ext cx="6096000" cy="3430588"/>
          </a:xfrm>
        </p:spPr>
      </p:sp>
      <p:sp>
        <p:nvSpPr>
          <p:cNvPr id="95236"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cs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p:sp>
      <p:sp>
        <p:nvSpPr>
          <p:cNvPr id="962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96260"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D5289BEF-015A-0C47-9AA0-38639C645E21}" type="slidenum">
              <a:rPr lang="zh-CN" altLang="en-US" sz="1300">
                <a:solidFill>
                  <a:schemeClr val="tx1"/>
                </a:solidFill>
                <a:latin typeface="Arial" panose="020B0604020202020204" pitchFamily="34" charset="0"/>
              </a:rPr>
              <a:pPr eaLnBrk="1" hangingPunct="1"/>
              <a:t>45</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p:sp>
      <p:sp>
        <p:nvSpPr>
          <p:cNvPr id="972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97284"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53201753-2196-3B4B-9D36-3041F4B8B3E5}" type="slidenum">
              <a:rPr lang="zh-CN" altLang="en-US" sz="1300">
                <a:solidFill>
                  <a:schemeClr val="tx1"/>
                </a:solidFill>
                <a:latin typeface="Arial" panose="020B0604020202020204" pitchFamily="34" charset="0"/>
              </a:rPr>
              <a:pPr eaLnBrk="1" hangingPunct="1"/>
              <a:t>46</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98308"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CB3C597C-8AD4-6B40-9A2E-C53898D7A547}" type="slidenum">
              <a:rPr lang="zh-CN" altLang="en-US" sz="1300">
                <a:solidFill>
                  <a:schemeClr val="tx1"/>
                </a:solidFill>
                <a:latin typeface="Arial" panose="020B0604020202020204" pitchFamily="34" charset="0"/>
              </a:rPr>
              <a:pPr eaLnBrk="1" hangingPunct="1"/>
              <a:t>47</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906DE86E-2C35-8B43-9F80-9B6B7021C75E}" type="slidenum">
              <a:rPr lang="zh-CN" altLang="en-US" sz="1300">
                <a:solidFill>
                  <a:schemeClr val="tx1"/>
                </a:solidFill>
                <a:latin typeface="Arial" panose="020B0604020202020204" pitchFamily="34" charset="0"/>
              </a:rPr>
              <a:pPr eaLnBrk="1" hangingPunct="1"/>
              <a:t>48</a:t>
            </a:fld>
            <a:endParaRPr lang="en-US" altLang="zh-CN" sz="1300">
              <a:solidFill>
                <a:schemeClr val="tx1"/>
              </a:solidFill>
              <a:latin typeface="Arial" panose="020B0604020202020204" pitchFamily="34" charset="0"/>
            </a:endParaRPr>
          </a:p>
        </p:txBody>
      </p:sp>
      <p:sp>
        <p:nvSpPr>
          <p:cNvPr id="99331" name="Rectangle 2"/>
          <p:cNvSpPr>
            <a:spLocks noGrp="1" noRot="1" noChangeAspect="1" noChangeArrowheads="1" noTextEdit="1"/>
          </p:cNvSpPr>
          <p:nvPr>
            <p:ph type="sldImg"/>
          </p:nvPr>
        </p:nvSpPr>
        <p:spPr>
          <a:xfrm>
            <a:off x="381000" y="685800"/>
            <a:ext cx="6096000" cy="3430588"/>
          </a:xfrm>
        </p:spPr>
      </p:sp>
      <p:sp>
        <p:nvSpPr>
          <p:cNvPr id="99332"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cs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p:sp>
      <p:sp>
        <p:nvSpPr>
          <p:cNvPr id="1013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zh-CN" altLang="en-US" sz="800" b="1">
                <a:cs typeface="宋体" panose="02010600030101010101" pitchFamily="2" charset="-122"/>
              </a:rPr>
              <a:t>附录</a:t>
            </a:r>
            <a:r>
              <a:rPr lang="en-US" altLang="zh-CN" sz="800" b="1">
                <a:cs typeface="宋体" panose="02010600030101010101" pitchFamily="2" charset="-122"/>
              </a:rPr>
              <a:t>2</a:t>
            </a:r>
          </a:p>
          <a:p>
            <a:pPr>
              <a:lnSpc>
                <a:spcPct val="80000"/>
              </a:lnSpc>
            </a:pPr>
            <a:r>
              <a:rPr lang="en-US" altLang="zh-CN" sz="800" b="1">
                <a:cs typeface="宋体" panose="02010600030101010101" pitchFamily="2" charset="-122"/>
              </a:rPr>
              <a:t>--------------------------------------------------</a:t>
            </a:r>
          </a:p>
          <a:p>
            <a:pPr>
              <a:lnSpc>
                <a:spcPct val="80000"/>
              </a:lnSpc>
            </a:pPr>
            <a:r>
              <a:rPr lang="en-US" altLang="zh-CN" sz="800" b="1">
                <a:cs typeface="宋体" panose="02010600030101010101" pitchFamily="2" charset="-122"/>
              </a:rPr>
              <a:t>1.into temp table with no log;</a:t>
            </a:r>
          </a:p>
          <a:p>
            <a:pPr>
              <a:lnSpc>
                <a:spcPct val="80000"/>
              </a:lnSpc>
            </a:pPr>
            <a:r>
              <a:rPr lang="en-US" altLang="zh-CN" sz="800" b="1">
                <a:cs typeface="宋体" panose="02010600030101010101" pitchFamily="2" charset="-122"/>
              </a:rPr>
              <a:t>--------------------------------------------------</a:t>
            </a:r>
          </a:p>
          <a:p>
            <a:pPr>
              <a:lnSpc>
                <a:spcPct val="80000"/>
              </a:lnSpc>
            </a:pPr>
            <a:r>
              <a:rPr lang="en-US" altLang="zh-CN" sz="800" b="1">
                <a:cs typeface="宋体" panose="02010600030101010101" pitchFamily="2" charset="-122"/>
              </a:rPr>
              <a:t>onstat -z</a:t>
            </a:r>
          </a:p>
          <a:p>
            <a:pPr>
              <a:lnSpc>
                <a:spcPct val="80000"/>
              </a:lnSpc>
            </a:pPr>
            <a:r>
              <a:rPr lang="en-US" altLang="zh-CN" sz="800" b="1">
                <a:cs typeface="宋体" panose="02010600030101010101" pitchFamily="2" charset="-122"/>
              </a:rPr>
              <a:t>onstat -D</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address    chunk/dbs     offset     page Rd  page Wr  pathname </a:t>
            </a:r>
          </a:p>
          <a:p>
            <a:pPr>
              <a:lnSpc>
                <a:spcPct val="80000"/>
              </a:lnSpc>
            </a:pPr>
            <a:r>
              <a:rPr lang="en-US" altLang="zh-CN" sz="800" b="1">
                <a:cs typeface="宋体" panose="02010600030101010101" pitchFamily="2" charset="-122"/>
              </a:rPr>
              <a:t>c5c49408   5      5      0    0  0  /opt/dbschk/tmpchk01</a:t>
            </a:r>
          </a:p>
          <a:p>
            <a:pPr>
              <a:lnSpc>
                <a:spcPct val="80000"/>
              </a:lnSpc>
            </a:pPr>
            <a:r>
              <a:rPr lang="en-US" altLang="zh-CN" sz="800" b="1">
                <a:cs typeface="宋体" panose="02010600030101010101" pitchFamily="2" charset="-122"/>
              </a:rPr>
              <a:t>c5c495f8   6      6      0    0  0  /opt/dbschk/tmpchk02</a:t>
            </a:r>
          </a:p>
          <a:p>
            <a:pPr>
              <a:lnSpc>
                <a:spcPct val="80000"/>
              </a:lnSpc>
            </a:pPr>
            <a:r>
              <a:rPr lang="en-US" altLang="zh-CN" sz="800" b="1">
                <a:cs typeface="宋体" panose="02010600030101010101" pitchFamily="2" charset="-122"/>
              </a:rPr>
              <a:t>c5c497e8   7      7      0    0  0  /opt/dbschk/tmpchk03</a:t>
            </a:r>
          </a:p>
          <a:p>
            <a:pPr>
              <a:lnSpc>
                <a:spcPct val="80000"/>
              </a:lnSpc>
            </a:pPr>
            <a:r>
              <a:rPr lang="en-US" altLang="zh-CN" sz="800" b="1">
                <a:cs typeface="宋体" panose="02010600030101010101" pitchFamily="2" charset="-122"/>
              </a:rPr>
              <a:t>c5c499d8   8      8      0    0  0  /opt/dbschk/tmpchk04</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set pdqpriority 96;</a:t>
            </a:r>
          </a:p>
          <a:p>
            <a:pPr>
              <a:lnSpc>
                <a:spcPct val="80000"/>
              </a:lnSpc>
            </a:pPr>
            <a:r>
              <a:rPr lang="en-US" altLang="zh-CN" sz="800" b="1">
                <a:cs typeface="宋体" panose="02010600030101010101" pitchFamily="2" charset="-122"/>
              </a:rPr>
              <a:t>select  first 4000000  * from orders</a:t>
            </a:r>
          </a:p>
          <a:p>
            <a:pPr>
              <a:lnSpc>
                <a:spcPct val="80000"/>
              </a:lnSpc>
            </a:pPr>
            <a:r>
              <a:rPr lang="en-US" altLang="zh-CN" sz="800" b="1">
                <a:cs typeface="宋体" panose="02010600030101010101" pitchFamily="2" charset="-122"/>
              </a:rPr>
              <a:t>into temp tmp_orders with no log;</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address    chunk/dbs     offset     page Rd  page Wr  pathname </a:t>
            </a:r>
          </a:p>
          <a:p>
            <a:pPr>
              <a:lnSpc>
                <a:spcPct val="80000"/>
              </a:lnSpc>
            </a:pPr>
            <a:r>
              <a:rPr lang="en-US" altLang="zh-CN" sz="800" b="1">
                <a:cs typeface="宋体" panose="02010600030101010101" pitchFamily="2" charset="-122"/>
              </a:rPr>
              <a:t>c5c49408   5      5      0    11 40654    /opt/dbschk/tmpchk01</a:t>
            </a:r>
          </a:p>
          <a:p>
            <a:pPr>
              <a:lnSpc>
                <a:spcPct val="80000"/>
              </a:lnSpc>
            </a:pPr>
            <a:r>
              <a:rPr lang="en-US" altLang="zh-CN" sz="800" b="1">
                <a:cs typeface="宋体" panose="02010600030101010101" pitchFamily="2" charset="-122"/>
              </a:rPr>
              <a:t>c5c495f8   6      6      0    5  40654    /opt/dbschk/tmpchk02</a:t>
            </a:r>
          </a:p>
          <a:p>
            <a:pPr>
              <a:lnSpc>
                <a:spcPct val="80000"/>
              </a:lnSpc>
            </a:pPr>
            <a:r>
              <a:rPr lang="en-US" altLang="zh-CN" sz="800" b="1">
                <a:cs typeface="宋体" panose="02010600030101010101" pitchFamily="2" charset="-122"/>
              </a:rPr>
              <a:t>c5c497e8   7      7      0    3  40654    /opt/dbschk/tmpchk03</a:t>
            </a:r>
          </a:p>
          <a:p>
            <a:pPr>
              <a:lnSpc>
                <a:spcPct val="80000"/>
              </a:lnSpc>
            </a:pPr>
            <a:r>
              <a:rPr lang="en-US" altLang="zh-CN" sz="800" b="1">
                <a:cs typeface="宋体" panose="02010600030101010101" pitchFamily="2" charset="-122"/>
              </a:rPr>
              <a:t>c5c499d8   8      8      0    30 40654    /opt/dbschk/tmpchk04</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a:t>
            </a:r>
          </a:p>
          <a:p>
            <a:pPr>
              <a:lnSpc>
                <a:spcPct val="80000"/>
              </a:lnSpc>
            </a:pPr>
            <a:r>
              <a:rPr lang="en-US" altLang="zh-CN" sz="800" b="1">
                <a:cs typeface="宋体" panose="02010600030101010101" pitchFamily="2" charset="-122"/>
              </a:rPr>
              <a:t>2.create temp table() with no log;</a:t>
            </a:r>
          </a:p>
          <a:p>
            <a:pPr>
              <a:lnSpc>
                <a:spcPct val="80000"/>
              </a:lnSpc>
            </a:pPr>
            <a:r>
              <a:rPr lang="en-US" altLang="zh-CN" sz="800" b="1">
                <a:cs typeface="宋体" panose="02010600030101010101" pitchFamily="2" charset="-122"/>
              </a:rPr>
              <a:t>--------------------------------------------------</a:t>
            </a:r>
          </a:p>
          <a:p>
            <a:pPr>
              <a:lnSpc>
                <a:spcPct val="80000"/>
              </a:lnSpc>
            </a:pPr>
            <a:r>
              <a:rPr lang="en-US" altLang="zh-CN" sz="800" b="1">
                <a:cs typeface="宋体" panose="02010600030101010101" pitchFamily="2" charset="-122"/>
              </a:rPr>
              <a:t>onstat -z</a:t>
            </a:r>
          </a:p>
          <a:p>
            <a:pPr>
              <a:lnSpc>
                <a:spcPct val="80000"/>
              </a:lnSpc>
            </a:pPr>
            <a:r>
              <a:rPr lang="en-US" altLang="zh-CN" sz="800" b="1">
                <a:cs typeface="宋体" panose="02010600030101010101" pitchFamily="2" charset="-122"/>
              </a:rPr>
              <a:t>onstat -D</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address    chunk/dbs     offset     page Rd  page Wr  pathname </a:t>
            </a:r>
          </a:p>
          <a:p>
            <a:pPr>
              <a:lnSpc>
                <a:spcPct val="80000"/>
              </a:lnSpc>
            </a:pPr>
            <a:r>
              <a:rPr lang="en-US" altLang="zh-CN" sz="800" b="1">
                <a:cs typeface="宋体" panose="02010600030101010101" pitchFamily="2" charset="-122"/>
              </a:rPr>
              <a:t>c5c49408   5      5      0    0  0  /opt/dbschk/tmpchk01</a:t>
            </a:r>
          </a:p>
          <a:p>
            <a:pPr>
              <a:lnSpc>
                <a:spcPct val="80000"/>
              </a:lnSpc>
            </a:pPr>
            <a:r>
              <a:rPr lang="en-US" altLang="zh-CN" sz="800" b="1">
                <a:cs typeface="宋体" panose="02010600030101010101" pitchFamily="2" charset="-122"/>
              </a:rPr>
              <a:t>c5c495f8   6      6      0    0  0  /opt/dbschk/tmpchk02</a:t>
            </a:r>
          </a:p>
          <a:p>
            <a:pPr>
              <a:lnSpc>
                <a:spcPct val="80000"/>
              </a:lnSpc>
            </a:pPr>
            <a:r>
              <a:rPr lang="en-US" altLang="zh-CN" sz="800" b="1">
                <a:cs typeface="宋体" panose="02010600030101010101" pitchFamily="2" charset="-122"/>
              </a:rPr>
              <a:t>c5c497e8   7      7      0    0  0  /opt/dbschk/tmpchk03</a:t>
            </a:r>
          </a:p>
          <a:p>
            <a:pPr>
              <a:lnSpc>
                <a:spcPct val="80000"/>
              </a:lnSpc>
            </a:pPr>
            <a:r>
              <a:rPr lang="en-US" altLang="zh-CN" sz="800" b="1">
                <a:cs typeface="宋体" panose="02010600030101010101" pitchFamily="2" charset="-122"/>
              </a:rPr>
              <a:t>c5c499d8   8      8      0    0  0  /opt/dbschk/tmpchk04</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create temp table  tmp_orders </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    order_num serial not null ,</a:t>
            </a:r>
          </a:p>
          <a:p>
            <a:pPr>
              <a:lnSpc>
                <a:spcPct val="80000"/>
              </a:lnSpc>
            </a:pPr>
            <a:r>
              <a:rPr lang="en-US" altLang="zh-CN" sz="800" b="1">
                <a:cs typeface="宋体" panose="02010600030101010101" pitchFamily="2" charset="-122"/>
              </a:rPr>
              <a:t>    order_date date,</a:t>
            </a:r>
          </a:p>
          <a:p>
            <a:pPr>
              <a:lnSpc>
                <a:spcPct val="80000"/>
              </a:lnSpc>
            </a:pPr>
            <a:r>
              <a:rPr lang="en-US" altLang="zh-CN" sz="800" b="1">
                <a:cs typeface="宋体" panose="02010600030101010101" pitchFamily="2" charset="-122"/>
              </a:rPr>
              <a:t>    customer_num integer not null ,</a:t>
            </a:r>
          </a:p>
          <a:p>
            <a:pPr>
              <a:lnSpc>
                <a:spcPct val="80000"/>
              </a:lnSpc>
            </a:pPr>
            <a:r>
              <a:rPr lang="en-US" altLang="zh-CN" sz="800" b="1">
                <a:cs typeface="宋体" panose="02010600030101010101" pitchFamily="2" charset="-122"/>
              </a:rPr>
              <a:t>    ship_instruct char(40),</a:t>
            </a:r>
          </a:p>
          <a:p>
            <a:pPr>
              <a:lnSpc>
                <a:spcPct val="80000"/>
              </a:lnSpc>
            </a:pPr>
            <a:r>
              <a:rPr lang="en-US" altLang="zh-CN" sz="800" b="1">
                <a:cs typeface="宋体" panose="02010600030101010101" pitchFamily="2" charset="-122"/>
              </a:rPr>
              <a:t>    backlog char(1),</a:t>
            </a:r>
          </a:p>
          <a:p>
            <a:pPr>
              <a:lnSpc>
                <a:spcPct val="80000"/>
              </a:lnSpc>
            </a:pPr>
            <a:r>
              <a:rPr lang="en-US" altLang="zh-CN" sz="800" b="1">
                <a:cs typeface="宋体" panose="02010600030101010101" pitchFamily="2" charset="-122"/>
              </a:rPr>
              <a:t>    po_num char(10),</a:t>
            </a:r>
          </a:p>
          <a:p>
            <a:pPr>
              <a:lnSpc>
                <a:spcPct val="80000"/>
              </a:lnSpc>
            </a:pPr>
            <a:r>
              <a:rPr lang="en-US" altLang="zh-CN" sz="800" b="1">
                <a:cs typeface="宋体" panose="02010600030101010101" pitchFamily="2" charset="-122"/>
              </a:rPr>
              <a:t>    ship_date date,</a:t>
            </a:r>
          </a:p>
          <a:p>
            <a:pPr>
              <a:lnSpc>
                <a:spcPct val="80000"/>
              </a:lnSpc>
            </a:pPr>
            <a:r>
              <a:rPr lang="en-US" altLang="zh-CN" sz="800" b="1">
                <a:cs typeface="宋体" panose="02010600030101010101" pitchFamily="2" charset="-122"/>
              </a:rPr>
              <a:t>    ship_weight decimal(8,2),</a:t>
            </a:r>
          </a:p>
          <a:p>
            <a:pPr>
              <a:lnSpc>
                <a:spcPct val="80000"/>
              </a:lnSpc>
            </a:pPr>
            <a:r>
              <a:rPr lang="en-US" altLang="zh-CN" sz="800" b="1">
                <a:cs typeface="宋体" panose="02010600030101010101" pitchFamily="2" charset="-122"/>
              </a:rPr>
              <a:t>    ship_charge money(6,2),</a:t>
            </a:r>
          </a:p>
          <a:p>
            <a:pPr>
              <a:lnSpc>
                <a:spcPct val="80000"/>
              </a:lnSpc>
            </a:pPr>
            <a:r>
              <a:rPr lang="en-US" altLang="zh-CN" sz="800" b="1">
                <a:cs typeface="宋体" panose="02010600030101010101" pitchFamily="2" charset="-122"/>
              </a:rPr>
              <a:t>    paid_date date </a:t>
            </a:r>
          </a:p>
          <a:p>
            <a:pPr>
              <a:lnSpc>
                <a:spcPct val="80000"/>
              </a:lnSpc>
            </a:pPr>
            <a:r>
              <a:rPr lang="en-US" altLang="zh-CN" sz="800" b="1">
                <a:cs typeface="宋体" panose="02010600030101010101" pitchFamily="2" charset="-122"/>
              </a:rPr>
              <a:t>  )with no log;</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insert into tmp_orders</a:t>
            </a:r>
          </a:p>
          <a:p>
            <a:pPr>
              <a:lnSpc>
                <a:spcPct val="80000"/>
              </a:lnSpc>
            </a:pPr>
            <a:r>
              <a:rPr lang="en-US" altLang="zh-CN" sz="800" b="1">
                <a:cs typeface="宋体" panose="02010600030101010101" pitchFamily="2" charset="-122"/>
              </a:rPr>
              <a:t>select  first 4000000  * from orders;</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onstat -D</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address    chunk/dbs     offset     page Rd  page Wr  pathname </a:t>
            </a:r>
          </a:p>
          <a:p>
            <a:pPr>
              <a:lnSpc>
                <a:spcPct val="80000"/>
              </a:lnSpc>
            </a:pPr>
            <a:r>
              <a:rPr lang="en-US" altLang="zh-CN" sz="800" b="1">
                <a:cs typeface="宋体" panose="02010600030101010101" pitchFamily="2" charset="-122"/>
              </a:rPr>
              <a:t>c5c49408   5      5      0    0  0  /opt/dbschk/tmpchk01</a:t>
            </a:r>
          </a:p>
          <a:p>
            <a:pPr>
              <a:lnSpc>
                <a:spcPct val="80000"/>
              </a:lnSpc>
            </a:pPr>
            <a:r>
              <a:rPr lang="en-US" altLang="zh-CN" sz="800" b="1">
                <a:cs typeface="宋体" panose="02010600030101010101" pitchFamily="2" charset="-122"/>
              </a:rPr>
              <a:t>c5c495f8   6      6      0    0  0  /opt/dbschk/tmpchk02</a:t>
            </a:r>
          </a:p>
          <a:p>
            <a:pPr>
              <a:lnSpc>
                <a:spcPct val="80000"/>
              </a:lnSpc>
            </a:pPr>
            <a:r>
              <a:rPr lang="en-US" altLang="zh-CN" sz="800" b="1">
                <a:cs typeface="宋体" panose="02010600030101010101" pitchFamily="2" charset="-122"/>
              </a:rPr>
              <a:t>c5c497e8   7      7      0    0  0  /opt/dbschk/tmpchk03</a:t>
            </a:r>
          </a:p>
          <a:p>
            <a:pPr>
              <a:lnSpc>
                <a:spcPct val="80000"/>
              </a:lnSpc>
            </a:pPr>
            <a:r>
              <a:rPr lang="en-US" altLang="zh-CN" sz="800" b="1">
                <a:cs typeface="宋体" panose="02010600030101010101" pitchFamily="2" charset="-122"/>
              </a:rPr>
              <a:t>c5c499d8   8      8      0    0  0  /opt/dbschk/tmpchk04</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onmode -c</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onstat -D </a:t>
            </a:r>
          </a:p>
          <a:p>
            <a:pPr>
              <a:lnSpc>
                <a:spcPct val="80000"/>
              </a:lnSpc>
            </a:pPr>
            <a:r>
              <a:rPr lang="en-US" altLang="zh-CN" sz="800" b="1">
                <a:cs typeface="宋体" panose="02010600030101010101" pitchFamily="2" charset="-122"/>
              </a:rPr>
              <a:t> </a:t>
            </a:r>
          </a:p>
          <a:p>
            <a:pPr>
              <a:lnSpc>
                <a:spcPct val="80000"/>
              </a:lnSpc>
            </a:pPr>
            <a:r>
              <a:rPr lang="en-US" altLang="zh-CN" sz="800" b="1">
                <a:cs typeface="宋体" panose="02010600030101010101" pitchFamily="2" charset="-122"/>
              </a:rPr>
              <a:t>address    chunk/dbs     offset     page Rd  page Wr  pathname </a:t>
            </a:r>
          </a:p>
          <a:p>
            <a:pPr>
              <a:lnSpc>
                <a:spcPct val="80000"/>
              </a:lnSpc>
            </a:pPr>
            <a:r>
              <a:rPr lang="en-US" altLang="zh-CN" sz="800" b="1">
                <a:cs typeface="宋体" panose="02010600030101010101" pitchFamily="2" charset="-122"/>
              </a:rPr>
              <a:t>c5c49408   5      5      0    0  0  /opt/dbschk/tmpchk01</a:t>
            </a:r>
          </a:p>
          <a:p>
            <a:pPr>
              <a:lnSpc>
                <a:spcPct val="80000"/>
              </a:lnSpc>
            </a:pPr>
            <a:r>
              <a:rPr lang="en-US" altLang="zh-CN" sz="800" b="1">
                <a:cs typeface="宋体" panose="02010600030101010101" pitchFamily="2" charset="-122"/>
              </a:rPr>
              <a:t>c5c495f8   6      6      0    0  0  /opt/dbschk/tmpchk02</a:t>
            </a:r>
          </a:p>
          <a:p>
            <a:pPr>
              <a:lnSpc>
                <a:spcPct val="80000"/>
              </a:lnSpc>
            </a:pPr>
            <a:r>
              <a:rPr lang="en-US" altLang="zh-CN" sz="800" b="1">
                <a:cs typeface="宋体" panose="02010600030101010101" pitchFamily="2" charset="-122"/>
              </a:rPr>
              <a:t>c5c497e8   7      7      0    0  0  /opt/dbschk/tmpchk03</a:t>
            </a:r>
          </a:p>
          <a:p>
            <a:pPr>
              <a:lnSpc>
                <a:spcPct val="80000"/>
              </a:lnSpc>
            </a:pPr>
            <a:r>
              <a:rPr lang="en-US" altLang="zh-CN" sz="800" b="1">
                <a:cs typeface="宋体" panose="02010600030101010101" pitchFamily="2" charset="-122"/>
              </a:rPr>
              <a:t>c5c499d8   8      8      0    34 166712   /opt/dbschk/tmpchk04</a:t>
            </a:r>
            <a:endParaRPr lang="zh-CN" altLang="en-US" sz="800" b="1">
              <a:cs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p:sp>
      <p:sp>
        <p:nvSpPr>
          <p:cNvPr id="1024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102404"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FC286620-14B8-E84B-9D96-7AD612572882}" type="slidenum">
              <a:rPr lang="zh-CN" altLang="en-US" sz="1300">
                <a:solidFill>
                  <a:schemeClr val="tx1"/>
                </a:solidFill>
                <a:latin typeface="Arial" panose="020B0604020202020204" pitchFamily="34" charset="0"/>
              </a:rPr>
              <a:pPr eaLnBrk="1" hangingPunct="1"/>
              <a:t>54</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p:sp>
      <p:sp>
        <p:nvSpPr>
          <p:cNvPr id="1034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cs typeface="宋体" panose="02010600030101010101" pitchFamily="2" charset="-122"/>
            </a:endParaRPr>
          </a:p>
        </p:txBody>
      </p:sp>
      <p:sp>
        <p:nvSpPr>
          <p:cNvPr id="103428" name="灯片编号占位符 3"/>
          <p:cNvSpPr txBox="1">
            <a:spLocks noGrp="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DFEA6BFE-1842-CB42-BDF5-ABBF83978CFC}" type="slidenum">
              <a:rPr lang="zh-CN" altLang="en-US" sz="1300">
                <a:solidFill>
                  <a:schemeClr val="tx1"/>
                </a:solidFill>
                <a:latin typeface="Arial" panose="020B0604020202020204" pitchFamily="34" charset="0"/>
              </a:rPr>
              <a:pPr eaLnBrk="1" hangingPunct="1"/>
              <a:t>55</a:t>
            </a:fld>
            <a:endParaRPr lang="en-US" altLang="zh-CN" sz="1300">
              <a:solidFill>
                <a:schemeClr val="tx1"/>
              </a:solidFill>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60BDD3EC-138D-EA48-AF44-5C9E86B12CF1}" type="slidenum">
              <a:rPr lang="zh-CN" altLang="en-US" sz="1300">
                <a:solidFill>
                  <a:schemeClr val="tx1"/>
                </a:solidFill>
                <a:latin typeface="Arial" panose="020B0604020202020204" pitchFamily="34" charset="0"/>
              </a:rPr>
              <a:pPr eaLnBrk="1" hangingPunct="1"/>
              <a:t>56</a:t>
            </a:fld>
            <a:endParaRPr lang="en-US" altLang="zh-CN" sz="1300">
              <a:solidFill>
                <a:schemeClr val="tx1"/>
              </a:solidFill>
              <a:latin typeface="Arial" panose="020B0604020202020204" pitchFamily="34" charset="0"/>
            </a:endParaRPr>
          </a:p>
        </p:txBody>
      </p:sp>
      <p:sp>
        <p:nvSpPr>
          <p:cNvPr id="104451" name="Rectangle 2"/>
          <p:cNvSpPr>
            <a:spLocks noGrp="1" noRot="1" noChangeAspect="1" noChangeArrowheads="1" noTextEdit="1"/>
          </p:cNvSpPr>
          <p:nvPr>
            <p:ph type="sldImg"/>
          </p:nvPr>
        </p:nvSpPr>
        <p:spPr>
          <a:xfrm>
            <a:off x="381000" y="685800"/>
            <a:ext cx="6096000" cy="3430588"/>
          </a:xfrm>
        </p:spPr>
      </p:sp>
      <p:sp>
        <p:nvSpPr>
          <p:cNvPr id="104452"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cs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B32AAE29-27A3-2140-A63D-06EA77444A7F}" type="slidenum">
              <a:rPr lang="zh-CN" altLang="en-US" sz="1300">
                <a:solidFill>
                  <a:schemeClr val="tx1"/>
                </a:solidFill>
                <a:latin typeface="Arial" panose="020B0604020202020204" pitchFamily="34" charset="0"/>
              </a:rPr>
              <a:pPr eaLnBrk="1" hangingPunct="1"/>
              <a:t>57</a:t>
            </a:fld>
            <a:endParaRPr lang="en-US" altLang="zh-CN" sz="1300">
              <a:solidFill>
                <a:schemeClr val="tx1"/>
              </a:solidFill>
              <a:latin typeface="Arial" panose="020B0604020202020204" pitchFamily="34" charset="0"/>
            </a:endParaRPr>
          </a:p>
        </p:txBody>
      </p:sp>
      <p:sp>
        <p:nvSpPr>
          <p:cNvPr id="105475" name="Rectangle 2"/>
          <p:cNvSpPr>
            <a:spLocks noGrp="1" noRot="1" noChangeAspect="1" noChangeArrowheads="1" noTextEdit="1"/>
          </p:cNvSpPr>
          <p:nvPr>
            <p:ph type="sldImg"/>
          </p:nvPr>
        </p:nvSpPr>
        <p:spPr>
          <a:xfrm>
            <a:off x="381000" y="685800"/>
            <a:ext cx="6096000" cy="3430588"/>
          </a:xfrm>
        </p:spPr>
      </p:sp>
      <p:sp>
        <p:nvSpPr>
          <p:cNvPr id="105476"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cs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69E8DFF2-3861-2E4D-BBAA-ACF4A892222A}" type="slidenum">
              <a:rPr lang="zh-CN" altLang="en-US" sz="1300">
                <a:solidFill>
                  <a:schemeClr val="tx1"/>
                </a:solidFill>
                <a:latin typeface="Arial" panose="020B0604020202020204" pitchFamily="34" charset="0"/>
              </a:rPr>
              <a:pPr eaLnBrk="1" hangingPunct="1"/>
              <a:t>58</a:t>
            </a:fld>
            <a:endParaRPr lang="en-US" altLang="zh-CN" sz="1300">
              <a:solidFill>
                <a:schemeClr val="tx1"/>
              </a:solidFill>
              <a:latin typeface="Arial" panose="020B0604020202020204" pitchFamily="34" charset="0"/>
            </a:endParaRPr>
          </a:p>
        </p:txBody>
      </p:sp>
      <p:sp>
        <p:nvSpPr>
          <p:cNvPr id="106499" name="Rectangle 2"/>
          <p:cNvSpPr>
            <a:spLocks noGrp="1" noRot="1" noChangeAspect="1" noChangeArrowheads="1" noTextEdit="1"/>
          </p:cNvSpPr>
          <p:nvPr>
            <p:ph type="sldImg"/>
          </p:nvPr>
        </p:nvSpPr>
        <p:spPr>
          <a:xfrm>
            <a:off x="381000" y="685800"/>
            <a:ext cx="6096000" cy="3430588"/>
          </a:xfrm>
        </p:spPr>
      </p:sp>
      <p:sp>
        <p:nvSpPr>
          <p:cNvPr id="106500"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cs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43009A81-2A26-854D-A6CE-38068AB45135}" type="slidenum">
              <a:rPr lang="zh-CN" altLang="en-US" sz="1300">
                <a:solidFill>
                  <a:schemeClr val="tx1"/>
                </a:solidFill>
                <a:latin typeface="Arial" panose="020B0604020202020204" pitchFamily="34" charset="0"/>
              </a:rPr>
              <a:pPr eaLnBrk="1" hangingPunct="1"/>
              <a:t>59</a:t>
            </a:fld>
            <a:endParaRPr lang="en-US" altLang="zh-CN" sz="1300">
              <a:solidFill>
                <a:schemeClr val="tx1"/>
              </a:solidFill>
              <a:latin typeface="Arial" panose="020B0604020202020204" pitchFamily="34" charset="0"/>
            </a:endParaRPr>
          </a:p>
        </p:txBody>
      </p:sp>
      <p:sp>
        <p:nvSpPr>
          <p:cNvPr id="107523" name="Rectangle 2"/>
          <p:cNvSpPr>
            <a:spLocks noGrp="1" noRot="1" noChangeAspect="1" noChangeArrowheads="1" noTextEdit="1"/>
          </p:cNvSpPr>
          <p:nvPr>
            <p:ph type="sldImg"/>
          </p:nvPr>
        </p:nvSpPr>
        <p:spPr>
          <a:xfrm>
            <a:off x="381000" y="685800"/>
            <a:ext cx="6096000" cy="3430588"/>
          </a:xfrm>
        </p:spPr>
      </p:sp>
      <p:sp>
        <p:nvSpPr>
          <p:cNvPr id="107524"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cs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90CF4F9F-3A7B-294A-B0E5-870245928BED}" type="slidenum">
              <a:rPr lang="zh-CN" altLang="en-US" sz="1300">
                <a:solidFill>
                  <a:schemeClr val="tx1"/>
                </a:solidFill>
                <a:latin typeface="Arial" panose="020B0604020202020204" pitchFamily="34" charset="0"/>
              </a:rPr>
              <a:pPr eaLnBrk="1" hangingPunct="1"/>
              <a:t>60</a:t>
            </a:fld>
            <a:endParaRPr lang="en-US" altLang="zh-CN" sz="1300">
              <a:solidFill>
                <a:schemeClr val="tx1"/>
              </a:solidFill>
              <a:latin typeface="Arial" panose="020B0604020202020204" pitchFamily="34" charset="0"/>
            </a:endParaRPr>
          </a:p>
        </p:txBody>
      </p:sp>
      <p:sp>
        <p:nvSpPr>
          <p:cNvPr id="108547" name="Rectangle 2"/>
          <p:cNvSpPr>
            <a:spLocks noGrp="1" noRot="1" noChangeAspect="1" noChangeArrowheads="1" noTextEdit="1"/>
          </p:cNvSpPr>
          <p:nvPr>
            <p:ph type="sldImg"/>
          </p:nvPr>
        </p:nvSpPr>
        <p:spPr>
          <a:xfrm>
            <a:off x="381000" y="685800"/>
            <a:ext cx="6096000" cy="3430588"/>
          </a:xfrm>
        </p:spPr>
      </p:sp>
      <p:sp>
        <p:nvSpPr>
          <p:cNvPr id="108548"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cs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noChangeArrowheads="1"/>
          </p:cNvSpPr>
          <p:nvPr/>
        </p:nvSpPr>
        <p:spPr bwMode="auto">
          <a:xfrm>
            <a:off x="3884076" y="8686357"/>
            <a:ext cx="2972289"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73" tIns="46786" rIns="93573" bIns="46786" anchor="b"/>
          <a:lstStyle>
            <a:lvl1pPr defTabSz="936625"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defTabSz="936625" eaLnBrk="0" hangingPunct="0">
              <a:defRPr sz="2000">
                <a:solidFill>
                  <a:schemeClr val="bg1"/>
                </a:solidFill>
                <a:latin typeface="Times New Roman" panose="02020603050405020304" charset="0"/>
                <a:ea typeface="宋体" panose="02010600030101010101" pitchFamily="2" charset="-122"/>
              </a:defRPr>
            </a:lvl2pPr>
            <a:lvl3pPr marL="1143000" indent="-228600" defTabSz="936625" eaLnBrk="0" hangingPunct="0">
              <a:defRPr sz="2000">
                <a:solidFill>
                  <a:schemeClr val="bg1"/>
                </a:solidFill>
                <a:latin typeface="Times New Roman" panose="02020603050405020304" charset="0"/>
                <a:ea typeface="宋体" panose="02010600030101010101" pitchFamily="2" charset="-122"/>
              </a:defRPr>
            </a:lvl3pPr>
            <a:lvl4pPr marL="1600200" indent="-228600" defTabSz="936625" eaLnBrk="0" hangingPunct="0">
              <a:defRPr sz="2000">
                <a:solidFill>
                  <a:schemeClr val="bg1"/>
                </a:solidFill>
                <a:latin typeface="Times New Roman" panose="02020603050405020304" charset="0"/>
                <a:ea typeface="宋体" panose="02010600030101010101" pitchFamily="2" charset="-122"/>
              </a:defRPr>
            </a:lvl4pPr>
            <a:lvl5pPr marL="2057400" indent="-228600" defTabSz="936625" eaLnBrk="0" hangingPunct="0">
              <a:defRPr sz="2000">
                <a:solidFill>
                  <a:schemeClr val="bg1"/>
                </a:solidFill>
                <a:latin typeface="Times New Roman" panose="02020603050405020304" charset="0"/>
                <a:ea typeface="宋体" panose="02010600030101010101" pitchFamily="2" charset="-122"/>
              </a:defRPr>
            </a:lvl5pPr>
            <a:lvl6pPr marL="25146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defTabSz="936625"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fld id="{F59BFE37-6DB1-CA42-9A6D-C4A8FAFC46F1}" type="slidenum">
              <a:rPr lang="zh-CN" altLang="en-US" sz="1300">
                <a:solidFill>
                  <a:schemeClr val="tx1"/>
                </a:solidFill>
                <a:latin typeface="Arial" panose="020B0604020202020204" pitchFamily="34" charset="0"/>
              </a:rPr>
              <a:pPr eaLnBrk="1" hangingPunct="1"/>
              <a:t>61</a:t>
            </a:fld>
            <a:endParaRPr lang="en-US" altLang="zh-CN" sz="1300">
              <a:solidFill>
                <a:schemeClr val="tx1"/>
              </a:solidFill>
              <a:latin typeface="Arial" panose="020B0604020202020204" pitchFamily="34" charset="0"/>
            </a:endParaRPr>
          </a:p>
        </p:txBody>
      </p:sp>
      <p:sp>
        <p:nvSpPr>
          <p:cNvPr id="109571" name="Rectangle 2"/>
          <p:cNvSpPr>
            <a:spLocks noGrp="1" noRot="1" noChangeAspect="1" noChangeArrowheads="1" noTextEdit="1"/>
          </p:cNvSpPr>
          <p:nvPr>
            <p:ph type="sldImg"/>
          </p:nvPr>
        </p:nvSpPr>
        <p:spPr>
          <a:xfrm>
            <a:off x="381000" y="685800"/>
            <a:ext cx="6096000" cy="3430588"/>
          </a:xfrm>
        </p:spPr>
      </p:sp>
      <p:sp>
        <p:nvSpPr>
          <p:cNvPr id="109572" name="Rectangle 3"/>
          <p:cNvSpPr>
            <a:spLocks noGrp="1" noChangeArrowheads="1"/>
          </p:cNvSpPr>
          <p:nvPr>
            <p:ph type="body" idx="1"/>
          </p:nvPr>
        </p:nvSpPr>
        <p:spPr>
          <a:xfrm>
            <a:off x="686290" y="4344656"/>
            <a:ext cx="5485420" cy="41128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cs typeface="宋体" panose="02010600030101010101" pitchFamily="2" charset="-122"/>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787C887-E0EA-48E6-9009-742CC8F3D7AC}" type="slidenum">
              <a:rPr lang="zh-CN" altLang="en-US"/>
              <a:pPr>
                <a:defRPr/>
              </a:pPr>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461665"/>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a:t>
            </a:r>
            <a:r>
              <a:rPr lang="zh-CN"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201</a:t>
            </a:r>
            <a:r>
              <a:rPr lang="en-US"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p>
          <a:p>
            <a:pPr algn="r">
              <a:buFontTx/>
              <a:buNone/>
            </a:pP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smtClean="0">
                <a:solidFill>
                  <a:srgbClr val="494545"/>
                </a:solidFill>
                <a:latin typeface="微软雅黑" panose="020B0503020204020204" pitchFamily="34" charset="-122"/>
                <a:ea typeface="微软雅黑" panose="020B0503020204020204" pitchFamily="34" charset="-122"/>
              </a:rPr>
              <a:t>让世界用上中国的数据库</a:t>
            </a:r>
            <a:endParaRPr lang="zh-CN" altLang="en-US" sz="1500" b="1" spc="650" baseline="0" dirty="0">
              <a:solidFill>
                <a:srgbClr val="494545"/>
              </a:solidFill>
              <a:latin typeface="微软雅黑" panose="020B0503020204020204" pitchFamily="34" charset="-122"/>
              <a:ea typeface="微软雅黑" panose="020B0503020204020204" pitchFamily="34" charset="-122"/>
            </a:endParaRP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smtClean="0"/>
              <a:t>南大通用数据技术股份有限公司</a:t>
            </a:r>
            <a:endParaRPr lang="zh-CN" altLang="en-US" dirty="0"/>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smtClean="0">
                <a:latin typeface="微软雅黑" panose="020B0503020204020204" pitchFamily="34" charset="-122"/>
                <a:ea typeface="微软雅黑" panose="020B0503020204020204" pitchFamily="34" charset="-122"/>
              </a:rPr>
              <a:t>General Data Technology </a:t>
            </a:r>
            <a:r>
              <a:rPr lang="en-US" altLang="zh-CN" sz="1300" kern="0" spc="0" baseline="0" dirty="0" err="1" smtClean="0">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4" name="TextBox 3"/>
          <p:cNvSpPr txBox="1"/>
          <p:nvPr userDrawn="1"/>
        </p:nvSpPr>
        <p:spPr bwMode="auto">
          <a:xfrm>
            <a:off x="2681154"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r>
              <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a:t>
            </a:r>
            <a:endPar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lnSpc>
                <a:spcPct val="100000"/>
              </a:lnSpc>
              <a:buFontTx/>
              <a:buBlip>
                <a:blip r:embed="rId3"/>
              </a:buBlip>
              <a:defRPr sz="20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smtClean="0"/>
              <a:t>第一级</a:t>
            </a:r>
          </a:p>
          <a:p>
            <a:pPr lvl="1"/>
            <a:r>
              <a:rPr lang="zh-CN" altLang="en-US" dirty="0" smtClean="0"/>
              <a:t>第二级</a:t>
            </a:r>
            <a:endParaRPr lang="zh-CN" altLang="en-US" dirty="0"/>
          </a:p>
        </p:txBody>
      </p:sp>
      <p:sp>
        <p:nvSpPr>
          <p:cNvPr id="8" name="TextBox 7"/>
          <p:cNvSpPr txBox="1"/>
          <p:nvPr userDrawn="1"/>
        </p:nvSpPr>
        <p:spPr bwMode="auto">
          <a:xfrm>
            <a:off x="2681155"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r>
              <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a:t>
            </a:r>
            <a:endPar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pic>
        <p:nvPicPr>
          <p:cNvPr id="18" name="图片 17"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smtClean="0"/>
              <a:t>第一级</a:t>
            </a:r>
          </a:p>
          <a:p>
            <a:pPr lvl="1"/>
            <a:r>
              <a:rPr lang="zh-CN" altLang="en-US" dirty="0" smtClean="0"/>
              <a:t>第二级</a:t>
            </a:r>
            <a:endParaRPr lang="zh-CN" altLang="en-US" dirty="0"/>
          </a:p>
        </p:txBody>
      </p:sp>
      <p:sp>
        <p:nvSpPr>
          <p:cNvPr id="8" name="TextBox 7"/>
          <p:cNvSpPr txBox="1"/>
          <p:nvPr userDrawn="1"/>
        </p:nvSpPr>
        <p:spPr bwMode="auto">
          <a:xfrm>
            <a:off x="2710009"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a:t>
            </a:r>
            <a:r>
              <a:rPr lang="zh-CN"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201</a:t>
            </a:r>
            <a:r>
              <a:rPr lang="en-US"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smtClean="0"/>
              <a:t>Thank you</a:t>
            </a:r>
            <a:r>
              <a:rPr lang="zh-CN" altLang="en-US" dirty="0" smtClean="0"/>
              <a:t>！</a:t>
            </a:r>
            <a:endParaRPr lang="zh-CN" altLang="en-US" dirty="0"/>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smtClean="0">
                <a:latin typeface="微软雅黑" panose="020B0503020204020204" pitchFamily="34" charset="-122"/>
                <a:ea typeface="微软雅黑" panose="020B0503020204020204" pitchFamily="34" charset="-122"/>
              </a:rPr>
              <a:t>General Data Technology </a:t>
            </a:r>
            <a:r>
              <a:rPr lang="en-US" altLang="zh-CN" sz="1200" kern="0" spc="0" baseline="0" dirty="0" err="1" smtClean="0">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theme/theme1.xml" Type="http://schemas.openxmlformats.org/officeDocument/2006/relationships/theme"/><Relationship Id="rId7" Target="../media/image1.jpe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7"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任意多边形 9"/>
          <p:cNvSpPr/>
          <p:nvPr userDrawn="1"/>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iming>
    <p:tnLst>
      <p:par>
        <p:cTn id="1" dur="indefinite" restart="never" nodeType="tmRoot"/>
      </p:par>
    </p:tnLst>
  </p:timing>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 Id="rId3"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8.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9.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0.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1.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2.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3.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4.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5.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6.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7.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8.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9.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0.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1.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2.xml" Type="http://schemas.openxmlformats.org/officeDocument/2006/relationships/notesSlide"/></Relationships>
</file>

<file path=ppt/slides/_rels/slide4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3.xml" Type="http://schemas.openxmlformats.org/officeDocument/2006/relationships/notesSlide"/></Relationships>
</file>

<file path=ppt/slides/_rels/slide4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4.xml" Type="http://schemas.openxmlformats.org/officeDocument/2006/relationships/notesSlide"/></Relationships>
</file>

<file path=ppt/slides/_rels/slide4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5.xml" Type="http://schemas.openxmlformats.org/officeDocument/2006/relationships/notesSlide"/></Relationships>
</file>

<file path=ppt/slides/_rels/slide50.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2.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3.xml.rels><?xml version="1.0" encoding="UTF-8" standalone="yes"?><Relationships xmlns="http://schemas.openxmlformats.org/package/2006/relationships"><Relationship Id="rId1" Target="../drawings/vmlDrawing1.vml" Type="http://schemas.openxmlformats.org/officeDocument/2006/relationships/vmlDrawing"/><Relationship Id="rId2" Target="../slideLayouts/slideLayout3.xml" Type="http://schemas.openxmlformats.org/officeDocument/2006/relationships/slideLayout"/><Relationship Id="rId3" Target="../notesSlides/notesSlide36.xml" Type="http://schemas.openxmlformats.org/officeDocument/2006/relationships/notesSlide"/><Relationship Id="rId4" Target="../embeddings/oleObject1.bin" Type="http://schemas.openxmlformats.org/officeDocument/2006/relationships/oleObject"/><Relationship Id="rId5" Target="../media/image10.emf"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7.xml" Type="http://schemas.openxmlformats.org/officeDocument/2006/relationships/notesSlide"/></Relationships>
</file>

<file path=ppt/slides/_rels/slide56.xml.rels><?xml version="1.0" encoding="UTF-8" standalone="yes"?><Relationships xmlns="http://schemas.openxmlformats.org/package/2006/relationships"><Relationship Id="rId1" Target="../drawings/vmlDrawing2.vml" Type="http://schemas.openxmlformats.org/officeDocument/2006/relationships/vmlDrawing"/><Relationship Id="rId2" Target="../slideLayouts/slideLayout3.xml" Type="http://schemas.openxmlformats.org/officeDocument/2006/relationships/slideLayout"/><Relationship Id="rId3" Target="../notesSlides/notesSlide38.xml" Type="http://schemas.openxmlformats.org/officeDocument/2006/relationships/notesSlide"/><Relationship Id="rId4" Target="../embeddings/oleObject2.bin" Type="http://schemas.openxmlformats.org/officeDocument/2006/relationships/oleObject"/><Relationship Id="rId5" Target="../media/image11.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9.xml" Type="http://schemas.openxmlformats.org/officeDocument/2006/relationships/notesSlide"/></Relationships>
</file>

<file path=ppt/slides/_rels/slide5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0.xml" Type="http://schemas.openxmlformats.org/officeDocument/2006/relationships/notesSlide"/></Relationships>
</file>

<file path=ppt/slides/_rels/slide5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1.xml" Type="http://schemas.openxmlformats.org/officeDocument/2006/relationships/notesSlide"/></Relationships>
</file>

<file path=ppt/slides/_rels/slide6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42.xml" Type="http://schemas.openxmlformats.org/officeDocument/2006/relationships/notesSlide"/></Relationships>
</file>

<file path=ppt/slides/_rels/slide6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43.xml" Type="http://schemas.openxmlformats.org/officeDocument/2006/relationships/notesSlide"/></Relationships>
</file>

<file path=ppt/slides/_rels/slide6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4.xml" Type="http://schemas.openxmlformats.org/officeDocument/2006/relationships/notesSlide"/></Relationships>
</file>

<file path=ppt/slides/_rels/slide63.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6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65.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66.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kern="0" dirty="0" smtClean="0">
                <a:sym typeface="+mn-ea"/>
              </a:rPr>
              <a:t>GBase 8s </a:t>
            </a:r>
            <a:r>
              <a:rPr lang="zh-CN" altLang="en-US" kern="0" dirty="0" smtClean="0">
                <a:sym typeface="+mn-ea"/>
              </a:rPr>
              <a:t>分片与索引策略</a:t>
            </a:r>
            <a:r>
              <a:rPr lang="zh-CN" altLang="en-US" kern="0" dirty="0">
                <a:latin typeface="微软雅黑" panose="020B0503020204020204" pitchFamily="34" charset="-122"/>
                <a:ea typeface="微软雅黑" panose="020B0503020204020204" pitchFamily="34" charset="-122"/>
                <a:cs typeface="+mj-cs"/>
              </a:rPr>
              <a:t/>
            </a:r>
            <a:br>
              <a:rPr lang="zh-CN" altLang="en-US" kern="0" dirty="0">
                <a:latin typeface="微软雅黑" panose="020B0503020204020204" pitchFamily="34" charset="-122"/>
                <a:ea typeface="微软雅黑" panose="020B0503020204020204" pitchFamily="34" charset="-122"/>
                <a:cs typeface="+mj-cs"/>
              </a:rPr>
            </a:br>
            <a:endParaRPr lang="zh-CN" alt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dirty="0" smtClean="0">
                <a:latin typeface="Arial" panose="020B0604020202020204" pitchFamily="34" charset="0"/>
                <a:cs typeface="Arial" panose="020B0604020202020204" pitchFamily="34" charset="0"/>
              </a:rPr>
              <a:t>目</a:t>
            </a:r>
            <a:r>
              <a:rPr lang="zh-CN" altLang="en-US" dirty="0">
                <a:latin typeface="Arial" panose="020B0604020202020204" pitchFamily="34" charset="0"/>
                <a:cs typeface="Arial" panose="020B0604020202020204" pitchFamily="34" charset="0"/>
              </a:rPr>
              <a:t>标</a:t>
            </a:r>
          </a:p>
        </p:txBody>
      </p:sp>
      <p:sp>
        <p:nvSpPr>
          <p:cNvPr id="9219" name="内容占位符 2"/>
          <p:cNvSpPr>
            <a:spLocks noGrp="1"/>
          </p:cNvSpPr>
          <p:nvPr>
            <p:ph type="body" sz="quarter" idx="10"/>
          </p:nvPr>
        </p:nvSpPr>
        <p:spPr/>
        <p:txBody>
          <a:bodyPr/>
          <a:lstStyle/>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理解表分片和索引分片的意义、策略</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掌握表分片、索引分片的创建及管理语法</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理解</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分片的应用场景和使用原则</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了解分片对应用的性能影响和调优方法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performance)</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目录</a:t>
            </a:r>
            <a:endParaRPr lang="zh-CN" altLang="en-US" dirty="0"/>
          </a:p>
        </p:txBody>
      </p:sp>
      <p:sp>
        <p:nvSpPr>
          <p:cNvPr id="4" name="矩形 3"/>
          <p:cNvSpPr/>
          <p:nvPr/>
        </p:nvSpPr>
        <p:spPr bwMode="auto">
          <a:xfrm>
            <a:off x="3339148" y="1592580"/>
            <a:ext cx="7223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592580"/>
            <a:ext cx="45704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209800"/>
            <a:ext cx="7223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209800"/>
            <a:ext cx="45704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70494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486660"/>
            <a:ext cx="7223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486660"/>
            <a:ext cx="45704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10515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10515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60029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3807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3807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0005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0005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495645"/>
            <a:ext cx="436880" cy="39878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2748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2748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48856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48856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38083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1712094"/>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表分片的意义及策略</a:t>
            </a:r>
            <a:endParaRPr lang="zh-CN" altLang="en-US" sz="2000" kern="0" spc="200"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25" name="文本框 55"/>
          <p:cNvSpPr txBox="1">
            <a:spLocks noChangeArrowheads="1"/>
          </p:cNvSpPr>
          <p:nvPr/>
        </p:nvSpPr>
        <p:spPr bwMode="auto">
          <a:xfrm>
            <a:off x="4378960" y="2597284"/>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索引分片策略与语法</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6" name="文本框 55"/>
          <p:cNvSpPr txBox="1">
            <a:spLocks noChangeArrowheads="1"/>
          </p:cNvSpPr>
          <p:nvPr/>
        </p:nvSpPr>
        <p:spPr bwMode="auto">
          <a:xfrm>
            <a:off x="4378960" y="3502908"/>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分片的管理</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381113"/>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分片与性能调优</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bwMode="auto">
          <a:xfrm>
            <a:off x="3348673" y="489077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8" name="矩形 27"/>
          <p:cNvSpPr/>
          <p:nvPr/>
        </p:nvSpPr>
        <p:spPr bwMode="auto">
          <a:xfrm>
            <a:off x="4212273" y="489077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9" name="矩形 28"/>
          <p:cNvSpPr/>
          <p:nvPr/>
        </p:nvSpPr>
        <p:spPr bwMode="auto">
          <a:xfrm>
            <a:off x="3348673" y="516509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矩形 29"/>
          <p:cNvSpPr/>
          <p:nvPr/>
        </p:nvSpPr>
        <p:spPr bwMode="auto">
          <a:xfrm>
            <a:off x="4212273" y="516509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矩形 30"/>
          <p:cNvSpPr/>
          <p:nvPr/>
        </p:nvSpPr>
        <p:spPr bwMode="auto">
          <a:xfrm>
            <a:off x="3348673" y="577596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矩形 31"/>
          <p:cNvSpPr/>
          <p:nvPr/>
        </p:nvSpPr>
        <p:spPr bwMode="auto">
          <a:xfrm>
            <a:off x="4212273" y="577596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文本框 60"/>
          <p:cNvSpPr txBox="1">
            <a:spLocks noChangeArrowheads="1"/>
          </p:cNvSpPr>
          <p:nvPr/>
        </p:nvSpPr>
        <p:spPr bwMode="auto">
          <a:xfrm>
            <a:off x="3479910" y="527110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五</a:t>
            </a:r>
          </a:p>
        </p:txBody>
      </p:sp>
      <p:sp>
        <p:nvSpPr>
          <p:cNvPr id="34" name="文本框 55"/>
          <p:cNvSpPr txBox="1">
            <a:spLocks noChangeArrowheads="1"/>
          </p:cNvSpPr>
          <p:nvPr/>
        </p:nvSpPr>
        <p:spPr bwMode="auto">
          <a:xfrm>
            <a:off x="4388485" y="5271383"/>
            <a:ext cx="4236720" cy="398780"/>
          </a:xfrm>
          <a:prstGeom prst="rect">
            <a:avLst/>
          </a:prstGeom>
          <a:noFill/>
          <a:ln w="9525">
            <a:noFill/>
            <a:miter lim="800000"/>
          </a:ln>
        </p:spPr>
        <p:txBody>
          <a:bodyPr wrap="square">
            <a:spAutoFit/>
          </a:bodyPr>
          <a:lstStyle/>
          <a:p>
            <a:pPr algn="ctr"/>
            <a:r>
              <a:rPr lang="zh-CN" altLang="zh-CN" sz="2000" spc="200" dirty="0">
                <a:solidFill>
                  <a:schemeClr val="bg1"/>
                </a:solidFill>
                <a:latin typeface="微软雅黑" panose="020B0503020204020204" pitchFamily="34" charset="-122"/>
                <a:ea typeface="微软雅黑" panose="020B0503020204020204" pitchFamily="34" charset="-122"/>
              </a:rPr>
              <a:t>分片与索引策略</a:t>
            </a:r>
            <a:r>
              <a:rPr lang="en-US" altLang="zh-CN" sz="2000" spc="200" dirty="0">
                <a:solidFill>
                  <a:schemeClr val="bg1"/>
                </a:solidFill>
                <a:latin typeface="微软雅黑" panose="020B0503020204020204" pitchFamily="34" charset="-122"/>
                <a:ea typeface="微软雅黑" panose="020B0503020204020204" pitchFamily="34" charset="-122"/>
              </a:rPr>
              <a:t>FAQ</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a:latin typeface="Arial" panose="020B0604020202020204" pitchFamily="34" charset="0"/>
                <a:cs typeface="Arial" panose="020B0604020202020204" pitchFamily="34" charset="0"/>
              </a:rPr>
              <a:t>数据库表分片</a:t>
            </a:r>
          </a:p>
        </p:txBody>
      </p:sp>
      <p:sp>
        <p:nvSpPr>
          <p:cNvPr id="10243" name="内容占位符 2"/>
          <p:cNvSpPr>
            <a:spLocks noGrp="1"/>
          </p:cNvSpPr>
          <p:nvPr>
            <p:ph type="body" sz="quarter" idx="10"/>
          </p:nvPr>
        </p:nvSpPr>
        <p:spPr/>
        <p:txBody>
          <a:bodyPr/>
          <a:lstStyle/>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分片是数据库中以表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(Table)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为对象的数据分散储存方法。</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表与索引可分散储存于不同 </a:t>
            </a:r>
            <a:r>
              <a:rPr lang="en-US" altLang="zh-CN" dirty="0" err="1" smtClean="0">
                <a:latin typeface="微软雅黑" panose="020B0503020204020204" pitchFamily="34" charset="-122"/>
                <a:ea typeface="微软雅黑" panose="020B0503020204020204" pitchFamily="34" charset="-122"/>
                <a:cs typeface="微软雅黑" panose="020B0503020204020204" pitchFamily="34" charset="-122"/>
              </a:rPr>
              <a:t>dbspaces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partitions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分片的存在或变更</a:t>
            </a:r>
            <a:r>
              <a:rPr lang="zh-CN" altLang="en-US"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是不会影响使用者或应用</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程序</a:t>
            </a:r>
            <a:r>
              <a:rPr lang="zh-CN" altLang="en-US"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本身</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分片的存在或变更会影响应用程序的执行方法与效率。</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lvl="0"/>
            <a:r>
              <a:rPr lang="zh-CN" altLang="en-US" kern="1200" dirty="0" smtClean="0">
                <a:latin typeface="Arial" panose="020B0604020202020204" pitchFamily="34" charset="0"/>
                <a:cs typeface="Arial" panose="020B0604020202020204" pitchFamily="34" charset="0"/>
              </a:rPr>
              <a:t>数据库表分片</a:t>
            </a:r>
            <a:br>
              <a:rPr lang="zh-CN" altLang="en-US" kern="1200" dirty="0" smtClean="0">
                <a:latin typeface="Arial" panose="020B0604020202020204" pitchFamily="34" charset="0"/>
                <a:cs typeface="Arial" panose="020B0604020202020204" pitchFamily="34" charset="0"/>
              </a:rPr>
            </a:br>
            <a:endParaRPr lang="zh-CN" altLang="en-US" dirty="0"/>
          </a:p>
        </p:txBody>
      </p:sp>
      <p:sp>
        <p:nvSpPr>
          <p:cNvPr id="11266" name="Rectangle 3"/>
          <p:cNvSpPr>
            <a:spLocks noGrp="1" noChangeArrowheads="1"/>
          </p:cNvSpPr>
          <p:nvPr>
            <p:ph type="body" sz="quarter" idx="10"/>
          </p:nvPr>
        </p:nvSpPr>
        <p:spPr/>
        <p:txBody>
          <a:bodyPr/>
          <a:lstStyle/>
          <a:p>
            <a:pPr eaLnBrk="1" hangingPunct="1">
              <a:buFont typeface="Wingdings" panose="05000000000000000000" charset="0"/>
              <a:buNone/>
            </a:pPr>
            <a:r>
              <a:rPr lang="zh-CN" altLang="en-US" sz="1600" dirty="0">
                <a:latin typeface="Arial" panose="020B0604020202020204" pitchFamily="34" charset="0"/>
                <a:cs typeface="宋体" panose="02010600030101010101" pitchFamily="2" charset="-122"/>
              </a:rPr>
              <a:t> </a:t>
            </a:r>
          </a:p>
        </p:txBody>
      </p:sp>
      <p:sp>
        <p:nvSpPr>
          <p:cNvPr id="11268" name="Text Box 5"/>
          <p:cNvSpPr txBox="1">
            <a:spLocks noChangeArrowheads="1"/>
          </p:cNvSpPr>
          <p:nvPr/>
        </p:nvSpPr>
        <p:spPr bwMode="auto">
          <a:xfrm>
            <a:off x="2689393" y="4689270"/>
            <a:ext cx="7467594" cy="1447800"/>
          </a:xfrm>
          <a:prstGeom prst="rect">
            <a:avLst/>
          </a:prstGeom>
          <a:noFill/>
          <a:ln>
            <a:noFill/>
          </a:ln>
        </p:spPr>
        <p:txBody>
          <a:bodyPr wrap="square"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marL="227330" indent="-227330">
              <a:lnSpc>
                <a:spcPct val="150000"/>
              </a:lnSpc>
              <a:spcBef>
                <a:spcPct val="20000"/>
              </a:spcBef>
              <a:buClr>
                <a:schemeClr val="accent1"/>
              </a:buClr>
              <a:buFontTx/>
              <a:buChar char="•"/>
            </a:pPr>
            <a:r>
              <a:rPr lang="zh-CN" altLang="en-US" sz="1800"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逻辑上分片是指把一个表的数据分散到多个</a:t>
            </a:r>
            <a:r>
              <a:rPr lang="en-US" altLang="zh-CN" sz="1800" b="0" dirty="0" err="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dbspaces</a:t>
            </a:r>
            <a:r>
              <a:rPr lang="zh-CN" altLang="en-US" sz="1800"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中存储</a:t>
            </a:r>
          </a:p>
          <a:p>
            <a:pPr marL="227330" indent="-227330">
              <a:lnSpc>
                <a:spcPct val="150000"/>
              </a:lnSpc>
              <a:spcBef>
                <a:spcPct val="20000"/>
              </a:spcBef>
              <a:buClr>
                <a:schemeClr val="accent1"/>
              </a:buClr>
              <a:buFontTx/>
              <a:buChar char="•"/>
            </a:pPr>
            <a:r>
              <a:rPr lang="zh-CN" altLang="en-US" sz="1800"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对外</a:t>
            </a:r>
            <a:r>
              <a:rPr lang="zh-CN" altLang="en-US" sz="18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提供一个单表的接口</a:t>
            </a:r>
          </a:p>
          <a:p>
            <a:pPr marL="227330" indent="-227330">
              <a:lnSpc>
                <a:spcPct val="150000"/>
              </a:lnSpc>
              <a:spcBef>
                <a:spcPct val="20000"/>
              </a:spcBef>
              <a:buClr>
                <a:schemeClr val="accent1"/>
              </a:buClr>
              <a:buFontTx/>
              <a:buChar char="•"/>
            </a:pPr>
            <a:r>
              <a:rPr lang="zh-CN" altLang="en-US" sz="18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数据库内部，物理上把大表拆分为多个小表管理</a:t>
            </a:r>
          </a:p>
        </p:txBody>
      </p:sp>
      <p:sp>
        <p:nvSpPr>
          <p:cNvPr id="5" name="标题 1"/>
          <p:cNvSpPr txBox="1"/>
          <p:nvPr/>
        </p:nvSpPr>
        <p:spPr>
          <a:xfrm>
            <a:off x="2152650" y="237506"/>
            <a:ext cx="7886700" cy="561008"/>
          </a:xfrm>
          <a:prstGeom prst="rect">
            <a:avLst/>
          </a:prstGeom>
        </p:spPr>
        <p:txBody>
          <a:body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32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1027" name="Picture 3" descr="C:\Users\shilipeng\Pictures\QQ截图20160204112209.jpg"/>
          <p:cNvPicPr>
            <a:picLocks noChangeAspect="1" noChangeArrowheads="1"/>
          </p:cNvPicPr>
          <p:nvPr/>
        </p:nvPicPr>
        <p:blipFill>
          <a:blip r:embed="rId3" cstate="print"/>
          <a:srcRect/>
          <a:stretch>
            <a:fillRect/>
          </a:stretch>
        </p:blipFill>
        <p:spPr bwMode="auto">
          <a:xfrm>
            <a:off x="2938011" y="1111841"/>
            <a:ext cx="6315075" cy="3571875"/>
          </a:xfrm>
          <a:prstGeom prst="rect">
            <a:avLst/>
          </a:prstGeom>
          <a:noFill/>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dirty="0" smtClean="0">
                <a:latin typeface="Arial" panose="020B0604020202020204" pitchFamily="34" charset="0"/>
                <a:cs typeface="宋体" panose="02010600030101010101" pitchFamily="2" charset="-122"/>
              </a:rPr>
              <a:t>为什么分片</a:t>
            </a:r>
            <a:endParaRPr lang="zh-CN" altLang="en-US" sz="3200" dirty="0">
              <a:latin typeface="Arial" panose="020B0604020202020204" pitchFamily="34" charset="0"/>
              <a:cs typeface="宋体" panose="02010600030101010101" pitchFamily="2" charset="-122"/>
            </a:endParaRPr>
          </a:p>
        </p:txBody>
      </p:sp>
      <p:sp>
        <p:nvSpPr>
          <p:cNvPr id="12291" name="内容占位符 2"/>
          <p:cNvSpPr>
            <a:spLocks noGrp="1"/>
          </p:cNvSpPr>
          <p:nvPr>
            <p:ph type="body" sz="quarter" idx="10"/>
          </p:nvPr>
        </p:nvSpPr>
        <p:spPr/>
        <p:txBody>
          <a:bodyPr>
            <a:normAutofit/>
          </a:bodyPr>
          <a:lstStyle/>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有效处理大表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(Larger table)</a:t>
            </a: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有效利用并发运行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(Concurrency)</a:t>
            </a:r>
          </a:p>
          <a:p>
            <a:pPr>
              <a:lnSpc>
                <a:spcPct val="200000"/>
              </a:lnSpc>
            </a:pPr>
            <a:r>
              <a:rPr lang="zh-CN" altLang="en-US"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利用“分片忽略”</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缩小表</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空间访问</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(fragment elimination)</a:t>
            </a:r>
          </a:p>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分片并行化执行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(PDQ)</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方法与效率</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分片容易管理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表组合</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表分片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(attach / detach)</a:t>
            </a: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分片有效增进利用率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(Availability)</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dirty="0" smtClean="0">
                <a:latin typeface="Arial" panose="020B0604020202020204" pitchFamily="34" charset="0"/>
                <a:cs typeface="Arial" panose="020B0604020202020204" pitchFamily="34" charset="0"/>
              </a:rPr>
              <a:t>分片</a:t>
            </a:r>
            <a:r>
              <a:rPr lang="en-US" altLang="zh-CN" dirty="0">
                <a:latin typeface="Arial" panose="020B0604020202020204" pitchFamily="34" charset="0"/>
                <a:cs typeface="Arial" panose="020B0604020202020204" pitchFamily="34" charset="0"/>
              </a:rPr>
              <a:t>, PDQ, I/</a:t>
            </a:r>
            <a:r>
              <a:rPr lang="en-US" altLang="zh-CN" dirty="0" smtClean="0">
                <a:latin typeface="Arial" panose="020B0604020202020204" pitchFamily="34" charset="0"/>
                <a:cs typeface="Arial" panose="020B0604020202020204" pitchFamily="34" charset="0"/>
              </a:rPr>
              <a:t>O</a:t>
            </a:r>
            <a:endParaRPr lang="zh-CN" altLang="en-US" dirty="0">
              <a:latin typeface="Arial" panose="020B0604020202020204" pitchFamily="34" charset="0"/>
              <a:cs typeface="Arial" panose="020B0604020202020204" pitchFamily="34" charset="0"/>
            </a:endParaRPr>
          </a:p>
        </p:txBody>
      </p:sp>
      <p:sp>
        <p:nvSpPr>
          <p:cNvPr id="13315" name="内容占位符 2"/>
          <p:cNvSpPr>
            <a:spLocks noGrp="1"/>
          </p:cNvSpPr>
          <p:nvPr>
            <p:ph type="body" sz="quarter" idx="10"/>
          </p:nvPr>
        </p:nvSpPr>
        <p:spPr/>
        <p:txBody>
          <a:bodyPr>
            <a:normAutofit/>
          </a:bodyPr>
          <a:lstStyle/>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和</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索引分片目的：提高</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应程序的</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效率</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原因一：分片使得</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GBase 8s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动态</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服务器可以并行地扫描多个磁盘上的数据，从而实现内部查询的并行操作，这种内部查询的并行化有助于减少对一个复杂查询的</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响应时间。因此</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采用“分片”技术可以提高查询效率</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原因二：“表分片”</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技术与并行数据查询（</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PDQ</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特征联系在一起使用，</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这样</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GBase 8s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服务器</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可以分配多</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条线程</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从</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所有数据分片上并行地选取数据。此外，还可以仅仅对包含“目标数据”的数据分片进行扫描。从而大幅度地提高了整个系统效率</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dirty="0" smtClean="0">
                <a:latin typeface="Arial" panose="020B0604020202020204" pitchFamily="34" charset="0"/>
                <a:cs typeface="Arial" panose="020B0604020202020204" pitchFamily="34" charset="0"/>
              </a:rPr>
              <a:t>分片</a:t>
            </a:r>
            <a:r>
              <a:rPr lang="en-US" altLang="zh-CN" dirty="0">
                <a:latin typeface="Arial" panose="020B0604020202020204" pitchFamily="34" charset="0"/>
                <a:cs typeface="Arial" panose="020B0604020202020204" pitchFamily="34" charset="0"/>
              </a:rPr>
              <a:t>, PDQ, </a:t>
            </a:r>
            <a:r>
              <a:rPr lang="en-US" altLang="zh-CN" dirty="0" smtClean="0">
                <a:latin typeface="Arial" panose="020B0604020202020204" pitchFamily="34" charset="0"/>
                <a:cs typeface="Arial" panose="020B0604020202020204" pitchFamily="34" charset="0"/>
              </a:rPr>
              <a:t>I/O(</a:t>
            </a:r>
            <a:r>
              <a:rPr lang="zh-CN" altLang="en-US" dirty="0" smtClean="0">
                <a:latin typeface="Arial" panose="020B0604020202020204" pitchFamily="34" charset="0"/>
                <a:cs typeface="Arial" panose="020B0604020202020204" pitchFamily="34" charset="0"/>
              </a:rPr>
              <a:t>二）</a:t>
            </a:r>
            <a:endParaRPr lang="zh-CN" altLang="en-US" dirty="0">
              <a:latin typeface="Arial" panose="020B0604020202020204" pitchFamily="34" charset="0"/>
              <a:cs typeface="Arial" panose="020B0604020202020204" pitchFamily="34" charset="0"/>
            </a:endParaRPr>
          </a:p>
        </p:txBody>
      </p:sp>
      <p:sp>
        <p:nvSpPr>
          <p:cNvPr id="13315" name="内容占位符 2"/>
          <p:cNvSpPr>
            <a:spLocks noGrp="1"/>
          </p:cNvSpPr>
          <p:nvPr>
            <p:ph type="body" sz="quarter" idx="10"/>
          </p:nvPr>
        </p:nvSpPr>
        <p:spPr/>
        <p:txBody>
          <a:bodyPr>
            <a:normAutofit/>
          </a:bodyPr>
          <a:lstStyle/>
          <a:p>
            <a:pPr lvl="1">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原因三：我们通过大量的数据分片将数据分布在许多的磁盘上，也实现了外部查询的并行操作。这样在大量用户对同一个表进行访问时，可以减少</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I/O</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的竞争，每秒钟完成的事务数（系统吞吐能力）也得到了提高。“表分片”技术还通过对存储在</a:t>
            </a:r>
            <a:r>
              <a:rPr lang="en-US" altLang="zh-CN" dirty="0" err="1" smtClean="0">
                <a:latin typeface="微软雅黑" panose="020B0503020204020204" pitchFamily="34" charset="-122"/>
                <a:ea typeface="微软雅黑" panose="020B0503020204020204" pitchFamily="34" charset="-122"/>
                <a:cs typeface="微软雅黑" panose="020B0503020204020204" pitchFamily="34" charset="-122"/>
              </a:rPr>
              <a:t>dbspace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上的数据分片进行备份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恢复操作。 </a:t>
            </a:r>
          </a:p>
          <a:p>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5491" y="551106"/>
            <a:ext cx="11207263" cy="481500"/>
          </a:xfrm>
        </p:spPr>
        <p:txBody>
          <a:bodyPr/>
          <a:lstStyle/>
          <a:p>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分片方式</a:t>
            </a: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27" name="Picture 3"/>
          <p:cNvPicPr>
            <a:picLocks noChangeAspect="1" noChangeArrowheads="1"/>
          </p:cNvPicPr>
          <p:nvPr/>
        </p:nvPicPr>
        <p:blipFill>
          <a:blip r:embed="rId2" cstate="print"/>
          <a:srcRect/>
          <a:stretch>
            <a:fillRect/>
          </a:stretch>
        </p:blipFill>
        <p:spPr bwMode="auto">
          <a:xfrm>
            <a:off x="2214335" y="1121611"/>
            <a:ext cx="7518400" cy="5113410"/>
          </a:xfrm>
          <a:prstGeom prst="rect">
            <a:avLst/>
          </a:prstGeom>
          <a:noFill/>
          <a:ln w="9525">
            <a:noFill/>
            <a:miter lim="800000"/>
            <a:headEnd/>
            <a:tailEnd/>
          </a:ln>
        </p:spPr>
      </p:pic>
      <p:sp>
        <p:nvSpPr>
          <p:cNvPr id="7" name="TextBox 6"/>
          <p:cNvSpPr txBox="1"/>
          <p:nvPr/>
        </p:nvSpPr>
        <p:spPr>
          <a:xfrm>
            <a:off x="2333897" y="3981390"/>
            <a:ext cx="5275944" cy="368300"/>
          </a:xfrm>
          <a:prstGeom prst="rect">
            <a:avLst/>
          </a:prstGeom>
          <a:solidFill>
            <a:schemeClr val="bg1"/>
          </a:solidFill>
        </p:spPr>
        <p:txBody>
          <a:bodyPr wrap="square" rtlCol="0">
            <a:spAutoFit/>
          </a:bodyPr>
          <a:lstStyle/>
          <a:p>
            <a:pPr marL="342900" indent="-342900">
              <a:buClr>
                <a:srgbClr val="FF0000"/>
              </a:buClr>
              <a:buFont typeface="Arial" panose="020B0604020202020204" pitchFamily="34" charset="0"/>
              <a:buChar char="•"/>
            </a:pPr>
            <a:r>
              <a:rPr lang="zh-CN" altLang="en-US" dirty="0"/>
              <a:t>表达式</a:t>
            </a:r>
            <a:r>
              <a:rPr lang="zh-CN" altLang="en-US" dirty="0" smtClean="0"/>
              <a:t>分片</a:t>
            </a:r>
            <a:r>
              <a:rPr lang="en-US" altLang="zh-CN" dirty="0" smtClean="0"/>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Expression-Based</a:t>
            </a:r>
            <a:endParaRPr lang="zh-CN" altLang="en-US" dirty="0"/>
          </a:p>
        </p:txBody>
      </p:sp>
      <p:sp>
        <p:nvSpPr>
          <p:cNvPr id="3" name="TextBox 2"/>
          <p:cNvSpPr txBox="1"/>
          <p:nvPr/>
        </p:nvSpPr>
        <p:spPr>
          <a:xfrm>
            <a:off x="2333715" y="1909233"/>
            <a:ext cx="4238172" cy="368300"/>
          </a:xfrm>
          <a:prstGeom prst="rect">
            <a:avLst/>
          </a:prstGeom>
          <a:solidFill>
            <a:schemeClr val="bg1"/>
          </a:solidFill>
        </p:spPr>
        <p:txBody>
          <a:bodyPr wrap="square" rtlCol="0">
            <a:spAutoFit/>
          </a:bodyPr>
          <a:lstStyle/>
          <a:p>
            <a:pPr marL="342900" indent="-342900">
              <a:buClr>
                <a:srgbClr val="FF0000"/>
              </a:buClr>
              <a:buFont typeface="Arial" panose="020B0604020202020204" pitchFamily="34" charset="0"/>
              <a:buChar char="•"/>
            </a:pPr>
            <a:r>
              <a:rPr lang="zh-CN" altLang="en-US" dirty="0" smtClean="0"/>
              <a:t>轮询法分片</a:t>
            </a:r>
            <a:r>
              <a:rPr lang="en-US" altLang="zh-CN" dirty="0" smtClean="0"/>
              <a:t>—Round-Robin</a:t>
            </a:r>
            <a:endParaRPr lang="zh-CN" altLang="en-US" dirty="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b="1" dirty="0">
                <a:latin typeface="Arial" panose="020B0604020202020204" pitchFamily="34" charset="0"/>
                <a:cs typeface="宋体" panose="02010600030101010101" pitchFamily="2" charset="-122"/>
              </a:rPr>
              <a:t>表达式分片</a:t>
            </a:r>
            <a:r>
              <a:rPr lang="zh-CN" altLang="en-US" b="1" dirty="0" smtClean="0">
                <a:latin typeface="Arial" panose="020B0604020202020204" pitchFamily="34" charset="0"/>
                <a:cs typeface="宋体" panose="02010600030101010101" pitchFamily="2" charset="-122"/>
              </a:rPr>
              <a:t>（</a:t>
            </a:r>
            <a:r>
              <a:rPr lang="en-US" altLang="zh-CN" sz="2000" dirty="0" smtClean="0">
                <a:latin typeface="Arial" panose="020B0604020202020204" pitchFamily="34" charset="0"/>
                <a:cs typeface="宋体" panose="02010600030101010101" pitchFamily="2" charset="-122"/>
              </a:rPr>
              <a:t>Expression-Based</a:t>
            </a:r>
            <a:r>
              <a:rPr lang="zh-CN" altLang="en-US" b="1" dirty="0" smtClean="0">
                <a:latin typeface="Arial" panose="020B0604020202020204" pitchFamily="34" charset="0"/>
                <a:cs typeface="宋体" panose="02010600030101010101" pitchFamily="2" charset="-122"/>
              </a:rPr>
              <a:t>） </a:t>
            </a:r>
            <a:endParaRPr lang="zh-CN" altLang="en-US" dirty="0">
              <a:latin typeface="Arial" panose="020B0604020202020204" pitchFamily="34" charset="0"/>
              <a:cs typeface="宋体" panose="02010600030101010101" pitchFamily="2" charset="-122"/>
            </a:endParaRPr>
          </a:p>
        </p:txBody>
      </p:sp>
      <p:sp>
        <p:nvSpPr>
          <p:cNvPr id="14339" name="内容占位符 2"/>
          <p:cNvSpPr>
            <a:spLocks noGrp="1"/>
          </p:cNvSpPr>
          <p:nvPr>
            <p:ph type="body" sz="quarter" idx="4294967295"/>
          </p:nvPr>
        </p:nvSpPr>
        <p:spPr>
          <a:xfrm>
            <a:off x="2420938" y="1006475"/>
            <a:ext cx="9771062" cy="4889500"/>
          </a:xfrm>
          <a:prstGeom prst="rect">
            <a:avLst/>
          </a:prstGeom>
        </p:spPr>
        <p:txBody>
          <a:bodyPr/>
          <a:lstStyle/>
          <a:p>
            <a:pPr>
              <a:lnSpc>
                <a:spcPct val="150000"/>
              </a:lnSpc>
            </a:pPr>
            <a:r>
              <a:rPr lang="zh-CN" altLang="en-US" sz="1800" dirty="0" smtClean="0">
                <a:latin typeface="Arial" panose="020B0604020202020204" pitchFamily="34" charset="0"/>
                <a:cs typeface="宋体" panose="02010600030101010101" pitchFamily="2" charset="-122"/>
              </a:rPr>
              <a:t>需要</a:t>
            </a:r>
            <a:r>
              <a:rPr lang="zh-CN" altLang="en-US" sz="1800" dirty="0">
                <a:latin typeface="Arial" panose="020B0604020202020204" pitchFamily="34" charset="0"/>
                <a:cs typeface="宋体" panose="02010600030101010101" pitchFamily="2" charset="-122"/>
              </a:rPr>
              <a:t>对数据分布有所</a:t>
            </a:r>
            <a:r>
              <a:rPr lang="zh-CN" altLang="en-US" sz="1800" dirty="0" smtClean="0">
                <a:latin typeface="Arial" panose="020B0604020202020204" pitchFamily="34" charset="0"/>
                <a:cs typeface="宋体" panose="02010600030101010101" pitchFamily="2" charset="-122"/>
              </a:rPr>
              <a:t>了解</a:t>
            </a:r>
            <a:endParaRPr lang="en-US" altLang="zh-CN" sz="1800" dirty="0">
              <a:latin typeface="Arial" panose="020B0604020202020204" pitchFamily="34" charset="0"/>
              <a:cs typeface="宋体" panose="02010600030101010101" pitchFamily="2" charset="-122"/>
            </a:endParaRPr>
          </a:p>
          <a:p>
            <a:pPr>
              <a:lnSpc>
                <a:spcPct val="150000"/>
              </a:lnSpc>
            </a:pPr>
            <a:r>
              <a:rPr lang="zh-CN" altLang="en-US" sz="1800" dirty="0">
                <a:latin typeface="Arial" panose="020B0604020202020204" pitchFamily="34" charset="0"/>
                <a:cs typeface="宋体" panose="02010600030101010101" pitchFamily="2" charset="-122"/>
              </a:rPr>
              <a:t>为分片忽略和性能提升提供</a:t>
            </a:r>
            <a:r>
              <a:rPr lang="zh-CN" altLang="en-US" sz="1800" dirty="0" smtClean="0">
                <a:latin typeface="Arial" panose="020B0604020202020204" pitchFamily="34" charset="0"/>
                <a:cs typeface="宋体" panose="02010600030101010101" pitchFamily="2" charset="-122"/>
              </a:rPr>
              <a:t>可能</a:t>
            </a:r>
            <a:endParaRPr lang="en-US" altLang="zh-CN" sz="1800" dirty="0" smtClean="0">
              <a:latin typeface="Arial" panose="020B0604020202020204" pitchFamily="34" charset="0"/>
              <a:cs typeface="宋体" panose="02010600030101010101" pitchFamily="2" charset="-122"/>
            </a:endParaRPr>
          </a:p>
          <a:p>
            <a:pPr>
              <a:lnSpc>
                <a:spcPct val="150000"/>
              </a:lnSpc>
            </a:pPr>
            <a:r>
              <a:rPr lang="zh-CN" altLang="en-US" sz="1800" dirty="0" smtClean="0">
                <a:latin typeface="Arial" panose="020B0604020202020204" pitchFamily="34" charset="0"/>
                <a:cs typeface="宋体" panose="02010600030101010101" pitchFamily="2" charset="-122"/>
              </a:rPr>
              <a:t>既</a:t>
            </a:r>
            <a:r>
              <a:rPr lang="zh-CN" altLang="en-US" sz="1800" dirty="0">
                <a:latin typeface="Arial" panose="020B0604020202020204" pitchFamily="34" charset="0"/>
                <a:cs typeface="宋体" panose="02010600030101010101" pitchFamily="2" charset="-122"/>
              </a:rPr>
              <a:t>可以用于表也可以用于</a:t>
            </a:r>
            <a:r>
              <a:rPr lang="zh-CN" altLang="en-US" sz="1800" dirty="0" smtClean="0">
                <a:latin typeface="Arial" panose="020B0604020202020204" pitchFamily="34" charset="0"/>
                <a:cs typeface="宋体" panose="02010600030101010101" pitchFamily="2" charset="-122"/>
              </a:rPr>
              <a:t>索引</a:t>
            </a:r>
            <a:endParaRPr lang="en-US" altLang="zh-CN" sz="1800" dirty="0" smtClean="0">
              <a:latin typeface="Arial" panose="020B0604020202020204" pitchFamily="34" charset="0"/>
              <a:cs typeface="宋体" panose="02010600030101010101" pitchFamily="2" charset="-122"/>
            </a:endParaRPr>
          </a:p>
          <a:p>
            <a:pPr>
              <a:lnSpc>
                <a:spcPct val="150000"/>
              </a:lnSpc>
            </a:pPr>
            <a:r>
              <a:rPr lang="zh-CN" altLang="en-US" sz="1800" dirty="0">
                <a:latin typeface="Arial" panose="020B0604020202020204" pitchFamily="34" charset="0"/>
                <a:cs typeface="宋体" panose="02010600030101010101" pitchFamily="2" charset="-122"/>
              </a:rPr>
              <a:t>可以基于一列或者多列构建表达式</a:t>
            </a:r>
            <a:endParaRPr lang="en-US" altLang="zh-CN" sz="1800" dirty="0">
              <a:latin typeface="Arial" panose="020B0604020202020204" pitchFamily="34" charset="0"/>
              <a:cs typeface="宋体" panose="02010600030101010101" pitchFamily="2" charset="-122"/>
            </a:endParaRPr>
          </a:p>
          <a:p>
            <a:pPr>
              <a:lnSpc>
                <a:spcPct val="150000"/>
              </a:lnSpc>
            </a:pPr>
            <a:endParaRPr lang="en-US" altLang="zh-CN" sz="1800" dirty="0">
              <a:latin typeface="Arial" panose="020B0604020202020204" pitchFamily="34" charset="0"/>
              <a:cs typeface="宋体" panose="02010600030101010101" pitchFamily="2" charset="-122"/>
            </a:endParaRPr>
          </a:p>
        </p:txBody>
      </p:sp>
      <p:sp>
        <p:nvSpPr>
          <p:cNvPr id="5" name="内容占位符 3"/>
          <p:cNvSpPr txBox="1"/>
          <p:nvPr/>
        </p:nvSpPr>
        <p:spPr bwMode="auto">
          <a:xfrm>
            <a:off x="2383247" y="3139179"/>
            <a:ext cx="7150713" cy="3267612"/>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fontScale="92500" lnSpcReduction="10000"/>
          </a:bodyPr>
          <a:lstStyle/>
          <a:p>
            <a:pPr lvl="1">
              <a:lnSpc>
                <a:spcPct val="150000"/>
              </a:lnSpc>
              <a:buFont typeface="Webdings" panose="05030102010509060703" charset="0"/>
              <a:buNone/>
            </a:pPr>
            <a:r>
              <a:rPr lang="zh-CN" altLang="en-US" sz="1600" dirty="0" smtClean="0">
                <a:ea typeface="宋体" panose="02010600030101010101" pitchFamily="2" charset="-122"/>
                <a:cs typeface="宋体" panose="02010600030101010101" pitchFamily="2" charset="-122"/>
              </a:rPr>
              <a:t>基于表的单列分片</a:t>
            </a:r>
            <a:endParaRPr lang="en-US" altLang="zh-CN" sz="1600" dirty="0" smtClean="0">
              <a:ea typeface="宋体" panose="02010600030101010101" pitchFamily="2" charset="-122"/>
              <a:cs typeface="宋体" panose="02010600030101010101" pitchFamily="2" charset="-122"/>
            </a:endParaRPr>
          </a:p>
          <a:p>
            <a:pPr lvl="1">
              <a:lnSpc>
                <a:spcPct val="150000"/>
              </a:lnSpc>
              <a:buFont typeface="Webdings" panose="05030102010509060703" charset="0"/>
              <a:buNone/>
            </a:pPr>
            <a:r>
              <a:rPr lang="en-US" altLang="zh-CN" sz="1600" b="0" dirty="0" smtClean="0">
                <a:ea typeface="宋体" panose="02010600030101010101" pitchFamily="2" charset="-122"/>
                <a:cs typeface="宋体" panose="02010600030101010101" pitchFamily="2" charset="-122"/>
              </a:rPr>
              <a:t>CREATE TABLE tb1 (a </a:t>
            </a:r>
            <a:r>
              <a:rPr lang="en-US" altLang="zh-CN" sz="1600" b="0" dirty="0" err="1" smtClean="0">
                <a:ea typeface="宋体" panose="02010600030101010101" pitchFamily="2" charset="-122"/>
                <a:cs typeface="宋体" panose="02010600030101010101" pitchFamily="2" charset="-122"/>
              </a:rPr>
              <a:t>int</a:t>
            </a:r>
            <a:r>
              <a:rPr lang="en-US" altLang="zh-CN" sz="1600" b="0" dirty="0" smtClean="0">
                <a:ea typeface="宋体" panose="02010600030101010101" pitchFamily="2" charset="-122"/>
                <a:cs typeface="宋体" panose="02010600030101010101" pitchFamily="2" charset="-122"/>
              </a:rPr>
              <a:t>)   FRAGMENT BY EXPRESSION</a:t>
            </a:r>
          </a:p>
          <a:p>
            <a:pPr lvl="1">
              <a:lnSpc>
                <a:spcPct val="150000"/>
              </a:lnSpc>
              <a:buFont typeface="Webdings" panose="05030102010509060703" charset="0"/>
              <a:buNone/>
            </a:pPr>
            <a:r>
              <a:rPr lang="en-US" altLang="zh-CN" sz="1600" b="0" dirty="0" smtClean="0">
                <a:ea typeface="宋体" panose="02010600030101010101" pitchFamily="2" charset="-122"/>
                <a:cs typeface="宋体" panose="02010600030101010101" pitchFamily="2" charset="-122"/>
              </a:rPr>
              <a:t>(a &lt;= 10) IN tabdbspc1,</a:t>
            </a:r>
          </a:p>
          <a:p>
            <a:pPr lvl="1">
              <a:lnSpc>
                <a:spcPct val="150000"/>
              </a:lnSpc>
              <a:buFont typeface="Webdings" panose="05030102010509060703" charset="0"/>
              <a:buNone/>
            </a:pPr>
            <a:r>
              <a:rPr lang="en-US" altLang="zh-CN" sz="1600" b="0" dirty="0" smtClean="0">
                <a:ea typeface="宋体" panose="02010600030101010101" pitchFamily="2" charset="-122"/>
                <a:cs typeface="宋体" panose="02010600030101010101" pitchFamily="2" charset="-122"/>
              </a:rPr>
              <a:t>(a &lt;= 20) IN tabdbspc2,</a:t>
            </a:r>
          </a:p>
          <a:p>
            <a:pPr lvl="1">
              <a:lnSpc>
                <a:spcPct val="150000"/>
              </a:lnSpc>
              <a:buFont typeface="Webdings" panose="05030102010509060703" charset="0"/>
              <a:buNone/>
            </a:pPr>
            <a:r>
              <a:rPr lang="en-US" altLang="zh-CN" sz="1600" b="0" dirty="0" smtClean="0">
                <a:ea typeface="宋体" panose="02010600030101010101" pitchFamily="2" charset="-122"/>
                <a:cs typeface="宋体" panose="02010600030101010101" pitchFamily="2" charset="-122"/>
              </a:rPr>
              <a:t>(a &lt;= 30) IN tabdbspc3;</a:t>
            </a:r>
          </a:p>
          <a:p>
            <a:pPr lvl="1">
              <a:lnSpc>
                <a:spcPct val="150000"/>
              </a:lnSpc>
              <a:buFont typeface="Webdings" panose="05030102010509060703" charset="0"/>
              <a:buNone/>
            </a:pPr>
            <a:r>
              <a:rPr lang="zh-CN" altLang="en-US" sz="1600" dirty="0" smtClean="0">
                <a:ea typeface="宋体" panose="02010600030101010101" pitchFamily="2" charset="-122"/>
                <a:cs typeface="宋体" panose="02010600030101010101" pitchFamily="2" charset="-122"/>
              </a:rPr>
              <a:t>索引分片</a:t>
            </a:r>
            <a:endParaRPr lang="en-US" altLang="zh-CN" sz="1600" dirty="0" smtClean="0">
              <a:ea typeface="宋体" panose="02010600030101010101" pitchFamily="2" charset="-122"/>
              <a:cs typeface="宋体" panose="02010600030101010101" pitchFamily="2" charset="-122"/>
            </a:endParaRPr>
          </a:p>
          <a:p>
            <a:pPr lvl="1">
              <a:lnSpc>
                <a:spcPct val="150000"/>
              </a:lnSpc>
              <a:buFont typeface="Webdings" panose="05030102010509060703" charset="0"/>
              <a:buNone/>
            </a:pPr>
            <a:r>
              <a:rPr lang="en-US" altLang="zh-CN" sz="1600" b="0" dirty="0" smtClean="0">
                <a:ea typeface="宋体" panose="02010600030101010101" pitchFamily="2" charset="-122"/>
                <a:cs typeface="宋体" panose="02010600030101010101" pitchFamily="2" charset="-122"/>
              </a:rPr>
              <a:t>CREATE INDEX idx1 ON tb1 (a)   FRAGMENT BY EXPRESSION</a:t>
            </a:r>
          </a:p>
          <a:p>
            <a:pPr lvl="1">
              <a:lnSpc>
                <a:spcPct val="150000"/>
              </a:lnSpc>
              <a:buFont typeface="Webdings" panose="05030102010509060703" charset="0"/>
              <a:buNone/>
            </a:pPr>
            <a:r>
              <a:rPr lang="en-US" altLang="zh-CN" sz="1600" b="0" dirty="0" smtClean="0">
                <a:ea typeface="宋体" panose="02010600030101010101" pitchFamily="2" charset="-122"/>
                <a:cs typeface="宋体" panose="02010600030101010101" pitchFamily="2" charset="-122"/>
              </a:rPr>
              <a:t>(a &lt;= 10) IN idxdbspc1,</a:t>
            </a:r>
          </a:p>
          <a:p>
            <a:pPr lvl="1">
              <a:lnSpc>
                <a:spcPct val="150000"/>
              </a:lnSpc>
              <a:buFont typeface="Webdings" panose="05030102010509060703" charset="0"/>
              <a:buNone/>
            </a:pPr>
            <a:r>
              <a:rPr lang="en-US" altLang="zh-CN" sz="1600" b="0" dirty="0" smtClean="0">
                <a:ea typeface="宋体" panose="02010600030101010101" pitchFamily="2" charset="-122"/>
                <a:cs typeface="宋体" panose="02010600030101010101" pitchFamily="2" charset="-122"/>
              </a:rPr>
              <a:t>(a &lt;= 20) IN idxdbspc2,</a:t>
            </a:r>
          </a:p>
          <a:p>
            <a:pPr lvl="1">
              <a:lnSpc>
                <a:spcPct val="150000"/>
              </a:lnSpc>
              <a:buFont typeface="Webdings" panose="05030102010509060703" charset="0"/>
              <a:buNone/>
            </a:pPr>
            <a:r>
              <a:rPr lang="en-US" altLang="zh-CN" sz="1600" b="0" dirty="0" smtClean="0">
                <a:ea typeface="宋体" panose="02010600030101010101" pitchFamily="2" charset="-122"/>
                <a:cs typeface="宋体" panose="02010600030101010101" pitchFamily="2" charset="-122"/>
              </a:rPr>
              <a:t>(a &lt;= 30) IN idxdbspc3;</a:t>
            </a:r>
            <a:endParaRPr lang="zh-CN" altLang="en-US" sz="1600" b="0" dirty="0" smtClean="0">
              <a:ea typeface="宋体" panose="02010600030101010101" pitchFamily="2" charset="-122"/>
              <a:cs typeface="宋体" panose="02010600030101010101" pitchFamily="2" charset="-122"/>
            </a:endParaRPr>
          </a:p>
          <a:p>
            <a:endParaRPr lang="zh-CN" altLang="en-US" sz="2800" dirty="0" smtClean="0">
              <a:cs typeface="宋体" panose="02010600030101010101" pitchFamily="2" charset="-122"/>
            </a:endParaRPr>
          </a:p>
          <a:p>
            <a:pPr marL="227330" marR="0" lvl="0" indent="-227330" algn="l" defTabSz="914400" rtl="0" eaLnBrk="0" fontAlgn="base" latinLnBrk="0" hangingPunct="0">
              <a:lnSpc>
                <a:spcPct val="100000"/>
              </a:lnSpc>
              <a:spcBef>
                <a:spcPct val="20000"/>
              </a:spcBef>
              <a:spcAft>
                <a:spcPct val="0"/>
              </a:spcAft>
              <a:buClr>
                <a:schemeClr val="accent1"/>
              </a:buClr>
              <a:buSzTx/>
              <a:defRPr/>
            </a:pPr>
            <a:endParaRPr kumimoji="1"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a:latin typeface="Arial" panose="020B0604020202020204" pitchFamily="34" charset="0"/>
                <a:cs typeface="宋体" panose="02010600030101010101" pitchFamily="2" charset="-122"/>
              </a:rPr>
              <a:t>表达式分片</a:t>
            </a:r>
            <a:r>
              <a:rPr lang="en-US" altLang="zh-CN" dirty="0">
                <a:latin typeface="Arial" panose="020B0604020202020204" pitchFamily="34" charset="0"/>
                <a:cs typeface="宋体" panose="02010600030101010101" pitchFamily="2" charset="-122"/>
              </a:rPr>
              <a:t>– </a:t>
            </a:r>
            <a:r>
              <a:rPr lang="zh-CN" altLang="en-US" dirty="0" smtClean="0">
                <a:latin typeface="Arial" panose="020B0604020202020204" pitchFamily="34" charset="0"/>
                <a:cs typeface="宋体" panose="02010600030101010101" pitchFamily="2" charset="-122"/>
              </a:rPr>
              <a:t>基于多个列</a:t>
            </a:r>
            <a:endParaRPr lang="zh-CN" altLang="en-US" sz="3200" dirty="0">
              <a:latin typeface="Arial" panose="020B0604020202020204" pitchFamily="34" charset="0"/>
              <a:cs typeface="宋体" panose="02010600030101010101" pitchFamily="2" charset="-122"/>
            </a:endParaRPr>
          </a:p>
        </p:txBody>
      </p:sp>
      <p:sp>
        <p:nvSpPr>
          <p:cNvPr id="6" name="内容占位符 3"/>
          <p:cNvSpPr txBox="1"/>
          <p:nvPr/>
        </p:nvSpPr>
        <p:spPr bwMode="auto">
          <a:xfrm>
            <a:off x="2520493" y="1628324"/>
            <a:ext cx="7150713" cy="3601442"/>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a:bodyPr>
          <a:lstStyle/>
          <a:p>
            <a:pPr lvl="1">
              <a:lnSpc>
                <a:spcPct val="150000"/>
              </a:lnSpc>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基于表的</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多列</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(multiple columns</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 表达式分片</a:t>
            </a: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CREATE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TABLE orders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50000"/>
              </a:lnSpc>
              <a:buFont typeface="Webdings" panose="05030102010509060703" charset="0"/>
              <a:buNone/>
            </a:pP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order_num</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integer,</a:t>
            </a:r>
          </a:p>
          <a:p>
            <a:pPr lvl="1">
              <a:lnSpc>
                <a:spcPct val="150000"/>
              </a:lnSpc>
              <a:buFont typeface="Webdings" panose="05030102010509060703"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year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integer,</a:t>
            </a:r>
          </a:p>
          <a:p>
            <a:pPr lvl="1">
              <a:lnSpc>
                <a:spcPct val="150000"/>
              </a:lnSpc>
              <a:buFont typeface="Webdings" panose="05030102010509060703"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month</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integer,</a:t>
            </a:r>
          </a:p>
          <a:p>
            <a:pPr lvl="1">
              <a:lnSpc>
                <a:spcPct val="15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amount float )</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FRAGMENT BY EXPRESSION</a:t>
            </a:r>
          </a:p>
          <a:p>
            <a:pPr lvl="1">
              <a:lnSpc>
                <a:spcPct val="150000"/>
              </a:lnSpc>
              <a:buFont typeface="Webdings" panose="05030102010509060703" charset="0"/>
              <a:buNone/>
            </a:pP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year</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&lt; 21 AND </a:t>
            </a: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month</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&gt;= 1 AND month &lt; 4 IN datadbs01,</a:t>
            </a:r>
          </a:p>
          <a:p>
            <a:pPr lvl="1">
              <a:lnSpc>
                <a:spcPct val="150000"/>
              </a:lnSpc>
              <a:buFont typeface="Webdings" panose="05030102010509060703"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year &lt; 40 AND month &gt;= 4 AND month &lt; 7 IN datadbs02;</a:t>
            </a:r>
          </a:p>
          <a:p>
            <a:pPr lvl="1">
              <a:lnSpc>
                <a:spcPct val="150000"/>
              </a:lnSpc>
              <a:buFont typeface="Webdings" panose="05030102010509060703" charset="0"/>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800" dirty="0" smtClean="0">
              <a:cs typeface="宋体" panose="02010600030101010101" pitchFamily="2" charset="-122"/>
            </a:endParaRPr>
          </a:p>
          <a:p>
            <a:pPr marL="227330" marR="0" lvl="0" indent="-227330" algn="l" defTabSz="914400" rtl="0" eaLnBrk="0" fontAlgn="base" latinLnBrk="0" hangingPunct="0">
              <a:lnSpc>
                <a:spcPct val="100000"/>
              </a:lnSpc>
              <a:spcBef>
                <a:spcPct val="20000"/>
              </a:spcBef>
              <a:spcAft>
                <a:spcPct val="0"/>
              </a:spcAft>
              <a:buClr>
                <a:schemeClr val="accent1"/>
              </a:buClr>
              <a:buSzTx/>
              <a:defRPr/>
            </a:pPr>
            <a:endParaRPr kumimoji="1"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smtClean="0">
                <a:latin typeface="Arial" panose="020B0604020202020204" pitchFamily="34" charset="0"/>
                <a:cs typeface="宋体" panose="02010600030101010101" pitchFamily="2" charset="-122"/>
              </a:rPr>
              <a:t>表达式分片</a:t>
            </a:r>
            <a:r>
              <a:rPr lang="en-US" altLang="zh-CN" dirty="0" smtClean="0">
                <a:latin typeface="Arial" panose="020B0604020202020204" pitchFamily="34" charset="0"/>
                <a:cs typeface="宋体" panose="02010600030101010101" pitchFamily="2" charset="-122"/>
              </a:rPr>
              <a:t>– </a:t>
            </a:r>
            <a:r>
              <a:rPr lang="zh-CN" altLang="en-US" dirty="0" smtClean="0">
                <a:latin typeface="Arial" panose="020B0604020202020204" pitchFamily="34" charset="0"/>
                <a:cs typeface="宋体" panose="02010600030101010101" pitchFamily="2" charset="-122"/>
              </a:rPr>
              <a:t>任意表达式</a:t>
            </a:r>
            <a:endParaRPr lang="zh-CN" altLang="en-US" dirty="0">
              <a:latin typeface="Arial" panose="020B0604020202020204" pitchFamily="34" charset="0"/>
              <a:cs typeface="宋体" panose="02010600030101010101" pitchFamily="2" charset="-122"/>
            </a:endParaRPr>
          </a:p>
        </p:txBody>
      </p:sp>
      <p:sp>
        <p:nvSpPr>
          <p:cNvPr id="5" name="内容占位符 3"/>
          <p:cNvSpPr txBox="1"/>
          <p:nvPr/>
        </p:nvSpPr>
        <p:spPr bwMode="auto">
          <a:xfrm>
            <a:off x="2496185" y="1231265"/>
            <a:ext cx="7176770" cy="4850130"/>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fontScale="92500" lnSpcReduction="10000"/>
          </a:bodyPr>
          <a:lstStyle/>
          <a:p>
            <a:pPr lvl="1">
              <a:lnSpc>
                <a:spcPct val="16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分片任意</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表达式</a:t>
            </a:r>
            <a:endPar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CREATE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TABLE address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street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char(40</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city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char(20</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state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char(20</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60000"/>
              </a:lnSpc>
              <a:buFont typeface="Webdings" panose="05030102010509060703" charset="0"/>
              <a:buNone/>
            </a:pP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integer )</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FRAGMENT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BY EXPRESSION</a:t>
            </a:r>
          </a:p>
          <a:p>
            <a:pPr lvl="1">
              <a:lnSpc>
                <a:spcPct val="160000"/>
              </a:lnSpc>
              <a:buFont typeface="Webdings" panose="05030102010509060703" charset="0"/>
              <a:buNone/>
            </a:pP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nl-NL" altLang="zh-CN" sz="1600" b="0" dirty="0">
                <a:latin typeface="微软雅黑" panose="020B0503020204020204" pitchFamily="34" charset="-122"/>
                <a:ea typeface="微软雅黑" panose="020B0503020204020204" pitchFamily="34" charset="-122"/>
                <a:cs typeface="微软雅黑" panose="020B0503020204020204" pitchFamily="34" charset="-122"/>
              </a:rPr>
              <a:t>= 95228 OR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nl-NL" altLang="zh-CN" sz="1600" b="0" dirty="0">
                <a:latin typeface="微软雅黑" panose="020B0503020204020204" pitchFamily="34" charset="-122"/>
                <a:ea typeface="微软雅黑" panose="020B0503020204020204" pitchFamily="34" charset="-122"/>
                <a:cs typeface="微软雅黑" panose="020B0503020204020204" pitchFamily="34" charset="-122"/>
              </a:rPr>
              <a:t>= 95443 IN datadbs01,</a:t>
            </a:r>
          </a:p>
          <a:p>
            <a:pPr lvl="1">
              <a:lnSpc>
                <a:spcPct val="160000"/>
              </a:lnSpc>
              <a:buFont typeface="Webdings" panose="05030102010509060703" charset="0"/>
              <a:buNone/>
            </a:pP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nl-NL" altLang="zh-CN" sz="1600" b="0" dirty="0">
                <a:latin typeface="微软雅黑" panose="020B0503020204020204" pitchFamily="34" charset="-122"/>
                <a:ea typeface="微软雅黑" panose="020B0503020204020204" pitchFamily="34" charset="-122"/>
                <a:cs typeface="微软雅黑" panose="020B0503020204020204" pitchFamily="34" charset="-122"/>
              </a:rPr>
              <a:t>= 91120 OR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nl-NL" altLang="zh-CN" sz="1600" b="0" dirty="0">
                <a:latin typeface="微软雅黑" panose="020B0503020204020204" pitchFamily="34" charset="-122"/>
                <a:ea typeface="微软雅黑" panose="020B0503020204020204" pitchFamily="34" charset="-122"/>
                <a:cs typeface="微软雅黑" panose="020B0503020204020204" pitchFamily="34" charset="-122"/>
              </a:rPr>
              <a:t>= 92310 IN datadbs02,</a:t>
            </a:r>
          </a:p>
          <a:p>
            <a:pPr lvl="1">
              <a:lnSpc>
                <a:spcPct val="160000"/>
              </a:lnSpc>
              <a:buFont typeface="Webdings" panose="05030102010509060703" charset="0"/>
              <a:buNone/>
            </a:pPr>
            <a:r>
              <a:rPr lang="en-US" altLang="zh-CN" sz="1600" b="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REMAINDER </a:t>
            </a: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 datadbs03;</a:t>
            </a: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Create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index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idx_address</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on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Set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explain on;</a:t>
            </a: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Select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from address where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=91120;</a:t>
            </a:r>
          </a:p>
          <a:p>
            <a:pPr lvl="1">
              <a:lnSpc>
                <a:spcPct val="16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Select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from address where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zipcode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&gt;=95000</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dirty="0">
                <a:latin typeface="Arial" panose="020B0604020202020204" pitchFamily="34" charset="0"/>
                <a:cs typeface="宋体" panose="02010600030101010101" pitchFamily="2" charset="-122"/>
              </a:rPr>
              <a:t>表达式分片</a:t>
            </a:r>
            <a:r>
              <a:rPr lang="en-US" altLang="zh-CN" dirty="0">
                <a:latin typeface="Arial" panose="020B0604020202020204" pitchFamily="34" charset="0"/>
                <a:cs typeface="宋体" panose="02010600030101010101" pitchFamily="2" charset="-122"/>
              </a:rPr>
              <a:t>– MOD in expression</a:t>
            </a:r>
            <a:endParaRPr lang="zh-CN" altLang="en-US" dirty="0">
              <a:latin typeface="Arial" panose="020B0604020202020204" pitchFamily="34" charset="0"/>
              <a:cs typeface="宋体" panose="02010600030101010101" pitchFamily="2" charset="-122"/>
            </a:endParaRPr>
          </a:p>
        </p:txBody>
      </p:sp>
      <p:sp>
        <p:nvSpPr>
          <p:cNvPr id="5" name="内容占位符 3"/>
          <p:cNvSpPr txBox="1"/>
          <p:nvPr/>
        </p:nvSpPr>
        <p:spPr bwMode="auto">
          <a:xfrm>
            <a:off x="2520269" y="1291136"/>
            <a:ext cx="7150713" cy="4804226"/>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a:bodyPr>
          <a:lstStyle/>
          <a:p>
            <a:pPr lvl="1">
              <a:lnSpc>
                <a:spcPct val="150000"/>
              </a:lnSpc>
            </a:pP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分片表达式</a:t>
            </a:r>
            <a:endPar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CREATE TABLE employee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50000"/>
              </a:lnSpc>
              <a:buFont typeface="Webdings" panose="05030102010509060703" charset="0"/>
              <a:buNone/>
            </a:pP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id_num</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integer,</a:t>
            </a:r>
          </a:p>
          <a:p>
            <a:pPr lvl="1">
              <a:lnSpc>
                <a:spcPct val="150000"/>
              </a:lnSpc>
              <a:buFont typeface="Webdings" panose="05030102010509060703"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name char(50),</a:t>
            </a:r>
          </a:p>
          <a:p>
            <a:pPr lvl="1">
              <a:lnSpc>
                <a:spcPct val="150000"/>
              </a:lnSpc>
              <a:buFont typeface="Webdings" panose="05030102010509060703"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salary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integer )</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FRAGMENT BY EXPRESSION</a:t>
            </a:r>
          </a:p>
          <a:p>
            <a:pPr lvl="1">
              <a:lnSpc>
                <a:spcPct val="150000"/>
              </a:lnSpc>
              <a:buFont typeface="Webdings" panose="05030102010509060703" charset="0"/>
              <a:buNone/>
            </a:pPr>
            <a:r>
              <a:rPr lang="en-US" altLang="zh-CN" sz="1600" b="0"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MOD</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id_num</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3) = 0 IN datadbs01,</a:t>
            </a:r>
          </a:p>
          <a:p>
            <a:pPr lvl="1">
              <a:lnSpc>
                <a:spcPct val="150000"/>
              </a:lnSpc>
              <a:buFont typeface="Webdings" panose="05030102010509060703" charset="0"/>
              <a:buNone/>
            </a:pPr>
            <a:r>
              <a:rPr lang="en-US" altLang="zh-CN" sz="1600" b="0"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MOD</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id_num</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3) = 1 IN datadbs02,</a:t>
            </a:r>
          </a:p>
          <a:p>
            <a:pPr lvl="1">
              <a:lnSpc>
                <a:spcPct val="150000"/>
              </a:lnSpc>
              <a:buFont typeface="Webdings" panose="05030102010509060703" charset="0"/>
              <a:buNone/>
            </a:pPr>
            <a:r>
              <a:rPr lang="en-US" altLang="zh-CN" sz="1600" b="0"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MOD</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id_num</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3) = 2 IN datadbs03;</a:t>
            </a:r>
            <a:endParaRPr lang="zh-CN" altLang="en-US" sz="1600" b="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create index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idx_employee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on employee(</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id_num</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set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explain on;</a:t>
            </a:r>
          </a:p>
          <a:p>
            <a:pPr lvl="1">
              <a:lnSpc>
                <a:spcPct val="150000"/>
              </a:lnSpc>
              <a:buFont typeface="Webdings" panose="05030102010509060703"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select * from employee  where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id_num</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b="1" dirty="0">
                <a:solidFill>
                  <a:srgbClr val="000000"/>
                </a:solidFill>
                <a:latin typeface="Arial" panose="020B0604020202020204" pitchFamily="34" charset="0"/>
                <a:cs typeface="宋体" panose="02010600030101010101" pitchFamily="2" charset="-122"/>
              </a:rPr>
              <a:t>表达式分片</a:t>
            </a:r>
            <a:r>
              <a:rPr lang="en-US" altLang="zh-CN" dirty="0">
                <a:solidFill>
                  <a:srgbClr val="000000"/>
                </a:solidFill>
                <a:latin typeface="Arial" panose="020B0604020202020204" pitchFamily="34" charset="0"/>
                <a:cs typeface="宋体" panose="02010600030101010101" pitchFamily="2" charset="-122"/>
              </a:rPr>
              <a:t>- remainder</a:t>
            </a:r>
            <a:endParaRPr lang="zh-CN" altLang="en-US" dirty="0">
              <a:solidFill>
                <a:srgbClr val="000000"/>
              </a:solidFill>
              <a:latin typeface="Arial" panose="020B0604020202020204" pitchFamily="34" charset="0"/>
              <a:cs typeface="宋体" panose="02010600030101010101" pitchFamily="2" charset="-122"/>
            </a:endParaRPr>
          </a:p>
        </p:txBody>
      </p:sp>
      <p:sp>
        <p:nvSpPr>
          <p:cNvPr id="18435" name="内容占位符 2"/>
          <p:cNvSpPr>
            <a:spLocks noGrp="1"/>
          </p:cNvSpPr>
          <p:nvPr>
            <p:ph type="body" sz="quarter" idx="10"/>
          </p:nvPr>
        </p:nvSpPr>
        <p:spPr>
          <a:ln>
            <a:solidFill>
              <a:schemeClr val="bg1"/>
            </a:solidFill>
            <a:miter lim="800000"/>
          </a:ln>
        </p:spPr>
        <p:txBody>
          <a:bodyPr>
            <a:normAutofit fontScale="97500" lnSpcReduction="10000"/>
          </a:bodyPr>
          <a:lstStyle/>
          <a:p>
            <a:pPr>
              <a:lnSpc>
                <a:spcPct val="150000"/>
              </a:lnSpc>
            </a:pPr>
            <a:r>
              <a:rPr lang="zh-CN" altLang="en-US" dirty="0">
                <a:latin typeface="Arial" panose="020B0604020202020204" pitchFamily="34" charset="0"/>
                <a:cs typeface="宋体" panose="02010600030101010101" pitchFamily="2" charset="-122"/>
              </a:rPr>
              <a:t>分片表达式的</a:t>
            </a:r>
            <a:r>
              <a:rPr lang="zh-CN" altLang="en-US" dirty="0">
                <a:solidFill>
                  <a:srgbClr val="FF0000"/>
                </a:solidFill>
                <a:latin typeface="Arial" panose="020B0604020202020204" pitchFamily="34" charset="0"/>
                <a:cs typeface="宋体" panose="02010600030101010101" pitchFamily="2" charset="-122"/>
              </a:rPr>
              <a:t>顺序是非常重要</a:t>
            </a:r>
            <a:r>
              <a:rPr lang="zh-CN" altLang="en-US" dirty="0">
                <a:latin typeface="Arial" panose="020B0604020202020204" pitchFamily="34" charset="0"/>
                <a:cs typeface="宋体" panose="02010600030101010101" pitchFamily="2" charset="-122"/>
              </a:rPr>
              <a:t>的</a:t>
            </a:r>
            <a:endParaRPr lang="en-US" altLang="zh-CN" dirty="0">
              <a:latin typeface="Arial" panose="020B0604020202020204" pitchFamily="34" charset="0"/>
              <a:cs typeface="宋体" panose="02010600030101010101" pitchFamily="2" charset="-122"/>
            </a:endParaRPr>
          </a:p>
          <a:p>
            <a:pPr lvl="1">
              <a:lnSpc>
                <a:spcPct val="150000"/>
              </a:lnSpc>
            </a:pPr>
            <a:r>
              <a:rPr lang="zh-CN" altLang="en-US" dirty="0">
                <a:cs typeface="宋体" panose="02010600030101010101" pitchFamily="2" charset="-122"/>
              </a:rPr>
              <a:t>行数据是根据第一个匹配的表达式来分配存储位置的</a:t>
            </a:r>
            <a:endParaRPr lang="en-US" altLang="zh-CN" dirty="0">
              <a:cs typeface="宋体" panose="02010600030101010101" pitchFamily="2" charset="-122"/>
            </a:endParaRPr>
          </a:p>
          <a:p>
            <a:pPr>
              <a:lnSpc>
                <a:spcPct val="150000"/>
              </a:lnSpc>
            </a:pPr>
            <a:r>
              <a:rPr lang="zh-CN" altLang="en-US" dirty="0">
                <a:latin typeface="Arial" panose="020B0604020202020204" pitchFamily="34" charset="0"/>
                <a:cs typeface="宋体" panose="02010600030101010101" pitchFamily="2" charset="-122"/>
              </a:rPr>
              <a:t>可以使用 </a:t>
            </a:r>
            <a:r>
              <a:rPr lang="en-US" altLang="zh-CN" dirty="0">
                <a:latin typeface="Arial" panose="020B0604020202020204" pitchFamily="34" charset="0"/>
                <a:cs typeface="宋体" panose="02010600030101010101" pitchFamily="2" charset="-122"/>
              </a:rPr>
              <a:t>remainder fragment </a:t>
            </a:r>
            <a:r>
              <a:rPr lang="zh-CN" altLang="en-US" dirty="0">
                <a:latin typeface="Arial" panose="020B0604020202020204" pitchFamily="34" charset="0"/>
                <a:cs typeface="宋体" panose="02010600030101010101" pitchFamily="2" charset="-122"/>
              </a:rPr>
              <a:t>来存放不能满足任何一个分片表达式的数据</a:t>
            </a:r>
            <a:endParaRPr lang="en-US" altLang="zh-CN" dirty="0">
              <a:latin typeface="Arial" panose="020B0604020202020204" pitchFamily="34" charset="0"/>
              <a:cs typeface="宋体" panose="02010600030101010101" pitchFamily="2" charset="-122"/>
            </a:endParaRPr>
          </a:p>
          <a:p>
            <a:pPr lvl="1">
              <a:lnSpc>
                <a:spcPct val="150000"/>
              </a:lnSpc>
            </a:pPr>
            <a:r>
              <a:rPr lang="en-US" altLang="zh-CN" dirty="0">
                <a:cs typeface="宋体" panose="02010600030101010101" pitchFamily="2" charset="-122"/>
              </a:rPr>
              <a:t>remainder fragment </a:t>
            </a:r>
            <a:r>
              <a:rPr lang="zh-CN" altLang="en-US" dirty="0">
                <a:cs typeface="宋体" panose="02010600030101010101" pitchFamily="2" charset="-122"/>
              </a:rPr>
              <a:t>必须放在分片表达式的最后</a:t>
            </a:r>
            <a:r>
              <a:rPr lang="zh-CN" altLang="en-US" dirty="0" smtClean="0">
                <a:cs typeface="宋体" panose="02010600030101010101" pitchFamily="2" charset="-122"/>
              </a:rPr>
              <a:t>部分</a:t>
            </a:r>
            <a:r>
              <a:rPr lang="en-US" altLang="zh-CN" dirty="0" smtClean="0">
                <a:cs typeface="宋体" panose="02010600030101010101" pitchFamily="2" charset="-122"/>
              </a:rPr>
              <a:t> ,</a:t>
            </a:r>
            <a:r>
              <a:rPr lang="zh-CN" altLang="en-US" dirty="0" smtClean="0">
                <a:cs typeface="宋体" panose="02010600030101010101" pitchFamily="2" charset="-122"/>
              </a:rPr>
              <a:t>否则语法存在问题。</a:t>
            </a:r>
            <a:endParaRPr lang="en-US" altLang="zh-CN" dirty="0" smtClean="0">
              <a:cs typeface="宋体" panose="02010600030101010101" pitchFamily="2" charset="-122"/>
            </a:endParaRPr>
          </a:p>
          <a:p>
            <a:pPr marL="341630" lvl="1" indent="0">
              <a:lnSpc>
                <a:spcPct val="150000"/>
              </a:lnSpc>
              <a:buNone/>
            </a:pPr>
            <a:r>
              <a:rPr lang="zh-CN" altLang="en-US" dirty="0" smtClean="0">
                <a:cs typeface="宋体" panose="02010600030101010101" pitchFamily="2" charset="-122"/>
              </a:rPr>
              <a:t>示例：</a:t>
            </a:r>
            <a:endParaRPr lang="en-US" altLang="zh-CN" dirty="0">
              <a:cs typeface="宋体" panose="02010600030101010101" pitchFamily="2" charset="-122"/>
            </a:endParaRPr>
          </a:p>
          <a:p>
            <a:pPr lvl="1">
              <a:lnSpc>
                <a:spcPct val="150000"/>
              </a:lnSpc>
              <a:buFont typeface="Webdings" panose="05030102010509060703" charset="0"/>
              <a:buNone/>
            </a:pPr>
            <a:r>
              <a:rPr lang="en-US" altLang="zh-CN" dirty="0">
                <a:cs typeface="宋体" panose="02010600030101010101" pitchFamily="2" charset="-122"/>
              </a:rPr>
              <a:t>CREATE TABLE tab1 (col1 integer, col2 date)</a:t>
            </a:r>
          </a:p>
          <a:p>
            <a:pPr lvl="1">
              <a:lnSpc>
                <a:spcPct val="150000"/>
              </a:lnSpc>
              <a:buFont typeface="Webdings" panose="05030102010509060703" charset="0"/>
              <a:buNone/>
            </a:pPr>
            <a:r>
              <a:rPr lang="en-US" altLang="zh-CN" dirty="0">
                <a:cs typeface="宋体" panose="02010600030101010101" pitchFamily="2" charset="-122"/>
              </a:rPr>
              <a:t>FRAGMENT BY EXPRESSION</a:t>
            </a:r>
          </a:p>
          <a:p>
            <a:pPr lvl="1">
              <a:lnSpc>
                <a:spcPct val="150000"/>
              </a:lnSpc>
              <a:buFont typeface="Webdings" panose="05030102010509060703" charset="0"/>
              <a:buNone/>
            </a:pPr>
            <a:r>
              <a:rPr lang="en-US" altLang="zh-CN" dirty="0">
                <a:cs typeface="宋体" panose="02010600030101010101" pitchFamily="2" charset="-122"/>
              </a:rPr>
              <a:t>col1 &gt;= 0 and col1 &lt; 100 in datadbs01,</a:t>
            </a:r>
          </a:p>
          <a:p>
            <a:pPr lvl="1">
              <a:lnSpc>
                <a:spcPct val="150000"/>
              </a:lnSpc>
              <a:buFont typeface="Webdings" panose="05030102010509060703" charset="0"/>
              <a:buNone/>
            </a:pPr>
            <a:r>
              <a:rPr lang="en-US" altLang="zh-CN" dirty="0">
                <a:cs typeface="宋体" panose="02010600030101010101" pitchFamily="2" charset="-122"/>
              </a:rPr>
              <a:t>col1 &gt;= 100 and col1 &lt; 200 in datadbs02,</a:t>
            </a:r>
          </a:p>
          <a:p>
            <a:pPr lvl="1">
              <a:lnSpc>
                <a:spcPct val="150000"/>
              </a:lnSpc>
              <a:buFont typeface="Webdings" panose="05030102010509060703" charset="0"/>
              <a:buNone/>
            </a:pPr>
            <a:r>
              <a:rPr lang="en-US" altLang="zh-CN" b="1" dirty="0">
                <a:solidFill>
                  <a:srgbClr val="FF3300"/>
                </a:solidFill>
                <a:cs typeface="宋体" panose="02010600030101010101" pitchFamily="2" charset="-122"/>
              </a:rPr>
              <a:t>remainder in datadbs03;</a:t>
            </a:r>
            <a:endParaRPr lang="zh-CN" altLang="en-US" b="1" dirty="0">
              <a:solidFill>
                <a:srgbClr val="FF3300"/>
              </a:solidFill>
              <a:cs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2"/>
          <p:cNvSpPr>
            <a:spLocks noGrp="1"/>
          </p:cNvSpPr>
          <p:nvPr>
            <p:ph type="body" sz="quarter" idx="10"/>
          </p:nvPr>
        </p:nvSpPr>
        <p:spPr/>
        <p:txBody>
          <a:bodyPr>
            <a:noAutofit/>
          </a:bodyPr>
          <a:lstStyle/>
          <a:p>
            <a:pPr>
              <a:lnSpc>
                <a:spcPct val="150000"/>
              </a:lnSpc>
            </a:pPr>
            <a:r>
              <a:rPr lang="zh-CN" altLang="en-US" sz="1800" dirty="0">
                <a:latin typeface="Arial" panose="020B0604020202020204" pitchFamily="34" charset="0"/>
                <a:cs typeface="宋体" panose="02010600030101010101" pitchFamily="2" charset="-122"/>
              </a:rPr>
              <a:t>简单，不需要了解数据的分布</a:t>
            </a:r>
          </a:p>
          <a:p>
            <a:pPr>
              <a:lnSpc>
                <a:spcPct val="150000"/>
              </a:lnSpc>
            </a:pPr>
            <a:r>
              <a:rPr lang="zh-CN" altLang="en-US" sz="1800" dirty="0">
                <a:latin typeface="Arial" panose="020B0604020202020204" pitchFamily="34" charset="0"/>
                <a:cs typeface="宋体" panose="02010600030101010101" pitchFamily="2" charset="-122"/>
              </a:rPr>
              <a:t>把数据均匀地分配到所有分片</a:t>
            </a:r>
            <a:r>
              <a:rPr lang="zh-CN" altLang="en-US" sz="1800" dirty="0" smtClean="0">
                <a:latin typeface="Arial" panose="020B0604020202020204" pitchFamily="34" charset="0"/>
                <a:cs typeface="宋体" panose="02010600030101010101" pitchFamily="2" charset="-122"/>
              </a:rPr>
              <a:t>中</a:t>
            </a:r>
          </a:p>
          <a:p>
            <a:pPr>
              <a:lnSpc>
                <a:spcPct val="150000"/>
              </a:lnSpc>
            </a:pPr>
            <a:r>
              <a:rPr lang="zh-CN" altLang="en-US" sz="1800" dirty="0">
                <a:latin typeface="Arial" panose="020B0604020202020204" pitchFamily="34" charset="0"/>
                <a:cs typeface="宋体" panose="02010600030101010101" pitchFamily="2" charset="-122"/>
              </a:rPr>
              <a:t>提高查询性能</a:t>
            </a:r>
          </a:p>
          <a:p>
            <a:pPr>
              <a:lnSpc>
                <a:spcPct val="150000"/>
              </a:lnSpc>
            </a:pPr>
            <a:r>
              <a:rPr lang="zh-CN" altLang="en-US" sz="1800" dirty="0" smtClean="0">
                <a:latin typeface="Arial" panose="020B0604020202020204" pitchFamily="34" charset="0"/>
                <a:cs typeface="宋体" panose="02010600030101010101" pitchFamily="2" charset="-122"/>
              </a:rPr>
              <a:t>只能</a:t>
            </a:r>
            <a:r>
              <a:rPr lang="zh-CN" altLang="en-US" sz="1800" dirty="0">
                <a:latin typeface="Arial" panose="020B0604020202020204" pitchFamily="34" charset="0"/>
                <a:cs typeface="宋体" panose="02010600030101010101" pitchFamily="2" charset="-122"/>
              </a:rPr>
              <a:t>用于表，</a:t>
            </a:r>
            <a:r>
              <a:rPr lang="zh-CN" altLang="en-US" sz="1800" b="1" dirty="0">
                <a:latin typeface="Arial" panose="020B0604020202020204" pitchFamily="34" charset="0"/>
                <a:cs typeface="宋体" panose="02010600030101010101" pitchFamily="2" charset="-122"/>
              </a:rPr>
              <a:t>不能用于索引</a:t>
            </a:r>
          </a:p>
          <a:p>
            <a:pPr>
              <a:lnSpc>
                <a:spcPct val="150000"/>
              </a:lnSpc>
            </a:pPr>
            <a:r>
              <a:rPr lang="zh-CN" altLang="en-US" sz="1800" dirty="0">
                <a:latin typeface="Arial" panose="020B0604020202020204" pitchFamily="34" charset="0"/>
                <a:cs typeface="宋体" panose="02010600030101010101" pitchFamily="2" charset="-122"/>
              </a:rPr>
              <a:t>不能用于分片忽略以增加</a:t>
            </a:r>
            <a:r>
              <a:rPr lang="zh-CN" altLang="en-US" sz="1800" dirty="0" smtClean="0">
                <a:latin typeface="Arial" panose="020B0604020202020204" pitchFamily="34" charset="0"/>
                <a:cs typeface="宋体" panose="02010600030101010101" pitchFamily="2" charset="-122"/>
              </a:rPr>
              <a:t>性能</a:t>
            </a:r>
          </a:p>
        </p:txBody>
      </p:sp>
      <p:sp>
        <p:nvSpPr>
          <p:cNvPr id="19458" name="标题 1"/>
          <p:cNvSpPr>
            <a:spLocks noGrp="1"/>
          </p:cNvSpPr>
          <p:nvPr>
            <p:ph type="title"/>
          </p:nvPr>
        </p:nvSpPr>
        <p:spPr/>
        <p:txBody>
          <a:bodyPr/>
          <a:lstStyle/>
          <a:p>
            <a:r>
              <a:rPr lang="zh-CN" altLang="en-US" b="1" dirty="0" smtClean="0">
                <a:solidFill>
                  <a:srgbClr val="000000"/>
                </a:solidFill>
                <a:latin typeface="Arial" panose="020B0604020202020204" pitchFamily="34" charset="0"/>
                <a:cs typeface="宋体" panose="02010600030101010101" pitchFamily="2" charset="-122"/>
              </a:rPr>
              <a:t>轮询法</a:t>
            </a:r>
            <a:r>
              <a:rPr lang="zh-CN" altLang="en-US" b="1" dirty="0">
                <a:solidFill>
                  <a:srgbClr val="000000"/>
                </a:solidFill>
                <a:latin typeface="Arial" panose="020B0604020202020204" pitchFamily="34" charset="0"/>
                <a:cs typeface="宋体" panose="02010600030101010101" pitchFamily="2" charset="-122"/>
              </a:rPr>
              <a:t>分片</a:t>
            </a:r>
            <a:r>
              <a:rPr lang="en-US" altLang="zh-CN" b="1" dirty="0">
                <a:solidFill>
                  <a:srgbClr val="000000"/>
                </a:solidFill>
                <a:latin typeface="Arial" panose="020B0604020202020204" pitchFamily="34" charset="0"/>
                <a:cs typeface="宋体" panose="02010600030101010101" pitchFamily="2" charset="-122"/>
              </a:rPr>
              <a:t>(Round-Robin) </a:t>
            </a:r>
            <a:endParaRPr lang="zh-CN" altLang="en-US" dirty="0">
              <a:solidFill>
                <a:srgbClr val="000000"/>
              </a:solidFill>
              <a:latin typeface="Arial" panose="020B0604020202020204" pitchFamily="34" charset="0"/>
              <a:cs typeface="宋体" panose="02010600030101010101" pitchFamily="2" charset="-122"/>
            </a:endParaRPr>
          </a:p>
        </p:txBody>
      </p:sp>
      <p:sp>
        <p:nvSpPr>
          <p:cNvPr id="6" name="内容占位符 3"/>
          <p:cNvSpPr txBox="1"/>
          <p:nvPr/>
        </p:nvSpPr>
        <p:spPr bwMode="auto">
          <a:xfrm>
            <a:off x="4570182" y="2609676"/>
            <a:ext cx="7150713" cy="2434944"/>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a:bodyPr>
          <a:lstStyle/>
          <a:p>
            <a:pPr lvl="1">
              <a:lnSpc>
                <a:spcPct val="150000"/>
              </a:lnSpc>
              <a:buFont typeface="Wingdings" panose="05000000000000000000" charset="0"/>
              <a:buNone/>
            </a:pPr>
            <a:r>
              <a:rPr lang="en-US" altLang="zh-CN" sz="1600" b="0" dirty="0">
                <a:cs typeface="宋体" panose="02010600030101010101" pitchFamily="2" charset="-122"/>
              </a:rPr>
              <a:t>CREATE TABLE tab1 </a:t>
            </a:r>
          </a:p>
          <a:p>
            <a:pPr lvl="1">
              <a:lnSpc>
                <a:spcPct val="150000"/>
              </a:lnSpc>
              <a:buFont typeface="Wingdings" panose="05000000000000000000" charset="0"/>
              <a:buNone/>
            </a:pPr>
            <a:r>
              <a:rPr lang="en-US" altLang="zh-CN" sz="1600" b="0" dirty="0">
                <a:cs typeface="宋体" panose="02010600030101010101" pitchFamily="2" charset="-122"/>
              </a:rPr>
              <a:t>  (col1 integer,  col2 date)</a:t>
            </a:r>
          </a:p>
          <a:p>
            <a:pPr lvl="1">
              <a:lnSpc>
                <a:spcPct val="150000"/>
              </a:lnSpc>
              <a:buFont typeface="Wingdings" panose="05000000000000000000" charset="0"/>
              <a:buNone/>
            </a:pPr>
            <a:r>
              <a:rPr lang="en-US" altLang="zh-CN" sz="1600" b="0" dirty="0">
                <a:cs typeface="宋体" panose="02010600030101010101" pitchFamily="2" charset="-122"/>
              </a:rPr>
              <a:t> FRAGMENT BY round robin in </a:t>
            </a:r>
          </a:p>
          <a:p>
            <a:pPr lvl="1">
              <a:lnSpc>
                <a:spcPct val="150000"/>
              </a:lnSpc>
              <a:buFont typeface="Wingdings" panose="05000000000000000000" charset="0"/>
              <a:buNone/>
            </a:pPr>
            <a:r>
              <a:rPr lang="en-US" altLang="zh-CN" sz="1600" b="0" dirty="0">
                <a:cs typeface="宋体" panose="02010600030101010101" pitchFamily="2" charset="-122"/>
              </a:rPr>
              <a:t>     datadbs01, datadbs02;</a:t>
            </a:r>
          </a:p>
          <a:p>
            <a:pPr lvl="1">
              <a:lnSpc>
                <a:spcPct val="150000"/>
              </a:lnSpc>
              <a:buFont typeface="Wingdings" panose="05000000000000000000" charset="0"/>
              <a:buNone/>
            </a:pPr>
            <a:r>
              <a:rPr lang="en-US" altLang="zh-CN" sz="1600" b="0" dirty="0">
                <a:cs typeface="宋体" panose="02010600030101010101" pitchFamily="2" charset="-122"/>
              </a:rPr>
              <a:t>Create index idx_tab1 on tab1(col1</a:t>
            </a:r>
            <a:r>
              <a:rPr lang="en-US" altLang="zh-CN" sz="1600" b="0" dirty="0" smtClean="0">
                <a:cs typeface="宋体" panose="02010600030101010101" pitchFamily="2" charset="-122"/>
              </a:rPr>
              <a:t>);</a:t>
            </a:r>
            <a:endParaRPr lang="en-US" altLang="zh-CN" sz="1600" dirty="0">
              <a:cs typeface="宋体" panose="02010600030101010101" pitchFamily="2" charset="-122"/>
            </a:endParaRPr>
          </a:p>
          <a:p>
            <a:pPr lvl="1">
              <a:lnSpc>
                <a:spcPct val="150000"/>
              </a:lnSpc>
              <a:buFont typeface="Wingdings" panose="05000000000000000000" charset="0"/>
              <a:buNone/>
            </a:pPr>
            <a:r>
              <a:rPr lang="en-US" altLang="zh-CN" sz="1600" dirty="0">
                <a:solidFill>
                  <a:srgbClr val="FF3300"/>
                </a:solidFill>
                <a:cs typeface="宋体" panose="02010600030101010101" pitchFamily="2" charset="-122"/>
              </a:rPr>
              <a:t>--</a:t>
            </a:r>
            <a:r>
              <a:rPr lang="zh-CN" altLang="en-US" sz="1600" dirty="0">
                <a:solidFill>
                  <a:srgbClr val="FF3300"/>
                </a:solidFill>
                <a:cs typeface="宋体" panose="02010600030101010101" pitchFamily="2" charset="-122"/>
              </a:rPr>
              <a:t>索引</a:t>
            </a:r>
            <a:r>
              <a:rPr lang="en-US" altLang="zh-CN" sz="1600" dirty="0">
                <a:solidFill>
                  <a:srgbClr val="FF3300"/>
                </a:solidFill>
                <a:cs typeface="宋体" panose="02010600030101010101" pitchFamily="2" charset="-122"/>
              </a:rPr>
              <a:t>idx_tab1</a:t>
            </a:r>
            <a:r>
              <a:rPr lang="zh-CN" altLang="en-US" sz="1600" dirty="0">
                <a:solidFill>
                  <a:srgbClr val="FF3300"/>
                </a:solidFill>
                <a:cs typeface="宋体" panose="02010600030101010101" pitchFamily="2" charset="-122"/>
              </a:rPr>
              <a:t>存储在哪里</a:t>
            </a:r>
            <a:r>
              <a:rPr lang="zh-CN" altLang="en-US" sz="1600" dirty="0" smtClean="0">
                <a:solidFill>
                  <a:srgbClr val="FF3300"/>
                </a:solidFill>
                <a:cs typeface="宋体" panose="02010600030101010101" pitchFamily="2" charset="-122"/>
              </a:rPr>
              <a:t>？</a:t>
            </a:r>
            <a:endParaRPr lang="zh-CN" altLang="en-US" sz="1600" dirty="0">
              <a:solidFill>
                <a:srgbClr val="FF3300"/>
              </a:solidFill>
              <a:cs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lIns="90000" tIns="46800" rIns="90000" bIns="46800" anchor="b"/>
          <a:lstStyle/>
          <a:p>
            <a:r>
              <a:rPr lang="zh-CN" altLang="en-US" b="1" dirty="0">
                <a:solidFill>
                  <a:srgbClr val="000000"/>
                </a:solidFill>
                <a:latin typeface="Arial" panose="020B0604020202020204" pitchFamily="34" charset="0"/>
                <a:cs typeface="Arial" panose="020B0604020202020204" pitchFamily="34" charset="0"/>
              </a:rPr>
              <a:t>列表式</a:t>
            </a:r>
            <a:r>
              <a:rPr lang="en-US" altLang="zh-CN" b="1" dirty="0">
                <a:solidFill>
                  <a:srgbClr val="000000"/>
                </a:solidFill>
                <a:latin typeface="Arial" panose="020B0604020202020204" pitchFamily="34" charset="0"/>
                <a:cs typeface="Arial" panose="020B0604020202020204" pitchFamily="34" charset="0"/>
              </a:rPr>
              <a:t>(List)</a:t>
            </a:r>
            <a:r>
              <a:rPr lang="zh-CN" b="1" dirty="0">
                <a:solidFill>
                  <a:srgbClr val="000000"/>
                </a:solidFill>
                <a:latin typeface="Arial" panose="020B0604020202020204" pitchFamily="34" charset="0"/>
                <a:cs typeface="Arial" panose="020B0604020202020204" pitchFamily="34" charset="0"/>
              </a:rPr>
              <a:t>分</a:t>
            </a:r>
            <a:r>
              <a:rPr lang="zh-CN" b="1" dirty="0" smtClean="0">
                <a:solidFill>
                  <a:srgbClr val="000000"/>
                </a:solidFill>
                <a:latin typeface="Arial" panose="020B0604020202020204" pitchFamily="34" charset="0"/>
                <a:cs typeface="Arial" panose="020B0604020202020204" pitchFamily="34" charset="0"/>
              </a:rPr>
              <a:t>片</a:t>
            </a:r>
            <a:r>
              <a:rPr lang="zh-CN" altLang="en-US" dirty="0" smtClean="0">
                <a:solidFill>
                  <a:srgbClr val="000000"/>
                </a:solidFill>
                <a:latin typeface="Arial" panose="020B0604020202020204" pitchFamily="34" charset="0"/>
                <a:cs typeface="Arial" panose="020B0604020202020204" pitchFamily="34" charset="0"/>
              </a:rPr>
              <a:t>策略</a:t>
            </a:r>
            <a:endParaRPr lang="zh-CN" altLang="en-US" b="1" dirty="0">
              <a:solidFill>
                <a:srgbClr val="000000"/>
              </a:solidFill>
              <a:latin typeface="Arial" panose="020B0604020202020204" pitchFamily="34" charset="0"/>
              <a:cs typeface="Arial" panose="020B0604020202020204" pitchFamily="34" charset="0"/>
            </a:endParaRPr>
          </a:p>
        </p:txBody>
      </p:sp>
      <p:sp>
        <p:nvSpPr>
          <p:cNvPr id="20483" name="Rectangle 3"/>
          <p:cNvSpPr>
            <a:spLocks noGrp="1" noChangeArrowheads="1"/>
          </p:cNvSpPr>
          <p:nvPr>
            <p:ph type="body" sz="quarter" idx="10"/>
          </p:nvPr>
        </p:nvSpPr>
        <p:spPr/>
        <p:txBody>
          <a:bodyPr lIns="90000" tIns="46800" rIns="90000" bIns="46800"/>
          <a:lstStyle/>
          <a:p>
            <a:pPr defTabSz="457200">
              <a:spcBef>
                <a:spcPts val="875"/>
              </a:spcBef>
              <a:spcAft>
                <a:spcPts val="375"/>
              </a:spcAft>
              <a:tabLst>
                <a:tab pos="228600" algn="l"/>
                <a:tab pos="340995" algn="l"/>
                <a:tab pos="798195" algn="l"/>
                <a:tab pos="1255395" algn="l"/>
                <a:tab pos="1712595" algn="l"/>
                <a:tab pos="2169795" algn="l"/>
                <a:tab pos="2626995" algn="l"/>
                <a:tab pos="3084195" algn="l"/>
                <a:tab pos="3541395" algn="l"/>
                <a:tab pos="3998595" algn="l"/>
                <a:tab pos="4455795" algn="l"/>
                <a:tab pos="4912995" algn="l"/>
                <a:tab pos="5370195" algn="l"/>
                <a:tab pos="5827395" algn="l"/>
                <a:tab pos="6284595" algn="l"/>
                <a:tab pos="6741795" algn="l"/>
                <a:tab pos="7198995" algn="l"/>
                <a:tab pos="7656195" algn="l"/>
                <a:tab pos="8113395" algn="l"/>
                <a:tab pos="8570595" algn="l"/>
                <a:tab pos="9027795" algn="l"/>
              </a:tabLst>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基于离散值列表的片段数据：</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defTabSz="457200">
              <a:spcBef>
                <a:spcPts val="875"/>
              </a:spcBef>
              <a:spcAft>
                <a:spcPts val="375"/>
              </a:spcAft>
              <a:tabLst>
                <a:tab pos="228600" algn="l"/>
                <a:tab pos="340995" algn="l"/>
                <a:tab pos="798195" algn="l"/>
                <a:tab pos="1255395" algn="l"/>
                <a:tab pos="1712595" algn="l"/>
                <a:tab pos="2169795" algn="l"/>
                <a:tab pos="2626995" algn="l"/>
                <a:tab pos="3084195" algn="l"/>
                <a:tab pos="3541395" algn="l"/>
                <a:tab pos="3998595" algn="l"/>
                <a:tab pos="4455795" algn="l"/>
                <a:tab pos="4912995" algn="l"/>
                <a:tab pos="5370195" algn="l"/>
                <a:tab pos="5827395" algn="l"/>
                <a:tab pos="6284595" algn="l"/>
                <a:tab pos="6741795" algn="l"/>
                <a:tab pos="7198995" algn="l"/>
                <a:tab pos="7656195" algn="l"/>
                <a:tab pos="8113395" algn="l"/>
                <a:tab pos="8570595" algn="l"/>
                <a:tab pos="9027795" algn="l"/>
              </a:tabLst>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范例 ：在一个国家或一个组织部门的国家。</a:t>
            </a:r>
          </a:p>
        </p:txBody>
      </p:sp>
      <p:pic>
        <p:nvPicPr>
          <p:cNvPr id="2048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9010" y="2251710"/>
            <a:ext cx="7927340" cy="3997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pic>
      <p:sp>
        <p:nvSpPr>
          <p:cNvPr id="20485" name="Text Box 5"/>
          <p:cNvSpPr txBox="1">
            <a:spLocks noChangeArrowheads="1"/>
          </p:cNvSpPr>
          <p:nvPr/>
        </p:nvSpPr>
        <p:spPr bwMode="auto">
          <a:xfrm>
            <a:off x="6502083" y="2586355"/>
            <a:ext cx="757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endParaRPr lang="zh-CN" altLang="en-US"/>
          </a:p>
        </p:txBody>
      </p:sp>
      <p:sp>
        <p:nvSpPr>
          <p:cNvPr id="20486" name="Line 6"/>
          <p:cNvSpPr>
            <a:spLocks noChangeShapeType="1"/>
          </p:cNvSpPr>
          <p:nvPr/>
        </p:nvSpPr>
        <p:spPr bwMode="auto">
          <a:xfrm>
            <a:off x="6637338" y="5735638"/>
            <a:ext cx="1587" cy="1587"/>
          </a:xfrm>
          <a:prstGeom prst="line">
            <a:avLst/>
          </a:prstGeom>
          <a:noFill/>
          <a:ln w="9360">
            <a:solidFill>
              <a:srgbClr val="000000"/>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
          <p:cNvSpPr>
            <a:spLocks noGrp="1"/>
          </p:cNvSpPr>
          <p:nvPr>
            <p:ph type="title"/>
          </p:nvPr>
        </p:nvSpPr>
        <p:spPr/>
        <p:txBody>
          <a:bodyPr/>
          <a:lstStyle/>
          <a:p>
            <a:r>
              <a:rPr lang="en-US" altLang="zh-CN" dirty="0" smtClean="0">
                <a:latin typeface="Arial" panose="020B0604020202020204" pitchFamily="34" charset="0"/>
                <a:cs typeface="Arial" panose="020B0604020202020204" pitchFamily="34" charset="0"/>
              </a:rPr>
              <a:t>GBase 8s </a:t>
            </a:r>
            <a:r>
              <a:rPr lang="zh-CN" dirty="0" smtClean="0">
                <a:latin typeface="Arial" panose="020B0604020202020204" pitchFamily="34" charset="0"/>
                <a:cs typeface="Arial" panose="020B0604020202020204" pitchFamily="34" charset="0"/>
              </a:rPr>
              <a:t>间隔</a:t>
            </a:r>
            <a:r>
              <a:rPr lang="zh-CN" dirty="0">
                <a:latin typeface="Arial" panose="020B0604020202020204" pitchFamily="34" charset="0"/>
                <a:cs typeface="Arial" panose="020B0604020202020204" pitchFamily="34" charset="0"/>
              </a:rPr>
              <a:t>分片</a:t>
            </a:r>
            <a:endParaRPr lang="zh-CN" altLang="en-US" dirty="0">
              <a:latin typeface="Arial" panose="020B0604020202020204" pitchFamily="34" charset="0"/>
              <a:cs typeface="宋体" panose="02010600030101010101" pitchFamily="2" charset="-122"/>
            </a:endParaRPr>
          </a:p>
        </p:txBody>
      </p:sp>
      <p:sp>
        <p:nvSpPr>
          <p:cNvPr id="21507" name="内容占位符 4"/>
          <p:cNvSpPr>
            <a:spLocks noGrp="1"/>
          </p:cNvSpPr>
          <p:nvPr>
            <p:ph type="body" sz="quarter" idx="10"/>
          </p:nvPr>
        </p:nvSpPr>
        <p:spPr>
          <a:xfrm>
            <a:off x="763905" y="1111250"/>
            <a:ext cx="10718800" cy="4035425"/>
          </a:xfrm>
        </p:spPr>
        <p:txBody>
          <a:bodyPr>
            <a:normAutofit/>
          </a:bodyPr>
          <a:lstStyle/>
          <a:p>
            <a:pPr>
              <a:lnSpc>
                <a:spcPct val="150000"/>
              </a:lnSpc>
            </a:pPr>
            <a:r>
              <a:rPr lang="zh-CN" sz="2000" dirty="0" smtClean="0">
                <a:latin typeface="微软雅黑" panose="020B0503020204020204" pitchFamily="34" charset="-122"/>
                <a:ea typeface="微软雅黑" panose="020B0503020204020204" pitchFamily="34" charset="-122"/>
                <a:cs typeface="微软雅黑" panose="020B0503020204020204" pitchFamily="34" charset="-122"/>
              </a:rPr>
              <a:t>间隔分片</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341630" lvl="1" indent="0">
              <a:lnSpc>
                <a:spcPct val="150000"/>
              </a:lnSpc>
              <a:buNone/>
            </a:pP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GBase 8s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特有，</a:t>
            </a:r>
            <a:r>
              <a:rPr lang="zh-CN" sz="1600" dirty="0" smtClean="0">
                <a:latin typeface="微软雅黑" panose="020B0503020204020204" pitchFamily="34" charset="-122"/>
                <a:ea typeface="微软雅黑" panose="020B0503020204020204" pitchFamily="34" charset="-122"/>
                <a:cs typeface="微软雅黑" panose="020B0503020204020204" pitchFamily="34" charset="-122"/>
              </a:rPr>
              <a:t>分片数据基于</a:t>
            </a:r>
            <a:r>
              <a:rPr lang="zh-CN" sz="1600" dirty="0">
                <a:latin typeface="微软雅黑" panose="020B0503020204020204" pitchFamily="34" charset="-122"/>
                <a:ea typeface="微软雅黑" panose="020B0503020204020204" pitchFamily="34" charset="-122"/>
                <a:cs typeface="微软雅黑" panose="020B0503020204020204" pitchFamily="34" charset="-122"/>
              </a:rPr>
              <a:t>一个</a:t>
            </a:r>
            <a:r>
              <a:rPr lang="zh-CN" sz="1600" dirty="0">
                <a:solidFill>
                  <a:srgbClr val="FF6600"/>
                </a:solidFill>
                <a:latin typeface="微软雅黑" panose="020B0503020204020204" pitchFamily="34" charset="-122"/>
                <a:ea typeface="微软雅黑" panose="020B0503020204020204" pitchFamily="34" charset="-122"/>
                <a:cs typeface="微软雅黑" panose="020B0503020204020204" pitchFamily="34" charset="-122"/>
              </a:rPr>
              <a:t>间隔值</a:t>
            </a:r>
            <a:r>
              <a:rPr lang="zh-CN" sz="16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zh-CN" dirty="0">
                <a:solidFill>
                  <a:srgbClr val="FF6600"/>
                </a:solidFill>
                <a:latin typeface="微软雅黑" panose="020B0503020204020204" pitchFamily="34" charset="-122"/>
                <a:ea typeface="微软雅黑" panose="020B0503020204020204" pitchFamily="34" charset="-122"/>
                <a:cs typeface="微软雅黑" panose="020B0503020204020204" pitchFamily="34" charset="-122"/>
              </a:rPr>
              <a:t>数据库表和索引都可以用这种策略来进行分片。</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这个过程是不需要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DBA</a:t>
            </a:r>
            <a:r>
              <a:rPr lang="zh-CN" altLang="zh-CN" dirty="0" smtClean="0">
                <a:latin typeface="微软雅黑" panose="020B0503020204020204" pitchFamily="34" charset="-122"/>
                <a:ea typeface="微软雅黑" panose="020B0503020204020204" pitchFamily="34" charset="-122"/>
                <a:cs typeface="微软雅黑" panose="020B0503020204020204" pitchFamily="34" charset="-122"/>
              </a:rPr>
              <a:t>参与</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341630" lvl="1" indent="0">
              <a:lnSpc>
                <a:spcPct val="150000"/>
              </a:lnSpc>
              <a:buNone/>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示例：</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marL="684530" lvl="1" indent="-342900">
              <a:lnSpc>
                <a:spcPct val="150000"/>
              </a:lnSpc>
              <a:buFont typeface="+mj-lt"/>
              <a:buAutoNum type="arabicPeriod"/>
            </a:pPr>
            <a:r>
              <a:rPr lang="zh-CN" sz="1600" dirty="0" smtClean="0">
                <a:latin typeface="微软雅黑" panose="020B0503020204020204" pitchFamily="34" charset="-122"/>
                <a:ea typeface="微软雅黑" panose="020B0503020204020204" pitchFamily="34" charset="-122"/>
                <a:cs typeface="微软雅黑" panose="020B0503020204020204" pitchFamily="34" charset="-122"/>
              </a:rPr>
              <a:t>一</a:t>
            </a:r>
            <a:r>
              <a:rPr lang="zh-CN" sz="1600" dirty="0">
                <a:latin typeface="微软雅黑" panose="020B0503020204020204" pitchFamily="34" charset="-122"/>
                <a:ea typeface="微软雅黑" panose="020B0503020204020204" pitchFamily="34" charset="-122"/>
                <a:cs typeface="微软雅黑" panose="020B0503020204020204" pitchFamily="34" charset="-122"/>
              </a:rPr>
              <a:t>个分片是基于一个月，一年或几百万顾客的记录</a:t>
            </a:r>
            <a:r>
              <a:rPr lang="zh-CN" sz="16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684530" lvl="1" indent="-342900">
              <a:lnSpc>
                <a:spcPct val="150000"/>
              </a:lnSpc>
              <a:buFont typeface="+mj-lt"/>
              <a:buAutoNum type="arabicPeriod"/>
            </a:pPr>
            <a:r>
              <a:rPr lang="zh-CN" sz="1600" dirty="0" smtClean="0">
                <a:latin typeface="微软雅黑" panose="020B0503020204020204" pitchFamily="34" charset="-122"/>
                <a:ea typeface="微软雅黑" panose="020B0503020204020204" pitchFamily="34" charset="-122"/>
                <a:cs typeface="微软雅黑" panose="020B0503020204020204" pitchFamily="34" charset="-122"/>
              </a:rPr>
              <a:t>数据表</a:t>
            </a:r>
            <a:r>
              <a:rPr lang="zh-CN" sz="1600" dirty="0">
                <a:latin typeface="微软雅黑" panose="020B0503020204020204" pitchFamily="34" charset="-122"/>
                <a:ea typeface="微软雅黑" panose="020B0503020204020204" pitchFamily="34" charset="-122"/>
                <a:cs typeface="微软雅黑" panose="020B0503020204020204" pitchFamily="34" charset="-122"/>
              </a:rPr>
              <a:t>有一个最初的分片，它是基于一个</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range</a:t>
            </a:r>
            <a:r>
              <a:rPr lang="zh-CN" sz="1600" dirty="0">
                <a:latin typeface="微软雅黑" panose="020B0503020204020204" pitchFamily="34" charset="-122"/>
                <a:ea typeface="微软雅黑" panose="020B0503020204020204" pitchFamily="34" charset="-122"/>
                <a:cs typeface="微软雅黑" panose="020B0503020204020204" pitchFamily="34" charset="-122"/>
              </a:rPr>
              <a:t>语句来定义的。当一条记录不能满足最初的分片时</a:t>
            </a:r>
            <a:r>
              <a:rPr lang="zh-CN" sz="16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smtClean="0">
                <a:solidFill>
                  <a:srgbClr val="FF6600"/>
                </a:solidFill>
                <a:latin typeface="微软雅黑" panose="020B0503020204020204" pitchFamily="34" charset="-122"/>
                <a:ea typeface="微软雅黑" panose="020B0503020204020204" pitchFamily="34" charset="-122"/>
                <a:cs typeface="微软雅黑" panose="020B0503020204020204" pitchFamily="34" charset="-122"/>
              </a:rPr>
              <a:t>GBase 8s</a:t>
            </a:r>
            <a:r>
              <a:rPr lang="zh-CN" sz="1600" dirty="0" smtClean="0">
                <a:solidFill>
                  <a:srgbClr val="FF6600"/>
                </a:solidFill>
                <a:latin typeface="微软雅黑" panose="020B0503020204020204" pitchFamily="34" charset="-122"/>
                <a:ea typeface="微软雅黑" panose="020B0503020204020204" pitchFamily="34" charset="-122"/>
                <a:cs typeface="微软雅黑" panose="020B0503020204020204" pitchFamily="34" charset="-122"/>
              </a:rPr>
              <a:t>系统</a:t>
            </a:r>
            <a:r>
              <a:rPr lang="zh-CN" sz="1600" dirty="0">
                <a:solidFill>
                  <a:srgbClr val="FF6600"/>
                </a:solidFill>
                <a:latin typeface="微软雅黑" panose="020B0503020204020204" pitchFamily="34" charset="-122"/>
                <a:ea typeface="微软雅黑" panose="020B0503020204020204" pitchFamily="34" charset="-122"/>
                <a:cs typeface="微软雅黑" panose="020B0503020204020204" pitchFamily="34" charset="-122"/>
              </a:rPr>
              <a:t>将会自动创建一个分片来存储这条</a:t>
            </a:r>
            <a:r>
              <a:rPr lang="zh-CN" sz="1600" dirty="0" smtClean="0">
                <a:solidFill>
                  <a:srgbClr val="FF6600"/>
                </a:solidFill>
                <a:latin typeface="微软雅黑" panose="020B0503020204020204" pitchFamily="34" charset="-122"/>
                <a:ea typeface="微软雅黑" panose="020B0503020204020204" pitchFamily="34" charset="-122"/>
                <a:cs typeface="微软雅黑" panose="020B0503020204020204" pitchFamily="34" charset="-122"/>
              </a:rPr>
              <a:t>记录</a:t>
            </a:r>
            <a:r>
              <a:rPr lang="zh-CN" sz="16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内容占位符 3"/>
          <p:cNvSpPr txBox="1"/>
          <p:nvPr/>
        </p:nvSpPr>
        <p:spPr bwMode="auto">
          <a:xfrm>
            <a:off x="2517678" y="4250064"/>
            <a:ext cx="7663550" cy="2115625"/>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a:bodyPr>
          <a:lstStyle/>
          <a:p>
            <a:pPr lvl="1">
              <a:lnSpc>
                <a:spcPct val="150000"/>
              </a:lnSpc>
            </a:pPr>
            <a:r>
              <a:rPr lang="en-US" altLang="zh-CN" sz="1600" b="0" dirty="0">
                <a:solidFill>
                  <a:srgbClr val="000000"/>
                </a:solidFill>
              </a:rPr>
              <a:t>create table </a:t>
            </a:r>
            <a:r>
              <a:rPr lang="en-US" altLang="zh-CN" sz="1600" b="0" dirty="0" smtClean="0">
                <a:solidFill>
                  <a:srgbClr val="000000"/>
                </a:solidFill>
              </a:rPr>
              <a:t>order3 (</a:t>
            </a:r>
            <a:r>
              <a:rPr lang="en-US" altLang="zh-CN" sz="1600" b="0" dirty="0" err="1" smtClean="0">
                <a:solidFill>
                  <a:srgbClr val="000000"/>
                </a:solidFill>
              </a:rPr>
              <a:t>order_num</a:t>
            </a:r>
            <a:r>
              <a:rPr lang="en-US" altLang="zh-CN" sz="1600" b="0" dirty="0" smtClean="0">
                <a:solidFill>
                  <a:srgbClr val="000000"/>
                </a:solidFill>
              </a:rPr>
              <a:t> </a:t>
            </a:r>
            <a:r>
              <a:rPr lang="en-US" altLang="zh-CN" sz="1600" b="0" dirty="0">
                <a:solidFill>
                  <a:srgbClr val="000000"/>
                </a:solidFill>
              </a:rPr>
              <a:t>integer not </a:t>
            </a:r>
            <a:r>
              <a:rPr lang="en-US" altLang="zh-CN" sz="1600" b="0" dirty="0" err="1" smtClean="0">
                <a:solidFill>
                  <a:srgbClr val="000000"/>
                </a:solidFill>
              </a:rPr>
              <a:t>null,order_date</a:t>
            </a:r>
            <a:r>
              <a:rPr lang="en-US" altLang="zh-CN" sz="1600" b="0" dirty="0" smtClean="0">
                <a:solidFill>
                  <a:srgbClr val="000000"/>
                </a:solidFill>
              </a:rPr>
              <a:t> DATE</a:t>
            </a:r>
            <a:r>
              <a:rPr lang="zh-CN" altLang="en-US" sz="1600" b="0" dirty="0" smtClean="0">
                <a:solidFill>
                  <a:srgbClr val="000000"/>
                </a:solidFill>
              </a:rPr>
              <a:t> </a:t>
            </a:r>
            <a:r>
              <a:rPr lang="en-US" altLang="zh-CN" sz="1600" b="0" dirty="0" smtClean="0">
                <a:solidFill>
                  <a:srgbClr val="000000"/>
                </a:solidFill>
              </a:rPr>
              <a:t>)</a:t>
            </a:r>
          </a:p>
          <a:p>
            <a:pPr lvl="1"/>
            <a:r>
              <a:rPr lang="en-US" altLang="zh-CN" sz="1600" b="0" dirty="0" smtClean="0">
                <a:solidFill>
                  <a:srgbClr val="FF0000"/>
                </a:solidFill>
              </a:rPr>
              <a:t>fragment </a:t>
            </a:r>
            <a:r>
              <a:rPr lang="en-US" altLang="zh-CN" sz="1600" b="0" dirty="0">
                <a:solidFill>
                  <a:srgbClr val="FF0000"/>
                </a:solidFill>
              </a:rPr>
              <a:t>by </a:t>
            </a:r>
            <a:r>
              <a:rPr lang="en-US" altLang="zh-CN" sz="1600" b="0" dirty="0" smtClean="0">
                <a:solidFill>
                  <a:srgbClr val="FF0000"/>
                </a:solidFill>
              </a:rPr>
              <a:t>RANGE(</a:t>
            </a:r>
            <a:r>
              <a:rPr lang="en-US" altLang="zh-CN" sz="1600" b="0" dirty="0" err="1" smtClean="0">
                <a:solidFill>
                  <a:srgbClr val="FF0000"/>
                </a:solidFill>
              </a:rPr>
              <a:t>order_date</a:t>
            </a:r>
            <a:r>
              <a:rPr lang="en-US" altLang="zh-CN" sz="1600" b="0" dirty="0" smtClean="0">
                <a:solidFill>
                  <a:srgbClr val="FF0000"/>
                </a:solidFill>
              </a:rPr>
              <a:t>)</a:t>
            </a:r>
            <a:r>
              <a:rPr lang="zh-CN" altLang="en-US" sz="1600" b="0" dirty="0" smtClean="0">
                <a:solidFill>
                  <a:srgbClr val="FF0000"/>
                </a:solidFill>
              </a:rPr>
              <a:t> </a:t>
            </a:r>
            <a:r>
              <a:rPr lang="en-US" altLang="zh-CN" sz="1600" b="0" dirty="0" smtClean="0">
                <a:solidFill>
                  <a:srgbClr val="FF0000"/>
                </a:solidFill>
              </a:rPr>
              <a:t>interval(NUMTOYMINTERVAL(3</a:t>
            </a:r>
            <a:r>
              <a:rPr lang="en-US" altLang="zh-CN" sz="1600" b="0" dirty="0">
                <a:solidFill>
                  <a:srgbClr val="FF0000"/>
                </a:solidFill>
              </a:rPr>
              <a:t>,'MONTH')) </a:t>
            </a:r>
            <a:endParaRPr lang="en-US" altLang="zh-CN" sz="1600" b="0" dirty="0" smtClean="0">
              <a:solidFill>
                <a:srgbClr val="FF0000"/>
              </a:solidFill>
            </a:endParaRPr>
          </a:p>
          <a:p>
            <a:pPr lvl="1"/>
            <a:r>
              <a:rPr lang="en-US" altLang="zh-CN" sz="1600" b="0" dirty="0" smtClean="0">
                <a:solidFill>
                  <a:srgbClr val="000000"/>
                </a:solidFill>
              </a:rPr>
              <a:t>store </a:t>
            </a:r>
            <a:r>
              <a:rPr lang="en-US" altLang="zh-CN" sz="1600" b="0" dirty="0">
                <a:solidFill>
                  <a:srgbClr val="000000"/>
                </a:solidFill>
              </a:rPr>
              <a:t>in (dbs0, dbs1,dbs2, dbs3)</a:t>
            </a:r>
            <a:endParaRPr lang="zh-CN" altLang="en-US" sz="1600" b="0" dirty="0">
              <a:solidFill>
                <a:srgbClr val="000000"/>
              </a:solidFill>
            </a:endParaRPr>
          </a:p>
          <a:p>
            <a:pPr lvl="1"/>
            <a:r>
              <a:rPr lang="en-US" altLang="zh-CN" sz="1600" b="0" dirty="0">
                <a:solidFill>
                  <a:srgbClr val="000000"/>
                </a:solidFill>
              </a:rPr>
              <a:t>  </a:t>
            </a:r>
            <a:r>
              <a:rPr lang="en-US" altLang="zh-CN" sz="1600" b="0" dirty="0" smtClean="0">
                <a:solidFill>
                  <a:srgbClr val="000000"/>
                </a:solidFill>
              </a:rPr>
              <a:t>        partition </a:t>
            </a:r>
            <a:r>
              <a:rPr lang="en-US" altLang="zh-CN" sz="1600" b="0" dirty="0">
                <a:solidFill>
                  <a:srgbClr val="000000"/>
                </a:solidFill>
              </a:rPr>
              <a:t>Q0 VALUES&lt;'01/01/2011' in dbs0,</a:t>
            </a:r>
            <a:endParaRPr lang="zh-CN" altLang="en-US" sz="1600" b="0" dirty="0">
              <a:solidFill>
                <a:srgbClr val="000000"/>
              </a:solidFill>
            </a:endParaRPr>
          </a:p>
          <a:p>
            <a:pPr lvl="1"/>
            <a:r>
              <a:rPr lang="en-US" altLang="zh-CN" sz="1600" b="0" dirty="0">
                <a:solidFill>
                  <a:srgbClr val="000000"/>
                </a:solidFill>
              </a:rPr>
              <a:t>   	  partition Q1 VALUES&lt;'04/01/2011' in dbs1,</a:t>
            </a:r>
            <a:endParaRPr lang="zh-CN" altLang="en-US" sz="1600" b="0" dirty="0">
              <a:solidFill>
                <a:srgbClr val="000000"/>
              </a:solidFill>
            </a:endParaRPr>
          </a:p>
          <a:p>
            <a:pPr lvl="1"/>
            <a:r>
              <a:rPr lang="en-US" altLang="zh-CN" sz="1600" b="0" dirty="0">
                <a:solidFill>
                  <a:srgbClr val="000000"/>
                </a:solidFill>
              </a:rPr>
              <a:t>	  partition Q2 VALUES&lt;'07/01/2011' in dbs2,</a:t>
            </a:r>
            <a:endParaRPr lang="zh-CN" altLang="en-US" sz="1600" b="0" dirty="0">
              <a:solidFill>
                <a:srgbClr val="000000"/>
              </a:solidFill>
            </a:endParaRPr>
          </a:p>
          <a:p>
            <a:pPr lvl="1"/>
            <a:r>
              <a:rPr lang="en-US" altLang="zh-CN" sz="1600" b="0" dirty="0">
                <a:solidFill>
                  <a:srgbClr val="000000"/>
                </a:solidFill>
              </a:rPr>
              <a:t>	  partition Q3 VALUES&lt;'10/01/2011' in dbs3</a:t>
            </a:r>
            <a:endParaRPr lang="zh-CN" altLang="en-US" sz="1600" b="0" dirty="0">
              <a:solidFill>
                <a:srgbClr val="000000"/>
              </a:solidFill>
            </a:endParaRPr>
          </a:p>
          <a:p>
            <a:pPr lvl="1"/>
            <a:r>
              <a:rPr lang="en-US" altLang="zh-CN" sz="1600" b="0" dirty="0" smtClean="0">
                <a:solidFill>
                  <a:srgbClr val="000000"/>
                </a:solidFill>
              </a:rPr>
              <a:t>extent </a:t>
            </a:r>
            <a:r>
              <a:rPr lang="en-US" altLang="zh-CN" sz="1600" b="0" dirty="0">
                <a:solidFill>
                  <a:srgbClr val="000000"/>
                </a:solidFill>
              </a:rPr>
              <a:t>size 10240 next size 10240 lock mode row;</a:t>
            </a:r>
            <a:endParaRPr lang="zh-CN" altLang="en-US" sz="1600" b="0" dirty="0">
              <a:solidFill>
                <a:srgbClr val="000000"/>
              </a:solidFill>
            </a:endParaRPr>
          </a:p>
          <a:p>
            <a:pPr marL="570230" lvl="1" indent="-228600" eaLnBrk="0" hangingPunct="0">
              <a:spcBef>
                <a:spcPct val="20000"/>
              </a:spcBef>
              <a:buClr>
                <a:schemeClr val="accent1"/>
              </a:buClr>
              <a:defRPr/>
            </a:pPr>
            <a:endParaRPr lang="zh-CN" altLang="en-US" sz="1800" b="0" kern="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sz="3200" dirty="0" smtClean="0">
                <a:cs typeface="微软雅黑" panose="020B0503020204020204" pitchFamily="34" charset="-122"/>
              </a:rPr>
              <a:t>间隔分片策略</a:t>
            </a:r>
            <a:endParaRPr lang="zh-CN" altLang="en-US" dirty="0"/>
          </a:p>
        </p:txBody>
      </p:sp>
      <p:sp>
        <p:nvSpPr>
          <p:cNvPr id="22530" name="Rectangle 2"/>
          <p:cNvSpPr>
            <a:spLocks noChangeArrowheads="1"/>
          </p:cNvSpPr>
          <p:nvPr/>
        </p:nvSpPr>
        <p:spPr bwMode="auto">
          <a:xfrm>
            <a:off x="2257870" y="261585"/>
            <a:ext cx="81629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85" tIns="46242" rIns="92485" bIns="46242" anchor="b"/>
          <a:lstStyle/>
          <a:p>
            <a:pPr algn="l" eaLnBrk="0" hangingPunct="0">
              <a:lnSpc>
                <a:spcPct val="90000"/>
              </a:lnSpc>
            </a:pPr>
            <a:endParaRPr lang="en-US" altLang="zh-CN" sz="28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531" name="Rectangle 3"/>
          <p:cNvSpPr>
            <a:spLocks noChangeArrowheads="1"/>
          </p:cNvSpPr>
          <p:nvPr/>
        </p:nvSpPr>
        <p:spPr bwMode="auto">
          <a:xfrm>
            <a:off x="2869724" y="1140934"/>
            <a:ext cx="6756729" cy="2246487"/>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lIns="92485" tIns="46242" rIns="92485" bIns="46242"/>
          <a:lstStyle/>
          <a:p>
            <a:pPr marL="170180" indent="-170180" algn="l" eaLnBrk="0" hangingPunct="0">
              <a:lnSpc>
                <a:spcPts val="2200"/>
              </a:lnSpc>
              <a:spcBef>
                <a:spcPct val="15000"/>
              </a:spcBef>
              <a:buClr>
                <a:schemeClr val="accent1"/>
              </a:buClr>
              <a:buFont typeface="Arial" panose="020B0604020202020204" pitchFamily="34" charset="0"/>
              <a:buChar char="•"/>
            </a:pP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时间循环数据管理（</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roll-on, roll-off</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a:t>
            </a:r>
          </a:p>
          <a:p>
            <a:pPr marL="170180" indent="-170180" algn="l" eaLnBrk="0" hangingPunct="0">
              <a:lnSpc>
                <a:spcPts val="2200"/>
              </a:lnSpc>
              <a:spcBef>
                <a:spcPct val="15000"/>
              </a:spcBef>
              <a:buClr>
                <a:schemeClr val="accent1"/>
              </a:buClr>
              <a:buFont typeface="Arial" panose="020B0604020202020204" pitchFamily="34" charset="0"/>
              <a:buChar char="•"/>
            </a:pP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线上附加</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(Attach)</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和分离</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(detach)</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，而无需独占锁，并访问表</a:t>
            </a:r>
          </a:p>
          <a:p>
            <a:pPr marL="170180" indent="-170180" algn="l" eaLnBrk="0" hangingPunct="0">
              <a:lnSpc>
                <a:spcPts val="2200"/>
              </a:lnSpc>
              <a:spcBef>
                <a:spcPct val="15000"/>
              </a:spcBef>
              <a:buClr>
                <a:schemeClr val="accent1"/>
              </a:buClr>
              <a:buFont typeface="Arial" panose="020B0604020202020204" pitchFamily="34" charset="0"/>
              <a:buChar char="•"/>
            </a:pP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自动附加新的时间间隔</a:t>
            </a:r>
          </a:p>
          <a:p>
            <a:pPr marL="170180" indent="-170180" eaLnBrk="0" hangingPunct="0">
              <a:lnSpc>
                <a:spcPts val="2200"/>
              </a:lnSpc>
              <a:spcBef>
                <a:spcPct val="15000"/>
              </a:spcBef>
              <a:buClr>
                <a:schemeClr val="accent1"/>
              </a:buClr>
              <a:buFont typeface="Arial" panose="020B0604020202020204" pitchFamily="34" charset="0"/>
              <a:buChar char="•"/>
            </a:pPr>
            <a:r>
              <a:rPr lang="zh-CN" altLang="en-US" sz="1600" b="0" dirty="0" smtClean="0">
                <a:latin typeface="微软雅黑" panose="020B0503020204020204" pitchFamily="34" charset="-122"/>
                <a:ea typeface="微软雅黑" panose="020B0503020204020204" pitchFamily="34" charset="-122"/>
              </a:rPr>
              <a:t>自动踢除后台进程来重新收集统计数据</a:t>
            </a:r>
            <a:endParaRPr lang="zh-CN" altLang="en-US" sz="1600" b="0" dirty="0">
              <a:latin typeface="微软雅黑" panose="020B0503020204020204" pitchFamily="34" charset="-122"/>
              <a:ea typeface="微软雅黑" panose="020B0503020204020204" pitchFamily="34" charset="-122"/>
              <a:cs typeface="微软雅黑" panose="020B0503020204020204" pitchFamily="34" charset="-122"/>
            </a:endParaRPr>
          </a:p>
          <a:p>
            <a:pPr marL="170180" indent="-170180" algn="l" eaLnBrk="0" hangingPunct="0">
              <a:lnSpc>
                <a:spcPts val="2200"/>
              </a:lnSpc>
              <a:spcBef>
                <a:spcPct val="15000"/>
              </a:spcBef>
              <a:buClr>
                <a:schemeClr val="accent1"/>
              </a:buClr>
              <a:buFont typeface="Arial" panose="020B0604020202020204" pitchFamily="34" charset="0"/>
              <a:buChar char="•"/>
            </a:pP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用于数字或</a:t>
            </a:r>
            <a:r>
              <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rPr>
              <a:t>日期</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datetime</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列</a:t>
            </a:r>
          </a:p>
          <a:p>
            <a:pPr marL="170180" indent="-170180" algn="l" eaLnBrk="0" hangingPunct="0">
              <a:lnSpc>
                <a:spcPts val="2200"/>
              </a:lnSpc>
              <a:spcBef>
                <a:spcPct val="15000"/>
              </a:spcBef>
              <a:buClr>
                <a:schemeClr val="accent1"/>
              </a:buClr>
              <a:buFont typeface="Arial" panose="020B0604020202020204" pitchFamily="34" charset="0"/>
              <a:buChar char="•"/>
            </a:pP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适用于</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DBA</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并不想预先分配尚未有数据的分片</a:t>
            </a:r>
            <a:r>
              <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8" name="组合 7"/>
          <p:cNvGrpSpPr/>
          <p:nvPr/>
        </p:nvGrpSpPr>
        <p:grpSpPr>
          <a:xfrm>
            <a:off x="1532890" y="2548253"/>
            <a:ext cx="8636000" cy="3683000"/>
            <a:chOff x="222250" y="2187575"/>
            <a:chExt cx="8636000" cy="3683000"/>
          </a:xfrm>
        </p:grpSpPr>
        <p:sp>
          <p:nvSpPr>
            <p:cNvPr id="190468" name="Rectangle 4"/>
            <p:cNvSpPr>
              <a:spLocks noChangeArrowheads="1"/>
            </p:cNvSpPr>
            <p:nvPr/>
          </p:nvSpPr>
          <p:spPr bwMode="auto">
            <a:xfrm>
              <a:off x="346075" y="2644775"/>
              <a:ext cx="660400" cy="1449388"/>
            </a:xfrm>
            <a:prstGeom prst="rect">
              <a:avLst/>
            </a:prstGeom>
            <a:solidFill>
              <a:srgbClr val="33CC33"/>
            </a:solidFill>
            <a:ln w="9525">
              <a:noFill/>
              <a:miter lim="800000"/>
            </a:ln>
            <a:effectLst>
              <a:outerShdw dist="107763" dir="2700000" algn="ctr" rotWithShape="0">
                <a:schemeClr val="bg2"/>
              </a:outerShdw>
            </a:effectLst>
          </p:spPr>
          <p:txBody>
            <a:bodyPr wrap="none" lIns="92075" tIns="46038" rIns="92075" bIns="46038" anchor="ctr"/>
            <a:lstStyle/>
            <a:p>
              <a:pPr algn="ctr" eaLnBrk="0" hangingPunct="0">
                <a:defRPr/>
              </a:pPr>
              <a:r>
                <a:rPr lang="en-AU" sz="1400" b="1" dirty="0">
                  <a:solidFill>
                    <a:schemeClr val="tx1"/>
                  </a:solidFill>
                  <a:latin typeface="Corbel" panose="020B0503020204020204" pitchFamily="34" charset="0"/>
                  <a:ea typeface="宋体" panose="02010600030101010101" pitchFamily="2" charset="-122"/>
                  <a:cs typeface="+mn-cs"/>
                </a:rPr>
                <a:t>field</a:t>
              </a:r>
            </a:p>
            <a:p>
              <a:pPr algn="ctr" eaLnBrk="0" hangingPunct="0">
                <a:defRPr/>
              </a:pPr>
              <a:r>
                <a:rPr lang="en-AU" sz="1400" b="1" dirty="0">
                  <a:solidFill>
                    <a:schemeClr val="tx1"/>
                  </a:solidFill>
                  <a:latin typeface="Corbel" panose="020B0503020204020204" pitchFamily="34" charset="0"/>
                  <a:ea typeface="宋体" panose="02010600030101010101" pitchFamily="2" charset="-122"/>
                  <a:cs typeface="+mn-cs"/>
                </a:rPr>
                <a:t>field</a:t>
              </a:r>
            </a:p>
            <a:p>
              <a:pPr algn="ctr" eaLnBrk="0" hangingPunct="0">
                <a:defRPr/>
              </a:pPr>
              <a:r>
                <a:rPr lang="en-AU" sz="1400" b="1" dirty="0">
                  <a:solidFill>
                    <a:schemeClr val="tx1"/>
                  </a:solidFill>
                  <a:latin typeface="Corbel" panose="020B0503020204020204" pitchFamily="34" charset="0"/>
                  <a:ea typeface="宋体" panose="02010600030101010101" pitchFamily="2" charset="-122"/>
                  <a:cs typeface="+mn-cs"/>
                </a:rPr>
                <a:t>field</a:t>
              </a:r>
            </a:p>
            <a:p>
              <a:pPr algn="ctr" eaLnBrk="0" hangingPunct="0">
                <a:defRPr/>
              </a:pPr>
              <a:r>
                <a:rPr lang="en-AU" sz="1400" b="1" dirty="0">
                  <a:solidFill>
                    <a:schemeClr val="tx1"/>
                  </a:solidFill>
                  <a:latin typeface="Corbel" panose="020B0503020204020204" pitchFamily="34" charset="0"/>
                  <a:ea typeface="宋体" panose="02010600030101010101" pitchFamily="2" charset="-122"/>
                  <a:cs typeface="+mn-cs"/>
                </a:rPr>
                <a:t>field</a:t>
              </a:r>
            </a:p>
            <a:p>
              <a:pPr algn="ctr" eaLnBrk="0" hangingPunct="0">
                <a:defRPr/>
              </a:pPr>
              <a:r>
                <a:rPr lang="en-AU" sz="1400" b="1" dirty="0">
                  <a:solidFill>
                    <a:schemeClr val="tx1"/>
                  </a:solidFill>
                  <a:latin typeface="Corbel" panose="020B0503020204020204" pitchFamily="34" charset="0"/>
                  <a:ea typeface="宋体" panose="02010600030101010101" pitchFamily="2" charset="-122"/>
                  <a:cs typeface="+mn-cs"/>
                </a:rPr>
                <a:t>field</a:t>
              </a:r>
            </a:p>
            <a:p>
              <a:pPr algn="ctr" eaLnBrk="0" hangingPunct="0">
                <a:defRPr/>
              </a:pPr>
              <a:r>
                <a:rPr lang="en-AU" sz="1400" b="1" dirty="0">
                  <a:solidFill>
                    <a:schemeClr val="tx1"/>
                  </a:solidFill>
                  <a:latin typeface="Corbel" panose="020B0503020204020204" pitchFamily="34" charset="0"/>
                  <a:ea typeface="宋体" panose="02010600030101010101" pitchFamily="2" charset="-122"/>
                  <a:cs typeface="+mn-cs"/>
                </a:rPr>
                <a:t>field</a:t>
              </a:r>
            </a:p>
            <a:p>
              <a:pPr algn="ctr" eaLnBrk="0" hangingPunct="0">
                <a:defRPr/>
              </a:pPr>
              <a:r>
                <a:rPr lang="en-AU" sz="1400" b="1" dirty="0">
                  <a:solidFill>
                    <a:schemeClr val="tx1"/>
                  </a:solidFill>
                  <a:latin typeface="Corbel" panose="020B0503020204020204" pitchFamily="34" charset="0"/>
                  <a:ea typeface="宋体" panose="02010600030101010101" pitchFamily="2" charset="-122"/>
                  <a:cs typeface="+mn-cs"/>
                </a:rPr>
                <a:t>field</a:t>
              </a:r>
            </a:p>
          </p:txBody>
        </p:sp>
        <p:grpSp>
          <p:nvGrpSpPr>
            <p:cNvPr id="2" name="Group 5"/>
            <p:cNvGrpSpPr/>
            <p:nvPr/>
          </p:nvGrpSpPr>
          <p:grpSpPr bwMode="auto">
            <a:xfrm>
              <a:off x="2784475" y="3559927"/>
              <a:ext cx="735013" cy="1600200"/>
              <a:chOff x="1815" y="1968"/>
              <a:chExt cx="463" cy="1008"/>
            </a:xfrm>
          </p:grpSpPr>
          <p:sp>
            <p:nvSpPr>
              <p:cNvPr id="190470" name="Rectangle 6"/>
              <p:cNvSpPr>
                <a:spLocks noChangeArrowheads="1"/>
              </p:cNvSpPr>
              <p:nvPr/>
            </p:nvSpPr>
            <p:spPr bwMode="auto">
              <a:xfrm>
                <a:off x="1815" y="1986"/>
                <a:ext cx="463" cy="934"/>
              </a:xfrm>
              <a:prstGeom prst="rect">
                <a:avLst/>
              </a:prstGeom>
              <a:solidFill>
                <a:schemeClr val="accent1"/>
              </a:solidFill>
              <a:ln w="9525">
                <a:noFill/>
                <a:miter lim="800000"/>
              </a:ln>
              <a:effectLst>
                <a:outerShdw dist="107763" dir="2700000" algn="ctr" rotWithShape="0">
                  <a:schemeClr val="bg2"/>
                </a:outerShdw>
              </a:effectLst>
            </p:spPr>
            <p:txBody>
              <a:bodyPr wrap="none" anchor="ctr"/>
              <a:lstStyle/>
              <a:p>
                <a:pPr>
                  <a:defRPr/>
                </a:pPr>
                <a:endParaRPr lang="zh-CN" altLang="en-US">
                  <a:latin typeface="Times New Roman" panose="02020603050405020304" charset="0"/>
                  <a:ea typeface="宋体" panose="02010600030101010101" pitchFamily="2" charset="-122"/>
                  <a:cs typeface="+mn-cs"/>
                </a:endParaRPr>
              </a:p>
            </p:txBody>
          </p:sp>
          <p:sp>
            <p:nvSpPr>
              <p:cNvPr id="22558" name="Rectangle 7"/>
              <p:cNvSpPr>
                <a:spLocks noChangeArrowheads="1"/>
              </p:cNvSpPr>
              <p:nvPr/>
            </p:nvSpPr>
            <p:spPr bwMode="auto">
              <a:xfrm>
                <a:off x="1877" y="1968"/>
                <a:ext cx="329"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p:txBody>
          </p:sp>
        </p:grpSp>
        <p:grpSp>
          <p:nvGrpSpPr>
            <p:cNvPr id="3" name="Group 8"/>
            <p:cNvGrpSpPr/>
            <p:nvPr/>
          </p:nvGrpSpPr>
          <p:grpSpPr bwMode="auto">
            <a:xfrm>
              <a:off x="3622675" y="3537237"/>
              <a:ext cx="735013" cy="1600200"/>
              <a:chOff x="2343" y="1965"/>
              <a:chExt cx="463" cy="1008"/>
            </a:xfrm>
          </p:grpSpPr>
          <p:sp>
            <p:nvSpPr>
              <p:cNvPr id="190473" name="Rectangle 9"/>
              <p:cNvSpPr>
                <a:spLocks noChangeArrowheads="1"/>
              </p:cNvSpPr>
              <p:nvPr/>
            </p:nvSpPr>
            <p:spPr bwMode="auto">
              <a:xfrm>
                <a:off x="2343" y="1994"/>
                <a:ext cx="463" cy="934"/>
              </a:xfrm>
              <a:prstGeom prst="rect">
                <a:avLst/>
              </a:prstGeom>
              <a:solidFill>
                <a:schemeClr val="accent1"/>
              </a:solidFill>
              <a:ln w="9525">
                <a:noFill/>
                <a:miter lim="800000"/>
              </a:ln>
              <a:effectLst>
                <a:outerShdw dist="107763" dir="2700000" algn="ctr" rotWithShape="0">
                  <a:schemeClr val="bg2"/>
                </a:outerShdw>
              </a:effectLst>
            </p:spPr>
            <p:txBody>
              <a:bodyPr wrap="none" anchor="ctr"/>
              <a:lstStyle/>
              <a:p>
                <a:pPr>
                  <a:defRPr/>
                </a:pPr>
                <a:endParaRPr lang="zh-CN" altLang="en-US">
                  <a:latin typeface="Times New Roman" panose="02020603050405020304" charset="0"/>
                  <a:ea typeface="宋体" panose="02010600030101010101" pitchFamily="2" charset="-122"/>
                  <a:cs typeface="+mn-cs"/>
                </a:endParaRPr>
              </a:p>
            </p:txBody>
          </p:sp>
          <p:sp>
            <p:nvSpPr>
              <p:cNvPr id="22556" name="Rectangle 10"/>
              <p:cNvSpPr>
                <a:spLocks noChangeArrowheads="1"/>
              </p:cNvSpPr>
              <p:nvPr/>
            </p:nvSpPr>
            <p:spPr bwMode="auto">
              <a:xfrm>
                <a:off x="2405" y="1965"/>
                <a:ext cx="329"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p:txBody>
          </p:sp>
        </p:grpSp>
        <p:grpSp>
          <p:nvGrpSpPr>
            <p:cNvPr id="4" name="Group 11"/>
            <p:cNvGrpSpPr/>
            <p:nvPr/>
          </p:nvGrpSpPr>
          <p:grpSpPr bwMode="auto">
            <a:xfrm>
              <a:off x="4438650" y="3564223"/>
              <a:ext cx="735013" cy="1600200"/>
              <a:chOff x="2857" y="1982"/>
              <a:chExt cx="463" cy="1008"/>
            </a:xfrm>
          </p:grpSpPr>
          <p:sp>
            <p:nvSpPr>
              <p:cNvPr id="190476" name="Rectangle 12"/>
              <p:cNvSpPr>
                <a:spLocks noChangeArrowheads="1"/>
              </p:cNvSpPr>
              <p:nvPr/>
            </p:nvSpPr>
            <p:spPr bwMode="auto">
              <a:xfrm>
                <a:off x="2857" y="2000"/>
                <a:ext cx="463" cy="934"/>
              </a:xfrm>
              <a:prstGeom prst="rect">
                <a:avLst/>
              </a:prstGeom>
              <a:solidFill>
                <a:schemeClr val="accent1"/>
              </a:solidFill>
              <a:ln w="9525">
                <a:noFill/>
                <a:miter lim="800000"/>
              </a:ln>
              <a:effectLst>
                <a:outerShdw dist="107763" dir="2700000" algn="ctr" rotWithShape="0">
                  <a:schemeClr val="bg2"/>
                </a:outerShdw>
              </a:effectLst>
            </p:spPr>
            <p:txBody>
              <a:bodyPr wrap="none" anchor="ctr"/>
              <a:lstStyle/>
              <a:p>
                <a:pPr>
                  <a:defRPr/>
                </a:pPr>
                <a:endParaRPr lang="zh-CN" altLang="en-US">
                  <a:latin typeface="Times New Roman" panose="02020603050405020304" charset="0"/>
                  <a:ea typeface="宋体" panose="02010600030101010101" pitchFamily="2" charset="-122"/>
                  <a:cs typeface="+mn-cs"/>
                </a:endParaRPr>
              </a:p>
            </p:txBody>
          </p:sp>
          <p:sp>
            <p:nvSpPr>
              <p:cNvPr id="22554" name="Rectangle 13"/>
              <p:cNvSpPr>
                <a:spLocks noChangeArrowheads="1"/>
              </p:cNvSpPr>
              <p:nvPr/>
            </p:nvSpPr>
            <p:spPr bwMode="auto">
              <a:xfrm>
                <a:off x="2919" y="1982"/>
                <a:ext cx="329"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p:txBody>
          </p:sp>
        </p:grpSp>
        <p:grpSp>
          <p:nvGrpSpPr>
            <p:cNvPr id="5" name="Group 14"/>
            <p:cNvGrpSpPr/>
            <p:nvPr/>
          </p:nvGrpSpPr>
          <p:grpSpPr bwMode="auto">
            <a:xfrm>
              <a:off x="5267325" y="3583273"/>
              <a:ext cx="735013" cy="1600200"/>
              <a:chOff x="3379" y="1994"/>
              <a:chExt cx="463" cy="1008"/>
            </a:xfrm>
          </p:grpSpPr>
          <p:sp>
            <p:nvSpPr>
              <p:cNvPr id="190479" name="Rectangle 15"/>
              <p:cNvSpPr>
                <a:spLocks noChangeArrowheads="1"/>
              </p:cNvSpPr>
              <p:nvPr/>
            </p:nvSpPr>
            <p:spPr bwMode="auto">
              <a:xfrm>
                <a:off x="3379" y="2012"/>
                <a:ext cx="463" cy="934"/>
              </a:xfrm>
              <a:prstGeom prst="rect">
                <a:avLst/>
              </a:prstGeom>
              <a:solidFill>
                <a:schemeClr val="accent1"/>
              </a:solidFill>
              <a:ln w="9525">
                <a:noFill/>
                <a:miter lim="800000"/>
              </a:ln>
              <a:effectLst>
                <a:outerShdw dist="107763" dir="2700000" algn="ctr" rotWithShape="0">
                  <a:schemeClr val="bg2"/>
                </a:outerShdw>
              </a:effectLst>
            </p:spPr>
            <p:txBody>
              <a:bodyPr wrap="none" anchor="ctr"/>
              <a:lstStyle/>
              <a:p>
                <a:pPr>
                  <a:defRPr/>
                </a:pPr>
                <a:endParaRPr lang="zh-CN" altLang="en-US">
                  <a:latin typeface="Times New Roman" panose="02020603050405020304" charset="0"/>
                  <a:ea typeface="宋体" panose="02010600030101010101" pitchFamily="2" charset="-122"/>
                  <a:cs typeface="+mn-cs"/>
                </a:endParaRPr>
              </a:p>
            </p:txBody>
          </p:sp>
          <p:sp>
            <p:nvSpPr>
              <p:cNvPr id="22552" name="Rectangle 16"/>
              <p:cNvSpPr>
                <a:spLocks noChangeArrowheads="1"/>
              </p:cNvSpPr>
              <p:nvPr/>
            </p:nvSpPr>
            <p:spPr bwMode="auto">
              <a:xfrm>
                <a:off x="3441" y="1994"/>
                <a:ext cx="329"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p:txBody>
          </p:sp>
        </p:grpSp>
        <p:sp>
          <p:nvSpPr>
            <p:cNvPr id="190481" name="Rectangle 17"/>
            <p:cNvSpPr>
              <a:spLocks noChangeArrowheads="1"/>
            </p:cNvSpPr>
            <p:nvPr/>
          </p:nvSpPr>
          <p:spPr bwMode="auto">
            <a:xfrm>
              <a:off x="6089650" y="3860800"/>
              <a:ext cx="722313" cy="1470025"/>
            </a:xfrm>
            <a:prstGeom prst="rect">
              <a:avLst/>
            </a:prstGeom>
            <a:noFill/>
            <a:ln w="12700">
              <a:solidFill>
                <a:schemeClr val="bg1"/>
              </a:solidFill>
              <a:prstDash val="lgDash"/>
              <a:miter lim="800000"/>
            </a:ln>
            <a:effectLst>
              <a:outerShdw dist="107763" dir="2700000" algn="ctr" rotWithShape="0">
                <a:schemeClr val="bg2"/>
              </a:outerShdw>
            </a:effectLst>
          </p:spPr>
          <p:txBody>
            <a:bodyPr wrap="none" anchor="ctr"/>
            <a:lstStyle/>
            <a:p>
              <a:pPr>
                <a:defRPr/>
              </a:pPr>
              <a:endParaRPr lang="zh-CN" altLang="en-US">
                <a:latin typeface="Times New Roman" panose="02020603050405020304" charset="0"/>
                <a:ea typeface="宋体" panose="02010600030101010101" pitchFamily="2" charset="-122"/>
                <a:cs typeface="+mn-cs"/>
              </a:endParaRPr>
            </a:p>
          </p:txBody>
        </p:sp>
        <p:grpSp>
          <p:nvGrpSpPr>
            <p:cNvPr id="6" name="Group 18"/>
            <p:cNvGrpSpPr/>
            <p:nvPr/>
          </p:nvGrpSpPr>
          <p:grpSpPr bwMode="auto">
            <a:xfrm>
              <a:off x="8081963" y="4122473"/>
              <a:ext cx="735012" cy="1600200"/>
              <a:chOff x="4998" y="2968"/>
              <a:chExt cx="463" cy="1008"/>
            </a:xfrm>
          </p:grpSpPr>
          <p:sp>
            <p:nvSpPr>
              <p:cNvPr id="190483" name="Rectangle 19"/>
              <p:cNvSpPr>
                <a:spLocks noChangeArrowheads="1"/>
              </p:cNvSpPr>
              <p:nvPr/>
            </p:nvSpPr>
            <p:spPr bwMode="auto">
              <a:xfrm>
                <a:off x="4998" y="2986"/>
                <a:ext cx="463" cy="934"/>
              </a:xfrm>
              <a:prstGeom prst="rect">
                <a:avLst/>
              </a:prstGeom>
              <a:solidFill>
                <a:schemeClr val="accent1"/>
              </a:solidFill>
              <a:ln w="9525">
                <a:noFill/>
                <a:miter lim="800000"/>
              </a:ln>
              <a:effectLst>
                <a:outerShdw dist="107763" dir="2700000" algn="ctr" rotWithShape="0">
                  <a:schemeClr val="bg2"/>
                </a:outerShdw>
              </a:effectLst>
            </p:spPr>
            <p:txBody>
              <a:bodyPr wrap="none" anchor="ctr"/>
              <a:lstStyle/>
              <a:p>
                <a:pPr>
                  <a:defRPr/>
                </a:pPr>
                <a:endParaRPr lang="zh-CN" altLang="en-US">
                  <a:latin typeface="Times New Roman" panose="02020603050405020304" charset="0"/>
                  <a:ea typeface="宋体" panose="02010600030101010101" pitchFamily="2" charset="-122"/>
                  <a:cs typeface="+mn-cs"/>
                </a:endParaRPr>
              </a:p>
            </p:txBody>
          </p:sp>
          <p:sp>
            <p:nvSpPr>
              <p:cNvPr id="22550" name="Rectangle 20"/>
              <p:cNvSpPr>
                <a:spLocks noChangeArrowheads="1"/>
              </p:cNvSpPr>
              <p:nvPr/>
            </p:nvSpPr>
            <p:spPr bwMode="auto">
              <a:xfrm>
                <a:off x="5060" y="2968"/>
                <a:ext cx="329"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a:p>
                <a:pPr algn="l" eaLnBrk="0" hangingPunct="0"/>
                <a:r>
                  <a:rPr lang="en-AU" altLang="zh-CN" sz="1400" b="1" dirty="0">
                    <a:solidFill>
                      <a:srgbClr val="FFFFFF"/>
                    </a:solidFill>
                    <a:latin typeface="Corbel" panose="020B0503020204020204" pitchFamily="34" charset="0"/>
                  </a:rPr>
                  <a:t>field</a:t>
                </a:r>
              </a:p>
            </p:txBody>
          </p:sp>
        </p:grpSp>
        <p:sp>
          <p:nvSpPr>
            <p:cNvPr id="190485" name="Rectangle 21"/>
            <p:cNvSpPr>
              <a:spLocks noChangeArrowheads="1"/>
            </p:cNvSpPr>
            <p:nvPr/>
          </p:nvSpPr>
          <p:spPr bwMode="auto">
            <a:xfrm>
              <a:off x="2741613" y="3001963"/>
              <a:ext cx="632460" cy="460375"/>
            </a:xfrm>
            <a:prstGeom prst="rect">
              <a:avLst/>
            </a:prstGeom>
            <a:noFill/>
            <a:ln w="9525">
              <a:noFill/>
              <a:miter lim="800000"/>
            </a:ln>
            <a:effectLst/>
          </p:spPr>
          <p:txBody>
            <a:bodyPr wrap="none" lIns="92075" tIns="46038" rIns="92075" bIns="46038">
              <a:spAutoFit/>
            </a:bodyPr>
            <a:lstStyle/>
            <a:p>
              <a:pPr algn="l" eaLnBrk="0" hangingPunct="0"/>
              <a:r>
                <a:rPr lang="en-AU" altLang="zh-CN" sz="2400" b="1" dirty="0">
                  <a:effectLst>
                    <a:outerShdw blurRad="38100" dist="38100" dir="2700000" algn="tl">
                      <a:srgbClr val="DDDDDD"/>
                    </a:outerShdw>
                  </a:effectLst>
                  <a:latin typeface="Corbel" panose="020B0503020204020204" pitchFamily="34" charset="0"/>
                </a:rPr>
                <a:t>Jan</a:t>
              </a:r>
            </a:p>
          </p:txBody>
        </p:sp>
        <p:sp>
          <p:nvSpPr>
            <p:cNvPr id="190486" name="Rectangle 22"/>
            <p:cNvSpPr>
              <a:spLocks noChangeArrowheads="1"/>
            </p:cNvSpPr>
            <p:nvPr/>
          </p:nvSpPr>
          <p:spPr bwMode="auto">
            <a:xfrm>
              <a:off x="3551238" y="3027182"/>
              <a:ext cx="668655" cy="460375"/>
            </a:xfrm>
            <a:prstGeom prst="rect">
              <a:avLst/>
            </a:prstGeom>
            <a:noFill/>
            <a:ln w="9525">
              <a:noFill/>
              <a:miter lim="800000"/>
            </a:ln>
            <a:effectLst/>
          </p:spPr>
          <p:txBody>
            <a:bodyPr wrap="none" lIns="92075" tIns="46038" rIns="92075" bIns="46038">
              <a:spAutoFit/>
            </a:bodyPr>
            <a:lstStyle/>
            <a:p>
              <a:pPr algn="l" eaLnBrk="0" hangingPunct="0"/>
              <a:r>
                <a:rPr lang="en-AU" altLang="zh-CN" sz="2400" b="1" dirty="0">
                  <a:effectLst>
                    <a:outerShdw blurRad="38100" dist="38100" dir="2700000" algn="tl">
                      <a:srgbClr val="DDDDDD"/>
                    </a:outerShdw>
                  </a:effectLst>
                  <a:latin typeface="Corbel" panose="020B0503020204020204" pitchFamily="34" charset="0"/>
                </a:rPr>
                <a:t>Feb</a:t>
              </a:r>
            </a:p>
          </p:txBody>
        </p:sp>
        <p:sp>
          <p:nvSpPr>
            <p:cNvPr id="190487" name="Rectangle 23"/>
            <p:cNvSpPr>
              <a:spLocks noChangeArrowheads="1"/>
            </p:cNvSpPr>
            <p:nvPr/>
          </p:nvSpPr>
          <p:spPr bwMode="auto">
            <a:xfrm>
              <a:off x="4408488" y="3025594"/>
              <a:ext cx="699770" cy="460375"/>
            </a:xfrm>
            <a:prstGeom prst="rect">
              <a:avLst/>
            </a:prstGeom>
            <a:noFill/>
            <a:ln w="9525">
              <a:noFill/>
              <a:miter lim="800000"/>
            </a:ln>
            <a:effectLst/>
          </p:spPr>
          <p:txBody>
            <a:bodyPr wrap="none" lIns="92075" tIns="46038" rIns="92075" bIns="46038">
              <a:spAutoFit/>
            </a:bodyPr>
            <a:lstStyle/>
            <a:p>
              <a:pPr algn="l" eaLnBrk="0" hangingPunct="0"/>
              <a:r>
                <a:rPr lang="en-AU" altLang="zh-CN" sz="2400" b="1" dirty="0">
                  <a:effectLst>
                    <a:outerShdw blurRad="38100" dist="38100" dir="2700000" algn="tl">
                      <a:srgbClr val="DDDDDD"/>
                    </a:outerShdw>
                  </a:effectLst>
                  <a:latin typeface="Corbel" panose="020B0503020204020204" pitchFamily="34" charset="0"/>
                </a:rPr>
                <a:t>Mar</a:t>
              </a:r>
            </a:p>
          </p:txBody>
        </p:sp>
        <p:sp>
          <p:nvSpPr>
            <p:cNvPr id="190488" name="Rectangle 24"/>
            <p:cNvSpPr>
              <a:spLocks noChangeArrowheads="1"/>
            </p:cNvSpPr>
            <p:nvPr/>
          </p:nvSpPr>
          <p:spPr bwMode="auto">
            <a:xfrm>
              <a:off x="5289550" y="3027182"/>
              <a:ext cx="658495" cy="460375"/>
            </a:xfrm>
            <a:prstGeom prst="rect">
              <a:avLst/>
            </a:prstGeom>
            <a:noFill/>
            <a:ln w="9525">
              <a:noFill/>
              <a:miter lim="800000"/>
            </a:ln>
            <a:effectLst/>
          </p:spPr>
          <p:txBody>
            <a:bodyPr wrap="none" lIns="92075" tIns="46038" rIns="92075" bIns="46038">
              <a:spAutoFit/>
            </a:bodyPr>
            <a:lstStyle/>
            <a:p>
              <a:pPr algn="l" eaLnBrk="0" hangingPunct="0"/>
              <a:r>
                <a:rPr lang="en-AU" altLang="zh-CN" sz="2400" b="1" dirty="0">
                  <a:effectLst>
                    <a:outerShdw blurRad="38100" dist="38100" dir="2700000" algn="tl">
                      <a:srgbClr val="DDDDDD"/>
                    </a:outerShdw>
                  </a:effectLst>
                  <a:latin typeface="Corbel" panose="020B0503020204020204" pitchFamily="34" charset="0"/>
                </a:rPr>
                <a:t>Apr</a:t>
              </a:r>
            </a:p>
          </p:txBody>
        </p:sp>
        <p:sp>
          <p:nvSpPr>
            <p:cNvPr id="190489" name="Rectangle 25"/>
            <p:cNvSpPr>
              <a:spLocks noChangeArrowheads="1"/>
            </p:cNvSpPr>
            <p:nvPr/>
          </p:nvSpPr>
          <p:spPr bwMode="auto">
            <a:xfrm>
              <a:off x="8118475" y="3644357"/>
              <a:ext cx="739775" cy="306705"/>
            </a:xfrm>
            <a:prstGeom prst="rect">
              <a:avLst/>
            </a:prstGeom>
            <a:noFill/>
            <a:ln w="9525">
              <a:noFill/>
              <a:miter lim="800000"/>
            </a:ln>
            <a:effectLst/>
          </p:spPr>
          <p:txBody>
            <a:bodyPr wrap="none" lIns="92075" tIns="46038" rIns="92075" bIns="46038">
              <a:spAutoFit/>
            </a:bodyPr>
            <a:lstStyle/>
            <a:p>
              <a:pPr algn="l" eaLnBrk="0" hangingPunct="0"/>
              <a:r>
                <a:rPr lang="en-AU" altLang="zh-CN" sz="1400" b="1" dirty="0">
                  <a:effectLst>
                    <a:outerShdw blurRad="38100" dist="38100" dir="2700000" algn="tl">
                      <a:srgbClr val="DDDDDD"/>
                    </a:outerShdw>
                  </a:effectLst>
                  <a:latin typeface="Corbel" panose="020B0503020204020204" pitchFamily="34" charset="0"/>
                </a:rPr>
                <a:t>May 09</a:t>
              </a:r>
            </a:p>
          </p:txBody>
        </p:sp>
        <p:sp>
          <p:nvSpPr>
            <p:cNvPr id="190490" name="Rectangle 26"/>
            <p:cNvSpPr>
              <a:spLocks noChangeArrowheads="1"/>
            </p:cNvSpPr>
            <p:nvPr/>
          </p:nvSpPr>
          <p:spPr bwMode="auto">
            <a:xfrm>
              <a:off x="346075" y="2187575"/>
              <a:ext cx="703580" cy="306705"/>
            </a:xfrm>
            <a:prstGeom prst="rect">
              <a:avLst/>
            </a:prstGeom>
            <a:noFill/>
            <a:ln w="9525">
              <a:noFill/>
              <a:miter lim="800000"/>
            </a:ln>
            <a:effectLst/>
          </p:spPr>
          <p:txBody>
            <a:bodyPr wrap="none" lIns="92075" tIns="46038" rIns="92075" bIns="46038">
              <a:spAutoFit/>
            </a:bodyPr>
            <a:lstStyle/>
            <a:p>
              <a:pPr algn="l" eaLnBrk="0" hangingPunct="0"/>
              <a:r>
                <a:rPr lang="en-AU" altLang="zh-CN" sz="1400" b="1" dirty="0">
                  <a:effectLst>
                    <a:outerShdw blurRad="38100" dist="38100" dir="2700000" algn="tl">
                      <a:srgbClr val="DDDDDD"/>
                    </a:outerShdw>
                  </a:effectLst>
                  <a:latin typeface="Corbel" panose="020B0503020204020204" pitchFamily="34" charset="0"/>
                </a:rPr>
                <a:t>Dec 08</a:t>
              </a:r>
            </a:p>
          </p:txBody>
        </p:sp>
        <p:sp>
          <p:nvSpPr>
            <p:cNvPr id="22545" name="Freeform 27"/>
            <p:cNvSpPr/>
            <p:nvPr/>
          </p:nvSpPr>
          <p:spPr bwMode="auto">
            <a:xfrm>
              <a:off x="6318250" y="4732916"/>
              <a:ext cx="1687513" cy="874712"/>
            </a:xfrm>
            <a:custGeom>
              <a:avLst/>
              <a:gdLst>
                <a:gd name="T0" fmla="*/ 0 w 946"/>
                <a:gd name="T1" fmla="*/ 303986 h 728"/>
                <a:gd name="T2" fmla="*/ 140923 w 946"/>
                <a:gd name="T3" fmla="*/ 303986 h 728"/>
                <a:gd name="T4" fmla="*/ 146275 w 946"/>
                <a:gd name="T5" fmla="*/ 410922 h 728"/>
                <a:gd name="T6" fmla="*/ 196222 w 946"/>
                <a:gd name="T7" fmla="*/ 533478 h 728"/>
                <a:gd name="T8" fmla="*/ 303253 w 946"/>
                <a:gd name="T9" fmla="*/ 632004 h 728"/>
                <a:gd name="T10" fmla="*/ 440609 w 946"/>
                <a:gd name="T11" fmla="*/ 720917 h 728"/>
                <a:gd name="T12" fmla="*/ 661805 w 946"/>
                <a:gd name="T13" fmla="*/ 803822 h 728"/>
                <a:gd name="T14" fmla="*/ 922246 w 946"/>
                <a:gd name="T15" fmla="*/ 850681 h 728"/>
                <a:gd name="T16" fmla="*/ 1275446 w 946"/>
                <a:gd name="T17" fmla="*/ 873510 h 728"/>
                <a:gd name="T18" fmla="*/ 1685729 w 946"/>
                <a:gd name="T19" fmla="*/ 869906 h 728"/>
                <a:gd name="T20" fmla="*/ 1612592 w 946"/>
                <a:gd name="T21" fmla="*/ 539486 h 728"/>
                <a:gd name="T22" fmla="*/ 1457398 w 946"/>
                <a:gd name="T23" fmla="*/ 559912 h 728"/>
                <a:gd name="T24" fmla="*/ 1225498 w 946"/>
                <a:gd name="T25" fmla="*/ 552703 h 728"/>
                <a:gd name="T26" fmla="*/ 1048898 w 946"/>
                <a:gd name="T27" fmla="*/ 517858 h 728"/>
                <a:gd name="T28" fmla="*/ 888352 w 946"/>
                <a:gd name="T29" fmla="*/ 434953 h 728"/>
                <a:gd name="T30" fmla="*/ 831270 w 946"/>
                <a:gd name="T31" fmla="*/ 373675 h 728"/>
                <a:gd name="T32" fmla="*/ 768835 w 946"/>
                <a:gd name="T33" fmla="*/ 290770 h 728"/>
                <a:gd name="T34" fmla="*/ 1132739 w 946"/>
                <a:gd name="T35" fmla="*/ 271545 h 728"/>
                <a:gd name="T36" fmla="*/ 922246 w 946"/>
                <a:gd name="T37" fmla="*/ 205461 h 728"/>
                <a:gd name="T38" fmla="*/ 668940 w 946"/>
                <a:gd name="T39" fmla="*/ 98525 h 728"/>
                <a:gd name="T40" fmla="*/ 444176 w 946"/>
                <a:gd name="T41" fmla="*/ 0 h 728"/>
                <a:gd name="T42" fmla="*/ 337146 w 946"/>
                <a:gd name="T43" fmla="*/ 90115 h 728"/>
                <a:gd name="T44" fmla="*/ 246170 w 946"/>
                <a:gd name="T45" fmla="*/ 165811 h 728"/>
                <a:gd name="T46" fmla="*/ 133788 w 946"/>
                <a:gd name="T47" fmla="*/ 240305 h 728"/>
                <a:gd name="T48" fmla="*/ 0 w 946"/>
                <a:gd name="T49" fmla="*/ 303986 h 728"/>
                <a:gd name="T50" fmla="*/ 0 w 946"/>
                <a:gd name="T51" fmla="*/ 303986 h 72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46"/>
                <a:gd name="T79" fmla="*/ 0 h 728"/>
                <a:gd name="T80" fmla="*/ 946 w 946"/>
                <a:gd name="T81" fmla="*/ 728 h 72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46" h="728">
                  <a:moveTo>
                    <a:pt x="0" y="253"/>
                  </a:moveTo>
                  <a:lnTo>
                    <a:pt x="79" y="253"/>
                  </a:lnTo>
                  <a:lnTo>
                    <a:pt x="82" y="342"/>
                  </a:lnTo>
                  <a:lnTo>
                    <a:pt x="110" y="444"/>
                  </a:lnTo>
                  <a:lnTo>
                    <a:pt x="170" y="526"/>
                  </a:lnTo>
                  <a:lnTo>
                    <a:pt x="247" y="600"/>
                  </a:lnTo>
                  <a:lnTo>
                    <a:pt x="371" y="669"/>
                  </a:lnTo>
                  <a:lnTo>
                    <a:pt x="517" y="708"/>
                  </a:lnTo>
                  <a:lnTo>
                    <a:pt x="715" y="727"/>
                  </a:lnTo>
                  <a:lnTo>
                    <a:pt x="945" y="724"/>
                  </a:lnTo>
                  <a:lnTo>
                    <a:pt x="904" y="449"/>
                  </a:lnTo>
                  <a:lnTo>
                    <a:pt x="817" y="466"/>
                  </a:lnTo>
                  <a:lnTo>
                    <a:pt x="687" y="460"/>
                  </a:lnTo>
                  <a:lnTo>
                    <a:pt x="588" y="431"/>
                  </a:lnTo>
                  <a:lnTo>
                    <a:pt x="498" y="362"/>
                  </a:lnTo>
                  <a:lnTo>
                    <a:pt x="466" y="311"/>
                  </a:lnTo>
                  <a:lnTo>
                    <a:pt x="431" y="242"/>
                  </a:lnTo>
                  <a:lnTo>
                    <a:pt x="635" y="226"/>
                  </a:lnTo>
                  <a:lnTo>
                    <a:pt x="517" y="171"/>
                  </a:lnTo>
                  <a:lnTo>
                    <a:pt x="375" y="82"/>
                  </a:lnTo>
                  <a:lnTo>
                    <a:pt x="249" y="0"/>
                  </a:lnTo>
                  <a:lnTo>
                    <a:pt x="189" y="75"/>
                  </a:lnTo>
                  <a:lnTo>
                    <a:pt x="138" y="138"/>
                  </a:lnTo>
                  <a:lnTo>
                    <a:pt x="75" y="200"/>
                  </a:lnTo>
                  <a:lnTo>
                    <a:pt x="0" y="253"/>
                  </a:lnTo>
                </a:path>
              </a:pathLst>
            </a:custGeom>
            <a:solidFill>
              <a:schemeClr val="accent1"/>
            </a:solidFill>
            <a:ln w="12700" cap="rnd">
              <a:solidFill>
                <a:schemeClr val="tx2"/>
              </a:solidFill>
              <a:round/>
            </a:ln>
          </p:spPr>
          <p:txBody>
            <a:bodyPr/>
            <a:lstStyle/>
            <a:p>
              <a:endParaRPr lang="zh-CN" altLang="en-US"/>
            </a:p>
          </p:txBody>
        </p:sp>
        <p:sp>
          <p:nvSpPr>
            <p:cNvPr id="190492" name="Rectangle 28"/>
            <p:cNvSpPr>
              <a:spLocks noChangeArrowheads="1"/>
            </p:cNvSpPr>
            <p:nvPr/>
          </p:nvSpPr>
          <p:spPr bwMode="auto">
            <a:xfrm>
              <a:off x="1910080" y="3851910"/>
              <a:ext cx="722313" cy="1470025"/>
            </a:xfrm>
            <a:prstGeom prst="rect">
              <a:avLst/>
            </a:prstGeom>
            <a:noFill/>
            <a:ln w="12700">
              <a:solidFill>
                <a:schemeClr val="bg1"/>
              </a:solidFill>
              <a:prstDash val="lgDash"/>
              <a:miter lim="800000"/>
            </a:ln>
            <a:effectLst>
              <a:outerShdw dist="107763" dir="2700000" algn="ctr" rotWithShape="0">
                <a:schemeClr val="bg2"/>
              </a:outerShdw>
            </a:effectLst>
          </p:spPr>
          <p:txBody>
            <a:bodyPr wrap="none" anchor="ctr"/>
            <a:lstStyle/>
            <a:p>
              <a:pPr>
                <a:defRPr/>
              </a:pPr>
              <a:endParaRPr lang="zh-CN" altLang="en-US">
                <a:latin typeface="Times New Roman" panose="02020603050405020304" charset="0"/>
                <a:ea typeface="宋体" panose="02010600030101010101" pitchFamily="2" charset="-122"/>
                <a:cs typeface="+mn-cs"/>
              </a:endParaRPr>
            </a:p>
          </p:txBody>
        </p:sp>
        <p:sp>
          <p:nvSpPr>
            <p:cNvPr id="22547" name="Rectangle 29"/>
            <p:cNvSpPr>
              <a:spLocks noChangeArrowheads="1"/>
            </p:cNvSpPr>
            <p:nvPr/>
          </p:nvSpPr>
          <p:spPr bwMode="auto">
            <a:xfrm>
              <a:off x="2898775" y="5502275"/>
              <a:ext cx="3140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AU" altLang="zh-CN" sz="1800" b="1" dirty="0">
                  <a:solidFill>
                    <a:schemeClr val="tx1"/>
                  </a:solidFill>
                  <a:latin typeface="Corbel" panose="020B0503020204020204" pitchFamily="34" charset="0"/>
                </a:rPr>
                <a:t>enables storing data</a:t>
              </a:r>
              <a:r>
                <a:rPr lang="en-AU" altLang="zh-CN" sz="1800" b="1" dirty="0">
                  <a:solidFill>
                    <a:schemeClr val="bg2"/>
                  </a:solidFill>
                  <a:latin typeface="Corbel" panose="020B0503020204020204" pitchFamily="34" charset="0"/>
                </a:rPr>
                <a:t> </a:t>
              </a:r>
              <a:r>
                <a:rPr lang="en-AU" altLang="zh-CN" sz="1800" b="1" i="1" dirty="0">
                  <a:solidFill>
                    <a:srgbClr val="3333FF"/>
                  </a:solidFill>
                  <a:latin typeface="Corbel" panose="020B0503020204020204" pitchFamily="34" charset="0"/>
                </a:rPr>
                <a:t>over time</a:t>
              </a:r>
            </a:p>
          </p:txBody>
        </p:sp>
        <p:sp>
          <p:nvSpPr>
            <p:cNvPr id="22548" name="Freeform 30"/>
            <p:cNvSpPr/>
            <p:nvPr/>
          </p:nvSpPr>
          <p:spPr bwMode="auto">
            <a:xfrm>
              <a:off x="222250" y="4149725"/>
              <a:ext cx="1687513" cy="874713"/>
            </a:xfrm>
            <a:custGeom>
              <a:avLst/>
              <a:gdLst>
                <a:gd name="T0" fmla="*/ 0 w 946"/>
                <a:gd name="T1" fmla="*/ 303987 h 728"/>
                <a:gd name="T2" fmla="*/ 140923 w 946"/>
                <a:gd name="T3" fmla="*/ 303987 h 728"/>
                <a:gd name="T4" fmla="*/ 146275 w 946"/>
                <a:gd name="T5" fmla="*/ 410923 h 728"/>
                <a:gd name="T6" fmla="*/ 196222 w 946"/>
                <a:gd name="T7" fmla="*/ 533479 h 728"/>
                <a:gd name="T8" fmla="*/ 303253 w 946"/>
                <a:gd name="T9" fmla="*/ 632004 h 728"/>
                <a:gd name="T10" fmla="*/ 440609 w 946"/>
                <a:gd name="T11" fmla="*/ 720917 h 728"/>
                <a:gd name="T12" fmla="*/ 661805 w 946"/>
                <a:gd name="T13" fmla="*/ 803823 h 728"/>
                <a:gd name="T14" fmla="*/ 922246 w 946"/>
                <a:gd name="T15" fmla="*/ 850682 h 728"/>
                <a:gd name="T16" fmla="*/ 1275446 w 946"/>
                <a:gd name="T17" fmla="*/ 873511 h 728"/>
                <a:gd name="T18" fmla="*/ 1685729 w 946"/>
                <a:gd name="T19" fmla="*/ 869907 h 728"/>
                <a:gd name="T20" fmla="*/ 1612592 w 946"/>
                <a:gd name="T21" fmla="*/ 539486 h 728"/>
                <a:gd name="T22" fmla="*/ 1457398 w 946"/>
                <a:gd name="T23" fmla="*/ 559912 h 728"/>
                <a:gd name="T24" fmla="*/ 1225498 w 946"/>
                <a:gd name="T25" fmla="*/ 552703 h 728"/>
                <a:gd name="T26" fmla="*/ 1048898 w 946"/>
                <a:gd name="T27" fmla="*/ 517859 h 728"/>
                <a:gd name="T28" fmla="*/ 888352 w 946"/>
                <a:gd name="T29" fmla="*/ 434953 h 728"/>
                <a:gd name="T30" fmla="*/ 831270 w 946"/>
                <a:gd name="T31" fmla="*/ 373675 h 728"/>
                <a:gd name="T32" fmla="*/ 768835 w 946"/>
                <a:gd name="T33" fmla="*/ 290770 h 728"/>
                <a:gd name="T34" fmla="*/ 1132739 w 946"/>
                <a:gd name="T35" fmla="*/ 271546 h 728"/>
                <a:gd name="T36" fmla="*/ 922246 w 946"/>
                <a:gd name="T37" fmla="*/ 205461 h 728"/>
                <a:gd name="T38" fmla="*/ 668940 w 946"/>
                <a:gd name="T39" fmla="*/ 98525 h 728"/>
                <a:gd name="T40" fmla="*/ 444176 w 946"/>
                <a:gd name="T41" fmla="*/ 0 h 728"/>
                <a:gd name="T42" fmla="*/ 337146 w 946"/>
                <a:gd name="T43" fmla="*/ 90115 h 728"/>
                <a:gd name="T44" fmla="*/ 246170 w 946"/>
                <a:gd name="T45" fmla="*/ 165811 h 728"/>
                <a:gd name="T46" fmla="*/ 133788 w 946"/>
                <a:gd name="T47" fmla="*/ 240306 h 728"/>
                <a:gd name="T48" fmla="*/ 0 w 946"/>
                <a:gd name="T49" fmla="*/ 303987 h 728"/>
                <a:gd name="T50" fmla="*/ 0 w 946"/>
                <a:gd name="T51" fmla="*/ 303987 h 72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46"/>
                <a:gd name="T79" fmla="*/ 0 h 728"/>
                <a:gd name="T80" fmla="*/ 946 w 946"/>
                <a:gd name="T81" fmla="*/ 728 h 72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46" h="728">
                  <a:moveTo>
                    <a:pt x="0" y="253"/>
                  </a:moveTo>
                  <a:lnTo>
                    <a:pt x="79" y="253"/>
                  </a:lnTo>
                  <a:lnTo>
                    <a:pt x="82" y="342"/>
                  </a:lnTo>
                  <a:lnTo>
                    <a:pt x="110" y="444"/>
                  </a:lnTo>
                  <a:lnTo>
                    <a:pt x="170" y="526"/>
                  </a:lnTo>
                  <a:lnTo>
                    <a:pt x="247" y="600"/>
                  </a:lnTo>
                  <a:lnTo>
                    <a:pt x="371" y="669"/>
                  </a:lnTo>
                  <a:lnTo>
                    <a:pt x="517" y="708"/>
                  </a:lnTo>
                  <a:lnTo>
                    <a:pt x="715" y="727"/>
                  </a:lnTo>
                  <a:lnTo>
                    <a:pt x="945" y="724"/>
                  </a:lnTo>
                  <a:lnTo>
                    <a:pt x="904" y="449"/>
                  </a:lnTo>
                  <a:lnTo>
                    <a:pt x="817" y="466"/>
                  </a:lnTo>
                  <a:lnTo>
                    <a:pt x="687" y="460"/>
                  </a:lnTo>
                  <a:lnTo>
                    <a:pt x="588" y="431"/>
                  </a:lnTo>
                  <a:lnTo>
                    <a:pt x="498" y="362"/>
                  </a:lnTo>
                  <a:lnTo>
                    <a:pt x="466" y="311"/>
                  </a:lnTo>
                  <a:lnTo>
                    <a:pt x="431" y="242"/>
                  </a:lnTo>
                  <a:lnTo>
                    <a:pt x="635" y="226"/>
                  </a:lnTo>
                  <a:lnTo>
                    <a:pt x="517" y="171"/>
                  </a:lnTo>
                  <a:lnTo>
                    <a:pt x="375" y="82"/>
                  </a:lnTo>
                  <a:lnTo>
                    <a:pt x="249" y="0"/>
                  </a:lnTo>
                  <a:lnTo>
                    <a:pt x="189" y="75"/>
                  </a:lnTo>
                  <a:lnTo>
                    <a:pt x="138" y="138"/>
                  </a:lnTo>
                  <a:lnTo>
                    <a:pt x="75" y="200"/>
                  </a:lnTo>
                  <a:lnTo>
                    <a:pt x="0" y="253"/>
                  </a:lnTo>
                </a:path>
              </a:pathLst>
            </a:custGeom>
            <a:solidFill>
              <a:srgbClr val="33CC33"/>
            </a:solidFill>
            <a:ln w="12700" cap="rnd">
              <a:solidFill>
                <a:schemeClr val="tx2"/>
              </a:solidFill>
              <a:round/>
            </a:ln>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zh-CN" dirty="0" smtClean="0">
                <a:latin typeface="Arial" panose="020B0604020202020204" pitchFamily="34" charset="0"/>
                <a:cs typeface="宋体" panose="02010600030101010101" pitchFamily="2" charset="-122"/>
              </a:rPr>
              <a:t>GBase 8s</a:t>
            </a:r>
            <a:r>
              <a:rPr lang="zh-CN" altLang="en-US" sz="2800" dirty="0" smtClean="0">
                <a:latin typeface="Arial" panose="020B0604020202020204" pitchFamily="34" charset="0"/>
                <a:cs typeface="Arial" panose="020B0604020202020204" pitchFamily="34" charset="0"/>
              </a:rPr>
              <a:t>间隔</a:t>
            </a:r>
            <a:r>
              <a:rPr lang="zh-CN" altLang="en-US" sz="2800" dirty="0">
                <a:latin typeface="Arial" panose="020B0604020202020204" pitchFamily="34" charset="0"/>
                <a:cs typeface="Arial" panose="020B0604020202020204" pitchFamily="34" charset="0"/>
              </a:rPr>
              <a:t>分</a:t>
            </a:r>
            <a:r>
              <a:rPr lang="zh-CN" altLang="en-US" sz="2800" dirty="0" smtClean="0">
                <a:latin typeface="Arial" panose="020B0604020202020204" pitchFamily="34" charset="0"/>
                <a:cs typeface="Arial" panose="020B0604020202020204" pitchFamily="34" charset="0"/>
              </a:rPr>
              <a:t>片</a:t>
            </a:r>
            <a:r>
              <a:rPr lang="zh-CN" altLang="en-US" dirty="0" smtClean="0">
                <a:latin typeface="Arial" panose="020B0604020202020204" pitchFamily="34" charset="0"/>
                <a:cs typeface="Arial" panose="020B0604020202020204" pitchFamily="34" charset="0"/>
              </a:rPr>
              <a:t>策略</a:t>
            </a:r>
            <a:r>
              <a:rPr lang="en-US" altLang="zh-CN" sz="2800" dirty="0" smtClean="0">
                <a:latin typeface="Arial" panose="020B0604020202020204" pitchFamily="34" charset="0"/>
                <a:cs typeface="宋体" panose="02010600030101010101" pitchFamily="2" charset="-122"/>
              </a:rPr>
              <a:t>—</a:t>
            </a:r>
            <a:r>
              <a:rPr lang="zh-CN" altLang="en-US" sz="2800" dirty="0">
                <a:latin typeface="Arial" panose="020B0604020202020204" pitchFamily="34" charset="0"/>
                <a:cs typeface="宋体" panose="02010600030101010101" pitchFamily="2" charset="-122"/>
              </a:rPr>
              <a:t>范例</a:t>
            </a:r>
            <a:endParaRPr lang="en-US" altLang="zh-CN" sz="2800" dirty="0">
              <a:latin typeface="Arial" panose="020B0604020202020204" pitchFamily="34" charset="0"/>
              <a:cs typeface="宋体" panose="02010600030101010101" pitchFamily="2" charset="-122"/>
            </a:endParaRPr>
          </a:p>
        </p:txBody>
      </p:sp>
      <p:sp>
        <p:nvSpPr>
          <p:cNvPr id="23555" name="Rectangle 3"/>
          <p:cNvSpPr>
            <a:spLocks noGrp="1" noChangeArrowheads="1"/>
          </p:cNvSpPr>
          <p:nvPr>
            <p:ph type="body" sz="quarter" idx="10"/>
          </p:nvPr>
        </p:nvSpPr>
        <p:spPr>
          <a:noFill/>
          <a:ln>
            <a:solidFill>
              <a:schemeClr val="bg1"/>
            </a:solidFill>
            <a:miter lim="800000"/>
          </a:ln>
        </p:spPr>
        <p:txBody>
          <a:bodyPr>
            <a:normAutofit fontScale="97500" lnSpcReduction="10000"/>
          </a:bodyPr>
          <a:lstStyle/>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表结构</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create table sales(amount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int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id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int,data_time</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datetime</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year to second)     </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fragment by range(</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data_time</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buFont typeface="Webdings" panose="05030102010509060703" charset="0"/>
              <a:buNone/>
            </a:pP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interval(1 units hour)		--- </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每小时</a:t>
            </a:r>
            <a:endPar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store in  (sdbs1 , sdbs3, sdbs4)</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--partition p0 values &lt; '2011-06-28 00:00:00' in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bigdatadbs</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create unique index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on sales(</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data_time,id</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buFont typeface="Webdings" panose="05030102010509060703" charset="0"/>
              <a:buNone/>
            </a:pP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插入数据，自动分片</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insert into sales values(100,1,'2011-06-28 00:00:00');</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insert into sales values(102,2,'2011-06-28 00:00:00');</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insert into sales values(100,1,'2011-06-28 01:00:00');</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insert into sales values(100,2,'2011-06-28 01:00:00');</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insert into sales values(100,1,'2011-06-28 02:00:00');</a:t>
            </a:r>
          </a:p>
          <a:p>
            <a:pPr lvl="1">
              <a:buFont typeface="Webdings" panose="05030102010509060703" charset="0"/>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insert into sales values(100,2,'2011-06-28 02:00:00');</a:t>
            </a:r>
          </a:p>
          <a:p>
            <a:pPr lvl="1">
              <a:buFont typeface="Webdings" panose="05030102010509060703" charset="0"/>
              <a:buNone/>
            </a:pP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smtClean="0">
                <a:latin typeface="Arial" panose="020B0604020202020204" pitchFamily="34" charset="0"/>
                <a:cs typeface="宋体" panose="02010600030101010101" pitchFamily="2" charset="-122"/>
              </a:rPr>
              <a:t>GBase 8s</a:t>
            </a:r>
            <a:r>
              <a:rPr lang="zh-CN" altLang="en-US" dirty="0" smtClean="0">
                <a:latin typeface="Arial" panose="020B0604020202020204" pitchFamily="34" charset="0"/>
                <a:cs typeface="Arial" panose="020B0604020202020204" pitchFamily="34" charset="0"/>
              </a:rPr>
              <a:t>间隔分片策略</a:t>
            </a:r>
            <a:r>
              <a:rPr lang="en-US" altLang="zh-CN" dirty="0" smtClean="0">
                <a:latin typeface="Arial" panose="020B0604020202020204" pitchFamily="34" charset="0"/>
                <a:cs typeface="宋体" panose="02010600030101010101" pitchFamily="2" charset="-122"/>
              </a:rPr>
              <a:t>—</a:t>
            </a:r>
            <a:r>
              <a:rPr lang="zh-CN" altLang="en-US" dirty="0" smtClean="0">
                <a:latin typeface="Arial" panose="020B0604020202020204" pitchFamily="34" charset="0"/>
                <a:cs typeface="宋体" panose="02010600030101010101" pitchFamily="2" charset="-122"/>
              </a:rPr>
              <a:t>范例</a:t>
            </a:r>
            <a:endParaRPr lang="en-US" altLang="zh-CN" sz="2800" dirty="0">
              <a:latin typeface="Arial" panose="020B0604020202020204" pitchFamily="34" charset="0"/>
              <a:cs typeface="宋体" panose="02010600030101010101" pitchFamily="2" charset="-122"/>
            </a:endParaRPr>
          </a:p>
        </p:txBody>
      </p:sp>
      <p:sp>
        <p:nvSpPr>
          <p:cNvPr id="24579" name="Rectangle 3"/>
          <p:cNvSpPr>
            <a:spLocks noGrp="1" noChangeArrowheads="1"/>
          </p:cNvSpPr>
          <p:nvPr>
            <p:ph type="body" sz="quarter" idx="10"/>
          </p:nvPr>
        </p:nvSpPr>
        <p:spPr/>
        <p:txBody>
          <a:bodyPr>
            <a:normAutofit/>
          </a:bodyPr>
          <a:lstStyle/>
          <a:p>
            <a:pPr>
              <a:lnSpc>
                <a:spcPct val="80000"/>
              </a:lnSpc>
            </a:pPr>
            <a:r>
              <a:rPr lang="zh-CN" altLang="en-US" dirty="0">
                <a:latin typeface="Arial" panose="020B0604020202020204" pitchFamily="34" charset="0"/>
                <a:ea typeface="宋体" panose="02010600030101010101" pitchFamily="2" charset="-122"/>
                <a:cs typeface="宋体" panose="02010600030101010101" pitchFamily="2" charset="-122"/>
              </a:rPr>
              <a:t>查看</a:t>
            </a:r>
            <a:r>
              <a:rPr lang="en-US" altLang="zh-CN" dirty="0">
                <a:latin typeface="Arial" panose="020B0604020202020204" pitchFamily="34" charset="0"/>
                <a:ea typeface="宋体" panose="02010600030101010101" pitchFamily="2" charset="-122"/>
                <a:cs typeface="宋体" panose="02010600030101010101" pitchFamily="2" charset="-122"/>
              </a:rPr>
              <a:t>partition</a:t>
            </a:r>
            <a:r>
              <a:rPr lang="zh-CN" altLang="en-US" dirty="0">
                <a:latin typeface="Arial" panose="020B0604020202020204" pitchFamily="34" charset="0"/>
                <a:ea typeface="宋体" panose="02010600030101010101" pitchFamily="2" charset="-122"/>
                <a:cs typeface="宋体" panose="02010600030101010101" pitchFamily="2" charset="-122"/>
              </a:rPr>
              <a:t>情况</a:t>
            </a:r>
          </a:p>
        </p:txBody>
      </p:sp>
      <p:sp>
        <p:nvSpPr>
          <p:cNvPr id="6" name="内容占位符 3"/>
          <p:cNvSpPr txBox="1"/>
          <p:nvPr/>
        </p:nvSpPr>
        <p:spPr bwMode="auto">
          <a:xfrm>
            <a:off x="2283453" y="1636288"/>
            <a:ext cx="7663550" cy="4576824"/>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a:bodyPr>
          <a:lstStyle/>
          <a:p>
            <a:pPr lvl="1">
              <a:lnSpc>
                <a:spcPct val="200000"/>
              </a:lnSpc>
            </a:pP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oncheck</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pt</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testdb:sales</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|grep DB</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p0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bigdatadbs</a:t>
            </a:r>
            <a:endPar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sys_p1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sys_p2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sys_p3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sys_p4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sys_p5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sys_p6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sys_p7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sys_p8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fragment partition sys_p9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p0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bigdatadbs</a:t>
            </a:r>
            <a:endPar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sys_p1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sys_p2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sys_p3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sys_p4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sys_p5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sys_p6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sys_p7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sys_p8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sdbs1</a:t>
            </a:r>
          </a:p>
          <a:p>
            <a:pPr lvl="1">
              <a:lnSpc>
                <a:spcPct val="90000"/>
              </a:lnSpc>
            </a:pP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idx_sales</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fragment partition sys_p9 in </a:t>
            </a:r>
            <a:r>
              <a:rPr lang="en-US" altLang="zh-CN" sz="14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sdbs1</a:t>
            </a:r>
            <a:endParaRPr lang="en-US" altLang="zh-CN" sz="14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在一个</a:t>
            </a:r>
            <a:r>
              <a:rPr lang="en-US" altLang="zh-CN"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中创建多个分片</a:t>
            </a:r>
          </a:p>
        </p:txBody>
      </p:sp>
      <p:sp>
        <p:nvSpPr>
          <p:cNvPr id="25603" name="内容占位符 2"/>
          <p:cNvSpPr>
            <a:spLocks noGrp="1"/>
          </p:cNvSpPr>
          <p:nvPr>
            <p:ph type="body" sz="quarter" idx="10"/>
          </p:nvPr>
        </p:nvSpPr>
        <p:spPr/>
        <p:txBody>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在一个</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dbspace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内可以创建多个分片</a:t>
            </a: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简化</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dbspace</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的管理</a:t>
            </a:r>
          </a:p>
          <a:p>
            <a:pPr>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Disk Array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磁盘阵列</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对于不理想的并行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I/O</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内容占位符 3"/>
          <p:cNvSpPr txBox="1"/>
          <p:nvPr/>
        </p:nvSpPr>
        <p:spPr bwMode="auto">
          <a:xfrm>
            <a:off x="2264227" y="3632033"/>
            <a:ext cx="7707087" cy="1999515"/>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a:bodyPr>
          <a:lstStyle/>
          <a:p>
            <a:pPr lvl="1" eaLnBrk="1" hangingPunct="1">
              <a:lnSpc>
                <a:spcPct val="150000"/>
              </a:lnSpc>
              <a:buFont typeface="Webdings" panose="05030102010509060703" charset="0"/>
              <a:buNone/>
            </a:pPr>
            <a:r>
              <a:rPr lang="en-US" altLang="zh-CN" sz="1600" b="0" dirty="0" smtClean="0">
                <a:solidFill>
                  <a:srgbClr val="000000"/>
                </a:solidFill>
              </a:rPr>
              <a:t>CREATE </a:t>
            </a:r>
            <a:r>
              <a:rPr lang="en-US" altLang="zh-CN" sz="1600" b="0" dirty="0">
                <a:solidFill>
                  <a:srgbClr val="000000"/>
                </a:solidFill>
              </a:rPr>
              <a:t>TABLE tab1 (col1 integer, col2 date)</a:t>
            </a:r>
          </a:p>
          <a:p>
            <a:pPr lvl="1" eaLnBrk="1" hangingPunct="1">
              <a:lnSpc>
                <a:spcPct val="150000"/>
              </a:lnSpc>
              <a:buFont typeface="Webdings" panose="05030102010509060703" charset="0"/>
              <a:buNone/>
            </a:pPr>
            <a:r>
              <a:rPr lang="en-US" altLang="zh-CN" sz="1600" b="0" dirty="0">
                <a:solidFill>
                  <a:srgbClr val="000000"/>
                </a:solidFill>
              </a:rPr>
              <a:t>FRAGMENT BY expression</a:t>
            </a:r>
          </a:p>
          <a:p>
            <a:pPr lvl="1" eaLnBrk="1" hangingPunct="1">
              <a:lnSpc>
                <a:spcPct val="150000"/>
              </a:lnSpc>
              <a:buFont typeface="Webdings" panose="05030102010509060703" charset="0"/>
              <a:buNone/>
            </a:pPr>
            <a:r>
              <a:rPr lang="en-US" altLang="zh-CN" sz="1600" b="0" dirty="0">
                <a:solidFill>
                  <a:srgbClr val="FF0000"/>
                </a:solidFill>
              </a:rPr>
              <a:t>partition</a:t>
            </a:r>
            <a:r>
              <a:rPr lang="en-US" altLang="zh-CN" sz="1600" b="0" dirty="0">
                <a:solidFill>
                  <a:srgbClr val="000000"/>
                </a:solidFill>
              </a:rPr>
              <a:t> part1 (col1 &gt;=0 and col1 &lt; 100) in datadbs01,</a:t>
            </a:r>
          </a:p>
          <a:p>
            <a:pPr lvl="1" eaLnBrk="1" hangingPunct="1">
              <a:lnSpc>
                <a:spcPct val="150000"/>
              </a:lnSpc>
              <a:buFont typeface="Webdings" panose="05030102010509060703" charset="0"/>
              <a:buNone/>
            </a:pPr>
            <a:r>
              <a:rPr lang="en-US" altLang="zh-CN" sz="1600" b="0" dirty="0">
                <a:solidFill>
                  <a:srgbClr val="FF0000"/>
                </a:solidFill>
              </a:rPr>
              <a:t>partition</a:t>
            </a:r>
            <a:r>
              <a:rPr lang="en-US" altLang="zh-CN" sz="1600" b="0" dirty="0">
                <a:solidFill>
                  <a:srgbClr val="000000"/>
                </a:solidFill>
              </a:rPr>
              <a:t> part2 (col1 &gt;= 100 and col1 &lt; 200) in  datadbs01,</a:t>
            </a:r>
          </a:p>
          <a:p>
            <a:pPr lvl="1" eaLnBrk="1" hangingPunct="1">
              <a:lnSpc>
                <a:spcPct val="150000"/>
              </a:lnSpc>
              <a:buFont typeface="Webdings" panose="05030102010509060703" charset="0"/>
              <a:buNone/>
            </a:pPr>
            <a:r>
              <a:rPr lang="en-US" altLang="zh-CN" sz="1600" b="0" dirty="0">
                <a:solidFill>
                  <a:srgbClr val="FF0000"/>
                </a:solidFill>
              </a:rPr>
              <a:t>partition</a:t>
            </a:r>
            <a:r>
              <a:rPr lang="en-US" altLang="zh-CN" sz="1600" b="0" dirty="0">
                <a:solidFill>
                  <a:srgbClr val="000000"/>
                </a:solidFill>
              </a:rPr>
              <a:t> part3 (col1 &gt;= 200) in </a:t>
            </a:r>
            <a:r>
              <a:rPr lang="en-US" altLang="zh-CN" sz="1600" b="0" dirty="0" smtClean="0">
                <a:solidFill>
                  <a:srgbClr val="000000"/>
                </a:solidFill>
              </a:rPr>
              <a:t>datadbs01</a:t>
            </a:r>
            <a:endParaRPr lang="zh-CN" altLang="en-US" sz="1600" b="0" dirty="0">
              <a:solidFill>
                <a:srgbClr val="000000"/>
              </a:solidFill>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dirty="0" smtClean="0">
                <a:latin typeface="Arial" panose="020B0604020202020204" pitchFamily="34" charset="0"/>
                <a:cs typeface="宋体" panose="02010600030101010101" pitchFamily="2" charset="-122"/>
              </a:rPr>
              <a:t>分片</a:t>
            </a:r>
            <a:r>
              <a:rPr lang="en-US" altLang="zh-CN" dirty="0" smtClean="0">
                <a:latin typeface="Arial" panose="020B0604020202020204" pitchFamily="34" charset="0"/>
                <a:cs typeface="宋体" panose="02010600030101010101" pitchFamily="2" charset="-122"/>
              </a:rPr>
              <a:t>(Fragmentation) </a:t>
            </a:r>
            <a:r>
              <a:rPr lang="zh-CN" altLang="en-US" dirty="0" smtClean="0">
                <a:latin typeface="Arial" panose="020B0604020202020204" pitchFamily="34" charset="0"/>
                <a:cs typeface="宋体" panose="02010600030101010101" pitchFamily="2" charset="-122"/>
              </a:rPr>
              <a:t>和区段（</a:t>
            </a:r>
            <a:r>
              <a:rPr lang="en-US" altLang="zh-CN" dirty="0" smtClean="0">
                <a:latin typeface="Arial" panose="020B0604020202020204" pitchFamily="34" charset="0"/>
                <a:cs typeface="宋体" panose="02010600030101010101" pitchFamily="2" charset="-122"/>
              </a:rPr>
              <a:t>Extents</a:t>
            </a:r>
            <a:r>
              <a:rPr lang="zh-CN" altLang="en-US" dirty="0" smtClean="0">
                <a:latin typeface="Arial" panose="020B0604020202020204" pitchFamily="34" charset="0"/>
                <a:cs typeface="宋体" panose="02010600030101010101" pitchFamily="2" charset="-122"/>
              </a:rPr>
              <a:t>）</a:t>
            </a:r>
            <a:endParaRPr lang="en-US" altLang="zh-CN" dirty="0">
              <a:latin typeface="Arial" panose="020B0604020202020204" pitchFamily="34" charset="0"/>
              <a:cs typeface="宋体" panose="02010600030101010101" pitchFamily="2" charset="-122"/>
            </a:endParaRPr>
          </a:p>
        </p:txBody>
      </p:sp>
      <p:sp>
        <p:nvSpPr>
          <p:cNvPr id="9" name="文本占位符 8"/>
          <p:cNvSpPr>
            <a:spLocks noGrp="1"/>
          </p:cNvSpPr>
          <p:nvPr>
            <p:ph type="body" sz="quarter" idx="10"/>
          </p:nvPr>
        </p:nvSpPr>
        <p:spPr/>
        <p:txBody>
          <a:bodyPr/>
          <a:lstStyle/>
          <a:p>
            <a:endParaRPr lang="zh-CN" altLang="en-US"/>
          </a:p>
        </p:txBody>
      </p:sp>
      <p:grpSp>
        <p:nvGrpSpPr>
          <p:cNvPr id="8" name="组合 7"/>
          <p:cNvGrpSpPr/>
          <p:nvPr/>
        </p:nvGrpSpPr>
        <p:grpSpPr>
          <a:xfrm>
            <a:off x="5698516" y="1524000"/>
            <a:ext cx="4647913" cy="3675380"/>
            <a:chOff x="3955163" y="1524000"/>
            <a:chExt cx="5073839" cy="3675380"/>
          </a:xfrm>
        </p:grpSpPr>
        <p:grpSp>
          <p:nvGrpSpPr>
            <p:cNvPr id="2" name="Group 4"/>
            <p:cNvGrpSpPr/>
            <p:nvPr/>
          </p:nvGrpSpPr>
          <p:grpSpPr bwMode="auto">
            <a:xfrm>
              <a:off x="4244975" y="2735263"/>
              <a:ext cx="914400" cy="1074737"/>
              <a:chOff x="3596" y="3548"/>
              <a:chExt cx="367" cy="380"/>
            </a:xfrm>
          </p:grpSpPr>
          <p:grpSp>
            <p:nvGrpSpPr>
              <p:cNvPr id="3" name="Group 5"/>
              <p:cNvGrpSpPr/>
              <p:nvPr/>
            </p:nvGrpSpPr>
            <p:grpSpPr bwMode="auto">
              <a:xfrm>
                <a:off x="3596" y="3548"/>
                <a:ext cx="367" cy="380"/>
                <a:chOff x="3596" y="3548"/>
                <a:chExt cx="367" cy="380"/>
              </a:xfrm>
            </p:grpSpPr>
            <p:sp>
              <p:nvSpPr>
                <p:cNvPr id="26652" name="Freeform 6"/>
                <p:cNvSpPr/>
                <p:nvPr/>
              </p:nvSpPr>
              <p:spPr bwMode="auto">
                <a:xfrm>
                  <a:off x="3596" y="3548"/>
                  <a:ext cx="367" cy="380"/>
                </a:xfrm>
                <a:custGeom>
                  <a:avLst/>
                  <a:gdLst>
                    <a:gd name="T0" fmla="*/ 164 w 367"/>
                    <a:gd name="T1" fmla="*/ 0 h 380"/>
                    <a:gd name="T2" fmla="*/ 128 w 367"/>
                    <a:gd name="T3" fmla="*/ 2 h 380"/>
                    <a:gd name="T4" fmla="*/ 95 w 367"/>
                    <a:gd name="T5" fmla="*/ 6 h 380"/>
                    <a:gd name="T6" fmla="*/ 66 w 367"/>
                    <a:gd name="T7" fmla="*/ 13 h 380"/>
                    <a:gd name="T8" fmla="*/ 41 w 367"/>
                    <a:gd name="T9" fmla="*/ 21 h 380"/>
                    <a:gd name="T10" fmla="*/ 21 w 367"/>
                    <a:gd name="T11" fmla="*/ 31 h 380"/>
                    <a:gd name="T12" fmla="*/ 8 w 367"/>
                    <a:gd name="T13" fmla="*/ 41 h 380"/>
                    <a:gd name="T14" fmla="*/ 1 w 367"/>
                    <a:gd name="T15" fmla="*/ 54 h 380"/>
                    <a:gd name="T16" fmla="*/ 0 w 367"/>
                    <a:gd name="T17" fmla="*/ 319 h 380"/>
                    <a:gd name="T18" fmla="*/ 3 w 367"/>
                    <a:gd name="T19" fmla="*/ 331 h 380"/>
                    <a:gd name="T20" fmla="*/ 14 w 367"/>
                    <a:gd name="T21" fmla="*/ 342 h 380"/>
                    <a:gd name="T22" fmla="*/ 31 w 367"/>
                    <a:gd name="T23" fmla="*/ 353 h 380"/>
                    <a:gd name="T24" fmla="*/ 53 w 367"/>
                    <a:gd name="T25" fmla="*/ 360 h 380"/>
                    <a:gd name="T26" fmla="*/ 80 w 367"/>
                    <a:gd name="T27" fmla="*/ 368 h 380"/>
                    <a:gd name="T28" fmla="*/ 111 w 367"/>
                    <a:gd name="T29" fmla="*/ 374 h 380"/>
                    <a:gd name="T30" fmla="*/ 145 w 367"/>
                    <a:gd name="T31" fmla="*/ 377 h 380"/>
                    <a:gd name="T32" fmla="*/ 183 w 367"/>
                    <a:gd name="T33" fmla="*/ 379 h 380"/>
                    <a:gd name="T34" fmla="*/ 220 w 367"/>
                    <a:gd name="T35" fmla="*/ 377 h 380"/>
                    <a:gd name="T36" fmla="*/ 254 w 367"/>
                    <a:gd name="T37" fmla="*/ 374 h 380"/>
                    <a:gd name="T38" fmla="*/ 285 w 367"/>
                    <a:gd name="T39" fmla="*/ 368 h 380"/>
                    <a:gd name="T40" fmla="*/ 312 w 367"/>
                    <a:gd name="T41" fmla="*/ 360 h 380"/>
                    <a:gd name="T42" fmla="*/ 334 w 367"/>
                    <a:gd name="T43" fmla="*/ 353 h 380"/>
                    <a:gd name="T44" fmla="*/ 351 w 367"/>
                    <a:gd name="T45" fmla="*/ 342 h 380"/>
                    <a:gd name="T46" fmla="*/ 362 w 367"/>
                    <a:gd name="T47" fmla="*/ 331 h 380"/>
                    <a:gd name="T48" fmla="*/ 366 w 367"/>
                    <a:gd name="T49" fmla="*/ 319 h 380"/>
                    <a:gd name="T50" fmla="*/ 364 w 367"/>
                    <a:gd name="T51" fmla="*/ 54 h 380"/>
                    <a:gd name="T52" fmla="*/ 357 w 367"/>
                    <a:gd name="T53" fmla="*/ 41 h 380"/>
                    <a:gd name="T54" fmla="*/ 344 w 367"/>
                    <a:gd name="T55" fmla="*/ 31 h 380"/>
                    <a:gd name="T56" fmla="*/ 324 w 367"/>
                    <a:gd name="T57" fmla="*/ 21 h 380"/>
                    <a:gd name="T58" fmla="*/ 299 w 367"/>
                    <a:gd name="T59" fmla="*/ 13 h 380"/>
                    <a:gd name="T60" fmla="*/ 270 w 367"/>
                    <a:gd name="T61" fmla="*/ 6 h 380"/>
                    <a:gd name="T62" fmla="*/ 237 w 367"/>
                    <a:gd name="T63" fmla="*/ 2 h 380"/>
                    <a:gd name="T64" fmla="*/ 201 w 367"/>
                    <a:gd name="T65" fmla="*/ 0 h 3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7"/>
                    <a:gd name="T100" fmla="*/ 0 h 380"/>
                    <a:gd name="T101" fmla="*/ 367 w 367"/>
                    <a:gd name="T102" fmla="*/ 380 h 3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7" h="380">
                      <a:moveTo>
                        <a:pt x="183" y="0"/>
                      </a:moveTo>
                      <a:lnTo>
                        <a:pt x="164" y="0"/>
                      </a:lnTo>
                      <a:lnTo>
                        <a:pt x="145" y="1"/>
                      </a:lnTo>
                      <a:lnTo>
                        <a:pt x="128" y="2"/>
                      </a:lnTo>
                      <a:lnTo>
                        <a:pt x="111" y="4"/>
                      </a:lnTo>
                      <a:lnTo>
                        <a:pt x="95" y="6"/>
                      </a:lnTo>
                      <a:lnTo>
                        <a:pt x="80" y="10"/>
                      </a:lnTo>
                      <a:lnTo>
                        <a:pt x="66" y="13"/>
                      </a:lnTo>
                      <a:lnTo>
                        <a:pt x="53" y="18"/>
                      </a:lnTo>
                      <a:lnTo>
                        <a:pt x="41" y="21"/>
                      </a:lnTo>
                      <a:lnTo>
                        <a:pt x="31" y="27"/>
                      </a:lnTo>
                      <a:lnTo>
                        <a:pt x="21" y="31"/>
                      </a:lnTo>
                      <a:lnTo>
                        <a:pt x="14" y="37"/>
                      </a:lnTo>
                      <a:lnTo>
                        <a:pt x="8" y="41"/>
                      </a:lnTo>
                      <a:lnTo>
                        <a:pt x="3" y="47"/>
                      </a:lnTo>
                      <a:lnTo>
                        <a:pt x="1" y="54"/>
                      </a:lnTo>
                      <a:lnTo>
                        <a:pt x="0" y="59"/>
                      </a:lnTo>
                      <a:lnTo>
                        <a:pt x="0" y="319"/>
                      </a:lnTo>
                      <a:lnTo>
                        <a:pt x="1" y="324"/>
                      </a:lnTo>
                      <a:lnTo>
                        <a:pt x="3" y="331"/>
                      </a:lnTo>
                      <a:lnTo>
                        <a:pt x="8" y="337"/>
                      </a:lnTo>
                      <a:lnTo>
                        <a:pt x="14" y="342"/>
                      </a:lnTo>
                      <a:lnTo>
                        <a:pt x="21" y="347"/>
                      </a:lnTo>
                      <a:lnTo>
                        <a:pt x="31" y="353"/>
                      </a:lnTo>
                      <a:lnTo>
                        <a:pt x="41" y="357"/>
                      </a:lnTo>
                      <a:lnTo>
                        <a:pt x="53" y="360"/>
                      </a:lnTo>
                      <a:lnTo>
                        <a:pt x="66" y="365"/>
                      </a:lnTo>
                      <a:lnTo>
                        <a:pt x="80" y="368"/>
                      </a:lnTo>
                      <a:lnTo>
                        <a:pt x="95" y="372"/>
                      </a:lnTo>
                      <a:lnTo>
                        <a:pt x="111" y="374"/>
                      </a:lnTo>
                      <a:lnTo>
                        <a:pt x="128" y="376"/>
                      </a:lnTo>
                      <a:lnTo>
                        <a:pt x="145" y="377"/>
                      </a:lnTo>
                      <a:lnTo>
                        <a:pt x="164" y="379"/>
                      </a:lnTo>
                      <a:lnTo>
                        <a:pt x="183" y="379"/>
                      </a:lnTo>
                      <a:lnTo>
                        <a:pt x="201" y="379"/>
                      </a:lnTo>
                      <a:lnTo>
                        <a:pt x="220" y="377"/>
                      </a:lnTo>
                      <a:lnTo>
                        <a:pt x="237" y="376"/>
                      </a:lnTo>
                      <a:lnTo>
                        <a:pt x="254" y="374"/>
                      </a:lnTo>
                      <a:lnTo>
                        <a:pt x="270" y="372"/>
                      </a:lnTo>
                      <a:lnTo>
                        <a:pt x="285" y="368"/>
                      </a:lnTo>
                      <a:lnTo>
                        <a:pt x="299" y="365"/>
                      </a:lnTo>
                      <a:lnTo>
                        <a:pt x="312" y="360"/>
                      </a:lnTo>
                      <a:lnTo>
                        <a:pt x="324" y="357"/>
                      </a:lnTo>
                      <a:lnTo>
                        <a:pt x="334" y="353"/>
                      </a:lnTo>
                      <a:lnTo>
                        <a:pt x="344" y="347"/>
                      </a:lnTo>
                      <a:lnTo>
                        <a:pt x="351" y="342"/>
                      </a:lnTo>
                      <a:lnTo>
                        <a:pt x="357" y="337"/>
                      </a:lnTo>
                      <a:lnTo>
                        <a:pt x="362" y="331"/>
                      </a:lnTo>
                      <a:lnTo>
                        <a:pt x="364" y="324"/>
                      </a:lnTo>
                      <a:lnTo>
                        <a:pt x="366" y="319"/>
                      </a:lnTo>
                      <a:lnTo>
                        <a:pt x="366" y="59"/>
                      </a:lnTo>
                      <a:lnTo>
                        <a:pt x="364" y="54"/>
                      </a:lnTo>
                      <a:lnTo>
                        <a:pt x="362" y="47"/>
                      </a:lnTo>
                      <a:lnTo>
                        <a:pt x="357" y="41"/>
                      </a:lnTo>
                      <a:lnTo>
                        <a:pt x="351" y="37"/>
                      </a:lnTo>
                      <a:lnTo>
                        <a:pt x="344" y="31"/>
                      </a:lnTo>
                      <a:lnTo>
                        <a:pt x="334" y="27"/>
                      </a:lnTo>
                      <a:lnTo>
                        <a:pt x="324" y="21"/>
                      </a:lnTo>
                      <a:lnTo>
                        <a:pt x="312" y="18"/>
                      </a:lnTo>
                      <a:lnTo>
                        <a:pt x="299" y="13"/>
                      </a:lnTo>
                      <a:lnTo>
                        <a:pt x="285" y="10"/>
                      </a:lnTo>
                      <a:lnTo>
                        <a:pt x="270" y="6"/>
                      </a:lnTo>
                      <a:lnTo>
                        <a:pt x="254" y="4"/>
                      </a:lnTo>
                      <a:lnTo>
                        <a:pt x="237" y="2"/>
                      </a:lnTo>
                      <a:lnTo>
                        <a:pt x="220" y="1"/>
                      </a:lnTo>
                      <a:lnTo>
                        <a:pt x="201" y="0"/>
                      </a:lnTo>
                      <a:lnTo>
                        <a:pt x="183" y="0"/>
                      </a:lnTo>
                    </a:path>
                  </a:pathLst>
                </a:custGeom>
                <a:gradFill rotWithShape="0">
                  <a:gsLst>
                    <a:gs pos="0">
                      <a:srgbClr val="CC3399"/>
                    </a:gs>
                    <a:gs pos="100000">
                      <a:srgbClr val="8E246B"/>
                    </a:gs>
                  </a:gsLst>
                  <a:lin ang="5400000" scaled="1"/>
                </a:gradFill>
                <a:ln w="12700" cap="rnd">
                  <a:solidFill>
                    <a:srgbClr val="000000"/>
                  </a:solidFill>
                  <a:round/>
                </a:ln>
              </p:spPr>
              <p:txBody>
                <a:bodyPr/>
                <a:lstStyle/>
                <a:p>
                  <a:endParaRPr lang="zh-CN" altLang="en-US"/>
                </a:p>
              </p:txBody>
            </p:sp>
            <p:sp>
              <p:nvSpPr>
                <p:cNvPr id="26653" name="Oval 7"/>
                <p:cNvSpPr>
                  <a:spLocks noChangeArrowheads="1"/>
                </p:cNvSpPr>
                <p:nvPr/>
              </p:nvSpPr>
              <p:spPr bwMode="auto">
                <a:xfrm>
                  <a:off x="3598" y="3548"/>
                  <a:ext cx="362" cy="90"/>
                </a:xfrm>
                <a:prstGeom prst="ellipse">
                  <a:avLst/>
                </a:prstGeom>
                <a:gradFill rotWithShape="0">
                  <a:gsLst>
                    <a:gs pos="0">
                      <a:srgbClr val="CC3399"/>
                    </a:gs>
                    <a:gs pos="100000">
                      <a:srgbClr val="8E246B"/>
                    </a:gs>
                  </a:gsLst>
                  <a:lin ang="5400000" scaled="1"/>
                </a:gradFill>
                <a:ln w="12700">
                  <a:solidFill>
                    <a:schemeClr val="tx1"/>
                  </a:solidFill>
                  <a:round/>
                </a:ln>
              </p:spPr>
              <p:txBody>
                <a:bodyPr wrap="none" anchor="ctr"/>
                <a:lstStyle/>
                <a:p>
                  <a:endParaRPr lang="zh-CN" altLang="en-US"/>
                </a:p>
              </p:txBody>
            </p:sp>
          </p:grpSp>
          <p:sp>
            <p:nvSpPr>
              <p:cNvPr id="26651" name="Rectangle 8"/>
              <p:cNvSpPr>
                <a:spLocks noChangeArrowheads="1"/>
              </p:cNvSpPr>
              <p:nvPr/>
            </p:nvSpPr>
            <p:spPr bwMode="auto">
              <a:xfrm>
                <a:off x="3747" y="3651"/>
                <a:ext cx="65" cy="212"/>
              </a:xfrm>
              <a:prstGeom prst="rect">
                <a:avLst/>
              </a:prstGeom>
              <a:gradFill rotWithShape="0">
                <a:gsLst>
                  <a:gs pos="0">
                    <a:srgbClr val="CC3399"/>
                  </a:gs>
                  <a:gs pos="100000">
                    <a:srgbClr val="8E246B"/>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grpSp>
          <p:nvGrpSpPr>
            <p:cNvPr id="4" name="Group 9"/>
            <p:cNvGrpSpPr/>
            <p:nvPr/>
          </p:nvGrpSpPr>
          <p:grpSpPr bwMode="auto">
            <a:xfrm>
              <a:off x="6080125" y="2735263"/>
              <a:ext cx="914400" cy="1074737"/>
              <a:chOff x="3596" y="3548"/>
              <a:chExt cx="367" cy="380"/>
            </a:xfrm>
          </p:grpSpPr>
          <p:grpSp>
            <p:nvGrpSpPr>
              <p:cNvPr id="5" name="Group 10"/>
              <p:cNvGrpSpPr/>
              <p:nvPr/>
            </p:nvGrpSpPr>
            <p:grpSpPr bwMode="auto">
              <a:xfrm>
                <a:off x="3596" y="3548"/>
                <a:ext cx="367" cy="380"/>
                <a:chOff x="3596" y="3548"/>
                <a:chExt cx="367" cy="380"/>
              </a:xfrm>
            </p:grpSpPr>
            <p:sp>
              <p:nvSpPr>
                <p:cNvPr id="26648" name="Freeform 11"/>
                <p:cNvSpPr/>
                <p:nvPr/>
              </p:nvSpPr>
              <p:spPr bwMode="auto">
                <a:xfrm>
                  <a:off x="3596" y="3548"/>
                  <a:ext cx="367" cy="380"/>
                </a:xfrm>
                <a:custGeom>
                  <a:avLst/>
                  <a:gdLst>
                    <a:gd name="T0" fmla="*/ 164 w 367"/>
                    <a:gd name="T1" fmla="*/ 0 h 380"/>
                    <a:gd name="T2" fmla="*/ 128 w 367"/>
                    <a:gd name="T3" fmla="*/ 2 h 380"/>
                    <a:gd name="T4" fmla="*/ 95 w 367"/>
                    <a:gd name="T5" fmla="*/ 6 h 380"/>
                    <a:gd name="T6" fmla="*/ 66 w 367"/>
                    <a:gd name="T7" fmla="*/ 13 h 380"/>
                    <a:gd name="T8" fmla="*/ 41 w 367"/>
                    <a:gd name="T9" fmla="*/ 21 h 380"/>
                    <a:gd name="T10" fmla="*/ 21 w 367"/>
                    <a:gd name="T11" fmla="*/ 31 h 380"/>
                    <a:gd name="T12" fmla="*/ 8 w 367"/>
                    <a:gd name="T13" fmla="*/ 41 h 380"/>
                    <a:gd name="T14" fmla="*/ 1 w 367"/>
                    <a:gd name="T15" fmla="*/ 54 h 380"/>
                    <a:gd name="T16" fmla="*/ 0 w 367"/>
                    <a:gd name="T17" fmla="*/ 319 h 380"/>
                    <a:gd name="T18" fmla="*/ 3 w 367"/>
                    <a:gd name="T19" fmla="*/ 331 h 380"/>
                    <a:gd name="T20" fmla="*/ 14 w 367"/>
                    <a:gd name="T21" fmla="*/ 342 h 380"/>
                    <a:gd name="T22" fmla="*/ 31 w 367"/>
                    <a:gd name="T23" fmla="*/ 353 h 380"/>
                    <a:gd name="T24" fmla="*/ 53 w 367"/>
                    <a:gd name="T25" fmla="*/ 360 h 380"/>
                    <a:gd name="T26" fmla="*/ 80 w 367"/>
                    <a:gd name="T27" fmla="*/ 368 h 380"/>
                    <a:gd name="T28" fmla="*/ 111 w 367"/>
                    <a:gd name="T29" fmla="*/ 374 h 380"/>
                    <a:gd name="T30" fmla="*/ 145 w 367"/>
                    <a:gd name="T31" fmla="*/ 377 h 380"/>
                    <a:gd name="T32" fmla="*/ 183 w 367"/>
                    <a:gd name="T33" fmla="*/ 379 h 380"/>
                    <a:gd name="T34" fmla="*/ 220 w 367"/>
                    <a:gd name="T35" fmla="*/ 377 h 380"/>
                    <a:gd name="T36" fmla="*/ 254 w 367"/>
                    <a:gd name="T37" fmla="*/ 374 h 380"/>
                    <a:gd name="T38" fmla="*/ 285 w 367"/>
                    <a:gd name="T39" fmla="*/ 368 h 380"/>
                    <a:gd name="T40" fmla="*/ 312 w 367"/>
                    <a:gd name="T41" fmla="*/ 360 h 380"/>
                    <a:gd name="T42" fmla="*/ 334 w 367"/>
                    <a:gd name="T43" fmla="*/ 353 h 380"/>
                    <a:gd name="T44" fmla="*/ 351 w 367"/>
                    <a:gd name="T45" fmla="*/ 342 h 380"/>
                    <a:gd name="T46" fmla="*/ 362 w 367"/>
                    <a:gd name="T47" fmla="*/ 331 h 380"/>
                    <a:gd name="T48" fmla="*/ 366 w 367"/>
                    <a:gd name="T49" fmla="*/ 319 h 380"/>
                    <a:gd name="T50" fmla="*/ 364 w 367"/>
                    <a:gd name="T51" fmla="*/ 54 h 380"/>
                    <a:gd name="T52" fmla="*/ 357 w 367"/>
                    <a:gd name="T53" fmla="*/ 41 h 380"/>
                    <a:gd name="T54" fmla="*/ 344 w 367"/>
                    <a:gd name="T55" fmla="*/ 31 h 380"/>
                    <a:gd name="T56" fmla="*/ 324 w 367"/>
                    <a:gd name="T57" fmla="*/ 21 h 380"/>
                    <a:gd name="T58" fmla="*/ 299 w 367"/>
                    <a:gd name="T59" fmla="*/ 13 h 380"/>
                    <a:gd name="T60" fmla="*/ 270 w 367"/>
                    <a:gd name="T61" fmla="*/ 6 h 380"/>
                    <a:gd name="T62" fmla="*/ 237 w 367"/>
                    <a:gd name="T63" fmla="*/ 2 h 380"/>
                    <a:gd name="T64" fmla="*/ 201 w 367"/>
                    <a:gd name="T65" fmla="*/ 0 h 3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7"/>
                    <a:gd name="T100" fmla="*/ 0 h 380"/>
                    <a:gd name="T101" fmla="*/ 367 w 367"/>
                    <a:gd name="T102" fmla="*/ 380 h 3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7" h="380">
                      <a:moveTo>
                        <a:pt x="183" y="0"/>
                      </a:moveTo>
                      <a:lnTo>
                        <a:pt x="164" y="0"/>
                      </a:lnTo>
                      <a:lnTo>
                        <a:pt x="145" y="1"/>
                      </a:lnTo>
                      <a:lnTo>
                        <a:pt x="128" y="2"/>
                      </a:lnTo>
                      <a:lnTo>
                        <a:pt x="111" y="4"/>
                      </a:lnTo>
                      <a:lnTo>
                        <a:pt x="95" y="6"/>
                      </a:lnTo>
                      <a:lnTo>
                        <a:pt x="80" y="10"/>
                      </a:lnTo>
                      <a:lnTo>
                        <a:pt x="66" y="13"/>
                      </a:lnTo>
                      <a:lnTo>
                        <a:pt x="53" y="18"/>
                      </a:lnTo>
                      <a:lnTo>
                        <a:pt x="41" y="21"/>
                      </a:lnTo>
                      <a:lnTo>
                        <a:pt x="31" y="27"/>
                      </a:lnTo>
                      <a:lnTo>
                        <a:pt x="21" y="31"/>
                      </a:lnTo>
                      <a:lnTo>
                        <a:pt x="14" y="37"/>
                      </a:lnTo>
                      <a:lnTo>
                        <a:pt x="8" y="41"/>
                      </a:lnTo>
                      <a:lnTo>
                        <a:pt x="3" y="47"/>
                      </a:lnTo>
                      <a:lnTo>
                        <a:pt x="1" y="54"/>
                      </a:lnTo>
                      <a:lnTo>
                        <a:pt x="0" y="59"/>
                      </a:lnTo>
                      <a:lnTo>
                        <a:pt x="0" y="319"/>
                      </a:lnTo>
                      <a:lnTo>
                        <a:pt x="1" y="324"/>
                      </a:lnTo>
                      <a:lnTo>
                        <a:pt x="3" y="331"/>
                      </a:lnTo>
                      <a:lnTo>
                        <a:pt x="8" y="337"/>
                      </a:lnTo>
                      <a:lnTo>
                        <a:pt x="14" y="342"/>
                      </a:lnTo>
                      <a:lnTo>
                        <a:pt x="21" y="347"/>
                      </a:lnTo>
                      <a:lnTo>
                        <a:pt x="31" y="353"/>
                      </a:lnTo>
                      <a:lnTo>
                        <a:pt x="41" y="357"/>
                      </a:lnTo>
                      <a:lnTo>
                        <a:pt x="53" y="360"/>
                      </a:lnTo>
                      <a:lnTo>
                        <a:pt x="66" y="365"/>
                      </a:lnTo>
                      <a:lnTo>
                        <a:pt x="80" y="368"/>
                      </a:lnTo>
                      <a:lnTo>
                        <a:pt x="95" y="372"/>
                      </a:lnTo>
                      <a:lnTo>
                        <a:pt x="111" y="374"/>
                      </a:lnTo>
                      <a:lnTo>
                        <a:pt x="128" y="376"/>
                      </a:lnTo>
                      <a:lnTo>
                        <a:pt x="145" y="377"/>
                      </a:lnTo>
                      <a:lnTo>
                        <a:pt x="164" y="379"/>
                      </a:lnTo>
                      <a:lnTo>
                        <a:pt x="183" y="379"/>
                      </a:lnTo>
                      <a:lnTo>
                        <a:pt x="201" y="379"/>
                      </a:lnTo>
                      <a:lnTo>
                        <a:pt x="220" y="377"/>
                      </a:lnTo>
                      <a:lnTo>
                        <a:pt x="237" y="376"/>
                      </a:lnTo>
                      <a:lnTo>
                        <a:pt x="254" y="374"/>
                      </a:lnTo>
                      <a:lnTo>
                        <a:pt x="270" y="372"/>
                      </a:lnTo>
                      <a:lnTo>
                        <a:pt x="285" y="368"/>
                      </a:lnTo>
                      <a:lnTo>
                        <a:pt x="299" y="365"/>
                      </a:lnTo>
                      <a:lnTo>
                        <a:pt x="312" y="360"/>
                      </a:lnTo>
                      <a:lnTo>
                        <a:pt x="324" y="357"/>
                      </a:lnTo>
                      <a:lnTo>
                        <a:pt x="334" y="353"/>
                      </a:lnTo>
                      <a:lnTo>
                        <a:pt x="344" y="347"/>
                      </a:lnTo>
                      <a:lnTo>
                        <a:pt x="351" y="342"/>
                      </a:lnTo>
                      <a:lnTo>
                        <a:pt x="357" y="337"/>
                      </a:lnTo>
                      <a:lnTo>
                        <a:pt x="362" y="331"/>
                      </a:lnTo>
                      <a:lnTo>
                        <a:pt x="364" y="324"/>
                      </a:lnTo>
                      <a:lnTo>
                        <a:pt x="366" y="319"/>
                      </a:lnTo>
                      <a:lnTo>
                        <a:pt x="366" y="59"/>
                      </a:lnTo>
                      <a:lnTo>
                        <a:pt x="364" y="54"/>
                      </a:lnTo>
                      <a:lnTo>
                        <a:pt x="362" y="47"/>
                      </a:lnTo>
                      <a:lnTo>
                        <a:pt x="357" y="41"/>
                      </a:lnTo>
                      <a:lnTo>
                        <a:pt x="351" y="37"/>
                      </a:lnTo>
                      <a:lnTo>
                        <a:pt x="344" y="31"/>
                      </a:lnTo>
                      <a:lnTo>
                        <a:pt x="334" y="27"/>
                      </a:lnTo>
                      <a:lnTo>
                        <a:pt x="324" y="21"/>
                      </a:lnTo>
                      <a:lnTo>
                        <a:pt x="312" y="18"/>
                      </a:lnTo>
                      <a:lnTo>
                        <a:pt x="299" y="13"/>
                      </a:lnTo>
                      <a:lnTo>
                        <a:pt x="285" y="10"/>
                      </a:lnTo>
                      <a:lnTo>
                        <a:pt x="270" y="6"/>
                      </a:lnTo>
                      <a:lnTo>
                        <a:pt x="254" y="4"/>
                      </a:lnTo>
                      <a:lnTo>
                        <a:pt x="237" y="2"/>
                      </a:lnTo>
                      <a:lnTo>
                        <a:pt x="220" y="1"/>
                      </a:lnTo>
                      <a:lnTo>
                        <a:pt x="201" y="0"/>
                      </a:lnTo>
                      <a:lnTo>
                        <a:pt x="183" y="0"/>
                      </a:lnTo>
                    </a:path>
                  </a:pathLst>
                </a:custGeom>
                <a:gradFill rotWithShape="0">
                  <a:gsLst>
                    <a:gs pos="0">
                      <a:srgbClr val="CC3399"/>
                    </a:gs>
                    <a:gs pos="100000">
                      <a:srgbClr val="8E246B"/>
                    </a:gs>
                  </a:gsLst>
                  <a:lin ang="5400000" scaled="1"/>
                </a:gradFill>
                <a:ln w="12700" cap="rnd">
                  <a:solidFill>
                    <a:srgbClr val="000000"/>
                  </a:solidFill>
                  <a:round/>
                </a:ln>
              </p:spPr>
              <p:txBody>
                <a:bodyPr/>
                <a:lstStyle/>
                <a:p>
                  <a:endParaRPr lang="zh-CN" altLang="en-US"/>
                </a:p>
              </p:txBody>
            </p:sp>
            <p:sp>
              <p:nvSpPr>
                <p:cNvPr id="26649" name="Oval 12"/>
                <p:cNvSpPr>
                  <a:spLocks noChangeArrowheads="1"/>
                </p:cNvSpPr>
                <p:nvPr/>
              </p:nvSpPr>
              <p:spPr bwMode="auto">
                <a:xfrm>
                  <a:off x="3598" y="3548"/>
                  <a:ext cx="362" cy="90"/>
                </a:xfrm>
                <a:prstGeom prst="ellipse">
                  <a:avLst/>
                </a:prstGeom>
                <a:gradFill rotWithShape="0">
                  <a:gsLst>
                    <a:gs pos="0">
                      <a:srgbClr val="CC3399"/>
                    </a:gs>
                    <a:gs pos="100000">
                      <a:srgbClr val="8E246B"/>
                    </a:gs>
                  </a:gsLst>
                  <a:lin ang="5400000" scaled="1"/>
                </a:gradFill>
                <a:ln w="12700">
                  <a:solidFill>
                    <a:schemeClr val="tx1"/>
                  </a:solidFill>
                  <a:round/>
                </a:ln>
              </p:spPr>
              <p:txBody>
                <a:bodyPr wrap="none" anchor="ctr"/>
                <a:lstStyle/>
                <a:p>
                  <a:endParaRPr lang="zh-CN" altLang="en-US"/>
                </a:p>
              </p:txBody>
            </p:sp>
          </p:grpSp>
          <p:sp>
            <p:nvSpPr>
              <p:cNvPr id="26647" name="Rectangle 13"/>
              <p:cNvSpPr>
                <a:spLocks noChangeArrowheads="1"/>
              </p:cNvSpPr>
              <p:nvPr/>
            </p:nvSpPr>
            <p:spPr bwMode="auto">
              <a:xfrm>
                <a:off x="3747" y="3651"/>
                <a:ext cx="65" cy="212"/>
              </a:xfrm>
              <a:prstGeom prst="rect">
                <a:avLst/>
              </a:prstGeom>
              <a:gradFill rotWithShape="0">
                <a:gsLst>
                  <a:gs pos="0">
                    <a:srgbClr val="CC3399"/>
                  </a:gs>
                  <a:gs pos="100000">
                    <a:srgbClr val="8E246B"/>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grpSp>
          <p:nvGrpSpPr>
            <p:cNvPr id="6" name="Group 14"/>
            <p:cNvGrpSpPr/>
            <p:nvPr/>
          </p:nvGrpSpPr>
          <p:grpSpPr bwMode="auto">
            <a:xfrm>
              <a:off x="7824788" y="2735263"/>
              <a:ext cx="914400" cy="1074737"/>
              <a:chOff x="3596" y="3548"/>
              <a:chExt cx="367" cy="380"/>
            </a:xfrm>
          </p:grpSpPr>
          <p:grpSp>
            <p:nvGrpSpPr>
              <p:cNvPr id="7" name="Group 15"/>
              <p:cNvGrpSpPr/>
              <p:nvPr/>
            </p:nvGrpSpPr>
            <p:grpSpPr bwMode="auto">
              <a:xfrm>
                <a:off x="3596" y="3548"/>
                <a:ext cx="367" cy="380"/>
                <a:chOff x="3596" y="3548"/>
                <a:chExt cx="367" cy="380"/>
              </a:xfrm>
            </p:grpSpPr>
            <p:sp>
              <p:nvSpPr>
                <p:cNvPr id="26644" name="Freeform 16"/>
                <p:cNvSpPr/>
                <p:nvPr/>
              </p:nvSpPr>
              <p:spPr bwMode="auto">
                <a:xfrm>
                  <a:off x="3596" y="3548"/>
                  <a:ext cx="367" cy="380"/>
                </a:xfrm>
                <a:custGeom>
                  <a:avLst/>
                  <a:gdLst>
                    <a:gd name="T0" fmla="*/ 164 w 367"/>
                    <a:gd name="T1" fmla="*/ 0 h 380"/>
                    <a:gd name="T2" fmla="*/ 128 w 367"/>
                    <a:gd name="T3" fmla="*/ 2 h 380"/>
                    <a:gd name="T4" fmla="*/ 95 w 367"/>
                    <a:gd name="T5" fmla="*/ 6 h 380"/>
                    <a:gd name="T6" fmla="*/ 66 w 367"/>
                    <a:gd name="T7" fmla="*/ 13 h 380"/>
                    <a:gd name="T8" fmla="*/ 41 w 367"/>
                    <a:gd name="T9" fmla="*/ 21 h 380"/>
                    <a:gd name="T10" fmla="*/ 21 w 367"/>
                    <a:gd name="T11" fmla="*/ 31 h 380"/>
                    <a:gd name="T12" fmla="*/ 8 w 367"/>
                    <a:gd name="T13" fmla="*/ 41 h 380"/>
                    <a:gd name="T14" fmla="*/ 1 w 367"/>
                    <a:gd name="T15" fmla="*/ 54 h 380"/>
                    <a:gd name="T16" fmla="*/ 0 w 367"/>
                    <a:gd name="T17" fmla="*/ 319 h 380"/>
                    <a:gd name="T18" fmla="*/ 3 w 367"/>
                    <a:gd name="T19" fmla="*/ 331 h 380"/>
                    <a:gd name="T20" fmla="*/ 14 w 367"/>
                    <a:gd name="T21" fmla="*/ 342 h 380"/>
                    <a:gd name="T22" fmla="*/ 31 w 367"/>
                    <a:gd name="T23" fmla="*/ 353 h 380"/>
                    <a:gd name="T24" fmla="*/ 53 w 367"/>
                    <a:gd name="T25" fmla="*/ 360 h 380"/>
                    <a:gd name="T26" fmla="*/ 80 w 367"/>
                    <a:gd name="T27" fmla="*/ 368 h 380"/>
                    <a:gd name="T28" fmla="*/ 111 w 367"/>
                    <a:gd name="T29" fmla="*/ 374 h 380"/>
                    <a:gd name="T30" fmla="*/ 145 w 367"/>
                    <a:gd name="T31" fmla="*/ 377 h 380"/>
                    <a:gd name="T32" fmla="*/ 183 w 367"/>
                    <a:gd name="T33" fmla="*/ 379 h 380"/>
                    <a:gd name="T34" fmla="*/ 220 w 367"/>
                    <a:gd name="T35" fmla="*/ 377 h 380"/>
                    <a:gd name="T36" fmla="*/ 254 w 367"/>
                    <a:gd name="T37" fmla="*/ 374 h 380"/>
                    <a:gd name="T38" fmla="*/ 285 w 367"/>
                    <a:gd name="T39" fmla="*/ 368 h 380"/>
                    <a:gd name="T40" fmla="*/ 312 w 367"/>
                    <a:gd name="T41" fmla="*/ 360 h 380"/>
                    <a:gd name="T42" fmla="*/ 334 w 367"/>
                    <a:gd name="T43" fmla="*/ 353 h 380"/>
                    <a:gd name="T44" fmla="*/ 351 w 367"/>
                    <a:gd name="T45" fmla="*/ 342 h 380"/>
                    <a:gd name="T46" fmla="*/ 362 w 367"/>
                    <a:gd name="T47" fmla="*/ 331 h 380"/>
                    <a:gd name="T48" fmla="*/ 366 w 367"/>
                    <a:gd name="T49" fmla="*/ 319 h 380"/>
                    <a:gd name="T50" fmla="*/ 364 w 367"/>
                    <a:gd name="T51" fmla="*/ 54 h 380"/>
                    <a:gd name="T52" fmla="*/ 357 w 367"/>
                    <a:gd name="T53" fmla="*/ 41 h 380"/>
                    <a:gd name="T54" fmla="*/ 344 w 367"/>
                    <a:gd name="T55" fmla="*/ 31 h 380"/>
                    <a:gd name="T56" fmla="*/ 324 w 367"/>
                    <a:gd name="T57" fmla="*/ 21 h 380"/>
                    <a:gd name="T58" fmla="*/ 299 w 367"/>
                    <a:gd name="T59" fmla="*/ 13 h 380"/>
                    <a:gd name="T60" fmla="*/ 270 w 367"/>
                    <a:gd name="T61" fmla="*/ 6 h 380"/>
                    <a:gd name="T62" fmla="*/ 237 w 367"/>
                    <a:gd name="T63" fmla="*/ 2 h 380"/>
                    <a:gd name="T64" fmla="*/ 201 w 367"/>
                    <a:gd name="T65" fmla="*/ 0 h 3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7"/>
                    <a:gd name="T100" fmla="*/ 0 h 380"/>
                    <a:gd name="T101" fmla="*/ 367 w 367"/>
                    <a:gd name="T102" fmla="*/ 380 h 3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7" h="380">
                      <a:moveTo>
                        <a:pt x="183" y="0"/>
                      </a:moveTo>
                      <a:lnTo>
                        <a:pt x="164" y="0"/>
                      </a:lnTo>
                      <a:lnTo>
                        <a:pt x="145" y="1"/>
                      </a:lnTo>
                      <a:lnTo>
                        <a:pt x="128" y="2"/>
                      </a:lnTo>
                      <a:lnTo>
                        <a:pt x="111" y="4"/>
                      </a:lnTo>
                      <a:lnTo>
                        <a:pt x="95" y="6"/>
                      </a:lnTo>
                      <a:lnTo>
                        <a:pt x="80" y="10"/>
                      </a:lnTo>
                      <a:lnTo>
                        <a:pt x="66" y="13"/>
                      </a:lnTo>
                      <a:lnTo>
                        <a:pt x="53" y="18"/>
                      </a:lnTo>
                      <a:lnTo>
                        <a:pt x="41" y="21"/>
                      </a:lnTo>
                      <a:lnTo>
                        <a:pt x="31" y="27"/>
                      </a:lnTo>
                      <a:lnTo>
                        <a:pt x="21" y="31"/>
                      </a:lnTo>
                      <a:lnTo>
                        <a:pt x="14" y="37"/>
                      </a:lnTo>
                      <a:lnTo>
                        <a:pt x="8" y="41"/>
                      </a:lnTo>
                      <a:lnTo>
                        <a:pt x="3" y="47"/>
                      </a:lnTo>
                      <a:lnTo>
                        <a:pt x="1" y="54"/>
                      </a:lnTo>
                      <a:lnTo>
                        <a:pt x="0" y="59"/>
                      </a:lnTo>
                      <a:lnTo>
                        <a:pt x="0" y="319"/>
                      </a:lnTo>
                      <a:lnTo>
                        <a:pt x="1" y="324"/>
                      </a:lnTo>
                      <a:lnTo>
                        <a:pt x="3" y="331"/>
                      </a:lnTo>
                      <a:lnTo>
                        <a:pt x="8" y="337"/>
                      </a:lnTo>
                      <a:lnTo>
                        <a:pt x="14" y="342"/>
                      </a:lnTo>
                      <a:lnTo>
                        <a:pt x="21" y="347"/>
                      </a:lnTo>
                      <a:lnTo>
                        <a:pt x="31" y="353"/>
                      </a:lnTo>
                      <a:lnTo>
                        <a:pt x="41" y="357"/>
                      </a:lnTo>
                      <a:lnTo>
                        <a:pt x="53" y="360"/>
                      </a:lnTo>
                      <a:lnTo>
                        <a:pt x="66" y="365"/>
                      </a:lnTo>
                      <a:lnTo>
                        <a:pt x="80" y="368"/>
                      </a:lnTo>
                      <a:lnTo>
                        <a:pt x="95" y="372"/>
                      </a:lnTo>
                      <a:lnTo>
                        <a:pt x="111" y="374"/>
                      </a:lnTo>
                      <a:lnTo>
                        <a:pt x="128" y="376"/>
                      </a:lnTo>
                      <a:lnTo>
                        <a:pt x="145" y="377"/>
                      </a:lnTo>
                      <a:lnTo>
                        <a:pt x="164" y="379"/>
                      </a:lnTo>
                      <a:lnTo>
                        <a:pt x="183" y="379"/>
                      </a:lnTo>
                      <a:lnTo>
                        <a:pt x="201" y="379"/>
                      </a:lnTo>
                      <a:lnTo>
                        <a:pt x="220" y="377"/>
                      </a:lnTo>
                      <a:lnTo>
                        <a:pt x="237" y="376"/>
                      </a:lnTo>
                      <a:lnTo>
                        <a:pt x="254" y="374"/>
                      </a:lnTo>
                      <a:lnTo>
                        <a:pt x="270" y="372"/>
                      </a:lnTo>
                      <a:lnTo>
                        <a:pt x="285" y="368"/>
                      </a:lnTo>
                      <a:lnTo>
                        <a:pt x="299" y="365"/>
                      </a:lnTo>
                      <a:lnTo>
                        <a:pt x="312" y="360"/>
                      </a:lnTo>
                      <a:lnTo>
                        <a:pt x="324" y="357"/>
                      </a:lnTo>
                      <a:lnTo>
                        <a:pt x="334" y="353"/>
                      </a:lnTo>
                      <a:lnTo>
                        <a:pt x="344" y="347"/>
                      </a:lnTo>
                      <a:lnTo>
                        <a:pt x="351" y="342"/>
                      </a:lnTo>
                      <a:lnTo>
                        <a:pt x="357" y="337"/>
                      </a:lnTo>
                      <a:lnTo>
                        <a:pt x="362" y="331"/>
                      </a:lnTo>
                      <a:lnTo>
                        <a:pt x="364" y="324"/>
                      </a:lnTo>
                      <a:lnTo>
                        <a:pt x="366" y="319"/>
                      </a:lnTo>
                      <a:lnTo>
                        <a:pt x="366" y="59"/>
                      </a:lnTo>
                      <a:lnTo>
                        <a:pt x="364" y="54"/>
                      </a:lnTo>
                      <a:lnTo>
                        <a:pt x="362" y="47"/>
                      </a:lnTo>
                      <a:lnTo>
                        <a:pt x="357" y="41"/>
                      </a:lnTo>
                      <a:lnTo>
                        <a:pt x="351" y="37"/>
                      </a:lnTo>
                      <a:lnTo>
                        <a:pt x="344" y="31"/>
                      </a:lnTo>
                      <a:lnTo>
                        <a:pt x="334" y="27"/>
                      </a:lnTo>
                      <a:lnTo>
                        <a:pt x="324" y="21"/>
                      </a:lnTo>
                      <a:lnTo>
                        <a:pt x="312" y="18"/>
                      </a:lnTo>
                      <a:lnTo>
                        <a:pt x="299" y="13"/>
                      </a:lnTo>
                      <a:lnTo>
                        <a:pt x="285" y="10"/>
                      </a:lnTo>
                      <a:lnTo>
                        <a:pt x="270" y="6"/>
                      </a:lnTo>
                      <a:lnTo>
                        <a:pt x="254" y="4"/>
                      </a:lnTo>
                      <a:lnTo>
                        <a:pt x="237" y="2"/>
                      </a:lnTo>
                      <a:lnTo>
                        <a:pt x="220" y="1"/>
                      </a:lnTo>
                      <a:lnTo>
                        <a:pt x="201" y="0"/>
                      </a:lnTo>
                      <a:lnTo>
                        <a:pt x="183" y="0"/>
                      </a:lnTo>
                    </a:path>
                  </a:pathLst>
                </a:custGeom>
                <a:gradFill rotWithShape="0">
                  <a:gsLst>
                    <a:gs pos="0">
                      <a:srgbClr val="CC3399"/>
                    </a:gs>
                    <a:gs pos="100000">
                      <a:srgbClr val="8E246B"/>
                    </a:gs>
                  </a:gsLst>
                  <a:lin ang="5400000" scaled="1"/>
                </a:gradFill>
                <a:ln w="12700" cap="rnd">
                  <a:solidFill>
                    <a:srgbClr val="000000"/>
                  </a:solidFill>
                  <a:round/>
                </a:ln>
              </p:spPr>
              <p:txBody>
                <a:bodyPr/>
                <a:lstStyle/>
                <a:p>
                  <a:endParaRPr lang="zh-CN" altLang="en-US"/>
                </a:p>
              </p:txBody>
            </p:sp>
            <p:sp>
              <p:nvSpPr>
                <p:cNvPr id="26645" name="Oval 17"/>
                <p:cNvSpPr>
                  <a:spLocks noChangeArrowheads="1"/>
                </p:cNvSpPr>
                <p:nvPr/>
              </p:nvSpPr>
              <p:spPr bwMode="auto">
                <a:xfrm>
                  <a:off x="3598" y="3548"/>
                  <a:ext cx="362" cy="90"/>
                </a:xfrm>
                <a:prstGeom prst="ellipse">
                  <a:avLst/>
                </a:prstGeom>
                <a:gradFill rotWithShape="0">
                  <a:gsLst>
                    <a:gs pos="0">
                      <a:srgbClr val="CC3399"/>
                    </a:gs>
                    <a:gs pos="100000">
                      <a:srgbClr val="8E246B"/>
                    </a:gs>
                  </a:gsLst>
                  <a:lin ang="5400000" scaled="1"/>
                </a:gradFill>
                <a:ln w="12700">
                  <a:solidFill>
                    <a:schemeClr val="tx1"/>
                  </a:solidFill>
                  <a:round/>
                </a:ln>
              </p:spPr>
              <p:txBody>
                <a:bodyPr wrap="none" anchor="ctr"/>
                <a:lstStyle/>
                <a:p>
                  <a:endParaRPr lang="zh-CN" altLang="en-US"/>
                </a:p>
              </p:txBody>
            </p:sp>
          </p:grpSp>
          <p:sp>
            <p:nvSpPr>
              <p:cNvPr id="26643" name="Rectangle 18"/>
              <p:cNvSpPr>
                <a:spLocks noChangeArrowheads="1"/>
              </p:cNvSpPr>
              <p:nvPr/>
            </p:nvSpPr>
            <p:spPr bwMode="auto">
              <a:xfrm>
                <a:off x="3747" y="3651"/>
                <a:ext cx="65" cy="212"/>
              </a:xfrm>
              <a:prstGeom prst="rect">
                <a:avLst/>
              </a:prstGeom>
              <a:gradFill rotWithShape="0">
                <a:gsLst>
                  <a:gs pos="0">
                    <a:srgbClr val="CC3399"/>
                  </a:gs>
                  <a:gs pos="100000">
                    <a:srgbClr val="8E246B"/>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26631" name="Text Box 19"/>
            <p:cNvSpPr txBox="1">
              <a:spLocks noChangeArrowheads="1"/>
            </p:cNvSpPr>
            <p:nvPr/>
          </p:nvSpPr>
          <p:spPr bwMode="auto">
            <a:xfrm>
              <a:off x="4494523" y="4800600"/>
              <a:ext cx="4078750" cy="398780"/>
            </a:xfrm>
            <a:prstGeom prst="rect">
              <a:avLst/>
            </a:prstGeom>
            <a:solidFill>
              <a:srgbClr val="FBE5D6"/>
            </a:solidFill>
            <a:ln>
              <a:noFill/>
            </a:ln>
          </p:spPr>
          <p:txBody>
            <a:bodyPr wrap="squar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zh-CN" altLang="en-US" dirty="0" smtClean="0">
                  <a:solidFill>
                    <a:srgbClr val="FF0000"/>
                  </a:solidFill>
                  <a:latin typeface="Arial" panose="020B0604020202020204" pitchFamily="34" charset="0"/>
                </a:rPr>
                <a:t>每个分片的初始化大小为</a:t>
              </a:r>
              <a:r>
                <a:rPr lang="en-US" altLang="zh-CN" dirty="0" smtClean="0">
                  <a:solidFill>
                    <a:srgbClr val="FF0000"/>
                  </a:solidFill>
                  <a:latin typeface="Arial" panose="020B0604020202020204" pitchFamily="34" charset="0"/>
                </a:rPr>
                <a:t> </a:t>
              </a:r>
              <a:r>
                <a:rPr lang="en-US" altLang="zh-CN" dirty="0">
                  <a:solidFill>
                    <a:srgbClr val="FF0000"/>
                  </a:solidFill>
                  <a:latin typeface="Arial" panose="020B0604020202020204" pitchFamily="34" charset="0"/>
                </a:rPr>
                <a:t>12M</a:t>
              </a:r>
            </a:p>
          </p:txBody>
        </p:sp>
        <p:sp>
          <p:nvSpPr>
            <p:cNvPr id="26632" name="Rectangle 20"/>
            <p:cNvSpPr>
              <a:spLocks noChangeArrowheads="1"/>
            </p:cNvSpPr>
            <p:nvPr/>
          </p:nvSpPr>
          <p:spPr bwMode="auto">
            <a:xfrm>
              <a:off x="4397375" y="3124200"/>
              <a:ext cx="609600" cy="457200"/>
            </a:xfrm>
            <a:prstGeom prst="rect">
              <a:avLst/>
            </a:prstGeom>
            <a:solidFill>
              <a:srgbClr val="FF0000"/>
            </a:solidFill>
            <a:ln w="12700">
              <a:solidFill>
                <a:schemeClr val="tx1"/>
              </a:solidFill>
              <a:miter lim="800000"/>
            </a:ln>
          </p:spPr>
          <p:txBody>
            <a:bodyPr wrap="none" anchor="ctr"/>
            <a:lstStyle/>
            <a:p>
              <a:endParaRPr lang="zh-CN" altLang="en-US"/>
            </a:p>
          </p:txBody>
        </p:sp>
        <p:sp>
          <p:nvSpPr>
            <p:cNvPr id="26633" name="Rectangle 21"/>
            <p:cNvSpPr>
              <a:spLocks noChangeArrowheads="1"/>
            </p:cNvSpPr>
            <p:nvPr/>
          </p:nvSpPr>
          <p:spPr bwMode="auto">
            <a:xfrm>
              <a:off x="6232525" y="3124200"/>
              <a:ext cx="609600" cy="457200"/>
            </a:xfrm>
            <a:prstGeom prst="rect">
              <a:avLst/>
            </a:prstGeom>
            <a:solidFill>
              <a:srgbClr val="FF0000"/>
            </a:solidFill>
            <a:ln w="12700">
              <a:solidFill>
                <a:schemeClr val="tx1"/>
              </a:solidFill>
              <a:miter lim="800000"/>
            </a:ln>
          </p:spPr>
          <p:txBody>
            <a:bodyPr wrap="none" anchor="ctr"/>
            <a:lstStyle/>
            <a:p>
              <a:endParaRPr lang="zh-CN" altLang="en-US"/>
            </a:p>
          </p:txBody>
        </p:sp>
        <p:sp>
          <p:nvSpPr>
            <p:cNvPr id="26634" name="Rectangle 22"/>
            <p:cNvSpPr>
              <a:spLocks noChangeArrowheads="1"/>
            </p:cNvSpPr>
            <p:nvPr/>
          </p:nvSpPr>
          <p:spPr bwMode="auto">
            <a:xfrm>
              <a:off x="7977188" y="3124200"/>
              <a:ext cx="609600" cy="457200"/>
            </a:xfrm>
            <a:prstGeom prst="rect">
              <a:avLst/>
            </a:prstGeom>
            <a:solidFill>
              <a:srgbClr val="FF0000"/>
            </a:solidFill>
            <a:ln w="12700">
              <a:solidFill>
                <a:schemeClr val="tx1"/>
              </a:solidFill>
              <a:miter lim="800000"/>
            </a:ln>
          </p:spPr>
          <p:txBody>
            <a:bodyPr wrap="none" anchor="ctr"/>
            <a:lstStyle/>
            <a:p>
              <a:endParaRPr lang="zh-CN" altLang="en-US"/>
            </a:p>
          </p:txBody>
        </p:sp>
        <p:cxnSp>
          <p:nvCxnSpPr>
            <p:cNvPr id="26635" name="AutoShape 23"/>
            <p:cNvCxnSpPr>
              <a:cxnSpLocks noChangeShapeType="1"/>
              <a:stCxn id="26631" idx="0"/>
              <a:endCxn id="26632" idx="2"/>
            </p:cNvCxnSpPr>
            <p:nvPr/>
          </p:nvCxnSpPr>
          <p:spPr bwMode="auto">
            <a:xfrm rot="16200000" flipV="1">
              <a:off x="5008498" y="3275296"/>
              <a:ext cx="1219200" cy="1831409"/>
            </a:xfrm>
            <a:prstGeom prst="bentConnector3">
              <a:avLst>
                <a:gd name="adj1" fmla="val 50000"/>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cxnSp>
        <p:cxnSp>
          <p:nvCxnSpPr>
            <p:cNvPr id="26636" name="AutoShape 24"/>
            <p:cNvCxnSpPr>
              <a:cxnSpLocks noChangeShapeType="1"/>
              <a:stCxn id="26631" idx="0"/>
              <a:endCxn id="26633" idx="2"/>
            </p:cNvCxnSpPr>
            <p:nvPr/>
          </p:nvCxnSpPr>
          <p:spPr bwMode="auto">
            <a:xfrm rot="16200000">
              <a:off x="5925935" y="4189267"/>
              <a:ext cx="1219200" cy="3466"/>
            </a:xfrm>
            <a:prstGeom prst="bentConnector3">
              <a:avLst>
                <a:gd name="adj1" fmla="val 50026"/>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cxnSp>
        <p:cxnSp>
          <p:nvCxnSpPr>
            <p:cNvPr id="26637" name="AutoShape 25"/>
            <p:cNvCxnSpPr>
              <a:cxnSpLocks noChangeShapeType="1"/>
              <a:stCxn id="26631" idx="0"/>
              <a:endCxn id="26634" idx="2"/>
            </p:cNvCxnSpPr>
            <p:nvPr/>
          </p:nvCxnSpPr>
          <p:spPr bwMode="auto">
            <a:xfrm rot="16200000">
              <a:off x="6798315" y="3316887"/>
              <a:ext cx="1219200" cy="1748226"/>
            </a:xfrm>
            <a:prstGeom prst="bentConnector3">
              <a:avLst>
                <a:gd name="adj1" fmla="val 50000"/>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cxnSp>
        <p:sp>
          <p:nvSpPr>
            <p:cNvPr id="26638" name="Text Box 26"/>
            <p:cNvSpPr txBox="1">
              <a:spLocks noChangeArrowheads="1"/>
            </p:cNvSpPr>
            <p:nvPr/>
          </p:nvSpPr>
          <p:spPr bwMode="auto">
            <a:xfrm>
              <a:off x="3955163" y="2181225"/>
              <a:ext cx="1492439"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en-US" altLang="zh-CN">
                  <a:solidFill>
                    <a:schemeClr val="tx1"/>
                  </a:solidFill>
                  <a:latin typeface="Arial" panose="020B0604020202020204" pitchFamily="34" charset="0"/>
                </a:rPr>
                <a:t>tab_adbs1</a:t>
              </a:r>
            </a:p>
          </p:txBody>
        </p:sp>
        <p:sp>
          <p:nvSpPr>
            <p:cNvPr id="26639" name="Text Box 27"/>
            <p:cNvSpPr txBox="1">
              <a:spLocks noChangeArrowheads="1"/>
            </p:cNvSpPr>
            <p:nvPr/>
          </p:nvSpPr>
          <p:spPr bwMode="auto">
            <a:xfrm>
              <a:off x="5791900" y="2181225"/>
              <a:ext cx="1492439"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en-US" altLang="zh-CN" dirty="0">
                  <a:solidFill>
                    <a:schemeClr val="tx1"/>
                  </a:solidFill>
                  <a:latin typeface="Arial" panose="020B0604020202020204" pitchFamily="34" charset="0"/>
                </a:rPr>
                <a:t>tab_adbs2</a:t>
              </a:r>
            </a:p>
          </p:txBody>
        </p:sp>
        <p:sp>
          <p:nvSpPr>
            <p:cNvPr id="26640" name="Text Box 28"/>
            <p:cNvSpPr txBox="1">
              <a:spLocks noChangeArrowheads="1"/>
            </p:cNvSpPr>
            <p:nvPr/>
          </p:nvSpPr>
          <p:spPr bwMode="auto">
            <a:xfrm>
              <a:off x="7536563" y="2181225"/>
              <a:ext cx="1492439"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en-US" altLang="zh-CN" dirty="0">
                  <a:solidFill>
                    <a:srgbClr val="000000"/>
                  </a:solidFill>
                  <a:latin typeface="Arial" panose="020B0604020202020204" pitchFamily="34" charset="0"/>
                </a:rPr>
                <a:t>tab_adbs3</a:t>
              </a:r>
            </a:p>
          </p:txBody>
        </p:sp>
        <p:sp>
          <p:nvSpPr>
            <p:cNvPr id="26641" name="Text Box 29"/>
            <p:cNvSpPr txBox="1">
              <a:spLocks noChangeArrowheads="1"/>
            </p:cNvSpPr>
            <p:nvPr/>
          </p:nvSpPr>
          <p:spPr bwMode="auto">
            <a:xfrm>
              <a:off x="4038600" y="1524000"/>
              <a:ext cx="4953000" cy="460375"/>
            </a:xfrm>
            <a:prstGeom prst="rect">
              <a:avLst/>
            </a:prstGeom>
            <a:solidFill>
              <a:srgbClr val="9D6594">
                <a:alpha val="50195"/>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en-US" altLang="zh-CN" sz="2400" dirty="0" err="1">
                  <a:latin typeface="Arial" panose="020B0604020202020204" pitchFamily="34" charset="0"/>
                </a:rPr>
                <a:t>dbspaces</a:t>
              </a:r>
              <a:endParaRPr lang="en-US" altLang="zh-CN" sz="2400" dirty="0">
                <a:latin typeface="Arial" panose="020B0604020202020204" pitchFamily="34" charset="0"/>
              </a:endParaRPr>
            </a:p>
          </p:txBody>
        </p:sp>
      </p:grpSp>
      <p:sp>
        <p:nvSpPr>
          <p:cNvPr id="32" name="内容占位符 3"/>
          <p:cNvSpPr txBox="1"/>
          <p:nvPr/>
        </p:nvSpPr>
        <p:spPr bwMode="auto">
          <a:xfrm>
            <a:off x="1982347" y="1382149"/>
            <a:ext cx="3707247" cy="4118767"/>
          </a:xfrm>
          <a:prstGeom prst="rect">
            <a:avLst/>
          </a:prstGeom>
          <a:noFill/>
          <a:ln w="3175">
            <a:noFill/>
            <a:miter lim="800000"/>
          </a:ln>
        </p:spPr>
        <p:txBody>
          <a:bodyPr vert="horz" wrap="square" lIns="0" tIns="0" rIns="0" bIns="0" numCol="1" anchor="t" anchorCtr="0" compatLnSpc="1">
            <a:normAutofit/>
          </a:bodyPr>
          <a:lstStyle/>
          <a:p>
            <a:pPr marL="285750" indent="-285750" eaLnBrk="0" hangingPunct="0">
              <a:lnSpc>
                <a:spcPct val="200000"/>
              </a:lnSpc>
              <a:buClr>
                <a:srgbClr val="FF0000"/>
              </a:buClr>
              <a:buFont typeface="Arial" panose="020B0604020202020204" pitchFamily="34" charset="0"/>
              <a:buChar char="•"/>
            </a:pPr>
            <a:r>
              <a:rPr lang="zh-CN" altLang="en-US" b="0" dirty="0" smtClean="0">
                <a:latin typeface="微软雅黑" panose="020B0503020204020204" pitchFamily="34" charset="-122"/>
                <a:ea typeface="微软雅黑" panose="020B0503020204020204" pitchFamily="34" charset="-122"/>
                <a:cs typeface="微软雅黑" panose="020B0503020204020204" pitchFamily="34" charset="-122"/>
              </a:rPr>
              <a:t>示例</a:t>
            </a:r>
            <a:endParaRPr lang="en-US" altLang="zh-CN" b="0" dirty="0" smtClean="0">
              <a:latin typeface="微软雅黑" panose="020B0503020204020204" pitchFamily="34" charset="-122"/>
              <a:ea typeface="微软雅黑" panose="020B0503020204020204" pitchFamily="34" charset="-122"/>
              <a:cs typeface="微软雅黑" panose="020B0503020204020204" pitchFamily="34" charset="-122"/>
            </a:endParaRPr>
          </a:p>
          <a:p>
            <a:pPr eaLnBrk="0" hangingPunct="0">
              <a:lnSpc>
                <a:spcPct val="200000"/>
              </a:lnSpc>
              <a:buClr>
                <a:srgbClr val="FF0000"/>
              </a:buClr>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CREATE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TABLE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table_a</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p>
          <a:p>
            <a:pPr eaLnBrk="0" hangingPunct="0">
              <a:lnSpc>
                <a:spcPct val="200000"/>
              </a:lnSpc>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(x INTEGER, y INTEGER, z CHAR (25))</a:t>
            </a:r>
          </a:p>
          <a:p>
            <a:pPr eaLnBrk="0" hangingPunct="0">
              <a:lnSpc>
                <a:spcPct val="200000"/>
              </a:lnSpc>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FRAGMENT BY EXPRESSION </a:t>
            </a:r>
            <a:b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x &lt;= 10 and x &gt;= 1 in tab_adbs1,</a:t>
            </a:r>
            <a:b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x &lt;= 20 and x &gt; 10 in tab_adbs2,</a:t>
            </a:r>
            <a:b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x &lt;= 30 and x &gt; 20 in tab_adbs3</a:t>
            </a:r>
            <a:b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1600" b="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EXTENT SIZE 12000</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NEXT SIZE 6000;</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6306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6306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2479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2479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74304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524760"/>
            <a:ext cx="7223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524760"/>
            <a:ext cx="45704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143250"/>
            <a:ext cx="7223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143250"/>
            <a:ext cx="45704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63839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4188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4188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0386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0386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533745"/>
            <a:ext cx="436880" cy="39878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3129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3129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49237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49237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41893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1750194"/>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表分片的意义及策略</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5" name="文本框 55"/>
          <p:cNvSpPr txBox="1">
            <a:spLocks noChangeArrowheads="1"/>
          </p:cNvSpPr>
          <p:nvPr/>
        </p:nvSpPr>
        <p:spPr bwMode="auto">
          <a:xfrm>
            <a:off x="4378960" y="2635384"/>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索引分片策略与语法</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6" name="文本框 55"/>
          <p:cNvSpPr txBox="1">
            <a:spLocks noChangeArrowheads="1"/>
          </p:cNvSpPr>
          <p:nvPr/>
        </p:nvSpPr>
        <p:spPr bwMode="auto">
          <a:xfrm>
            <a:off x="4378960" y="3541008"/>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分片的管理</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416038"/>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分片与性能调优</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9" name="矩形 28"/>
          <p:cNvSpPr/>
          <p:nvPr/>
        </p:nvSpPr>
        <p:spPr bwMode="auto">
          <a:xfrm>
            <a:off x="3348673" y="520319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矩形 29"/>
          <p:cNvSpPr/>
          <p:nvPr/>
        </p:nvSpPr>
        <p:spPr bwMode="auto">
          <a:xfrm>
            <a:off x="4212273" y="520319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矩形 30"/>
          <p:cNvSpPr/>
          <p:nvPr/>
        </p:nvSpPr>
        <p:spPr bwMode="auto">
          <a:xfrm>
            <a:off x="3348673" y="581406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矩形 31"/>
          <p:cNvSpPr/>
          <p:nvPr/>
        </p:nvSpPr>
        <p:spPr bwMode="auto">
          <a:xfrm>
            <a:off x="4212273" y="581406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文本框 60"/>
          <p:cNvSpPr txBox="1">
            <a:spLocks noChangeArrowheads="1"/>
          </p:cNvSpPr>
          <p:nvPr/>
        </p:nvSpPr>
        <p:spPr bwMode="auto">
          <a:xfrm>
            <a:off x="3479910" y="530920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五</a:t>
            </a:r>
          </a:p>
        </p:txBody>
      </p:sp>
      <p:sp>
        <p:nvSpPr>
          <p:cNvPr id="34" name="文本框 55"/>
          <p:cNvSpPr txBox="1">
            <a:spLocks noChangeArrowheads="1"/>
          </p:cNvSpPr>
          <p:nvPr/>
        </p:nvSpPr>
        <p:spPr bwMode="auto">
          <a:xfrm>
            <a:off x="4388485" y="5309483"/>
            <a:ext cx="4236720" cy="398780"/>
          </a:xfrm>
          <a:prstGeom prst="rect">
            <a:avLst/>
          </a:prstGeom>
          <a:noFill/>
          <a:ln w="9525">
            <a:noFill/>
            <a:miter lim="800000"/>
          </a:ln>
        </p:spPr>
        <p:txBody>
          <a:bodyPr wrap="square">
            <a:spAutoFit/>
          </a:bodyPr>
          <a:lstStyle/>
          <a:p>
            <a:pPr algn="ctr"/>
            <a:r>
              <a:rPr lang="zh-CN" altLang="zh-CN" sz="2000" spc="200" dirty="0">
                <a:solidFill>
                  <a:schemeClr val="bg1"/>
                </a:solidFill>
                <a:latin typeface="微软雅黑" panose="020B0503020204020204" pitchFamily="34" charset="-122"/>
                <a:ea typeface="微软雅黑" panose="020B0503020204020204" pitchFamily="34" charset="-122"/>
              </a:rPr>
              <a:t>分片与索引策略</a:t>
            </a:r>
            <a:r>
              <a:rPr lang="en-US" altLang="zh-CN" sz="2000" spc="200" dirty="0">
                <a:solidFill>
                  <a:schemeClr val="bg1"/>
                </a:solidFill>
                <a:latin typeface="微软雅黑" panose="020B0503020204020204" pitchFamily="34" charset="-122"/>
                <a:ea typeface="微软雅黑" panose="020B0503020204020204" pitchFamily="34" charset="-122"/>
              </a:rPr>
              <a:t>FAQ</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dirty="0">
                <a:latin typeface="Arial" panose="020B0604020202020204" pitchFamily="34" charset="0"/>
                <a:cs typeface="Arial" panose="020B0604020202020204" pitchFamily="34" charset="0"/>
              </a:rPr>
              <a:t>索引分片</a:t>
            </a:r>
          </a:p>
        </p:txBody>
      </p:sp>
      <p:sp>
        <p:nvSpPr>
          <p:cNvPr id="27651" name="内容占位符 2"/>
          <p:cNvSpPr>
            <a:spLocks noGrp="1"/>
          </p:cNvSpPr>
          <p:nvPr>
            <p:ph type="body" sz="quarter" idx="10"/>
          </p:nvPr>
        </p:nvSpPr>
        <p:spPr/>
        <p:txBody>
          <a:bodyPr>
            <a:normAutofit/>
          </a:bodyPr>
          <a:lstStyle/>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数据库索引可以被分片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(be fragmented</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数据库</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索引与表</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可以有不同的分</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片策略</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可以显式声明索引分片策略</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索引继承表的分片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(Attach or detach)</a:t>
            </a:r>
          </a:p>
          <a:p>
            <a:pPr lvl="1">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索引不继承表分片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(Index is non-fragmented)</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索引分片可</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以与表分片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有不</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同大</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小页面</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(Page size)</a:t>
            </a:r>
          </a:p>
          <a:p>
            <a:pPr lvl="1">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相同的跨索引中的所有片段的页面大小必须</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相同</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索引分</a:t>
            </a:r>
            <a:r>
              <a:rPr lang="zh-CN" altLang="en-US" b="1" dirty="0" smtClean="0">
                <a:latin typeface="微软雅黑" panose="020B0503020204020204" pitchFamily="34" charset="-122"/>
                <a:ea typeface="微软雅黑" panose="020B0503020204020204" pitchFamily="34" charset="-122"/>
                <a:cs typeface="微软雅黑" panose="020B0503020204020204" pitchFamily="34" charset="-122"/>
              </a:rPr>
              <a:t>片举例</a:t>
            </a:r>
            <a:r>
              <a:rPr lang="en-US" altLang="zh-CN" dirty="0" smtClean="0">
                <a:latin typeface="Arial" panose="020B0604020202020204" pitchFamily="34" charset="0"/>
                <a:cs typeface="宋体" panose="02010600030101010101" pitchFamily="2" charset="-122"/>
              </a:rPr>
              <a:t>— </a:t>
            </a:r>
            <a:r>
              <a:rPr lang="en-US" altLang="zh-CN" b="1" dirty="0" smtClean="0">
                <a:latin typeface="微软雅黑" panose="020B0503020204020204" pitchFamily="34" charset="-122"/>
                <a:ea typeface="微软雅黑" panose="020B0503020204020204" pitchFamily="34" charset="-122"/>
                <a:cs typeface="微软雅黑" panose="020B0503020204020204" pitchFamily="34" charset="-122"/>
              </a:rPr>
              <a:t>Attached</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675" name="内容占位符 2"/>
          <p:cNvSpPr>
            <a:spLocks noGrp="1"/>
          </p:cNvSpPr>
          <p:nvPr>
            <p:ph type="body" sz="quarter" idx="10"/>
          </p:nvPr>
        </p:nvSpPr>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索引没有</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FRAGMENT BY</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子句</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索引继承表的分片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(Attach or detach)</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内容占位符 3"/>
          <p:cNvSpPr txBox="1"/>
          <p:nvPr/>
        </p:nvSpPr>
        <p:spPr bwMode="auto">
          <a:xfrm>
            <a:off x="2261686" y="2536931"/>
            <a:ext cx="7707087" cy="3146138"/>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lnSpcReduction="10000"/>
          </a:bodyPr>
          <a:lstStyle/>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CREATE TABLE tab1 (col1 integer, col2 date)</a:t>
            </a: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BY expression</a:t>
            </a: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0 and col1 &lt; 100 in  datadbs01,</a:t>
            </a: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100 and col1 &lt; 200 in  datadbs02;</a:t>
            </a:r>
          </a:p>
          <a:p>
            <a:pPr lvl="1">
              <a:lnSpc>
                <a:spcPct val="150000"/>
              </a:lnSpc>
            </a:pP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INDEX idx1 on tab1 (col1);</a:t>
            </a: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INDEX idx2 on tab1 (col2);</a:t>
            </a:r>
          </a:p>
          <a:p>
            <a:pPr lvl="1">
              <a:lnSpc>
                <a:spcPct val="150000"/>
              </a:lnSpc>
            </a:pPr>
            <a:endParaRPr lang="zh-CN" altLang="en-US" sz="1600" b="0" dirty="0"/>
          </a:p>
          <a:p>
            <a:pPr lvl="1">
              <a:lnSpc>
                <a:spcPct val="150000"/>
              </a:lnSpc>
            </a:pPr>
            <a:r>
              <a:rPr lang="zh-CN" altLang="en-US" sz="1600" dirty="0">
                <a:solidFill>
                  <a:srgbClr val="FF3300"/>
                </a:solidFill>
              </a:rPr>
              <a:t>索引</a:t>
            </a:r>
            <a:r>
              <a:rPr lang="en-US" altLang="zh-CN" sz="1600" dirty="0">
                <a:solidFill>
                  <a:srgbClr val="FF3300"/>
                </a:solidFill>
              </a:rPr>
              <a:t>idx1,idx2</a:t>
            </a:r>
            <a:r>
              <a:rPr lang="zh-CN" altLang="en-US" sz="1600" dirty="0">
                <a:solidFill>
                  <a:srgbClr val="FF3300"/>
                </a:solidFill>
              </a:rPr>
              <a:t>存储在哪里？</a:t>
            </a:r>
            <a:endParaRPr lang="zh-CN" altLang="en-US" sz="1600" kern="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索引分</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片举例</a:t>
            </a:r>
            <a:r>
              <a:rPr lang="en-US" altLang="zh-CN" dirty="0" smtClean="0">
                <a:latin typeface="Arial" panose="020B0604020202020204" pitchFamily="34" charset="0"/>
                <a:cs typeface="宋体" panose="02010600030101010101" pitchFamily="2" charset="-122"/>
              </a:rPr>
              <a:t>—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Attached</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699" name="内容占位符 2"/>
          <p:cNvSpPr>
            <a:spLocks noGrp="1"/>
          </p:cNvSpPr>
          <p:nvPr>
            <p:ph type="body" sz="quarter" idx="10"/>
          </p:nvPr>
        </p:nvSpPr>
        <p:spPr/>
        <p:txBody>
          <a:bodyPr/>
          <a:lstStyle/>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非</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处理</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处理</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latin typeface="Arial" panose="020B0604020202020204" pitchFamily="34" charset="0"/>
              <a:ea typeface="宋体" panose="02010600030101010101" pitchFamily="2" charset="-122"/>
              <a:cs typeface="宋体" panose="02010600030101010101" pitchFamily="2" charset="-122"/>
            </a:endParaRPr>
          </a:p>
        </p:txBody>
      </p:sp>
      <p:sp>
        <p:nvSpPr>
          <p:cNvPr id="6" name="内容占位符 3"/>
          <p:cNvSpPr txBox="1"/>
          <p:nvPr/>
        </p:nvSpPr>
        <p:spPr bwMode="auto">
          <a:xfrm>
            <a:off x="2249713" y="2459839"/>
            <a:ext cx="7707087" cy="3146138"/>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a:bodyPr>
          <a:lstStyle/>
          <a:p>
            <a:pPr lvl="1">
              <a:lnSpc>
                <a:spcPct val="150000"/>
              </a:lnSpc>
            </a:pP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TABLE tab1 (col1 integer, col2 date)</a:t>
            </a:r>
          </a:p>
          <a:p>
            <a:pPr lvl="1">
              <a:lnSpc>
                <a:spcPct val="150000"/>
              </a:lnSpc>
            </a:pP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INDEX idx1 on tab1 (col1)</a:t>
            </a:r>
          </a:p>
          <a:p>
            <a:pPr lvl="1">
              <a:lnSpc>
                <a:spcPct val="150000"/>
              </a:lnSpc>
            </a:pP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FRAGMENT BY </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EXPRESSION</a:t>
            </a: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0 and col1 &lt; 100 in  datadbs01,</a:t>
            </a:r>
          </a:p>
          <a:p>
            <a:pPr lvl="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100 and col &lt; 200 in  datadbs02;</a:t>
            </a:r>
            <a:endPar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endPar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索引分片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example</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23" name="内容占位符 2"/>
          <p:cNvSpPr>
            <a:spLocks noGrp="1"/>
          </p:cNvSpPr>
          <p:nvPr>
            <p:ph type="body" sz="quarter" idx="10"/>
          </p:nvPr>
        </p:nvSpPr>
        <p:spPr/>
        <p:txBody>
          <a:bodyPr/>
          <a:lstStyle/>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处理</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非</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处理</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索引的空间可能非常大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内容占位符 3"/>
          <p:cNvSpPr txBox="1"/>
          <p:nvPr/>
        </p:nvSpPr>
        <p:spPr bwMode="auto">
          <a:xfrm>
            <a:off x="2261687" y="2991126"/>
            <a:ext cx="7707087" cy="3146138"/>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a:bodyPr>
          <a:lstStyle/>
          <a:p>
            <a:pPr lvl="1" eaLnBrk="1" hangingPunct="1">
              <a:lnSpc>
                <a:spcPct val="150000"/>
              </a:lnSpc>
            </a:pPr>
            <a:endParaRPr lang="en-US" altLang="zh-CN" sz="1600" b="0" dirty="0">
              <a:latin typeface="微软雅黑" panose="020B0503020204020204" pitchFamily="34" charset="-122"/>
              <a:ea typeface="微软雅黑" panose="020B0503020204020204" pitchFamily="34" charset="-122"/>
            </a:endParaRPr>
          </a:p>
          <a:p>
            <a:pPr lvl="1"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TABLE tab1 (col1 integer, col2 date)</a:t>
            </a:r>
          </a:p>
          <a:p>
            <a:pPr lvl="1" eaLnBrk="1" hangingPunct="1">
              <a:lnSpc>
                <a:spcPct val="150000"/>
              </a:lnSpc>
            </a:pP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FRAGMENT </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BY round robin in  datadbs01, datadbs02</a:t>
            </a:r>
          </a:p>
          <a:p>
            <a:pPr lvl="1" eaLnBrk="1" hangingPunct="1">
              <a:lnSpc>
                <a:spcPct val="150000"/>
              </a:lnSpc>
            </a:pP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INDEX idx1 on tab1 (col1) IN  </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datadbs03</a:t>
            </a:r>
            <a:endPar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索引分片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example</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747" name="内容占位符 2"/>
          <p:cNvSpPr>
            <a:spLocks noGrp="1"/>
          </p:cNvSpPr>
          <p:nvPr>
            <p:ph type="body" sz="quarter" idx="10"/>
          </p:nvPr>
        </p:nvSpPr>
        <p:spPr/>
        <p:txBody>
          <a:bodyPr/>
          <a:lstStyle/>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处理</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不同于表的分片策略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buFont typeface="Webdings" panose="05030102010509060703" charset="0"/>
              <a:buNone/>
            </a:pPr>
            <a:endParaRPr lang="en-US" altLang="zh-CN" dirty="0">
              <a:latin typeface="Arial" panose="020B0604020202020204" pitchFamily="34" charset="0"/>
              <a:ea typeface="宋体" panose="02010600030101010101" pitchFamily="2" charset="-122"/>
              <a:cs typeface="宋体" panose="02010600030101010101" pitchFamily="2" charset="-122"/>
            </a:endParaRPr>
          </a:p>
        </p:txBody>
      </p:sp>
      <p:sp>
        <p:nvSpPr>
          <p:cNvPr id="31748" name="内容占位符 3"/>
          <p:cNvSpPr txBox="1"/>
          <p:nvPr/>
        </p:nvSpPr>
        <p:spPr bwMode="auto">
          <a:xfrm>
            <a:off x="2297937" y="2708072"/>
            <a:ext cx="7162800" cy="3429000"/>
          </a:xfrm>
          <a:prstGeom prst="rect">
            <a:avLst/>
          </a:prstGeom>
          <a:solidFill>
            <a:schemeClr val="bg1">
              <a:lumMod val="85000"/>
            </a:schemeClr>
          </a:solidFill>
          <a:ln w="3175">
            <a:solidFill>
              <a:schemeClr val="bg1">
                <a:lumMod val="50000"/>
              </a:schemeClr>
            </a:solidFill>
            <a:miter lim="800000"/>
          </a:ln>
        </p:spPr>
        <p:txBody>
          <a:bodyPr/>
          <a:lstStyle>
            <a:lvl1pPr marL="342900" indent="-342900"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TABLE tab1 (col1 integer, col2 date)</a:t>
            </a:r>
          </a:p>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BY round robin in  datadbs01, datadbs02</a:t>
            </a:r>
          </a:p>
          <a:p>
            <a:pPr lvl="1" algn="l" eaLnBrk="1" hangingPunct="1">
              <a:lnSpc>
                <a:spcPct val="150000"/>
              </a:lnSpc>
              <a:buFont typeface="Webdings" panose="05030102010509060703" charset="0"/>
              <a:buNone/>
            </a:pP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INDEX idx1 on tab1 (col1)</a:t>
            </a:r>
          </a:p>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BY EXPRESSION</a:t>
            </a:r>
          </a:p>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0 and col1 &lt; 100 in  datadbs01,</a:t>
            </a:r>
          </a:p>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100 and col &lt; 200 in  datadbs02</a:t>
            </a:r>
            <a:endPar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索引分片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example</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771" name="内容占位符 2"/>
          <p:cNvSpPr>
            <a:spLocks noGrp="1"/>
          </p:cNvSpPr>
          <p:nvPr>
            <p:ph type="body" sz="quarter" idx="10"/>
          </p:nvPr>
        </p:nvSpPr>
        <p:spPr/>
        <p:txBody>
          <a:bodyPr>
            <a:normAutofit/>
          </a:bodyPr>
          <a:lstStyle/>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分片处理</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分片处理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相同策略，不同存储位置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772" name="内容占位符 3"/>
          <p:cNvSpPr txBox="1"/>
          <p:nvPr/>
        </p:nvSpPr>
        <p:spPr bwMode="auto">
          <a:xfrm>
            <a:off x="2314268" y="2479050"/>
            <a:ext cx="7128930" cy="3429000"/>
          </a:xfrm>
          <a:prstGeom prst="rect">
            <a:avLst/>
          </a:prstGeom>
          <a:solidFill>
            <a:schemeClr val="bg1">
              <a:lumMod val="85000"/>
            </a:schemeClr>
          </a:solidFill>
          <a:ln w="3175">
            <a:solidFill>
              <a:schemeClr val="bg1">
                <a:lumMod val="50000"/>
              </a:schemeClr>
            </a:solidFill>
            <a:miter lim="800000"/>
          </a:ln>
        </p:spPr>
        <p:txBody>
          <a:bodyPr/>
          <a:lstStyle>
            <a:lvl1pPr marL="342900" indent="-342900"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TABLE tab1 (col1 integer, col2 date)</a:t>
            </a:r>
          </a:p>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FRAGMENT</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BY EXPRESSION</a:t>
            </a:r>
          </a:p>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col1 &gt;= 0 and col1 &lt; 100 in  datadbs01,</a:t>
            </a:r>
          </a:p>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col1 &gt;= 100 and col &lt; 200 in  datadbs02;</a:t>
            </a:r>
          </a:p>
          <a:p>
            <a:pPr lvl="1" algn="l" eaLnBrk="1" hangingPunct="1">
              <a:lnSpc>
                <a:spcPct val="150000"/>
              </a:lnSpc>
              <a:buFont typeface="Webdings" panose="05030102010509060703" charset="0"/>
              <a:buNone/>
            </a:pP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INDEX idx1 on tab1 (col1)</a:t>
            </a:r>
          </a:p>
          <a:p>
            <a:pPr lvl="1" algn="l" eaLnBrk="1" hangingPunct="1">
              <a:lnSpc>
                <a:spcPct val="150000"/>
              </a:lnSpc>
              <a:buFont typeface="Webdings" panose="05030102010509060703" charset="0"/>
              <a:buNone/>
            </a:pP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FRAGMENT</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BY EXPRESSION</a:t>
            </a:r>
          </a:p>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0 and col1 &lt; 100 in  datadbs03,</a:t>
            </a:r>
          </a:p>
          <a:p>
            <a:pPr lvl="1" algn="l" eaLnBrk="1" hangingPunct="1">
              <a:lnSpc>
                <a:spcPct val="150000"/>
              </a:lnSpc>
              <a:buFont typeface="Webdings" panose="05030102010509060703" charset="0"/>
              <a:buNone/>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100 and col &lt; 200 in  datadbs04;</a:t>
            </a:r>
            <a:endPar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索引分片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分离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(detach)</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范例</a:t>
            </a:r>
          </a:p>
        </p:txBody>
      </p:sp>
      <p:sp>
        <p:nvSpPr>
          <p:cNvPr id="33795" name="内容占位符 2"/>
          <p:cNvSpPr>
            <a:spLocks noGrp="1"/>
          </p:cNvSpPr>
          <p:nvPr>
            <p:ph type="body" sz="quarter" idx="10"/>
          </p:nvPr>
        </p:nvSpPr>
        <p:spPr/>
        <p:txBody>
          <a:bodyPr/>
          <a:lstStyle/>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处理</a:t>
            </a:r>
          </a:p>
          <a:p>
            <a:pPr>
              <a:lnSpc>
                <a:spcPct val="15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索引</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非</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分片处理</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796" name="内容占位符 3"/>
          <p:cNvSpPr txBox="1"/>
          <p:nvPr/>
        </p:nvSpPr>
        <p:spPr bwMode="auto">
          <a:xfrm>
            <a:off x="2331741" y="2620324"/>
            <a:ext cx="7095067" cy="3066393"/>
          </a:xfrm>
          <a:prstGeom prst="rect">
            <a:avLst/>
          </a:prstGeom>
          <a:solidFill>
            <a:schemeClr val="bg1">
              <a:lumMod val="85000"/>
            </a:schemeClr>
          </a:solidFill>
          <a:ln w="3175">
            <a:solidFill>
              <a:schemeClr val="bg1">
                <a:lumMod val="50000"/>
              </a:schemeClr>
            </a:solidFill>
            <a:miter lim="800000"/>
          </a:ln>
        </p:spPr>
        <p:txBody>
          <a:bodyPr/>
          <a:lstStyle>
            <a:lvl1pPr marL="342900" indent="-342900"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TABLE tab1 (col1 integer, col2 date)</a:t>
            </a:r>
          </a:p>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BY expression</a:t>
            </a:r>
          </a:p>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0 and col1 &lt; 100 in  datadbs01,</a:t>
            </a:r>
          </a:p>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100 and col1 &lt; 200 in  datadbs02</a:t>
            </a:r>
          </a:p>
          <a:p>
            <a:pPr lvl="1" algn="l" eaLnBrk="1" hangingPunct="1">
              <a:lnSpc>
                <a:spcPct val="150000"/>
              </a:lnSpc>
            </a:pP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INDEX idx1 on tab1 (col1) in  </a:t>
            </a: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datadbs03</a:t>
            </a:r>
          </a:p>
          <a:p>
            <a:pPr lvl="1" algn="l" eaLnBrk="1" hangingPunct="1">
              <a:lnSpc>
                <a:spcPct val="150000"/>
              </a:lnSpc>
            </a:pP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分离 </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(detach)</a:t>
            </a:r>
            <a:r>
              <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范例</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索引分片</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分离 </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(detach)</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范例</a:t>
            </a:r>
          </a:p>
        </p:txBody>
      </p:sp>
      <p:sp>
        <p:nvSpPr>
          <p:cNvPr id="34819" name="内容占位符 2"/>
          <p:cNvSpPr>
            <a:spLocks noGrp="1"/>
          </p:cNvSpPr>
          <p:nvPr>
            <p:ph type="body" sz="quarter" idx="10"/>
          </p:nvPr>
        </p:nvSpPr>
        <p:spPr/>
        <p:txBody>
          <a:bodyPr/>
          <a:lstStyle/>
          <a:p>
            <a:pPr>
              <a:lnSpc>
                <a:spcPct val="150000"/>
              </a:lnSpc>
            </a:pPr>
            <a:r>
              <a:rPr lang="zh-CN" altLang="en-US" dirty="0" smtClean="0">
                <a:cs typeface="宋体" panose="02010600030101010101" pitchFamily="2" charset="-122"/>
              </a:rPr>
              <a:t>表</a:t>
            </a:r>
            <a:r>
              <a:rPr lang="zh-CN" altLang="en-US" dirty="0">
                <a:cs typeface="宋体" panose="02010600030101010101" pitchFamily="2" charset="-122"/>
              </a:rPr>
              <a:t>：</a:t>
            </a:r>
            <a:r>
              <a:rPr lang="zh-CN" altLang="en-US" dirty="0" smtClean="0">
                <a:cs typeface="宋体" panose="02010600030101010101" pitchFamily="2" charset="-122"/>
              </a:rPr>
              <a:t>非</a:t>
            </a:r>
            <a:r>
              <a:rPr lang="zh-CN" altLang="en-US" dirty="0">
                <a:cs typeface="宋体" panose="02010600030101010101" pitchFamily="2" charset="-122"/>
              </a:rPr>
              <a:t>分片处理</a:t>
            </a:r>
            <a:endParaRPr lang="en-US" altLang="zh-CN" dirty="0">
              <a:cs typeface="宋体" panose="02010600030101010101" pitchFamily="2" charset="-122"/>
            </a:endParaRPr>
          </a:p>
          <a:p>
            <a:pPr>
              <a:lnSpc>
                <a:spcPct val="150000"/>
              </a:lnSpc>
            </a:pPr>
            <a:r>
              <a:rPr lang="zh-CN" altLang="en-US" dirty="0" smtClean="0">
                <a:cs typeface="宋体" panose="02010600030101010101" pitchFamily="2" charset="-122"/>
              </a:rPr>
              <a:t>索引</a:t>
            </a:r>
            <a:r>
              <a:rPr lang="zh-CN" altLang="en-US" dirty="0">
                <a:cs typeface="宋体" panose="02010600030101010101" pitchFamily="2" charset="-122"/>
              </a:rPr>
              <a:t>：</a:t>
            </a:r>
            <a:r>
              <a:rPr lang="en-US" altLang="zh-CN" dirty="0" smtClean="0">
                <a:cs typeface="宋体" panose="02010600030101010101" pitchFamily="2" charset="-122"/>
              </a:rPr>
              <a:t> </a:t>
            </a:r>
            <a:r>
              <a:rPr lang="zh-CN" altLang="en-US" dirty="0">
                <a:cs typeface="宋体" panose="02010600030101010101" pitchFamily="2" charset="-122"/>
              </a:rPr>
              <a:t>主键</a:t>
            </a:r>
            <a:r>
              <a:rPr lang="en-US" altLang="zh-CN" dirty="0">
                <a:cs typeface="宋体" panose="02010600030101010101" pitchFamily="2" charset="-122"/>
              </a:rPr>
              <a:t>(primary)</a:t>
            </a:r>
            <a:r>
              <a:rPr lang="zh-CN" altLang="en-US" dirty="0">
                <a:cs typeface="宋体" panose="02010600030101010101" pitchFamily="2" charset="-122"/>
              </a:rPr>
              <a:t>等约束自动创建的索引</a:t>
            </a:r>
          </a:p>
          <a:p>
            <a:pPr lvl="1">
              <a:buFont typeface="Webdings" panose="05030102010509060703" charset="0"/>
              <a:buNone/>
            </a:pPr>
            <a:endParaRPr lang="en-US" altLang="zh-CN" dirty="0">
              <a:latin typeface="Arial" panose="020B0604020202020204" pitchFamily="34" charset="0"/>
              <a:ea typeface="宋体" panose="02010600030101010101" pitchFamily="2" charset="-122"/>
              <a:cs typeface="宋体" panose="02010600030101010101" pitchFamily="2" charset="-122"/>
            </a:endParaRPr>
          </a:p>
        </p:txBody>
      </p:sp>
      <p:sp>
        <p:nvSpPr>
          <p:cNvPr id="34820" name="内容占位符 3"/>
          <p:cNvSpPr txBox="1"/>
          <p:nvPr/>
        </p:nvSpPr>
        <p:spPr bwMode="auto">
          <a:xfrm>
            <a:off x="2248316" y="2516705"/>
            <a:ext cx="7733697" cy="3545913"/>
          </a:xfrm>
          <a:prstGeom prst="rect">
            <a:avLst/>
          </a:prstGeom>
          <a:solidFill>
            <a:schemeClr val="bg1">
              <a:lumMod val="85000"/>
            </a:schemeClr>
          </a:solidFill>
          <a:ln w="3175">
            <a:solidFill>
              <a:schemeClr val="bg1">
                <a:lumMod val="50000"/>
              </a:schemeClr>
            </a:solidFill>
            <a:miter lim="800000"/>
          </a:ln>
        </p:spPr>
        <p:txBody>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TABLE tab1 </a:t>
            </a:r>
          </a:p>
          <a:p>
            <a:pPr lvl="1"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(col1 integer, </a:t>
            </a:r>
          </a:p>
          <a:p>
            <a:pPr lvl="1"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col2 date, </a:t>
            </a:r>
          </a:p>
          <a:p>
            <a:pPr lvl="1" eaLnBrk="1" hangingPunct="1">
              <a:lnSpc>
                <a:spcPct val="150000"/>
              </a:lnSpc>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primary key(c1)</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p>
          <a:p>
            <a:pPr lvl="1"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BY expression</a:t>
            </a:r>
          </a:p>
          <a:p>
            <a:pPr lvl="1"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0 and col1 &lt; 100 in  datadbs01,</a:t>
            </a:r>
          </a:p>
          <a:p>
            <a:pPr lvl="1"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100 and col1 &lt; 200 in  </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datadbs02 ;</a:t>
            </a: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50000"/>
              </a:lnSpc>
            </a:pPr>
            <a:r>
              <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主键</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c1</a:t>
            </a:r>
            <a:r>
              <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上自动创建的索引，索引存放的位置为</a:t>
            </a:r>
            <a:r>
              <a:rPr lang="zh-CN" altLang="en-US"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默认的数据库</a:t>
            </a:r>
            <a:r>
              <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所在的表空间上。该索引为</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detached </a:t>
            </a:r>
            <a:r>
              <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索引</a:t>
            </a:r>
            <a:r>
              <a:rPr lang="zh-CN" altLang="en-US"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6052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6052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2225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2225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71764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4993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4993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1178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1178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61299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393440"/>
            <a:ext cx="7223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393440"/>
            <a:ext cx="45704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01320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01320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508345"/>
            <a:ext cx="436880" cy="39878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2875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2875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48983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48983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39353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1724794"/>
            <a:ext cx="4236720" cy="706755"/>
          </a:xfrm>
          <a:prstGeom prst="rect">
            <a:avLst/>
          </a:prstGeom>
          <a:noFill/>
          <a:ln w="9525">
            <a:noFill/>
            <a:miter lim="800000"/>
          </a:ln>
        </p:spPr>
        <p:txBody>
          <a:bodyPr wrap="square">
            <a:spAutoFit/>
          </a:bodyPr>
          <a:lstStyle/>
          <a:p>
            <a:pPr marL="0" lvl="1"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表分片的意义及策略</a:t>
            </a:r>
            <a:endParaRPr lang="zh-CN" altLang="en-US" sz="2000" kern="0" spc="200" dirty="0" smtClean="0">
              <a:solidFill>
                <a:schemeClr val="bg1"/>
              </a:solidFill>
              <a:latin typeface="微软雅黑" panose="020B0503020204020204" pitchFamily="34" charset="-122"/>
              <a:ea typeface="微软雅黑" panose="020B0503020204020204" pitchFamily="34" charset="-122"/>
              <a:sym typeface="+mn-ea"/>
            </a:endParaRPr>
          </a:p>
          <a:p>
            <a:pPr algn="ct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5" name="文本框 55"/>
          <p:cNvSpPr txBox="1">
            <a:spLocks noChangeArrowheads="1"/>
          </p:cNvSpPr>
          <p:nvPr/>
        </p:nvSpPr>
        <p:spPr bwMode="auto">
          <a:xfrm>
            <a:off x="4378960" y="2609984"/>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索引分片策略与语法</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6" name="文本框 55"/>
          <p:cNvSpPr txBox="1">
            <a:spLocks noChangeArrowheads="1"/>
          </p:cNvSpPr>
          <p:nvPr/>
        </p:nvSpPr>
        <p:spPr bwMode="auto">
          <a:xfrm>
            <a:off x="4378960" y="3515608"/>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分片的管理</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390638"/>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分片与性能调优</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9" name="矩形 28"/>
          <p:cNvSpPr/>
          <p:nvPr/>
        </p:nvSpPr>
        <p:spPr bwMode="auto">
          <a:xfrm>
            <a:off x="3348673" y="5230495"/>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矩形 29"/>
          <p:cNvSpPr/>
          <p:nvPr/>
        </p:nvSpPr>
        <p:spPr bwMode="auto">
          <a:xfrm>
            <a:off x="4212273" y="5230495"/>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矩形 30"/>
          <p:cNvSpPr/>
          <p:nvPr/>
        </p:nvSpPr>
        <p:spPr bwMode="auto">
          <a:xfrm>
            <a:off x="3348673" y="5841365"/>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矩形 31"/>
          <p:cNvSpPr/>
          <p:nvPr/>
        </p:nvSpPr>
        <p:spPr bwMode="auto">
          <a:xfrm>
            <a:off x="4212273" y="5841365"/>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文本框 60"/>
          <p:cNvSpPr txBox="1">
            <a:spLocks noChangeArrowheads="1"/>
          </p:cNvSpPr>
          <p:nvPr/>
        </p:nvSpPr>
        <p:spPr bwMode="auto">
          <a:xfrm>
            <a:off x="3479910" y="5336510"/>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五</a:t>
            </a:r>
          </a:p>
        </p:txBody>
      </p:sp>
      <p:sp>
        <p:nvSpPr>
          <p:cNvPr id="34" name="文本框 55"/>
          <p:cNvSpPr txBox="1">
            <a:spLocks noChangeArrowheads="1"/>
          </p:cNvSpPr>
          <p:nvPr/>
        </p:nvSpPr>
        <p:spPr bwMode="auto">
          <a:xfrm>
            <a:off x="4388485" y="5336788"/>
            <a:ext cx="4236720" cy="398780"/>
          </a:xfrm>
          <a:prstGeom prst="rect">
            <a:avLst/>
          </a:prstGeom>
          <a:noFill/>
          <a:ln w="9525">
            <a:noFill/>
            <a:miter lim="800000"/>
          </a:ln>
        </p:spPr>
        <p:txBody>
          <a:bodyPr wrap="square">
            <a:spAutoFit/>
          </a:bodyPr>
          <a:lstStyle/>
          <a:p>
            <a:pPr algn="ctr"/>
            <a:r>
              <a:rPr lang="zh-CN" altLang="zh-CN" sz="2000" spc="200" dirty="0">
                <a:solidFill>
                  <a:schemeClr val="bg1"/>
                </a:solidFill>
                <a:latin typeface="微软雅黑" panose="020B0503020204020204" pitchFamily="34" charset="-122"/>
                <a:ea typeface="微软雅黑" panose="020B0503020204020204" pitchFamily="34" charset="-122"/>
              </a:rPr>
              <a:t>分片与索引策略</a:t>
            </a:r>
            <a:r>
              <a:rPr lang="en-US" altLang="zh-CN" sz="2000" spc="200" dirty="0">
                <a:solidFill>
                  <a:schemeClr val="bg1"/>
                </a:solidFill>
                <a:latin typeface="微软雅黑" panose="020B0503020204020204" pitchFamily="34" charset="-122"/>
                <a:ea typeface="微软雅黑" panose="020B0503020204020204" pitchFamily="34" charset="-122"/>
              </a:rPr>
              <a:t>FAQ</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b="1" dirty="0">
                <a:solidFill>
                  <a:srgbClr val="000000"/>
                </a:solidFill>
                <a:latin typeface="Arial" panose="020B0604020202020204" pitchFamily="34" charset="0"/>
                <a:cs typeface="宋体" panose="02010600030101010101" pitchFamily="2" charset="-122"/>
              </a:rPr>
              <a:t>分片管理</a:t>
            </a:r>
          </a:p>
        </p:txBody>
      </p:sp>
      <p:sp>
        <p:nvSpPr>
          <p:cNvPr id="35843" name="内容占位符 2"/>
          <p:cNvSpPr>
            <a:spLocks noGrp="1"/>
          </p:cNvSpPr>
          <p:nvPr>
            <p:ph type="body" sz="quarter" idx="10"/>
          </p:nvPr>
        </p:nvSpPr>
        <p:spPr>
          <a:ln>
            <a:solidFill>
              <a:schemeClr val="bg1"/>
            </a:solidFill>
            <a:miter lim="800000"/>
          </a:ln>
        </p:spPr>
        <p:txBody>
          <a:bodyPr>
            <a:normAutofit/>
          </a:bodyPr>
          <a:lstStyle/>
          <a:p>
            <a:pPr>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ALTER FRAGMENT ... INIT</a:t>
            </a:r>
          </a:p>
          <a:p>
            <a:pPr lvl="1">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在一个现有的表或者索引上初始化一个</a:t>
            </a:r>
            <a:r>
              <a:rPr lang="zh-CN" altLang="en-US"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新的分片</a:t>
            </a:r>
            <a:endPar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ALTER FRAGMENT ... ADD (or DROP)</a:t>
            </a:r>
          </a:p>
          <a:p>
            <a:pPr lvl="1">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添加新的分片到现有的分片表或者索引</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或者删除</a:t>
            </a:r>
            <a:r>
              <a:rPr lang="en-US" altLang="zh-CN"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ALTER FRAGMENT ... MODIFY</a:t>
            </a:r>
          </a:p>
          <a:p>
            <a:pPr lvl="1">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修改分片表或者分片索引的表达式，或者分片对应的</a:t>
            </a:r>
            <a:r>
              <a:rPr lang="en-US" altLang="zh-CN"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endPar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ALTER FRAGMENT ... ATTACH (or DETACH</a:t>
            </a:r>
            <a:r>
              <a:rPr lang="en-US" altLang="zh-CN" sz="20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把具有相同结构的表合并成一个分片表，或者把分片分离成一个单独的表</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分片表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attach &amp; detach</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操作</a:t>
            </a:r>
          </a:p>
        </p:txBody>
      </p:sp>
      <p:sp>
        <p:nvSpPr>
          <p:cNvPr id="36867" name="Rectangle 3"/>
          <p:cNvSpPr>
            <a:spLocks noChangeArrowheads="1"/>
          </p:cNvSpPr>
          <p:nvPr/>
        </p:nvSpPr>
        <p:spPr bwMode="auto">
          <a:xfrm>
            <a:off x="3614040" y="14064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1</a:t>
            </a:r>
            <a:r>
              <a:rPr lang="zh-CN" altLang="en-US"/>
              <a:t>月份</a:t>
            </a:r>
          </a:p>
        </p:txBody>
      </p:sp>
      <p:sp>
        <p:nvSpPr>
          <p:cNvPr id="36868" name="Rectangle 4"/>
          <p:cNvSpPr>
            <a:spLocks noChangeArrowheads="1"/>
          </p:cNvSpPr>
          <p:nvPr/>
        </p:nvSpPr>
        <p:spPr bwMode="auto">
          <a:xfrm>
            <a:off x="3614040" y="18636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2</a:t>
            </a:r>
            <a:r>
              <a:rPr lang="zh-CN" altLang="en-US"/>
              <a:t>月份</a:t>
            </a:r>
          </a:p>
        </p:txBody>
      </p:sp>
      <p:sp>
        <p:nvSpPr>
          <p:cNvPr id="36869" name="Rectangle 5"/>
          <p:cNvSpPr>
            <a:spLocks noChangeArrowheads="1"/>
          </p:cNvSpPr>
          <p:nvPr/>
        </p:nvSpPr>
        <p:spPr bwMode="auto">
          <a:xfrm>
            <a:off x="3614040" y="23208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3</a:t>
            </a:r>
            <a:r>
              <a:rPr lang="zh-CN" altLang="en-US"/>
              <a:t>月份</a:t>
            </a:r>
          </a:p>
        </p:txBody>
      </p:sp>
      <p:sp>
        <p:nvSpPr>
          <p:cNvPr id="36870" name="Rectangle 6"/>
          <p:cNvSpPr>
            <a:spLocks noChangeArrowheads="1"/>
          </p:cNvSpPr>
          <p:nvPr/>
        </p:nvSpPr>
        <p:spPr bwMode="auto">
          <a:xfrm>
            <a:off x="3614040" y="3006636"/>
            <a:ext cx="1371600" cy="457200"/>
          </a:xfrm>
          <a:prstGeom prst="rect">
            <a:avLst/>
          </a:prstGeom>
          <a:solidFill>
            <a:srgbClr val="47FD29"/>
          </a:solidFill>
          <a:ln w="9525">
            <a:solidFill>
              <a:schemeClr val="tx1"/>
            </a:solidFill>
            <a:miter lim="800000"/>
          </a:ln>
        </p:spPr>
        <p:txBody>
          <a:bodyPr wrap="none" lIns="92075" tIns="46038" rIns="92075" bIns="46038" anchor="ctr"/>
          <a:lstStyle/>
          <a:p>
            <a:pPr algn="ctr"/>
            <a:r>
              <a:rPr lang="en-US" altLang="zh-CN"/>
              <a:t>4</a:t>
            </a:r>
            <a:r>
              <a:rPr lang="zh-CN" altLang="en-US"/>
              <a:t>月份</a:t>
            </a:r>
          </a:p>
        </p:txBody>
      </p:sp>
      <p:sp>
        <p:nvSpPr>
          <p:cNvPr id="36871" name="Line 7"/>
          <p:cNvSpPr>
            <a:spLocks noChangeShapeType="1"/>
          </p:cNvSpPr>
          <p:nvPr/>
        </p:nvSpPr>
        <p:spPr bwMode="auto">
          <a:xfrm>
            <a:off x="5138040" y="2320836"/>
            <a:ext cx="1600200" cy="0"/>
          </a:xfrm>
          <a:prstGeom prst="line">
            <a:avLst/>
          </a:prstGeom>
          <a:noFill/>
          <a:ln w="9525">
            <a:solidFill>
              <a:srgbClr val="000080"/>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36872" name="Text Box 8"/>
          <p:cNvSpPr txBox="1">
            <a:spLocks noChangeArrowheads="1"/>
          </p:cNvSpPr>
          <p:nvPr/>
        </p:nvSpPr>
        <p:spPr bwMode="auto">
          <a:xfrm>
            <a:off x="5138040" y="1939836"/>
            <a:ext cx="1219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spcBef>
                <a:spcPct val="50000"/>
              </a:spcBef>
            </a:pPr>
            <a:r>
              <a:rPr lang="en-US" altLang="zh-CN" b="1">
                <a:solidFill>
                  <a:srgbClr val="0000FF"/>
                </a:solidFill>
              </a:rPr>
              <a:t>attach</a:t>
            </a:r>
          </a:p>
        </p:txBody>
      </p:sp>
      <p:sp>
        <p:nvSpPr>
          <p:cNvPr id="36873" name="Rectangle 9"/>
          <p:cNvSpPr>
            <a:spLocks noChangeArrowheads="1"/>
          </p:cNvSpPr>
          <p:nvPr/>
        </p:nvSpPr>
        <p:spPr bwMode="auto">
          <a:xfrm>
            <a:off x="6890640" y="14826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1</a:t>
            </a:r>
            <a:r>
              <a:rPr lang="zh-CN" altLang="en-US"/>
              <a:t>月份</a:t>
            </a:r>
          </a:p>
        </p:txBody>
      </p:sp>
      <p:sp>
        <p:nvSpPr>
          <p:cNvPr id="36874" name="Rectangle 10"/>
          <p:cNvSpPr>
            <a:spLocks noChangeArrowheads="1"/>
          </p:cNvSpPr>
          <p:nvPr/>
        </p:nvSpPr>
        <p:spPr bwMode="auto">
          <a:xfrm>
            <a:off x="6890640" y="19398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2</a:t>
            </a:r>
            <a:r>
              <a:rPr lang="zh-CN" altLang="en-US"/>
              <a:t>月份</a:t>
            </a:r>
          </a:p>
        </p:txBody>
      </p:sp>
      <p:sp>
        <p:nvSpPr>
          <p:cNvPr id="36875" name="Rectangle 11"/>
          <p:cNvSpPr>
            <a:spLocks noChangeArrowheads="1"/>
          </p:cNvSpPr>
          <p:nvPr/>
        </p:nvSpPr>
        <p:spPr bwMode="auto">
          <a:xfrm>
            <a:off x="6890640" y="23970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3</a:t>
            </a:r>
            <a:r>
              <a:rPr lang="zh-CN" altLang="en-US"/>
              <a:t>月份</a:t>
            </a:r>
          </a:p>
        </p:txBody>
      </p:sp>
      <p:sp>
        <p:nvSpPr>
          <p:cNvPr id="36876" name="Rectangle 12"/>
          <p:cNvSpPr>
            <a:spLocks noChangeArrowheads="1"/>
          </p:cNvSpPr>
          <p:nvPr/>
        </p:nvSpPr>
        <p:spPr bwMode="auto">
          <a:xfrm>
            <a:off x="6890640" y="28542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4</a:t>
            </a:r>
            <a:r>
              <a:rPr lang="zh-CN" altLang="en-US"/>
              <a:t>月份</a:t>
            </a:r>
          </a:p>
        </p:txBody>
      </p:sp>
      <p:sp>
        <p:nvSpPr>
          <p:cNvPr id="36877" name="Text Box 13"/>
          <p:cNvSpPr txBox="1">
            <a:spLocks noChangeArrowheads="1"/>
          </p:cNvSpPr>
          <p:nvPr/>
        </p:nvSpPr>
        <p:spPr bwMode="auto">
          <a:xfrm>
            <a:off x="3614040" y="1025436"/>
            <a:ext cx="1447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spcBef>
                <a:spcPct val="50000"/>
              </a:spcBef>
            </a:pPr>
            <a:r>
              <a:rPr lang="en-US" altLang="zh-CN" dirty="0" err="1">
                <a:solidFill>
                  <a:schemeClr val="tx1"/>
                </a:solidFill>
              </a:rPr>
              <a:t>Frag_table</a:t>
            </a:r>
            <a:endParaRPr lang="en-US" altLang="zh-CN" dirty="0">
              <a:solidFill>
                <a:schemeClr val="tx1"/>
              </a:solidFill>
            </a:endParaRPr>
          </a:p>
        </p:txBody>
      </p:sp>
      <p:sp>
        <p:nvSpPr>
          <p:cNvPr id="36878" name="Text Box 14"/>
          <p:cNvSpPr txBox="1">
            <a:spLocks noChangeArrowheads="1"/>
          </p:cNvSpPr>
          <p:nvPr/>
        </p:nvSpPr>
        <p:spPr bwMode="auto">
          <a:xfrm>
            <a:off x="3614040" y="3371761"/>
            <a:ext cx="1447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pPr>
            <a:r>
              <a:rPr lang="en-US" altLang="zh-CN"/>
              <a:t>tab1</a:t>
            </a:r>
          </a:p>
        </p:txBody>
      </p:sp>
      <p:sp>
        <p:nvSpPr>
          <p:cNvPr id="36879" name="Text Box 15"/>
          <p:cNvSpPr txBox="1">
            <a:spLocks noChangeArrowheads="1"/>
          </p:cNvSpPr>
          <p:nvPr/>
        </p:nvSpPr>
        <p:spPr bwMode="auto">
          <a:xfrm>
            <a:off x="6814440" y="1101636"/>
            <a:ext cx="1447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spcBef>
                <a:spcPct val="50000"/>
              </a:spcBef>
            </a:pPr>
            <a:r>
              <a:rPr lang="en-US" altLang="zh-CN" dirty="0" err="1">
                <a:solidFill>
                  <a:schemeClr val="tx1"/>
                </a:solidFill>
              </a:rPr>
              <a:t>Frag_table</a:t>
            </a:r>
            <a:endParaRPr lang="en-US" altLang="zh-CN" dirty="0">
              <a:solidFill>
                <a:schemeClr val="tx1"/>
              </a:solidFill>
            </a:endParaRPr>
          </a:p>
        </p:txBody>
      </p:sp>
      <p:sp>
        <p:nvSpPr>
          <p:cNvPr id="36880" name="Rectangle 16"/>
          <p:cNvSpPr>
            <a:spLocks noChangeArrowheads="1"/>
          </p:cNvSpPr>
          <p:nvPr/>
        </p:nvSpPr>
        <p:spPr bwMode="auto">
          <a:xfrm>
            <a:off x="3614040" y="42258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1</a:t>
            </a:r>
            <a:r>
              <a:rPr lang="zh-CN" altLang="en-US"/>
              <a:t>月份</a:t>
            </a:r>
          </a:p>
        </p:txBody>
      </p:sp>
      <p:sp>
        <p:nvSpPr>
          <p:cNvPr id="36881" name="Rectangle 17"/>
          <p:cNvSpPr>
            <a:spLocks noChangeArrowheads="1"/>
          </p:cNvSpPr>
          <p:nvPr/>
        </p:nvSpPr>
        <p:spPr bwMode="auto">
          <a:xfrm>
            <a:off x="3614040" y="46830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2</a:t>
            </a:r>
            <a:r>
              <a:rPr lang="zh-CN" altLang="en-US"/>
              <a:t>月份</a:t>
            </a:r>
          </a:p>
        </p:txBody>
      </p:sp>
      <p:sp>
        <p:nvSpPr>
          <p:cNvPr id="36882" name="Rectangle 18"/>
          <p:cNvSpPr>
            <a:spLocks noChangeArrowheads="1"/>
          </p:cNvSpPr>
          <p:nvPr/>
        </p:nvSpPr>
        <p:spPr bwMode="auto">
          <a:xfrm>
            <a:off x="3614040" y="51402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3</a:t>
            </a:r>
            <a:r>
              <a:rPr lang="zh-CN" altLang="en-US"/>
              <a:t>月份</a:t>
            </a:r>
          </a:p>
        </p:txBody>
      </p:sp>
      <p:sp>
        <p:nvSpPr>
          <p:cNvPr id="36883" name="Rectangle 19"/>
          <p:cNvSpPr>
            <a:spLocks noChangeArrowheads="1"/>
          </p:cNvSpPr>
          <p:nvPr/>
        </p:nvSpPr>
        <p:spPr bwMode="auto">
          <a:xfrm>
            <a:off x="3614040" y="5597436"/>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4</a:t>
            </a:r>
            <a:r>
              <a:rPr lang="zh-CN" altLang="en-US"/>
              <a:t>月份</a:t>
            </a:r>
          </a:p>
        </p:txBody>
      </p:sp>
      <p:sp>
        <p:nvSpPr>
          <p:cNvPr id="36884" name="Line 20"/>
          <p:cNvSpPr>
            <a:spLocks noChangeShapeType="1"/>
          </p:cNvSpPr>
          <p:nvPr/>
        </p:nvSpPr>
        <p:spPr bwMode="auto">
          <a:xfrm>
            <a:off x="5138040" y="5140236"/>
            <a:ext cx="1600200" cy="0"/>
          </a:xfrm>
          <a:prstGeom prst="line">
            <a:avLst/>
          </a:prstGeom>
          <a:noFill/>
          <a:ln w="9525">
            <a:solidFill>
              <a:srgbClr val="000080"/>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36885" name="Text Box 21"/>
          <p:cNvSpPr txBox="1">
            <a:spLocks noChangeArrowheads="1"/>
          </p:cNvSpPr>
          <p:nvPr/>
        </p:nvSpPr>
        <p:spPr bwMode="auto">
          <a:xfrm>
            <a:off x="5138040" y="4759236"/>
            <a:ext cx="1219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spcBef>
                <a:spcPct val="50000"/>
              </a:spcBef>
            </a:pPr>
            <a:r>
              <a:rPr lang="en-US" altLang="zh-CN" b="1">
                <a:solidFill>
                  <a:srgbClr val="FF3300"/>
                </a:solidFill>
              </a:rPr>
              <a:t>detach</a:t>
            </a:r>
          </a:p>
        </p:txBody>
      </p:sp>
      <p:sp>
        <p:nvSpPr>
          <p:cNvPr id="36886" name="Rectangle 22"/>
          <p:cNvSpPr>
            <a:spLocks noChangeArrowheads="1"/>
          </p:cNvSpPr>
          <p:nvPr/>
        </p:nvSpPr>
        <p:spPr bwMode="auto">
          <a:xfrm>
            <a:off x="6890640" y="4140675"/>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a:t>1</a:t>
            </a:r>
            <a:r>
              <a:rPr lang="zh-CN" altLang="en-US"/>
              <a:t>月份</a:t>
            </a:r>
          </a:p>
        </p:txBody>
      </p:sp>
      <p:sp>
        <p:nvSpPr>
          <p:cNvPr id="36887" name="Rectangle 23"/>
          <p:cNvSpPr>
            <a:spLocks noChangeArrowheads="1"/>
          </p:cNvSpPr>
          <p:nvPr/>
        </p:nvSpPr>
        <p:spPr bwMode="auto">
          <a:xfrm>
            <a:off x="6890640" y="4597875"/>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dirty="0"/>
              <a:t>2</a:t>
            </a:r>
            <a:r>
              <a:rPr lang="zh-CN" altLang="en-US" dirty="0"/>
              <a:t>月份</a:t>
            </a:r>
          </a:p>
        </p:txBody>
      </p:sp>
      <p:sp>
        <p:nvSpPr>
          <p:cNvPr id="36888" name="Rectangle 24"/>
          <p:cNvSpPr>
            <a:spLocks noChangeArrowheads="1"/>
          </p:cNvSpPr>
          <p:nvPr/>
        </p:nvSpPr>
        <p:spPr bwMode="auto">
          <a:xfrm>
            <a:off x="6890640" y="5055075"/>
            <a:ext cx="1371600" cy="457200"/>
          </a:xfrm>
          <a:prstGeom prst="rect">
            <a:avLst/>
          </a:prstGeom>
          <a:solidFill>
            <a:schemeClr val="accent1"/>
          </a:solidFill>
          <a:ln w="9525">
            <a:solidFill>
              <a:schemeClr val="tx1"/>
            </a:solidFill>
            <a:miter lim="800000"/>
          </a:ln>
        </p:spPr>
        <p:txBody>
          <a:bodyPr wrap="none" lIns="92075" tIns="46038" rIns="92075" bIns="46038" anchor="ctr"/>
          <a:lstStyle/>
          <a:p>
            <a:pPr algn="ctr"/>
            <a:r>
              <a:rPr lang="en-US" altLang="zh-CN" dirty="0"/>
              <a:t>3</a:t>
            </a:r>
            <a:r>
              <a:rPr lang="zh-CN" altLang="en-US" dirty="0"/>
              <a:t>月份</a:t>
            </a:r>
          </a:p>
        </p:txBody>
      </p:sp>
      <p:sp>
        <p:nvSpPr>
          <p:cNvPr id="36889" name="Rectangle 25"/>
          <p:cNvSpPr>
            <a:spLocks noChangeArrowheads="1"/>
          </p:cNvSpPr>
          <p:nvPr/>
        </p:nvSpPr>
        <p:spPr bwMode="auto">
          <a:xfrm>
            <a:off x="6890640" y="5682604"/>
            <a:ext cx="1371600" cy="457200"/>
          </a:xfrm>
          <a:prstGeom prst="rect">
            <a:avLst/>
          </a:prstGeom>
          <a:solidFill>
            <a:srgbClr val="FF3300"/>
          </a:solidFill>
          <a:ln w="9525">
            <a:solidFill>
              <a:schemeClr val="tx1"/>
            </a:solidFill>
            <a:miter lim="800000"/>
          </a:ln>
        </p:spPr>
        <p:txBody>
          <a:bodyPr wrap="none" lIns="92075" tIns="46038" rIns="92075" bIns="46038" anchor="ctr"/>
          <a:lstStyle/>
          <a:p>
            <a:pPr algn="ctr"/>
            <a:r>
              <a:rPr lang="en-US" altLang="zh-CN" dirty="0"/>
              <a:t>4</a:t>
            </a:r>
            <a:r>
              <a:rPr lang="zh-CN" altLang="en-US" dirty="0"/>
              <a:t>月份</a:t>
            </a:r>
          </a:p>
        </p:txBody>
      </p:sp>
      <p:sp>
        <p:nvSpPr>
          <p:cNvPr id="36890" name="Text Box 26"/>
          <p:cNvSpPr txBox="1">
            <a:spLocks noChangeArrowheads="1"/>
          </p:cNvSpPr>
          <p:nvPr/>
        </p:nvSpPr>
        <p:spPr bwMode="auto">
          <a:xfrm>
            <a:off x="3614040" y="3844836"/>
            <a:ext cx="1447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spcBef>
                <a:spcPct val="50000"/>
              </a:spcBef>
            </a:pPr>
            <a:r>
              <a:rPr lang="en-US" altLang="zh-CN" dirty="0" err="1">
                <a:solidFill>
                  <a:schemeClr val="tx1"/>
                </a:solidFill>
              </a:rPr>
              <a:t>Frag_table</a:t>
            </a:r>
            <a:endParaRPr lang="en-US" altLang="zh-CN" dirty="0">
              <a:solidFill>
                <a:schemeClr val="tx1"/>
              </a:solidFill>
            </a:endParaRPr>
          </a:p>
        </p:txBody>
      </p:sp>
      <p:sp>
        <p:nvSpPr>
          <p:cNvPr id="36891" name="Text Box 27"/>
          <p:cNvSpPr txBox="1">
            <a:spLocks noChangeArrowheads="1"/>
          </p:cNvSpPr>
          <p:nvPr/>
        </p:nvSpPr>
        <p:spPr bwMode="auto">
          <a:xfrm>
            <a:off x="6890385" y="6139815"/>
            <a:ext cx="1447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pPr>
            <a:r>
              <a:rPr lang="en-US" altLang="zh-CN">
                <a:solidFill>
                  <a:schemeClr val="tx1"/>
                </a:solidFill>
              </a:rPr>
              <a:t>tab1</a:t>
            </a:r>
          </a:p>
        </p:txBody>
      </p:sp>
      <p:sp>
        <p:nvSpPr>
          <p:cNvPr id="36892" name="Text Box 28"/>
          <p:cNvSpPr txBox="1">
            <a:spLocks noChangeArrowheads="1"/>
          </p:cNvSpPr>
          <p:nvPr/>
        </p:nvSpPr>
        <p:spPr bwMode="auto">
          <a:xfrm>
            <a:off x="6814440" y="3741746"/>
            <a:ext cx="1447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spcBef>
                <a:spcPct val="50000"/>
              </a:spcBef>
            </a:pPr>
            <a:r>
              <a:rPr lang="en-US" altLang="zh-CN" dirty="0" err="1">
                <a:solidFill>
                  <a:schemeClr val="tx1"/>
                </a:solidFill>
              </a:rPr>
              <a:t>Frag_table</a:t>
            </a:r>
            <a:endParaRPr lang="en-US" altLang="zh-CN" dirty="0">
              <a:solidFill>
                <a:schemeClr val="tx1"/>
              </a:solidFill>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cs typeface="微软雅黑" panose="020B0503020204020204" pitchFamily="34" charset="-122"/>
              </a:rPr>
              <a:t>Alter fragments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表组合</a:t>
            </a:r>
          </a:p>
        </p:txBody>
      </p:sp>
      <p:sp>
        <p:nvSpPr>
          <p:cNvPr id="37891" name="内容占位符 2"/>
          <p:cNvSpPr>
            <a:spLocks noGrp="1"/>
          </p:cNvSpPr>
          <p:nvPr>
            <p:ph type="body" sz="quarter" idx="10"/>
          </p:nvPr>
        </p:nvSpPr>
        <p:spPr>
          <a:ln>
            <a:solidFill>
              <a:schemeClr val="bg1"/>
            </a:solidFill>
            <a:miter lim="800000"/>
          </a:ln>
        </p:spPr>
        <p:txBody>
          <a:bodyPr>
            <a:normAutofit/>
          </a:bodyPr>
          <a:lstStyle/>
          <a:p>
            <a:pPr>
              <a:lnSpc>
                <a:spcPct val="130000"/>
              </a:lnSpc>
            </a:pP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把两个结构完全相同的非分片表合并成一个分片表</a:t>
            </a: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30000"/>
              </a:lnSpc>
            </a:pP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两个表可以在不同的 </a:t>
            </a:r>
            <a:r>
              <a:rPr lang="en-US" altLang="zh-CN"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dbspaces</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中或者在相同的 </a:t>
            </a:r>
            <a:r>
              <a:rPr lang="en-US" altLang="zh-CN" dirty="0" err="1"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zh-CN" altLang="en-US"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中合并</a:t>
            </a:r>
            <a:endPar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30000"/>
              </a:lnSpc>
              <a:buNone/>
            </a:pPr>
            <a:endParaRPr lang="en-US" altLang="zh-CN" sz="20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30000"/>
              </a:lnSpc>
              <a:buNone/>
            </a:pP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把一个非分片表合并成为一个分片表的一个分区</a:t>
            </a: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30000"/>
              </a:lnSpc>
              <a:buNone/>
            </a:pPr>
            <a:endPar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30000"/>
              </a:lnSpc>
              <a:buNone/>
            </a:pP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我们可以使用 </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BEFORE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和 </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AFTER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子句，用来调整表达式的顺序</a:t>
            </a: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892" name="内容占位符 3"/>
          <p:cNvSpPr txBox="1"/>
          <p:nvPr/>
        </p:nvSpPr>
        <p:spPr bwMode="auto">
          <a:xfrm>
            <a:off x="2221582" y="2263421"/>
            <a:ext cx="7648224" cy="799096"/>
          </a:xfrm>
          <a:prstGeom prst="rect">
            <a:avLst/>
          </a:prstGeom>
          <a:solidFill>
            <a:schemeClr val="bg1">
              <a:lumMod val="85000"/>
            </a:schemeClr>
          </a:solidFill>
          <a:ln w="3175">
            <a:solidFill>
              <a:schemeClr val="bg1">
                <a:lumMod val="50000"/>
              </a:schemeClr>
            </a:solidFill>
            <a:miter lim="800000"/>
          </a:ln>
        </p:spPr>
        <p:txBody>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eaLnBrk="1" hangingPunct="1">
              <a:lnSpc>
                <a:spcPct val="150000"/>
              </a:lnSpc>
            </a:pPr>
            <a:r>
              <a:rPr lang="en-US" altLang="zh-CN" sz="1600" b="0" dirty="0">
                <a:solidFill>
                  <a:srgbClr val="000000"/>
                </a:solidFill>
              </a:rPr>
              <a:t>Alter fragment on table tab1 ATTACH tab1 as partition p1, tab2 as partition p2</a:t>
            </a:r>
          </a:p>
          <a:p>
            <a:pPr eaLnBrk="1" hangingPunct="1">
              <a:lnSpc>
                <a:spcPct val="150000"/>
              </a:lnSpc>
            </a:pPr>
            <a:r>
              <a:rPr lang="en-US" altLang="zh-CN" sz="1600" b="0" dirty="0">
                <a:solidFill>
                  <a:srgbClr val="000000"/>
                </a:solidFill>
              </a:rPr>
              <a:t>ALTER FRAGMENT ON TABLE tb1 ATTACH tb1 AS (a &lt;= 100), tb2 AS (a &gt; 100);</a:t>
            </a:r>
          </a:p>
        </p:txBody>
      </p:sp>
      <p:sp>
        <p:nvSpPr>
          <p:cNvPr id="37893" name="内容占位符 3"/>
          <p:cNvSpPr txBox="1"/>
          <p:nvPr/>
        </p:nvSpPr>
        <p:spPr bwMode="auto">
          <a:xfrm>
            <a:off x="2282714" y="5457527"/>
            <a:ext cx="7625644" cy="785796"/>
          </a:xfrm>
          <a:prstGeom prst="rect">
            <a:avLst/>
          </a:prstGeom>
          <a:solidFill>
            <a:schemeClr val="bg1">
              <a:lumMod val="85000"/>
            </a:schemeClr>
          </a:solidFill>
          <a:ln w="3175">
            <a:solidFill>
              <a:schemeClr val="bg1">
                <a:lumMod val="50000"/>
              </a:schemeClr>
            </a:solidFill>
            <a:miter lim="800000"/>
          </a:ln>
        </p:spPr>
        <p:txBody>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lnSpc>
                <a:spcPct val="150000"/>
              </a:lnSpc>
            </a:pPr>
            <a:r>
              <a:rPr lang="en-US" altLang="zh-CN" sz="1600" b="0" dirty="0">
                <a:solidFill>
                  <a:srgbClr val="000000"/>
                </a:solidFill>
              </a:rPr>
              <a:t>Alter fragment on table f1 attach f3 as (col1 &lt;= 0) </a:t>
            </a:r>
            <a:r>
              <a:rPr lang="en-US" altLang="zh-CN" sz="1600" b="0" dirty="0">
                <a:solidFill>
                  <a:srgbClr val="FF3300"/>
                </a:solidFill>
              </a:rPr>
              <a:t>before</a:t>
            </a:r>
            <a:r>
              <a:rPr lang="en-US" altLang="zh-CN" sz="1600" b="0" dirty="0"/>
              <a:t> </a:t>
            </a:r>
            <a:r>
              <a:rPr lang="en-US" altLang="zh-CN" sz="1600" b="0" dirty="0">
                <a:solidFill>
                  <a:srgbClr val="000000"/>
                </a:solidFill>
              </a:rPr>
              <a:t>dbspace1</a:t>
            </a:r>
          </a:p>
          <a:p>
            <a:pPr algn="l" eaLnBrk="1" hangingPunct="1">
              <a:lnSpc>
                <a:spcPct val="150000"/>
              </a:lnSpc>
            </a:pPr>
            <a:r>
              <a:rPr lang="en-US" altLang="zh-CN" sz="1600" b="0" dirty="0">
                <a:solidFill>
                  <a:srgbClr val="000000"/>
                </a:solidFill>
              </a:rPr>
              <a:t>Alter fragment on table f1 attach f3 as (col1 &lt;= 0) </a:t>
            </a:r>
            <a:r>
              <a:rPr lang="en-US" altLang="zh-CN" sz="1600" b="0" dirty="0">
                <a:solidFill>
                  <a:srgbClr val="FF3300"/>
                </a:solidFill>
              </a:rPr>
              <a:t>after</a:t>
            </a:r>
            <a:r>
              <a:rPr lang="en-US" altLang="zh-CN" sz="1600" b="0" dirty="0"/>
              <a:t> </a:t>
            </a:r>
            <a:r>
              <a:rPr lang="en-US" altLang="zh-CN" sz="1600" b="0" dirty="0" smtClean="0">
                <a:solidFill>
                  <a:srgbClr val="000000"/>
                </a:solidFill>
              </a:rPr>
              <a:t>dbspace1</a:t>
            </a:r>
            <a:endParaRPr lang="zh-CN" altLang="en-US" sz="1600" b="0" dirty="0">
              <a:solidFill>
                <a:srgbClr val="000000"/>
              </a:solidFill>
            </a:endParaRPr>
          </a:p>
        </p:txBody>
      </p:sp>
      <p:sp>
        <p:nvSpPr>
          <p:cNvPr id="37894" name="内容占位符 3"/>
          <p:cNvSpPr txBox="1"/>
          <p:nvPr/>
        </p:nvSpPr>
        <p:spPr bwMode="auto">
          <a:xfrm>
            <a:off x="2221845" y="3941746"/>
            <a:ext cx="7625643" cy="852326"/>
          </a:xfrm>
          <a:prstGeom prst="rect">
            <a:avLst/>
          </a:prstGeom>
          <a:solidFill>
            <a:schemeClr val="bg1">
              <a:lumMod val="85000"/>
            </a:schemeClr>
          </a:solidFill>
          <a:ln w="3175">
            <a:solidFill>
              <a:schemeClr val="bg1">
                <a:lumMod val="50000"/>
              </a:schemeClr>
            </a:solidFill>
            <a:miter lim="800000"/>
          </a:ln>
        </p:spPr>
        <p:txBody>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lnSpc>
                <a:spcPct val="150000"/>
              </a:lnSpc>
            </a:pPr>
            <a:r>
              <a:rPr lang="en-US" altLang="zh-CN" sz="1600" b="0" dirty="0">
                <a:solidFill>
                  <a:srgbClr val="000000"/>
                </a:solidFill>
              </a:rPr>
              <a:t>Alter fragment on table mytab1 attach mytab3 as partition p3</a:t>
            </a:r>
          </a:p>
          <a:p>
            <a:pPr algn="l" eaLnBrk="1" hangingPunct="1">
              <a:lnSpc>
                <a:spcPct val="150000"/>
              </a:lnSpc>
            </a:pPr>
            <a:r>
              <a:rPr lang="en-US" altLang="zh-CN" sz="1600" b="0" dirty="0">
                <a:solidFill>
                  <a:srgbClr val="000000"/>
                </a:solidFill>
              </a:rPr>
              <a:t>ALTER FRAGMENT ON TABLE tb1 ATTACH tb2 AS (a &lt;= 40);</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en-US" altLang="zh-CN" b="1" dirty="0">
                <a:solidFill>
                  <a:srgbClr val="000000"/>
                </a:solidFill>
                <a:cs typeface="宋体" panose="02010600030101010101" pitchFamily="2" charset="-122"/>
              </a:rPr>
              <a:t>Alter fragments – ATTACH</a:t>
            </a:r>
            <a:endParaRPr lang="zh-CN" altLang="en-US" b="1" dirty="0">
              <a:solidFill>
                <a:srgbClr val="000000"/>
              </a:solidFill>
              <a:cs typeface="宋体" panose="02010600030101010101" pitchFamily="2" charset="-122"/>
            </a:endParaRPr>
          </a:p>
        </p:txBody>
      </p:sp>
      <p:sp>
        <p:nvSpPr>
          <p:cNvPr id="38915" name="内容占位符 2"/>
          <p:cNvSpPr>
            <a:spLocks noGrp="1"/>
          </p:cNvSpPr>
          <p:nvPr>
            <p:ph type="body" sz="quarter" idx="10"/>
          </p:nvPr>
        </p:nvSpPr>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在目标表中使用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Check constraint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来避免在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ATTACHE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期间不必要的完整性检查</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对于目标表，</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外键，主键，唯一性约束</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serial</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类型的字段都是不允许的</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索引重建是可以避免的，如果：数据没有</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重叠</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新分片的索引与目标表的索引是建立在相同的一个列或者多个列上的</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索引与目标表的索引具有相同的属性，例如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unique, duplicate</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新分片的索引不能在任何一个目标表的索引所使用的</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dbspaces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提高</a:t>
            </a:r>
            <a:r>
              <a:rPr lang="en-US" altLang="zh-CN" dirty="0">
                <a:latin typeface="Arial" panose="020B0604020202020204" pitchFamily="34" charset="0"/>
                <a:cs typeface="宋体" panose="02010600030101010101" pitchFamily="2" charset="-122"/>
              </a:rPr>
              <a:t>attach</a:t>
            </a:r>
            <a:r>
              <a:rPr lang="zh-CN" altLang="en-US" dirty="0">
                <a:latin typeface="Arial" panose="020B0604020202020204" pitchFamily="34" charset="0"/>
                <a:cs typeface="宋体" panose="02010600030101010101" pitchFamily="2" charset="-122"/>
              </a:rPr>
              <a:t>的性能</a:t>
            </a:r>
            <a:r>
              <a:rPr lang="en-US" altLang="zh-CN" dirty="0">
                <a:latin typeface="Arial" panose="020B0604020202020204" pitchFamily="34" charset="0"/>
                <a:cs typeface="宋体" panose="02010600030101010101" pitchFamily="2" charset="-122"/>
              </a:rPr>
              <a:t>—</a:t>
            </a:r>
            <a:r>
              <a:rPr lang="zh-CN" altLang="en-US" dirty="0">
                <a:latin typeface="Arial" panose="020B0604020202020204" pitchFamily="34" charset="0"/>
                <a:cs typeface="宋体" panose="02010600030101010101" pitchFamily="2" charset="-122"/>
              </a:rPr>
              <a:t>举例</a:t>
            </a:r>
          </a:p>
        </p:txBody>
      </p:sp>
      <p:sp>
        <p:nvSpPr>
          <p:cNvPr id="39939" name="Rectangle 3"/>
          <p:cNvSpPr>
            <a:spLocks noGrp="1" noChangeArrowheads="1"/>
          </p:cNvSpPr>
          <p:nvPr>
            <p:ph type="body" sz="quarter" idx="10"/>
          </p:nvPr>
        </p:nvSpPr>
        <p:spPr>
          <a:solidFill>
            <a:schemeClr val="bg1">
              <a:lumMod val="85000"/>
            </a:schemeClr>
          </a:solidFill>
          <a:ln w="3175">
            <a:solidFill>
              <a:schemeClr val="bg1">
                <a:lumMod val="50000"/>
              </a:schemeClr>
            </a:solidFill>
          </a:ln>
        </p:spPr>
        <p:txBody>
          <a:bodyPr>
            <a:normAutofit fontScale="90000" lnSpcReduction="20000"/>
          </a:bodyPr>
          <a:lstStyle/>
          <a:p>
            <a:pPr>
              <a:lnSpc>
                <a:spcPct val="80000"/>
              </a:lnSpc>
              <a:buFont typeface="Wingdings" panose="05000000000000000000" charset="0"/>
              <a:buNone/>
            </a:pPr>
            <a:endParaRPr lang="en-US" altLang="zh-CN" sz="1600" dirty="0">
              <a:latin typeface="Arial" panose="020B0604020202020204" pitchFamily="34" charset="0"/>
              <a:ea typeface="宋体" panose="02010600030101010101" pitchFamily="2" charset="-122"/>
              <a:cs typeface="宋体" panose="02010600030101010101" pitchFamily="2" charset="-122"/>
            </a:endParaRPr>
          </a:p>
          <a:p>
            <a:pPr>
              <a:buFont typeface="Wingdings" panose="05000000000000000000" charset="0"/>
              <a:buNone/>
            </a:pPr>
            <a:r>
              <a:rPr lang="en-US" altLang="zh-CN"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CREATE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TABLE tb1 (a </a:t>
            </a: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INT) FRAGMENT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BY EXPRESSION</a:t>
            </a: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a &lt;= 10) IN tabdbspc1,</a:t>
            </a: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a &lt;= 20) IN tabdbspc2,</a:t>
            </a: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a &lt;= 30) IN tabdbspc3</a:t>
            </a: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a:t>
            </a:r>
          </a:p>
          <a:p>
            <a:pPr>
              <a:buFont typeface="Wingdings" panose="05000000000000000000" charset="0"/>
              <a:buNone/>
            </a:pPr>
            <a:endParaRPr lang="en-US" altLang="zh-CN" sz="1700" b="0" dirty="0">
              <a:latin typeface="微软雅黑" panose="020B0503020204020204" pitchFamily="34" charset="-122"/>
              <a:ea typeface="微软雅黑" panose="020B0503020204020204" pitchFamily="34" charset="-122"/>
              <a:cs typeface="微软雅黑" panose="020B0503020204020204" pitchFamily="34" charset="-122"/>
            </a:endParaRP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INDEX idx1 ON tb1 (</a:t>
            </a: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a) FRAGMENT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BY EXPRESSION</a:t>
            </a: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a &lt;= 10) IN idxdbspc1,</a:t>
            </a: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a &lt;= 20) IN idxdbspc2,</a:t>
            </a: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a &lt;= 30) IN idxdbspc3;</a:t>
            </a:r>
          </a:p>
          <a:p>
            <a:pPr>
              <a:buFont typeface="Wingdings" panose="05000000000000000000" charset="0"/>
              <a:buNone/>
            </a:pPr>
            <a:endParaRPr lang="en-US" altLang="zh-CN" sz="1700" b="0" dirty="0">
              <a:latin typeface="微软雅黑" panose="020B0503020204020204" pitchFamily="34" charset="-122"/>
              <a:ea typeface="微软雅黑" panose="020B0503020204020204" pitchFamily="34" charset="-122"/>
              <a:cs typeface="微软雅黑" panose="020B0503020204020204" pitchFamily="34" charset="-122"/>
            </a:endParaRP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TABLE tb2 (a INT CHECK a&gt; 30 AND a&lt;= </a:t>
            </a: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40) IN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tabdbspc4;</a:t>
            </a:r>
          </a:p>
          <a:p>
            <a:pPr>
              <a:buFont typeface="Wingdings" panose="05000000000000000000" charset="0"/>
              <a:buNone/>
            </a:pP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INDEX idx2 ON </a:t>
            </a:r>
            <a:r>
              <a:rPr lang="en-US" altLang="zh-CN" sz="1700" b="0" dirty="0" smtClean="0">
                <a:latin typeface="微软雅黑" panose="020B0503020204020204" pitchFamily="34" charset="-122"/>
                <a:ea typeface="微软雅黑" panose="020B0503020204020204" pitchFamily="34" charset="-122"/>
                <a:cs typeface="微软雅黑" panose="020B0503020204020204" pitchFamily="34" charset="-122"/>
              </a:rPr>
              <a:t>tb2(a) IN </a:t>
            </a:r>
            <a:r>
              <a:rPr lang="en-US" altLang="zh-CN" sz="1700" b="0" dirty="0">
                <a:latin typeface="微软雅黑" panose="020B0503020204020204" pitchFamily="34" charset="-122"/>
                <a:ea typeface="微软雅黑" panose="020B0503020204020204" pitchFamily="34" charset="-122"/>
                <a:cs typeface="微软雅黑" panose="020B0503020204020204" pitchFamily="34" charset="-122"/>
              </a:rPr>
              <a:t>idxdbspc4;</a:t>
            </a:r>
          </a:p>
          <a:p>
            <a:pPr>
              <a:buFont typeface="Wingdings" panose="05000000000000000000" charset="0"/>
              <a:buNone/>
            </a:pPr>
            <a:endParaRPr lang="en-US" altLang="zh-CN" sz="1700" b="0" dirty="0">
              <a:latin typeface="微软雅黑" panose="020B0503020204020204" pitchFamily="34" charset="-122"/>
              <a:ea typeface="微软雅黑" panose="020B0503020204020204" pitchFamily="34" charset="-122"/>
              <a:cs typeface="微软雅黑" panose="020B0503020204020204" pitchFamily="34" charset="-122"/>
            </a:endParaRPr>
          </a:p>
          <a:p>
            <a:pPr>
              <a:buFont typeface="Wingdings" panose="05000000000000000000" charset="0"/>
              <a:buNone/>
            </a:pPr>
            <a:r>
              <a:rPr lang="en-US" altLang="zh-CN" sz="1700" b="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ALTER </a:t>
            </a:r>
            <a:r>
              <a:rPr lang="en-US" altLang="zh-CN" sz="17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FRAGMENT ON TABLE tb1 ATTACH tb2 AS (a &lt;= 40);</a:t>
            </a:r>
            <a:endParaRPr lang="zh-CN" altLang="en-US" sz="17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提高附加</a:t>
            </a:r>
            <a:r>
              <a:rPr lang="en-US" altLang="zh-CN" dirty="0">
                <a:latin typeface="Arial" panose="020B0604020202020204" pitchFamily="34" charset="0"/>
                <a:cs typeface="宋体" panose="02010600030101010101" pitchFamily="2" charset="-122"/>
              </a:rPr>
              <a:t>(Attach)</a:t>
            </a:r>
            <a:r>
              <a:rPr lang="zh-CN" altLang="en-US" dirty="0">
                <a:latin typeface="Arial" panose="020B0604020202020204" pitchFamily="34" charset="0"/>
                <a:cs typeface="宋体" panose="02010600030101010101" pitchFamily="2" charset="-122"/>
              </a:rPr>
              <a:t>的性能</a:t>
            </a:r>
            <a:r>
              <a:rPr lang="en-US" altLang="zh-CN" dirty="0">
                <a:latin typeface="Arial" panose="020B0604020202020204" pitchFamily="34" charset="0"/>
                <a:cs typeface="宋体" panose="02010600030101010101" pitchFamily="2" charset="-122"/>
              </a:rPr>
              <a:t>—</a:t>
            </a:r>
            <a:r>
              <a:rPr lang="zh-CN" altLang="en-US" dirty="0">
                <a:latin typeface="Arial" panose="020B0604020202020204" pitchFamily="34" charset="0"/>
                <a:cs typeface="宋体" panose="02010600030101010101" pitchFamily="2" charset="-122"/>
              </a:rPr>
              <a:t>举例</a:t>
            </a:r>
          </a:p>
        </p:txBody>
      </p:sp>
      <p:sp>
        <p:nvSpPr>
          <p:cNvPr id="40963" name="Rectangle 3"/>
          <p:cNvSpPr>
            <a:spLocks noGrp="1" noChangeArrowheads="1"/>
          </p:cNvSpPr>
          <p:nvPr>
            <p:ph type="body" sz="quarter" idx="10"/>
          </p:nvPr>
        </p:nvSpPr>
        <p:spPr>
          <a:solidFill>
            <a:schemeClr val="bg1">
              <a:lumMod val="85000"/>
            </a:schemeClr>
          </a:solidFill>
          <a:ln w="3175">
            <a:solidFill>
              <a:schemeClr val="bg1">
                <a:lumMod val="50000"/>
              </a:schemeClr>
            </a:solidFill>
            <a:miter lim="800000"/>
          </a:ln>
        </p:spPr>
        <p:txBody>
          <a:bodyPr>
            <a:noAutofit/>
          </a:bodyPr>
          <a:lstStyle/>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TABLE tb1 (a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INT)  FRAGMENT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BY EXPRESSION</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 &lt;= 10) IN tabdbspc1,</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 &lt;= 20) IN tabdbspc2,</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 &lt;= 30) IN tabdbspc3;</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INDEX idx1 ON tb1 (a</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TABLE tb2 (a INT CHECK a&gt; 30 AND a&lt;=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40) IN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tabdbspc4;</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INDEX idx2 ON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tb2(a)  IN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idxdbspc4</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ALTER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FRAGMENT ON TABLE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tb1ATTACH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tb2 AS (a &lt;= 40</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提高</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attach</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的性能</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举例</a:t>
            </a:r>
          </a:p>
        </p:txBody>
      </p:sp>
      <p:sp>
        <p:nvSpPr>
          <p:cNvPr id="2" name="文本占位符 1"/>
          <p:cNvSpPr>
            <a:spLocks noGrp="1"/>
          </p:cNvSpPr>
          <p:nvPr>
            <p:ph type="body" sz="quarter" idx="10"/>
          </p:nvPr>
        </p:nvSpPr>
        <p:spPr/>
        <p:txBody>
          <a:bodyPr/>
          <a:lstStyle/>
          <a:p>
            <a:endParaRPr lang="zh-CN" altLang="en-US"/>
          </a:p>
        </p:txBody>
      </p:sp>
      <p:sp>
        <p:nvSpPr>
          <p:cNvPr id="4" name="Rectangle 3"/>
          <p:cNvSpPr txBox="1">
            <a:spLocks noChangeArrowheads="1"/>
          </p:cNvSpPr>
          <p:nvPr/>
        </p:nvSpPr>
        <p:spPr bwMode="auto">
          <a:xfrm>
            <a:off x="2321039" y="1229038"/>
            <a:ext cx="7550075" cy="4908236"/>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normAutofit lnSpcReduction="10000"/>
          </a:bodyPr>
          <a:lstStyle/>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TABLE tb1(a </a:t>
            </a: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int</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IN db1;</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INDEX idx1 ON tb1(a) in db1;</a:t>
            </a:r>
          </a:p>
          <a:p>
            <a:pPr>
              <a:lnSpc>
                <a:spcPct val="150000"/>
              </a:lnSpc>
              <a:buFont typeface="Wingdings" panose="05000000000000000000" charset="0"/>
              <a:buNone/>
            </a:pP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TABLE tb2(a </a:t>
            </a: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int</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IN db2;</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INDEX idx2 ON tb2(a) in db2;</a:t>
            </a:r>
          </a:p>
          <a:p>
            <a:pPr>
              <a:lnSpc>
                <a:spcPct val="150000"/>
              </a:lnSpc>
              <a:buFont typeface="Wingdings" panose="05000000000000000000" charset="0"/>
              <a:buNone/>
            </a:pP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ALTER FRAGMENT ON TABLE tb1</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ATTACH  tb1 AS (a &lt;= 100),  tb2 AS (a &gt; 100);</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tb1</a:t>
            </a:r>
            <a:r>
              <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tb2</a:t>
            </a:r>
            <a:r>
              <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rPr>
              <a:t>之间没有任何数据的迁移，则数据库只需要重新按如下分片</a:t>
            </a: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rPr>
              <a:t>策略定义索引</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idx1</a:t>
            </a:r>
            <a:r>
              <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rPr>
              <a:t>，而不是重建。</a:t>
            </a: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endPar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INDEX idx1 ON tb1(a)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FRAGMENT BY EXPRESSION</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 &lt;= 100 IN db1, a &gt; 100 IN db2;</a:t>
            </a:r>
            <a:endPar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227330" marR="0" lvl="0" indent="-227330" algn="l" defTabSz="914400" rtl="0" eaLnBrk="0" fontAlgn="base" latinLnBrk="0" hangingPunct="0">
              <a:lnSpc>
                <a:spcPct val="150000"/>
              </a:lnSpc>
              <a:spcBef>
                <a:spcPct val="20000"/>
              </a:spcBef>
              <a:spcAft>
                <a:spcPct val="0"/>
              </a:spcAft>
              <a:buClr>
                <a:schemeClr val="accent1"/>
              </a:buClr>
              <a:buSzTx/>
              <a:buFont typeface="Wingdings" panose="05000000000000000000" charset="0"/>
              <a:buNone/>
              <a:defRPr/>
            </a:pPr>
            <a:endParaRPr kumimoji="0"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cs typeface="微软雅黑" panose="020B0503020204020204" pitchFamily="34" charset="-122"/>
              </a:rPr>
              <a:t>Alter fragment -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表分片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(DETACH)</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011" name="内容占位符 2"/>
          <p:cNvSpPr>
            <a:spLocks noGrp="1"/>
          </p:cNvSpPr>
          <p:nvPr>
            <p:ph type="body" sz="quarter" idx="10"/>
          </p:nvPr>
        </p:nvSpPr>
        <p:spPr/>
        <p:txBody>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把一个分片表分解成多个表</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如果索引的分片策略和表的分片策略不同，则需要索引重建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如果相同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对应与被</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detached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的分片的索引将</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被删除</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012" name="内容占位符 3"/>
          <p:cNvSpPr txBox="1"/>
          <p:nvPr/>
        </p:nvSpPr>
        <p:spPr bwMode="auto">
          <a:xfrm>
            <a:off x="2297125" y="2030561"/>
            <a:ext cx="7162800" cy="1244589"/>
          </a:xfrm>
          <a:prstGeom prst="rect">
            <a:avLst/>
          </a:prstGeom>
          <a:solidFill>
            <a:schemeClr val="bg1">
              <a:lumMod val="85000"/>
            </a:schemeClr>
          </a:solidFill>
          <a:ln w="3175">
            <a:solidFill>
              <a:schemeClr val="bg1">
                <a:lumMod val="50000"/>
              </a:schemeClr>
            </a:solidFill>
            <a:miter lim="800000"/>
          </a:ln>
        </p:spPr>
        <p:txBody>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lnSpc>
                <a:spcPct val="200000"/>
              </a:lnSpc>
            </a:pPr>
            <a:r>
              <a:rPr lang="en-US" altLang="zh-CN" sz="18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Alter fragment on table f1 DETACH dbspace2 f2</a:t>
            </a:r>
          </a:p>
          <a:p>
            <a:pPr algn="l" eaLnBrk="1" hangingPunct="1">
              <a:lnSpc>
                <a:spcPct val="200000"/>
              </a:lnSpc>
            </a:pPr>
            <a:r>
              <a:rPr lang="en-US" altLang="zh-CN" sz="18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Alter fragment on table mytab1 DETACH partition p2 mytab2</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提高</a:t>
            </a:r>
            <a:r>
              <a:rPr lang="en-US" altLang="zh-CN" dirty="0">
                <a:cs typeface="宋体" panose="02010600030101010101" pitchFamily="2" charset="-122"/>
              </a:rPr>
              <a:t>detach</a:t>
            </a:r>
            <a:r>
              <a:rPr lang="zh-CN" altLang="en-US" dirty="0">
                <a:latin typeface="Arial" panose="020B0604020202020204" pitchFamily="34" charset="0"/>
                <a:cs typeface="宋体" panose="02010600030101010101" pitchFamily="2" charset="-122"/>
              </a:rPr>
              <a:t>的</a:t>
            </a:r>
            <a:r>
              <a:rPr lang="zh-CN" altLang="en-US" dirty="0" smtClean="0">
                <a:latin typeface="Arial" panose="020B0604020202020204" pitchFamily="34" charset="0"/>
                <a:cs typeface="宋体" panose="02010600030101010101" pitchFamily="2" charset="-122"/>
              </a:rPr>
              <a:t>性能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Arial" panose="020B0604020202020204" pitchFamily="34" charset="0"/>
                <a:cs typeface="宋体" panose="02010600030101010101" pitchFamily="2" charset="-122"/>
              </a:rPr>
              <a:t>举例</a:t>
            </a:r>
            <a:endParaRPr lang="zh-CN" altLang="en-US" dirty="0">
              <a:latin typeface="Arial" panose="020B0604020202020204" pitchFamily="34" charset="0"/>
              <a:cs typeface="宋体" panose="02010600030101010101" pitchFamily="2" charset="-122"/>
            </a:endParaRPr>
          </a:p>
        </p:txBody>
      </p:sp>
      <p:sp>
        <p:nvSpPr>
          <p:cNvPr id="44035" name="Rectangle 3"/>
          <p:cNvSpPr>
            <a:spLocks noGrp="1" noChangeArrowheads="1"/>
          </p:cNvSpPr>
          <p:nvPr>
            <p:ph type="body" sz="quarter" idx="10"/>
          </p:nvPr>
        </p:nvSpPr>
        <p:spPr>
          <a:solidFill>
            <a:schemeClr val="bg1">
              <a:lumMod val="85000"/>
            </a:schemeClr>
          </a:solidFill>
          <a:ln w="3175">
            <a:solidFill>
              <a:schemeClr val="bg1">
                <a:lumMod val="50000"/>
              </a:schemeClr>
            </a:solidFill>
            <a:miter lim="800000"/>
          </a:ln>
        </p:spPr>
        <p:txBody>
          <a:bodyPr/>
          <a:lstStyle/>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50000"/>
              </a:lnSpc>
              <a:buFont typeface="Wingdings" panose="05000000000000000000" charset="0"/>
              <a:buNone/>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TABLE tb1(a </a:t>
            </a:r>
            <a:r>
              <a:rPr lang="en-US" altLang="zh-CN" sz="1600" dirty="0" err="1" smtClean="0">
                <a:latin typeface="微软雅黑" panose="020B0503020204020204" pitchFamily="34" charset="-122"/>
                <a:ea typeface="微软雅黑" panose="020B0503020204020204" pitchFamily="34" charset="-122"/>
                <a:cs typeface="微软雅黑" panose="020B0503020204020204" pitchFamily="34" charset="-122"/>
              </a:rPr>
              <a:t>int</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FRAGMENT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BY EXPRESSION</a:t>
            </a: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 &gt;=0 AND a &lt; 5) IN db1,</a:t>
            </a: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 &gt;=5 AND a &lt;10) IN db2,</a:t>
            </a: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 &gt;=10 AND a &lt;15) IN db3;</a:t>
            </a:r>
          </a:p>
          <a:p>
            <a:pPr>
              <a:lnSpc>
                <a:spcPct val="150000"/>
              </a:lnSpc>
              <a:buFont typeface="Wingdings" panose="05000000000000000000" charset="0"/>
              <a:buNone/>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CREATE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INDEX idx1 ON tb1(a);</a:t>
            </a:r>
          </a:p>
          <a:p>
            <a:pPr>
              <a:lnSpc>
                <a:spcPct val="150000"/>
              </a:lnSpc>
              <a:buFont typeface="Wingdings" panose="05000000000000000000" charset="0"/>
              <a:buNone/>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ALTER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FRAGMENT ON TABLE </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tb1 DETACH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db3 tb3;</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提高</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detach</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的性能</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举例</a:t>
            </a:r>
          </a:p>
        </p:txBody>
      </p:sp>
      <p:sp>
        <p:nvSpPr>
          <p:cNvPr id="4" name="Rectangle 3"/>
          <p:cNvSpPr txBox="1">
            <a:spLocks noChangeArrowheads="1"/>
          </p:cNvSpPr>
          <p:nvPr/>
        </p:nvSpPr>
        <p:spPr bwMode="auto">
          <a:xfrm>
            <a:off x="2327486" y="1273677"/>
            <a:ext cx="7537450" cy="4863506"/>
          </a:xfrm>
          <a:prstGeom prst="rect">
            <a:avLst/>
          </a:prstGeom>
          <a:solidFill>
            <a:schemeClr val="bg1">
              <a:lumMod val="85000"/>
            </a:schemeClr>
          </a:solidFill>
          <a:ln w="3175">
            <a:solidFill>
              <a:schemeClr val="bg1">
                <a:lumMod val="50000"/>
              </a:schemeClr>
            </a:solidFill>
            <a:miter lim="800000"/>
          </a:ln>
        </p:spPr>
        <p:txBody>
          <a:bodyPr vert="horz" wrap="square" lIns="0" tIns="0" rIns="0" bIns="0" numCol="1" anchor="t" anchorCtr="0" compatLnSpc="1"/>
          <a:lstStyle/>
          <a:p>
            <a:pPr>
              <a:lnSpc>
                <a:spcPct val="150000"/>
              </a:lnSpc>
              <a:buFont typeface="Wingdings" panose="05000000000000000000" charset="0"/>
              <a:buNone/>
            </a:pP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TABLE tb1(a </a:t>
            </a: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int</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b </a:t>
            </a: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int</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FRAGMENT BY EXPRESSION</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 &gt;=0 AND a &lt; 5) IN db1,</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 &gt;=5 AND a &lt;10) IN db2,</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 &gt;=10 AND a &lt;15) IN db3;</a:t>
            </a:r>
          </a:p>
          <a:p>
            <a:pPr>
              <a:lnSpc>
                <a:spcPct val="150000"/>
              </a:lnSpc>
              <a:buFont typeface="Wingdings" panose="05000000000000000000" charset="0"/>
              <a:buNone/>
            </a:pP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CREATE INDEX idx1 on tb1(a)  FRAGMENT BY EXPRESSION</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 &gt;=0 AND a&lt; 5) IN db4,</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 &gt;=5 AND a&lt; 10) IN db5,</a:t>
            </a: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 &gt;=10 AND a&lt;15) IN db6;</a:t>
            </a:r>
          </a:p>
          <a:p>
            <a:pPr>
              <a:lnSpc>
                <a:spcPct val="150000"/>
              </a:lnSpc>
              <a:buFont typeface="Wingdings" panose="05000000000000000000" charset="0"/>
              <a:buNone/>
            </a:pPr>
            <a:endPar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ALTER FRAGMENT ON TABLE tb1  DETACH db3 tb3;</a:t>
            </a:r>
            <a:endParaRPr lang="zh-CN" altLang="en-US" sz="16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227330" marR="0" lvl="0" indent="-227330" defTabSz="914400" rtl="0" eaLnBrk="0" fontAlgn="base" latinLnBrk="0" hangingPunct="0">
              <a:lnSpc>
                <a:spcPct val="150000"/>
              </a:lnSpc>
              <a:spcBef>
                <a:spcPct val="20000"/>
              </a:spcBef>
              <a:spcAft>
                <a:spcPct val="0"/>
              </a:spcAft>
              <a:buClr>
                <a:schemeClr val="accent1"/>
              </a:buClr>
              <a:buSzTx/>
              <a:buFont typeface="Wingdings" panose="05000000000000000000" charset="0"/>
              <a:buNone/>
              <a:defRPr/>
            </a:pPr>
            <a:endParaRPr kumimoji="0" lang="en-US" altLang="zh-CN"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6052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6052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2225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2225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71764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4993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4993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1178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1178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61299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3934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3934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0132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0132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508345"/>
            <a:ext cx="436880" cy="39878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287520"/>
            <a:ext cx="7223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287520"/>
            <a:ext cx="45704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489839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489839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39353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1724794"/>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表分片的意义及策略</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5" name="文本框 55"/>
          <p:cNvSpPr txBox="1">
            <a:spLocks noChangeArrowheads="1"/>
          </p:cNvSpPr>
          <p:nvPr/>
        </p:nvSpPr>
        <p:spPr bwMode="auto">
          <a:xfrm>
            <a:off x="4378960" y="2609984"/>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索引分片策略与语法</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6" name="文本框 55"/>
          <p:cNvSpPr txBox="1">
            <a:spLocks noChangeArrowheads="1"/>
          </p:cNvSpPr>
          <p:nvPr/>
        </p:nvSpPr>
        <p:spPr bwMode="auto">
          <a:xfrm>
            <a:off x="4378960" y="3515608"/>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分片的管理</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4390638"/>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分片与性能调优</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9" name="矩形 28"/>
          <p:cNvSpPr/>
          <p:nvPr/>
        </p:nvSpPr>
        <p:spPr bwMode="auto">
          <a:xfrm>
            <a:off x="3348673" y="517779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矩形 29"/>
          <p:cNvSpPr/>
          <p:nvPr/>
        </p:nvSpPr>
        <p:spPr bwMode="auto">
          <a:xfrm>
            <a:off x="4212273" y="517779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矩形 30"/>
          <p:cNvSpPr/>
          <p:nvPr/>
        </p:nvSpPr>
        <p:spPr bwMode="auto">
          <a:xfrm>
            <a:off x="3348673" y="578866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矩形 31"/>
          <p:cNvSpPr/>
          <p:nvPr/>
        </p:nvSpPr>
        <p:spPr bwMode="auto">
          <a:xfrm>
            <a:off x="4212273" y="578866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文本框 60"/>
          <p:cNvSpPr txBox="1">
            <a:spLocks noChangeArrowheads="1"/>
          </p:cNvSpPr>
          <p:nvPr/>
        </p:nvSpPr>
        <p:spPr bwMode="auto">
          <a:xfrm>
            <a:off x="3479910" y="528380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五</a:t>
            </a:r>
          </a:p>
        </p:txBody>
      </p:sp>
      <p:sp>
        <p:nvSpPr>
          <p:cNvPr id="34" name="文本框 55"/>
          <p:cNvSpPr txBox="1">
            <a:spLocks noChangeArrowheads="1"/>
          </p:cNvSpPr>
          <p:nvPr/>
        </p:nvSpPr>
        <p:spPr bwMode="auto">
          <a:xfrm>
            <a:off x="4388485" y="5284083"/>
            <a:ext cx="4236720" cy="398780"/>
          </a:xfrm>
          <a:prstGeom prst="rect">
            <a:avLst/>
          </a:prstGeom>
          <a:noFill/>
          <a:ln w="9525">
            <a:noFill/>
            <a:miter lim="800000"/>
          </a:ln>
        </p:spPr>
        <p:txBody>
          <a:bodyPr wrap="square">
            <a:spAutoFit/>
          </a:bodyPr>
          <a:lstStyle/>
          <a:p>
            <a:pPr algn="ctr"/>
            <a:r>
              <a:rPr lang="zh-CN" altLang="zh-CN" sz="2000" spc="200" dirty="0">
                <a:solidFill>
                  <a:schemeClr val="bg1"/>
                </a:solidFill>
                <a:latin typeface="微软雅黑" panose="020B0503020204020204" pitchFamily="34" charset="-122"/>
                <a:ea typeface="微软雅黑" panose="020B0503020204020204" pitchFamily="34" charset="-122"/>
              </a:rPr>
              <a:t>分片与索引策略</a:t>
            </a:r>
            <a:r>
              <a:rPr lang="en-US" altLang="zh-CN" sz="2000" spc="200" dirty="0">
                <a:solidFill>
                  <a:schemeClr val="bg1"/>
                </a:solidFill>
                <a:latin typeface="微软雅黑" panose="020B0503020204020204" pitchFamily="34" charset="-122"/>
                <a:ea typeface="微软雅黑" panose="020B0503020204020204" pitchFamily="34" charset="-122"/>
              </a:rPr>
              <a:t>FAQ</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dirty="0">
                <a:latin typeface="Arial" panose="020B0604020202020204" pitchFamily="34" charset="0"/>
                <a:cs typeface="宋体" panose="02010600030101010101" pitchFamily="2" charset="-122"/>
              </a:rPr>
              <a:t>分片的好处</a:t>
            </a:r>
          </a:p>
        </p:txBody>
      </p:sp>
      <p:sp>
        <p:nvSpPr>
          <p:cNvPr id="46083" name="内容占位符 2"/>
          <p:cNvSpPr>
            <a:spLocks noGrp="1"/>
          </p:cNvSpPr>
          <p:nvPr>
            <p:ph type="body" sz="quarter" idx="10"/>
          </p:nvPr>
        </p:nvSpPr>
        <p:spPr/>
        <p:txBody>
          <a:bodyPr>
            <a:normAutofit fontScale="97500" lnSpcReduction="10000"/>
          </a:bodyPr>
          <a:lstStyle/>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分片忽略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(Fragmentation Elimination)</a:t>
            </a: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并行操作</a:t>
            </a:r>
          </a:p>
          <a:p>
            <a:pPr lvl="1">
              <a:lnSpc>
                <a:spcPct val="20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Joins, sorts, aggregates, groups, and inserts</a:t>
            </a: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平衡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I/O</a:t>
            </a: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更细的备份和恢复粒度</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更高的可用性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更好的安全性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1" name="Rectangle 52"/>
          <p:cNvSpPr>
            <a:spLocks noGrp="1" noChangeArrowheads="1"/>
          </p:cNvSpPr>
          <p:nvPr>
            <p:ph type="title"/>
          </p:nvPr>
        </p:nvSpPr>
        <p:spPr/>
        <p:txBody>
          <a:bodyPr/>
          <a:lstStyle/>
          <a:p>
            <a:pPr eaLnBrk="1" hangingPunct="1"/>
            <a:r>
              <a:rPr lang="zh-CN" altLang="en-US" dirty="0">
                <a:latin typeface="Arial" panose="020B0604020202020204" pitchFamily="34" charset="0"/>
                <a:cs typeface="宋体" panose="02010600030101010101" pitchFamily="2" charset="-122"/>
              </a:rPr>
              <a:t>分片的目的</a:t>
            </a:r>
          </a:p>
        </p:txBody>
      </p:sp>
      <p:grpSp>
        <p:nvGrpSpPr>
          <p:cNvPr id="2" name="Group 2"/>
          <p:cNvGrpSpPr/>
          <p:nvPr/>
        </p:nvGrpSpPr>
        <p:grpSpPr bwMode="auto">
          <a:xfrm>
            <a:off x="2230609" y="1565952"/>
            <a:ext cx="558677" cy="757205"/>
            <a:chOff x="1317" y="3316"/>
            <a:chExt cx="639" cy="568"/>
          </a:xfrm>
        </p:grpSpPr>
        <p:grpSp>
          <p:nvGrpSpPr>
            <p:cNvPr id="3" name="Group 3"/>
            <p:cNvGrpSpPr/>
            <p:nvPr/>
          </p:nvGrpSpPr>
          <p:grpSpPr bwMode="auto">
            <a:xfrm>
              <a:off x="1317" y="3316"/>
              <a:ext cx="639" cy="568"/>
              <a:chOff x="1317" y="3316"/>
              <a:chExt cx="639" cy="568"/>
            </a:xfrm>
          </p:grpSpPr>
          <p:grpSp>
            <p:nvGrpSpPr>
              <p:cNvPr id="4" name="Group 4"/>
              <p:cNvGrpSpPr/>
              <p:nvPr/>
            </p:nvGrpSpPr>
            <p:grpSpPr bwMode="auto">
              <a:xfrm>
                <a:off x="1317" y="3316"/>
                <a:ext cx="639" cy="568"/>
                <a:chOff x="1317" y="3316"/>
                <a:chExt cx="639" cy="568"/>
              </a:xfrm>
            </p:grpSpPr>
            <p:sp>
              <p:nvSpPr>
                <p:cNvPr id="47279" name="Oval 5"/>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80" name="Rectangle 6"/>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81" name="Oval 7"/>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82" name="Line 8"/>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83" name="Line 9"/>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78" name="Line 10"/>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76" name="Line 11"/>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12"/>
          <p:cNvGrpSpPr/>
          <p:nvPr/>
        </p:nvGrpSpPr>
        <p:grpSpPr bwMode="auto">
          <a:xfrm>
            <a:off x="3225753" y="1565952"/>
            <a:ext cx="558677" cy="757205"/>
            <a:chOff x="1317" y="3316"/>
            <a:chExt cx="639" cy="568"/>
          </a:xfrm>
        </p:grpSpPr>
        <p:grpSp>
          <p:nvGrpSpPr>
            <p:cNvPr id="6" name="Group 13"/>
            <p:cNvGrpSpPr/>
            <p:nvPr/>
          </p:nvGrpSpPr>
          <p:grpSpPr bwMode="auto">
            <a:xfrm>
              <a:off x="1317" y="3316"/>
              <a:ext cx="639" cy="568"/>
              <a:chOff x="1317" y="3316"/>
              <a:chExt cx="639" cy="568"/>
            </a:xfrm>
          </p:grpSpPr>
          <p:grpSp>
            <p:nvGrpSpPr>
              <p:cNvPr id="7" name="Group 14"/>
              <p:cNvGrpSpPr/>
              <p:nvPr/>
            </p:nvGrpSpPr>
            <p:grpSpPr bwMode="auto">
              <a:xfrm>
                <a:off x="1317" y="3316"/>
                <a:ext cx="639" cy="568"/>
                <a:chOff x="1317" y="3316"/>
                <a:chExt cx="639" cy="568"/>
              </a:xfrm>
            </p:grpSpPr>
            <p:sp>
              <p:nvSpPr>
                <p:cNvPr id="47270" name="Oval 15"/>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71" name="Rectangle 16"/>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72" name="Oval 17"/>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73" name="Line 18"/>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74" name="Line 19"/>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69" name="Line 20"/>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67" name="Line 21"/>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22"/>
          <p:cNvGrpSpPr/>
          <p:nvPr/>
        </p:nvGrpSpPr>
        <p:grpSpPr bwMode="auto">
          <a:xfrm>
            <a:off x="4220898" y="1565952"/>
            <a:ext cx="558677" cy="757205"/>
            <a:chOff x="1317" y="3316"/>
            <a:chExt cx="639" cy="568"/>
          </a:xfrm>
        </p:grpSpPr>
        <p:grpSp>
          <p:nvGrpSpPr>
            <p:cNvPr id="9" name="Group 23"/>
            <p:cNvGrpSpPr/>
            <p:nvPr/>
          </p:nvGrpSpPr>
          <p:grpSpPr bwMode="auto">
            <a:xfrm>
              <a:off x="1317" y="3316"/>
              <a:ext cx="639" cy="568"/>
              <a:chOff x="1317" y="3316"/>
              <a:chExt cx="639" cy="568"/>
            </a:xfrm>
          </p:grpSpPr>
          <p:grpSp>
            <p:nvGrpSpPr>
              <p:cNvPr id="10" name="Group 24"/>
              <p:cNvGrpSpPr/>
              <p:nvPr/>
            </p:nvGrpSpPr>
            <p:grpSpPr bwMode="auto">
              <a:xfrm>
                <a:off x="1317" y="3316"/>
                <a:ext cx="639" cy="568"/>
                <a:chOff x="1317" y="3316"/>
                <a:chExt cx="639" cy="568"/>
              </a:xfrm>
            </p:grpSpPr>
            <p:sp>
              <p:nvSpPr>
                <p:cNvPr id="47261" name="Oval 25"/>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62" name="Rectangle 26"/>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63" name="Oval 27"/>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64" name="Line 28"/>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65" name="Line 29"/>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60" name="Line 30"/>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58" name="Line 31"/>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 name="Group 32"/>
          <p:cNvGrpSpPr/>
          <p:nvPr/>
        </p:nvGrpSpPr>
        <p:grpSpPr bwMode="auto">
          <a:xfrm>
            <a:off x="5216042" y="1565952"/>
            <a:ext cx="558677" cy="757205"/>
            <a:chOff x="1317" y="3316"/>
            <a:chExt cx="639" cy="568"/>
          </a:xfrm>
        </p:grpSpPr>
        <p:grpSp>
          <p:nvGrpSpPr>
            <p:cNvPr id="12" name="Group 33"/>
            <p:cNvGrpSpPr/>
            <p:nvPr/>
          </p:nvGrpSpPr>
          <p:grpSpPr bwMode="auto">
            <a:xfrm>
              <a:off x="1317" y="3316"/>
              <a:ext cx="639" cy="568"/>
              <a:chOff x="1317" y="3316"/>
              <a:chExt cx="639" cy="568"/>
            </a:xfrm>
          </p:grpSpPr>
          <p:grpSp>
            <p:nvGrpSpPr>
              <p:cNvPr id="13" name="Group 34"/>
              <p:cNvGrpSpPr/>
              <p:nvPr/>
            </p:nvGrpSpPr>
            <p:grpSpPr bwMode="auto">
              <a:xfrm>
                <a:off x="1317" y="3316"/>
                <a:ext cx="639" cy="568"/>
                <a:chOff x="1317" y="3316"/>
                <a:chExt cx="639" cy="568"/>
              </a:xfrm>
            </p:grpSpPr>
            <p:sp>
              <p:nvSpPr>
                <p:cNvPr id="47252" name="Oval 35"/>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53" name="Rectangle 36"/>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54" name="Oval 37"/>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55" name="Line 38"/>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56" name="Line 39"/>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51" name="Line 40"/>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49" name="Line 41"/>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 name="Group 42"/>
          <p:cNvGrpSpPr/>
          <p:nvPr/>
        </p:nvGrpSpPr>
        <p:grpSpPr bwMode="auto">
          <a:xfrm>
            <a:off x="6211186" y="1565952"/>
            <a:ext cx="558677" cy="757205"/>
            <a:chOff x="1317" y="3316"/>
            <a:chExt cx="639" cy="568"/>
          </a:xfrm>
        </p:grpSpPr>
        <p:grpSp>
          <p:nvGrpSpPr>
            <p:cNvPr id="15" name="Group 43"/>
            <p:cNvGrpSpPr/>
            <p:nvPr/>
          </p:nvGrpSpPr>
          <p:grpSpPr bwMode="auto">
            <a:xfrm>
              <a:off x="1317" y="3316"/>
              <a:ext cx="639" cy="568"/>
              <a:chOff x="1317" y="3316"/>
              <a:chExt cx="639" cy="568"/>
            </a:xfrm>
          </p:grpSpPr>
          <p:grpSp>
            <p:nvGrpSpPr>
              <p:cNvPr id="16" name="Group 44"/>
              <p:cNvGrpSpPr/>
              <p:nvPr/>
            </p:nvGrpSpPr>
            <p:grpSpPr bwMode="auto">
              <a:xfrm>
                <a:off x="1317" y="3316"/>
                <a:ext cx="639" cy="568"/>
                <a:chOff x="1317" y="3316"/>
                <a:chExt cx="639" cy="568"/>
              </a:xfrm>
            </p:grpSpPr>
            <p:sp>
              <p:nvSpPr>
                <p:cNvPr id="47243" name="Oval 45"/>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44" name="Rectangle 46"/>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45" name="Oval 47"/>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46" name="Line 48"/>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47" name="Line 49"/>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42" name="Line 50"/>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40" name="Line 51"/>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12" name="AutoShape 53"/>
          <p:cNvSpPr>
            <a:spLocks noChangeArrowheads="1"/>
          </p:cNvSpPr>
          <p:nvPr/>
        </p:nvSpPr>
        <p:spPr bwMode="auto">
          <a:xfrm>
            <a:off x="2288805" y="1062809"/>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13" name="AutoShape 54"/>
          <p:cNvSpPr>
            <a:spLocks noChangeArrowheads="1"/>
          </p:cNvSpPr>
          <p:nvPr/>
        </p:nvSpPr>
        <p:spPr bwMode="auto">
          <a:xfrm>
            <a:off x="3266490" y="1062809"/>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14" name="AutoShape 55"/>
          <p:cNvSpPr>
            <a:spLocks noChangeArrowheads="1"/>
          </p:cNvSpPr>
          <p:nvPr/>
        </p:nvSpPr>
        <p:spPr bwMode="auto">
          <a:xfrm>
            <a:off x="4314011" y="1062809"/>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15" name="AutoShape 56"/>
          <p:cNvSpPr>
            <a:spLocks noChangeArrowheads="1"/>
          </p:cNvSpPr>
          <p:nvPr/>
        </p:nvSpPr>
        <p:spPr bwMode="auto">
          <a:xfrm>
            <a:off x="5291696" y="1062809"/>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16" name="AutoShape 57"/>
          <p:cNvSpPr>
            <a:spLocks noChangeArrowheads="1"/>
          </p:cNvSpPr>
          <p:nvPr/>
        </p:nvSpPr>
        <p:spPr bwMode="auto">
          <a:xfrm>
            <a:off x="6269382" y="1062809"/>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17" name="Text Box 58"/>
          <p:cNvSpPr txBox="1">
            <a:spLocks noChangeArrowheads="1"/>
          </p:cNvSpPr>
          <p:nvPr/>
        </p:nvSpPr>
        <p:spPr bwMode="auto">
          <a:xfrm>
            <a:off x="2149135" y="1221768"/>
            <a:ext cx="4609089" cy="306705"/>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zh-CN" altLang="en-US" sz="1400" dirty="0" smtClean="0">
                <a:latin typeface="Arial" panose="020B0604020202020204" pitchFamily="34" charset="0"/>
              </a:rPr>
              <a:t>扫描线程 *</a:t>
            </a:r>
            <a:endParaRPr lang="en-US" altLang="zh-CN" sz="1400" dirty="0">
              <a:latin typeface="Arial" panose="020B0604020202020204" pitchFamily="34" charset="0"/>
            </a:endParaRPr>
          </a:p>
        </p:txBody>
      </p:sp>
      <p:sp>
        <p:nvSpPr>
          <p:cNvPr id="47118" name="Text Box 59"/>
          <p:cNvSpPr txBox="1">
            <a:spLocks noChangeArrowheads="1"/>
          </p:cNvSpPr>
          <p:nvPr/>
        </p:nvSpPr>
        <p:spPr bwMode="auto">
          <a:xfrm>
            <a:off x="2300444" y="1841300"/>
            <a:ext cx="4329751" cy="368300"/>
          </a:xfrm>
          <a:prstGeom prst="rect">
            <a:avLst/>
          </a:prstGeom>
          <a:solidFill>
            <a:srgbClr val="9D6594"/>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zh-CN" altLang="en-US" sz="1800" dirty="0" smtClean="0">
                <a:latin typeface="Arial" panose="020B0604020202020204" pitchFamily="34" charset="0"/>
              </a:rPr>
              <a:t>分片</a:t>
            </a:r>
            <a:endParaRPr lang="en-US" altLang="zh-CN" sz="1800" dirty="0">
              <a:latin typeface="Arial" panose="020B0604020202020204" pitchFamily="34" charset="0"/>
            </a:endParaRPr>
          </a:p>
        </p:txBody>
      </p:sp>
      <p:sp>
        <p:nvSpPr>
          <p:cNvPr id="47119" name="Text Box 60"/>
          <p:cNvSpPr txBox="1">
            <a:spLocks noChangeArrowheads="1"/>
          </p:cNvSpPr>
          <p:nvPr/>
        </p:nvSpPr>
        <p:spPr bwMode="auto">
          <a:xfrm>
            <a:off x="6909533" y="1104336"/>
            <a:ext cx="335206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并行</a:t>
            </a:r>
            <a:b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分片可以通过并行的执行方式减少扫描和插入数据的时间</a:t>
            </a:r>
            <a:endPar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121" name="Text Box 62"/>
          <p:cNvSpPr txBox="1">
            <a:spLocks noChangeArrowheads="1"/>
          </p:cNvSpPr>
          <p:nvPr/>
        </p:nvSpPr>
        <p:spPr bwMode="auto">
          <a:xfrm>
            <a:off x="6909533" y="2756419"/>
            <a:ext cx="3072726"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分片忽略</a:t>
            </a:r>
            <a:r>
              <a:rPr lang="en-US" altLang="zh-CN"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Elimination)</a:t>
            </a:r>
            <a:br>
              <a:rPr lang="en-US" altLang="zh-CN"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忽略不需要的分片，减少不必要的磁盘竞争，减少扫描和插入数据的时间</a:t>
            </a:r>
            <a:endPar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7" name="Group 63"/>
          <p:cNvGrpSpPr/>
          <p:nvPr/>
        </p:nvGrpSpPr>
        <p:grpSpPr bwMode="auto">
          <a:xfrm>
            <a:off x="2242248" y="3149199"/>
            <a:ext cx="558677" cy="757205"/>
            <a:chOff x="1317" y="3316"/>
            <a:chExt cx="639" cy="568"/>
          </a:xfrm>
        </p:grpSpPr>
        <p:grpSp>
          <p:nvGrpSpPr>
            <p:cNvPr id="18" name="Group 64"/>
            <p:cNvGrpSpPr/>
            <p:nvPr/>
          </p:nvGrpSpPr>
          <p:grpSpPr bwMode="auto">
            <a:xfrm>
              <a:off x="1317" y="3316"/>
              <a:ext cx="639" cy="568"/>
              <a:chOff x="1317" y="3316"/>
              <a:chExt cx="639" cy="568"/>
            </a:xfrm>
          </p:grpSpPr>
          <p:grpSp>
            <p:nvGrpSpPr>
              <p:cNvPr id="19" name="Group 65"/>
              <p:cNvGrpSpPr/>
              <p:nvPr/>
            </p:nvGrpSpPr>
            <p:grpSpPr bwMode="auto">
              <a:xfrm>
                <a:off x="1317" y="3316"/>
                <a:ext cx="639" cy="568"/>
                <a:chOff x="1317" y="3316"/>
                <a:chExt cx="639" cy="568"/>
              </a:xfrm>
            </p:grpSpPr>
            <p:sp>
              <p:nvSpPr>
                <p:cNvPr id="47234" name="Oval 66"/>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35" name="Rectangle 67"/>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36" name="Oval 68"/>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37" name="Line 69"/>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38" name="Line 70"/>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33" name="Line 71"/>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31" name="Line 72"/>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0" name="Group 73"/>
          <p:cNvGrpSpPr/>
          <p:nvPr/>
        </p:nvGrpSpPr>
        <p:grpSpPr bwMode="auto">
          <a:xfrm>
            <a:off x="3237392" y="3149199"/>
            <a:ext cx="558677" cy="757205"/>
            <a:chOff x="1317" y="3316"/>
            <a:chExt cx="639" cy="568"/>
          </a:xfrm>
        </p:grpSpPr>
        <p:grpSp>
          <p:nvGrpSpPr>
            <p:cNvPr id="21" name="Group 74"/>
            <p:cNvGrpSpPr/>
            <p:nvPr/>
          </p:nvGrpSpPr>
          <p:grpSpPr bwMode="auto">
            <a:xfrm>
              <a:off x="1317" y="3316"/>
              <a:ext cx="639" cy="568"/>
              <a:chOff x="1317" y="3316"/>
              <a:chExt cx="639" cy="568"/>
            </a:xfrm>
          </p:grpSpPr>
          <p:grpSp>
            <p:nvGrpSpPr>
              <p:cNvPr id="22" name="Group 75"/>
              <p:cNvGrpSpPr/>
              <p:nvPr/>
            </p:nvGrpSpPr>
            <p:grpSpPr bwMode="auto">
              <a:xfrm>
                <a:off x="1317" y="3316"/>
                <a:ext cx="639" cy="568"/>
                <a:chOff x="1317" y="3316"/>
                <a:chExt cx="639" cy="568"/>
              </a:xfrm>
            </p:grpSpPr>
            <p:sp>
              <p:nvSpPr>
                <p:cNvPr id="47225" name="Oval 76"/>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26" name="Rectangle 77"/>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27" name="Oval 78"/>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28" name="Line 79"/>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29" name="Line 80"/>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24" name="Line 81"/>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22" name="Line 82"/>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3" name="Group 83"/>
          <p:cNvGrpSpPr/>
          <p:nvPr/>
        </p:nvGrpSpPr>
        <p:grpSpPr bwMode="auto">
          <a:xfrm>
            <a:off x="4232537" y="3149199"/>
            <a:ext cx="558677" cy="757205"/>
            <a:chOff x="1317" y="3316"/>
            <a:chExt cx="639" cy="568"/>
          </a:xfrm>
        </p:grpSpPr>
        <p:grpSp>
          <p:nvGrpSpPr>
            <p:cNvPr id="24" name="Group 84"/>
            <p:cNvGrpSpPr/>
            <p:nvPr/>
          </p:nvGrpSpPr>
          <p:grpSpPr bwMode="auto">
            <a:xfrm>
              <a:off x="1317" y="3316"/>
              <a:ext cx="639" cy="568"/>
              <a:chOff x="1317" y="3316"/>
              <a:chExt cx="639" cy="568"/>
            </a:xfrm>
          </p:grpSpPr>
          <p:grpSp>
            <p:nvGrpSpPr>
              <p:cNvPr id="25" name="Group 85"/>
              <p:cNvGrpSpPr/>
              <p:nvPr/>
            </p:nvGrpSpPr>
            <p:grpSpPr bwMode="auto">
              <a:xfrm>
                <a:off x="1317" y="3316"/>
                <a:ext cx="639" cy="568"/>
                <a:chOff x="1317" y="3316"/>
                <a:chExt cx="639" cy="568"/>
              </a:xfrm>
            </p:grpSpPr>
            <p:sp>
              <p:nvSpPr>
                <p:cNvPr id="47216" name="Oval 86"/>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17" name="Rectangle 87"/>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18" name="Oval 88"/>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19" name="Line 89"/>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20" name="Line 90"/>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15" name="Line 91"/>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13" name="Line 92"/>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6" name="Group 93"/>
          <p:cNvGrpSpPr/>
          <p:nvPr/>
        </p:nvGrpSpPr>
        <p:grpSpPr bwMode="auto">
          <a:xfrm>
            <a:off x="5227681" y="3149199"/>
            <a:ext cx="558677" cy="757205"/>
            <a:chOff x="1317" y="3316"/>
            <a:chExt cx="639" cy="568"/>
          </a:xfrm>
        </p:grpSpPr>
        <p:grpSp>
          <p:nvGrpSpPr>
            <p:cNvPr id="27" name="Group 94"/>
            <p:cNvGrpSpPr/>
            <p:nvPr/>
          </p:nvGrpSpPr>
          <p:grpSpPr bwMode="auto">
            <a:xfrm>
              <a:off x="1317" y="3316"/>
              <a:ext cx="639" cy="568"/>
              <a:chOff x="1317" y="3316"/>
              <a:chExt cx="639" cy="568"/>
            </a:xfrm>
          </p:grpSpPr>
          <p:grpSp>
            <p:nvGrpSpPr>
              <p:cNvPr id="28" name="Group 95"/>
              <p:cNvGrpSpPr/>
              <p:nvPr/>
            </p:nvGrpSpPr>
            <p:grpSpPr bwMode="auto">
              <a:xfrm>
                <a:off x="1317" y="3316"/>
                <a:ext cx="639" cy="568"/>
                <a:chOff x="1317" y="3316"/>
                <a:chExt cx="639" cy="568"/>
              </a:xfrm>
            </p:grpSpPr>
            <p:sp>
              <p:nvSpPr>
                <p:cNvPr id="47207" name="Oval 96"/>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08" name="Rectangle 97"/>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09" name="Oval 98"/>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10" name="Line 99"/>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11" name="Line 100"/>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206" name="Line 101"/>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204" name="Line 102"/>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9" name="Group 103"/>
          <p:cNvGrpSpPr/>
          <p:nvPr/>
        </p:nvGrpSpPr>
        <p:grpSpPr bwMode="auto">
          <a:xfrm>
            <a:off x="6222825" y="3149199"/>
            <a:ext cx="558677" cy="757205"/>
            <a:chOff x="1317" y="3316"/>
            <a:chExt cx="639" cy="568"/>
          </a:xfrm>
        </p:grpSpPr>
        <p:grpSp>
          <p:nvGrpSpPr>
            <p:cNvPr id="30" name="Group 104"/>
            <p:cNvGrpSpPr/>
            <p:nvPr/>
          </p:nvGrpSpPr>
          <p:grpSpPr bwMode="auto">
            <a:xfrm>
              <a:off x="1317" y="3316"/>
              <a:ext cx="639" cy="568"/>
              <a:chOff x="1317" y="3316"/>
              <a:chExt cx="639" cy="568"/>
            </a:xfrm>
          </p:grpSpPr>
          <p:grpSp>
            <p:nvGrpSpPr>
              <p:cNvPr id="31" name="Group 105"/>
              <p:cNvGrpSpPr/>
              <p:nvPr/>
            </p:nvGrpSpPr>
            <p:grpSpPr bwMode="auto">
              <a:xfrm>
                <a:off x="1317" y="3316"/>
                <a:ext cx="639" cy="568"/>
                <a:chOff x="1317" y="3316"/>
                <a:chExt cx="639" cy="568"/>
              </a:xfrm>
            </p:grpSpPr>
            <p:sp>
              <p:nvSpPr>
                <p:cNvPr id="47198" name="Oval 106"/>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99" name="Rectangle 107"/>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200" name="Oval 108"/>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201" name="Line 109"/>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202" name="Line 110"/>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197" name="Line 111"/>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95" name="Line 112"/>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27" name="AutoShape 113"/>
          <p:cNvSpPr>
            <a:spLocks noChangeArrowheads="1"/>
          </p:cNvSpPr>
          <p:nvPr/>
        </p:nvSpPr>
        <p:spPr bwMode="auto">
          <a:xfrm>
            <a:off x="4325650" y="2646055"/>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28" name="Text Box 114"/>
          <p:cNvSpPr txBox="1">
            <a:spLocks noChangeArrowheads="1"/>
          </p:cNvSpPr>
          <p:nvPr/>
        </p:nvSpPr>
        <p:spPr bwMode="auto">
          <a:xfrm>
            <a:off x="2160774" y="2805015"/>
            <a:ext cx="4609089" cy="306705"/>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zh-CN" altLang="en-US" sz="1400" dirty="0" smtClean="0">
                <a:latin typeface="Arial" panose="020B0604020202020204" pitchFamily="34" charset="0"/>
              </a:rPr>
              <a:t>扫描线程 *</a:t>
            </a:r>
            <a:endParaRPr lang="en-US" altLang="zh-CN" sz="1400" dirty="0">
              <a:latin typeface="Arial" panose="020B0604020202020204" pitchFamily="34" charset="0"/>
            </a:endParaRPr>
          </a:p>
        </p:txBody>
      </p:sp>
      <p:sp>
        <p:nvSpPr>
          <p:cNvPr id="47129" name="Text Box 115"/>
          <p:cNvSpPr txBox="1">
            <a:spLocks noChangeArrowheads="1"/>
          </p:cNvSpPr>
          <p:nvPr/>
        </p:nvSpPr>
        <p:spPr bwMode="auto">
          <a:xfrm>
            <a:off x="2312083" y="3424546"/>
            <a:ext cx="4329751" cy="368300"/>
          </a:xfrm>
          <a:prstGeom prst="rect">
            <a:avLst/>
          </a:prstGeom>
          <a:solidFill>
            <a:srgbClr val="9D6594"/>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zh-CN" altLang="en-US" sz="1800" dirty="0" smtClean="0">
                <a:latin typeface="Arial" panose="020B0604020202020204" pitchFamily="34" charset="0"/>
              </a:rPr>
              <a:t>分片</a:t>
            </a:r>
            <a:endParaRPr lang="en-US" altLang="zh-CN" sz="1800" dirty="0">
              <a:latin typeface="Arial" panose="020B0604020202020204" pitchFamily="34" charset="0"/>
            </a:endParaRPr>
          </a:p>
        </p:txBody>
      </p:sp>
      <p:grpSp>
        <p:nvGrpSpPr>
          <p:cNvPr id="47266" name="Group 116"/>
          <p:cNvGrpSpPr/>
          <p:nvPr/>
        </p:nvGrpSpPr>
        <p:grpSpPr bwMode="auto">
          <a:xfrm>
            <a:off x="2242248" y="4732446"/>
            <a:ext cx="558677" cy="757205"/>
            <a:chOff x="1317" y="3316"/>
            <a:chExt cx="639" cy="568"/>
          </a:xfrm>
        </p:grpSpPr>
        <p:grpSp>
          <p:nvGrpSpPr>
            <p:cNvPr id="47268" name="Group 117"/>
            <p:cNvGrpSpPr/>
            <p:nvPr/>
          </p:nvGrpSpPr>
          <p:grpSpPr bwMode="auto">
            <a:xfrm>
              <a:off x="1317" y="3316"/>
              <a:ext cx="639" cy="568"/>
              <a:chOff x="1317" y="3316"/>
              <a:chExt cx="639" cy="568"/>
            </a:xfrm>
          </p:grpSpPr>
          <p:grpSp>
            <p:nvGrpSpPr>
              <p:cNvPr id="47275" name="Group 118"/>
              <p:cNvGrpSpPr/>
              <p:nvPr/>
            </p:nvGrpSpPr>
            <p:grpSpPr bwMode="auto">
              <a:xfrm>
                <a:off x="1317" y="3316"/>
                <a:ext cx="639" cy="568"/>
                <a:chOff x="1317" y="3316"/>
                <a:chExt cx="639" cy="568"/>
              </a:xfrm>
            </p:grpSpPr>
            <p:sp>
              <p:nvSpPr>
                <p:cNvPr id="47189" name="Oval 119"/>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90" name="Rectangle 120"/>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191" name="Oval 121"/>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92" name="Line 122"/>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193" name="Line 123"/>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188" name="Line 124"/>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86" name="Line 125"/>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7277" name="Group 126"/>
          <p:cNvGrpSpPr/>
          <p:nvPr/>
        </p:nvGrpSpPr>
        <p:grpSpPr bwMode="auto">
          <a:xfrm>
            <a:off x="3237392" y="4732446"/>
            <a:ext cx="558677" cy="757205"/>
            <a:chOff x="1317" y="3316"/>
            <a:chExt cx="639" cy="568"/>
          </a:xfrm>
        </p:grpSpPr>
        <p:grpSp>
          <p:nvGrpSpPr>
            <p:cNvPr id="47284" name="Group 127"/>
            <p:cNvGrpSpPr/>
            <p:nvPr/>
          </p:nvGrpSpPr>
          <p:grpSpPr bwMode="auto">
            <a:xfrm>
              <a:off x="1317" y="3316"/>
              <a:ext cx="639" cy="568"/>
              <a:chOff x="1317" y="3316"/>
              <a:chExt cx="639" cy="568"/>
            </a:xfrm>
          </p:grpSpPr>
          <p:grpSp>
            <p:nvGrpSpPr>
              <p:cNvPr id="47285" name="Group 128"/>
              <p:cNvGrpSpPr/>
              <p:nvPr/>
            </p:nvGrpSpPr>
            <p:grpSpPr bwMode="auto">
              <a:xfrm>
                <a:off x="1317" y="3316"/>
                <a:ext cx="639" cy="568"/>
                <a:chOff x="1317" y="3316"/>
                <a:chExt cx="639" cy="568"/>
              </a:xfrm>
            </p:grpSpPr>
            <p:sp>
              <p:nvSpPr>
                <p:cNvPr id="47180" name="Oval 129"/>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81" name="Rectangle 130"/>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182" name="Oval 131"/>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83" name="Line 132"/>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184" name="Line 133"/>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179" name="Line 134"/>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77" name="Line 135"/>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7286" name="Group 136"/>
          <p:cNvGrpSpPr/>
          <p:nvPr/>
        </p:nvGrpSpPr>
        <p:grpSpPr bwMode="auto">
          <a:xfrm>
            <a:off x="4232537" y="4732446"/>
            <a:ext cx="558677" cy="757205"/>
            <a:chOff x="1317" y="3316"/>
            <a:chExt cx="639" cy="568"/>
          </a:xfrm>
        </p:grpSpPr>
        <p:grpSp>
          <p:nvGrpSpPr>
            <p:cNvPr id="47287" name="Group 137"/>
            <p:cNvGrpSpPr/>
            <p:nvPr/>
          </p:nvGrpSpPr>
          <p:grpSpPr bwMode="auto">
            <a:xfrm>
              <a:off x="1317" y="3316"/>
              <a:ext cx="639" cy="568"/>
              <a:chOff x="1317" y="3316"/>
              <a:chExt cx="639" cy="568"/>
            </a:xfrm>
          </p:grpSpPr>
          <p:grpSp>
            <p:nvGrpSpPr>
              <p:cNvPr id="47288" name="Group 138"/>
              <p:cNvGrpSpPr/>
              <p:nvPr/>
            </p:nvGrpSpPr>
            <p:grpSpPr bwMode="auto">
              <a:xfrm>
                <a:off x="1317" y="3316"/>
                <a:ext cx="639" cy="568"/>
                <a:chOff x="1317" y="3316"/>
                <a:chExt cx="639" cy="568"/>
              </a:xfrm>
            </p:grpSpPr>
            <p:sp>
              <p:nvSpPr>
                <p:cNvPr id="47171" name="Oval 139"/>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72" name="Rectangle 140"/>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173" name="Oval 141"/>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74" name="Line 142"/>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175" name="Line 143"/>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170" name="Line 144"/>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68" name="Line 145"/>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7289" name="Group 146"/>
          <p:cNvGrpSpPr/>
          <p:nvPr/>
        </p:nvGrpSpPr>
        <p:grpSpPr bwMode="auto">
          <a:xfrm>
            <a:off x="5227681" y="4732446"/>
            <a:ext cx="558677" cy="757205"/>
            <a:chOff x="1317" y="3316"/>
            <a:chExt cx="639" cy="568"/>
          </a:xfrm>
        </p:grpSpPr>
        <p:grpSp>
          <p:nvGrpSpPr>
            <p:cNvPr id="47290" name="Group 147"/>
            <p:cNvGrpSpPr/>
            <p:nvPr/>
          </p:nvGrpSpPr>
          <p:grpSpPr bwMode="auto">
            <a:xfrm>
              <a:off x="1317" y="3316"/>
              <a:ext cx="639" cy="568"/>
              <a:chOff x="1317" y="3316"/>
              <a:chExt cx="639" cy="568"/>
            </a:xfrm>
          </p:grpSpPr>
          <p:grpSp>
            <p:nvGrpSpPr>
              <p:cNvPr id="47291" name="Group 148"/>
              <p:cNvGrpSpPr/>
              <p:nvPr/>
            </p:nvGrpSpPr>
            <p:grpSpPr bwMode="auto">
              <a:xfrm>
                <a:off x="1317" y="3316"/>
                <a:ext cx="639" cy="568"/>
                <a:chOff x="1317" y="3316"/>
                <a:chExt cx="639" cy="568"/>
              </a:xfrm>
            </p:grpSpPr>
            <p:sp>
              <p:nvSpPr>
                <p:cNvPr id="47162" name="Oval 149"/>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63" name="Rectangle 150"/>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164" name="Oval 151"/>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65" name="Line 152"/>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166" name="Line 153"/>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161" name="Line 154"/>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59" name="Line 155"/>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7292" name="Group 156"/>
          <p:cNvGrpSpPr/>
          <p:nvPr/>
        </p:nvGrpSpPr>
        <p:grpSpPr bwMode="auto">
          <a:xfrm>
            <a:off x="6222825" y="4732446"/>
            <a:ext cx="558677" cy="757205"/>
            <a:chOff x="1317" y="3316"/>
            <a:chExt cx="639" cy="568"/>
          </a:xfrm>
        </p:grpSpPr>
        <p:grpSp>
          <p:nvGrpSpPr>
            <p:cNvPr id="47293" name="Group 157"/>
            <p:cNvGrpSpPr/>
            <p:nvPr/>
          </p:nvGrpSpPr>
          <p:grpSpPr bwMode="auto">
            <a:xfrm>
              <a:off x="1317" y="3316"/>
              <a:ext cx="639" cy="568"/>
              <a:chOff x="1317" y="3316"/>
              <a:chExt cx="639" cy="568"/>
            </a:xfrm>
          </p:grpSpPr>
          <p:grpSp>
            <p:nvGrpSpPr>
              <p:cNvPr id="47294" name="Group 158"/>
              <p:cNvGrpSpPr/>
              <p:nvPr/>
            </p:nvGrpSpPr>
            <p:grpSpPr bwMode="auto">
              <a:xfrm>
                <a:off x="1317" y="3316"/>
                <a:ext cx="639" cy="568"/>
                <a:chOff x="1317" y="3316"/>
                <a:chExt cx="639" cy="568"/>
              </a:xfrm>
            </p:grpSpPr>
            <p:sp>
              <p:nvSpPr>
                <p:cNvPr id="47153" name="Oval 159"/>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54" name="Rectangle 160"/>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47155" name="Oval 161"/>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47156" name="Line 162"/>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47157" name="Line 163"/>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47152" name="Line 164"/>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50" name="Line 165"/>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135" name="AutoShape 166"/>
          <p:cNvSpPr>
            <a:spLocks noChangeArrowheads="1"/>
          </p:cNvSpPr>
          <p:nvPr/>
        </p:nvSpPr>
        <p:spPr bwMode="auto">
          <a:xfrm>
            <a:off x="2300444" y="4229303"/>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36" name="AutoShape 167"/>
          <p:cNvSpPr>
            <a:spLocks noChangeArrowheads="1"/>
          </p:cNvSpPr>
          <p:nvPr/>
        </p:nvSpPr>
        <p:spPr bwMode="auto">
          <a:xfrm>
            <a:off x="3278129" y="4229303"/>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37" name="AutoShape 168"/>
          <p:cNvSpPr>
            <a:spLocks noChangeArrowheads="1"/>
          </p:cNvSpPr>
          <p:nvPr/>
        </p:nvSpPr>
        <p:spPr bwMode="auto">
          <a:xfrm>
            <a:off x="4325650" y="4229303"/>
            <a:ext cx="419008" cy="455593"/>
          </a:xfrm>
          <a:prstGeom prst="upArrow">
            <a:avLst>
              <a:gd name="adj1" fmla="val 50000"/>
              <a:gd name="adj2" fmla="val 41667"/>
            </a:avLst>
          </a:prstGeom>
          <a:solidFill>
            <a:srgbClr val="FF0000"/>
          </a:solidFill>
          <a:ln w="12700">
            <a:solidFill>
              <a:srgbClr val="FF0000"/>
            </a:solidFill>
            <a:miter lim="800000"/>
          </a:ln>
        </p:spPr>
        <p:txBody>
          <a:bodyPr anchor="ctr">
            <a:spAutoFit/>
          </a:bodyPr>
          <a:lstStyle/>
          <a:p>
            <a:pPr algn="ctr"/>
            <a:endParaRPr lang="zh-CN" altLang="en-US"/>
          </a:p>
        </p:txBody>
      </p:sp>
      <p:sp>
        <p:nvSpPr>
          <p:cNvPr id="47138" name="Text Box 169"/>
          <p:cNvSpPr txBox="1">
            <a:spLocks noChangeArrowheads="1"/>
          </p:cNvSpPr>
          <p:nvPr/>
        </p:nvSpPr>
        <p:spPr bwMode="auto">
          <a:xfrm>
            <a:off x="2160774" y="4388262"/>
            <a:ext cx="4609089" cy="306705"/>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zh-CN" altLang="en-US" sz="1400" dirty="0" smtClean="0">
                <a:latin typeface="Arial" panose="020B0604020202020204" pitchFamily="34" charset="0"/>
              </a:rPr>
              <a:t>扫描线程</a:t>
            </a:r>
            <a:r>
              <a:rPr lang="en-US" altLang="zh-CN" sz="1400" dirty="0" smtClean="0">
                <a:latin typeface="Arial" panose="020B0604020202020204" pitchFamily="34" charset="0"/>
              </a:rPr>
              <a:t> </a:t>
            </a:r>
            <a:r>
              <a:rPr lang="en-US" altLang="zh-CN" sz="1400" dirty="0">
                <a:latin typeface="Arial" panose="020B0604020202020204" pitchFamily="34" charset="0"/>
              </a:rPr>
              <a:t>*</a:t>
            </a:r>
          </a:p>
        </p:txBody>
      </p:sp>
      <p:sp>
        <p:nvSpPr>
          <p:cNvPr id="47139" name="Text Box 170"/>
          <p:cNvSpPr txBox="1">
            <a:spLocks noChangeArrowheads="1"/>
          </p:cNvSpPr>
          <p:nvPr/>
        </p:nvSpPr>
        <p:spPr bwMode="auto">
          <a:xfrm>
            <a:off x="2312083" y="5007793"/>
            <a:ext cx="4329751" cy="368300"/>
          </a:xfrm>
          <a:prstGeom prst="rect">
            <a:avLst/>
          </a:prstGeom>
          <a:solidFill>
            <a:srgbClr val="9D6594"/>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ctr" eaLnBrk="1" hangingPunct="1">
              <a:spcBef>
                <a:spcPct val="50000"/>
              </a:spcBef>
              <a:buClr>
                <a:schemeClr val="accent2"/>
              </a:buClr>
              <a:buFont typeface="Wingdings" panose="05000000000000000000" charset="0"/>
              <a:buNone/>
            </a:pPr>
            <a:r>
              <a:rPr lang="zh-CN" altLang="en-US" sz="1800" dirty="0" smtClean="0">
                <a:latin typeface="Arial" panose="020B0604020202020204" pitchFamily="34" charset="0"/>
              </a:rPr>
              <a:t>分片</a:t>
            </a:r>
            <a:endParaRPr lang="en-US" altLang="zh-CN" sz="1800" dirty="0">
              <a:latin typeface="Arial" panose="020B0604020202020204" pitchFamily="34" charset="0"/>
            </a:endParaRPr>
          </a:p>
        </p:txBody>
      </p:sp>
      <p:sp>
        <p:nvSpPr>
          <p:cNvPr id="47140" name="Text Box 171"/>
          <p:cNvSpPr txBox="1">
            <a:spLocks noChangeArrowheads="1"/>
          </p:cNvSpPr>
          <p:nvPr/>
        </p:nvSpPr>
        <p:spPr bwMode="auto">
          <a:xfrm>
            <a:off x="6909533" y="4520363"/>
            <a:ext cx="3002892"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分片忽略</a:t>
            </a:r>
            <a:r>
              <a:rPr lang="en-US" altLang="zh-CN"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Elimination) </a:t>
            </a:r>
            <a:r>
              <a:rPr lang="zh-CN" altLang="en-US" sz="1600" b="1"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和并</a:t>
            </a:r>
            <a: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行</a:t>
            </a:r>
            <a:br>
              <a:rPr lang="zh-CN" altLang="en-US" sz="16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1600" b="1"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可同时进行</a:t>
            </a:r>
            <a:endPar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141" name="Text Box 172"/>
          <p:cNvSpPr txBox="1">
            <a:spLocks noChangeArrowheads="1"/>
          </p:cNvSpPr>
          <p:nvPr/>
        </p:nvSpPr>
        <p:spPr bwMode="auto">
          <a:xfrm>
            <a:off x="6251923" y="3200827"/>
            <a:ext cx="5556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en-US" altLang="zh-CN" sz="4400" b="1">
                <a:latin typeface="Arial" panose="020B0604020202020204" pitchFamily="34" charset="0"/>
              </a:rPr>
              <a:t>X</a:t>
            </a:r>
          </a:p>
        </p:txBody>
      </p:sp>
      <p:sp>
        <p:nvSpPr>
          <p:cNvPr id="47142" name="Text Box 173"/>
          <p:cNvSpPr txBox="1">
            <a:spLocks noChangeArrowheads="1"/>
          </p:cNvSpPr>
          <p:nvPr/>
        </p:nvSpPr>
        <p:spPr bwMode="auto">
          <a:xfrm>
            <a:off x="3256306" y="3215168"/>
            <a:ext cx="5556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en-US" altLang="zh-CN" sz="4400" b="1">
                <a:latin typeface="Arial" panose="020B0604020202020204" pitchFamily="34" charset="0"/>
              </a:rPr>
              <a:t>X</a:t>
            </a:r>
          </a:p>
        </p:txBody>
      </p:sp>
      <p:sp>
        <p:nvSpPr>
          <p:cNvPr id="47143" name="Text Box 174"/>
          <p:cNvSpPr txBox="1">
            <a:spLocks noChangeArrowheads="1"/>
          </p:cNvSpPr>
          <p:nvPr/>
        </p:nvSpPr>
        <p:spPr bwMode="auto">
          <a:xfrm>
            <a:off x="5233501" y="3206563"/>
            <a:ext cx="5556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en-US" altLang="zh-CN" sz="4400" b="1">
                <a:latin typeface="Arial" panose="020B0604020202020204" pitchFamily="34" charset="0"/>
              </a:rPr>
              <a:t>X</a:t>
            </a:r>
          </a:p>
        </p:txBody>
      </p:sp>
      <p:sp>
        <p:nvSpPr>
          <p:cNvPr id="47144" name="Text Box 175"/>
          <p:cNvSpPr txBox="1">
            <a:spLocks noChangeArrowheads="1"/>
          </p:cNvSpPr>
          <p:nvPr/>
        </p:nvSpPr>
        <p:spPr bwMode="auto">
          <a:xfrm>
            <a:off x="2274256" y="3218036"/>
            <a:ext cx="5556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en-US" altLang="zh-CN" sz="4400" b="1">
                <a:latin typeface="Arial" panose="020B0604020202020204" pitchFamily="34" charset="0"/>
              </a:rPr>
              <a:t>X</a:t>
            </a:r>
          </a:p>
        </p:txBody>
      </p:sp>
      <p:sp>
        <p:nvSpPr>
          <p:cNvPr id="47145" name="Text Box 176"/>
          <p:cNvSpPr txBox="1">
            <a:spLocks noChangeArrowheads="1"/>
          </p:cNvSpPr>
          <p:nvPr/>
        </p:nvSpPr>
        <p:spPr bwMode="auto">
          <a:xfrm>
            <a:off x="6259198" y="4801283"/>
            <a:ext cx="5556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en-US" altLang="zh-CN" sz="4400" b="1">
                <a:latin typeface="Arial" panose="020B0604020202020204" pitchFamily="34" charset="0"/>
              </a:rPr>
              <a:t>X</a:t>
            </a:r>
          </a:p>
        </p:txBody>
      </p:sp>
      <p:sp>
        <p:nvSpPr>
          <p:cNvPr id="47146" name="Text Box 177"/>
          <p:cNvSpPr txBox="1">
            <a:spLocks noChangeArrowheads="1"/>
          </p:cNvSpPr>
          <p:nvPr/>
        </p:nvSpPr>
        <p:spPr bwMode="auto">
          <a:xfrm>
            <a:off x="5233501" y="4801283"/>
            <a:ext cx="5556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algn="l" eaLnBrk="1" hangingPunct="1">
              <a:spcBef>
                <a:spcPct val="50000"/>
              </a:spcBef>
              <a:buClr>
                <a:schemeClr val="accent2"/>
              </a:buClr>
              <a:buFont typeface="Wingdings" panose="05000000000000000000" charset="0"/>
              <a:buNone/>
            </a:pPr>
            <a:r>
              <a:rPr lang="en-US" altLang="zh-CN" sz="4400" b="1">
                <a:latin typeface="Arial" panose="020B0604020202020204" pitchFamily="34" charset="0"/>
              </a:rPr>
              <a:t>X</a:t>
            </a:r>
          </a:p>
        </p:txBody>
      </p:sp>
      <p:sp>
        <p:nvSpPr>
          <p:cNvPr id="47147" name="Line 178"/>
          <p:cNvSpPr>
            <a:spLocks noChangeShapeType="1"/>
          </p:cNvSpPr>
          <p:nvPr/>
        </p:nvSpPr>
        <p:spPr bwMode="auto">
          <a:xfrm>
            <a:off x="2090940" y="2687582"/>
            <a:ext cx="309880" cy="36830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7148" name="Line 179"/>
          <p:cNvSpPr>
            <a:spLocks noChangeShapeType="1"/>
          </p:cNvSpPr>
          <p:nvPr/>
        </p:nvSpPr>
        <p:spPr bwMode="auto">
          <a:xfrm>
            <a:off x="2021105" y="4270829"/>
            <a:ext cx="309880" cy="36830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82" name="内容占位符 2"/>
          <p:cNvSpPr txBox="1"/>
          <p:nvPr/>
        </p:nvSpPr>
        <p:spPr bwMode="auto">
          <a:xfrm>
            <a:off x="2090940" y="5665414"/>
            <a:ext cx="8054546" cy="416072"/>
          </a:xfrm>
          <a:prstGeom prst="rect">
            <a:avLst/>
          </a:prstGeom>
          <a:solidFill>
            <a:srgbClr val="FBE5D6"/>
          </a:solidFill>
          <a:ln w="3175">
            <a:solidFill>
              <a:srgbClr val="FF0000"/>
            </a:solidFill>
            <a:miter lim="800000"/>
          </a:ln>
        </p:spPr>
        <p:txBody>
          <a:bodyPr vert="horz" wrap="square" lIns="0" tIns="0" rIns="0" bIns="0" numCol="1" anchor="t" anchorCtr="0" compatLnSpc="1">
            <a:normAutofit/>
          </a:bodyPr>
          <a:lstStyle>
            <a:lvl1pPr marL="227330" indent="-227330" algn="l" rtl="0" eaLnBrk="0" fontAlgn="base" hangingPunct="0">
              <a:spcBef>
                <a:spcPct val="20000"/>
              </a:spcBef>
              <a:spcAft>
                <a:spcPct val="0"/>
              </a:spcAft>
              <a:buClr>
                <a:schemeClr val="accent1"/>
              </a:buClr>
              <a:buChar char="•"/>
              <a:defRPr sz="2000">
                <a:solidFill>
                  <a:schemeClr val="tx1"/>
                </a:solidFill>
                <a:latin typeface="微软雅黑" panose="020B0503020204020204" pitchFamily="34" charset="-122"/>
                <a:ea typeface="微软雅黑" panose="020B0503020204020204" pitchFamily="34" charset="-122"/>
                <a:cs typeface="+mn-cs"/>
              </a:defRPr>
            </a:lvl1pPr>
            <a:lvl2pPr marL="570230"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2pPr>
            <a:lvl3pPr marL="914400"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3pPr>
            <a:lvl4pPr marL="1259205" indent="-230505"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4pPr>
            <a:lvl5pPr marL="1602105" indent="-228600" algn="l" rtl="0" eaLnBrk="0" fontAlgn="base" hangingPunct="0">
              <a:spcBef>
                <a:spcPct val="20000"/>
              </a:spcBef>
              <a:spcAft>
                <a:spcPct val="0"/>
              </a:spcAft>
              <a:buClr>
                <a:schemeClr val="accent1"/>
              </a:buClr>
              <a:buChar char="•"/>
              <a:defRPr sz="1600">
                <a:solidFill>
                  <a:schemeClr val="tx1"/>
                </a:solidFill>
                <a:latin typeface="微软雅黑" panose="020B0503020204020204" pitchFamily="34" charset="-122"/>
                <a:ea typeface="微软雅黑" panose="020B0503020204020204" pitchFamily="34" charset="-122"/>
              </a:defRPr>
            </a:lvl5pPr>
            <a:lvl6pPr marL="2059305" indent="-228600" algn="l" rtl="0" fontAlgn="base">
              <a:spcBef>
                <a:spcPct val="20000"/>
              </a:spcBef>
              <a:spcAft>
                <a:spcPct val="0"/>
              </a:spcAft>
              <a:buClr>
                <a:schemeClr val="accent1"/>
              </a:buClr>
              <a:buChar char="•"/>
              <a:defRPr sz="2000">
                <a:solidFill>
                  <a:schemeClr val="tx1"/>
                </a:solidFill>
                <a:latin typeface="+mn-lt"/>
              </a:defRPr>
            </a:lvl6pPr>
            <a:lvl7pPr marL="2516505" indent="-228600" algn="l" rtl="0" fontAlgn="base">
              <a:spcBef>
                <a:spcPct val="20000"/>
              </a:spcBef>
              <a:spcAft>
                <a:spcPct val="0"/>
              </a:spcAft>
              <a:buClr>
                <a:schemeClr val="accent1"/>
              </a:buClr>
              <a:buChar char="•"/>
              <a:defRPr sz="2000">
                <a:solidFill>
                  <a:schemeClr val="tx1"/>
                </a:solidFill>
                <a:latin typeface="+mn-lt"/>
              </a:defRPr>
            </a:lvl7pPr>
            <a:lvl8pPr marL="2973705" indent="-228600" algn="l" rtl="0" fontAlgn="base">
              <a:spcBef>
                <a:spcPct val="20000"/>
              </a:spcBef>
              <a:spcAft>
                <a:spcPct val="0"/>
              </a:spcAft>
              <a:buClr>
                <a:schemeClr val="accent1"/>
              </a:buClr>
              <a:buChar char="•"/>
              <a:defRPr sz="2000">
                <a:solidFill>
                  <a:schemeClr val="tx1"/>
                </a:solidFill>
                <a:latin typeface="+mn-lt"/>
              </a:defRPr>
            </a:lvl8pPr>
            <a:lvl9pPr marL="3430905" indent="-228600" algn="l" rtl="0" fontAlgn="base">
              <a:spcBef>
                <a:spcPct val="20000"/>
              </a:spcBef>
              <a:spcAft>
                <a:spcPct val="0"/>
              </a:spcAft>
              <a:buClr>
                <a:schemeClr val="accent1"/>
              </a:buClr>
              <a:buChar char="•"/>
              <a:defRPr sz="2000">
                <a:solidFill>
                  <a:schemeClr val="tx1"/>
                </a:solidFill>
                <a:latin typeface="+mn-lt"/>
              </a:defRPr>
            </a:lvl9pPr>
          </a:lstStyle>
          <a:p>
            <a:pPr lvl="1">
              <a:lnSpc>
                <a:spcPct val="150000"/>
              </a:lnSpc>
              <a:buNone/>
            </a:pPr>
            <a:r>
              <a:rPr lang="zh-CN" altLang="en-US" dirty="0">
                <a:latin typeface="Arial" panose="020B0604020202020204" pitchFamily="34" charset="0"/>
              </a:rPr>
              <a:t>* </a:t>
            </a:r>
            <a:r>
              <a:rPr lang="en-US" altLang="zh-CN" dirty="0">
                <a:latin typeface="Arial" panose="020B0604020202020204" pitchFamily="34" charset="0"/>
              </a:rPr>
              <a:t>INSERTs, UPDATEs, SELECTs  </a:t>
            </a:r>
            <a:r>
              <a:rPr lang="zh-CN" altLang="en-US" dirty="0">
                <a:latin typeface="Arial" panose="020B0604020202020204" pitchFamily="34" charset="0"/>
              </a:rPr>
              <a:t>均可以</a:t>
            </a:r>
            <a:r>
              <a:rPr lang="zh-CN" altLang="en-US" dirty="0" smtClean="0">
                <a:latin typeface="Arial" panose="020B0604020202020204" pitchFamily="34" charset="0"/>
              </a:rPr>
              <a:t>并行处理</a:t>
            </a:r>
            <a:endParaRPr lang="en-US" altLang="zh-CN" dirty="0">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分片忽略</a:t>
            </a:r>
          </a:p>
        </p:txBody>
      </p:sp>
      <p:sp>
        <p:nvSpPr>
          <p:cNvPr id="48131" name="内容占位符 2"/>
          <p:cNvSpPr>
            <a:spLocks noGrp="1"/>
          </p:cNvSpPr>
          <p:nvPr>
            <p:ph type="body" sz="quarter" idx="10"/>
          </p:nvPr>
        </p:nvSpPr>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基于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SQL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语</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句中的查询条</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件</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(query predicates</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cs typeface="微软雅黑" panose="020B0503020204020204" pitchFamily="34" charset="-122"/>
              </a:rPr>
              <a:t>只访问符合条件的表分片与</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索引分片</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避</a:t>
            </a:r>
            <a:r>
              <a:rPr lang="zh-CN" altLang="en-US" b="1" dirty="0" smtClean="0">
                <a:latin typeface="微软雅黑" panose="020B0503020204020204" pitchFamily="34" charset="-122"/>
                <a:ea typeface="微软雅黑" panose="020B0503020204020204" pitchFamily="34" charset="-122"/>
                <a:cs typeface="微软雅黑" panose="020B0503020204020204" pitchFamily="34" charset="-122"/>
              </a:rPr>
              <a:t>免全表扫描</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对于表达式分片有效</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简单，无交叉分片</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对于表和索引的分片都有效</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000000"/>
                </a:solidFill>
                <a:cs typeface="微软雅黑" panose="020B0503020204020204" pitchFamily="34" charset="-122"/>
                <a:sym typeface="+mn-ea"/>
              </a:rPr>
              <a:t>分片忽略</a:t>
            </a:r>
            <a:r>
              <a:rPr lang="en-US" altLang="zh-CN" dirty="0" smtClean="0">
                <a:solidFill>
                  <a:srgbClr val="000000"/>
                </a:solidFill>
                <a:cs typeface="微软雅黑" panose="020B0503020204020204" pitchFamily="34" charset="-122"/>
                <a:sym typeface="+mn-ea"/>
              </a:rPr>
              <a:t>- example</a:t>
            </a:r>
            <a:r>
              <a:rPr kumimoji="0" lang="zh-CN" altLang="en-US"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r>
            <a:br>
              <a:rPr kumimoji="0" lang="zh-CN" altLang="en-US"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br>
            <a:endParaRPr lang="zh-CN" altLang="en-US"/>
          </a:p>
        </p:txBody>
      </p:sp>
      <p:sp>
        <p:nvSpPr>
          <p:cNvPr id="49155" name="内容占位符 2"/>
          <p:cNvSpPr>
            <a:spLocks noGrp="1"/>
          </p:cNvSpPr>
          <p:nvPr>
            <p:ph type="body" sz="quarter" idx="10"/>
          </p:nvPr>
        </p:nvSpPr>
        <p:spPr>
          <a:solidFill>
            <a:schemeClr val="bg1">
              <a:lumMod val="85000"/>
            </a:schemeClr>
          </a:solidFill>
          <a:ln w="3175">
            <a:solidFill>
              <a:schemeClr val="bg1">
                <a:lumMod val="50000"/>
              </a:schemeClr>
            </a:solidFill>
            <a:miter lim="800000"/>
          </a:ln>
        </p:spPr>
        <p:txBody>
          <a:bodyPr>
            <a:normAutofit/>
          </a:bodyPr>
          <a:lstStyle/>
          <a:p>
            <a:pPr lvl="1">
              <a:buFont typeface="Webdings" panose="05030102010509060703" charset="0"/>
              <a:buNone/>
            </a:pPr>
            <a:endParaRPr lang="en-US" altLang="zh-CN"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CREATE </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TABLE tab1 (col1 integer, col2 date)</a:t>
            </a:r>
          </a:p>
          <a:p>
            <a:pPr lvl="1">
              <a:lnSpc>
                <a:spcPct val="150000"/>
              </a:lnSpc>
              <a:buFont typeface="Webdings" panose="05030102010509060703" charset="0"/>
              <a:buNone/>
            </a:pP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BY expression</a:t>
            </a:r>
          </a:p>
          <a:p>
            <a:pPr lvl="1">
              <a:lnSpc>
                <a:spcPct val="150000"/>
              </a:lnSpc>
              <a:buFont typeface="Webdings" panose="05030102010509060703" charset="0"/>
              <a:buNone/>
            </a:pP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0 and col1 &lt; 100 in dbsp1,</a:t>
            </a:r>
          </a:p>
          <a:p>
            <a:pPr lvl="1">
              <a:lnSpc>
                <a:spcPct val="150000"/>
              </a:lnSpc>
              <a:buFont typeface="Webdings" panose="05030102010509060703" charset="0"/>
              <a:buNone/>
            </a:pP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100 and col1 &lt; 200 in dbsp2,</a:t>
            </a:r>
          </a:p>
          <a:p>
            <a:pPr lvl="1">
              <a:lnSpc>
                <a:spcPct val="150000"/>
              </a:lnSpc>
              <a:buFont typeface="Webdings" panose="05030102010509060703" charset="0"/>
              <a:buNone/>
            </a:pP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col1 &gt;= 200 in dbsp3</a:t>
            </a:r>
          </a:p>
          <a:p>
            <a:pPr lvl="1">
              <a:lnSpc>
                <a:spcPct val="150000"/>
              </a:lnSpc>
              <a:buFont typeface="Webdings" panose="05030102010509060703" charset="0"/>
              <a:buNone/>
            </a:pPr>
            <a:endPar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Webdings" panose="05030102010509060703" charset="0"/>
              <a:buNone/>
            </a:pP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 FROM tab1 WHERE col1 = 125</a:t>
            </a:r>
          </a:p>
          <a:p>
            <a:pPr lvl="1">
              <a:lnSpc>
                <a:spcPct val="150000"/>
              </a:lnSpc>
              <a:buFont typeface="Webdings" panose="05030102010509060703" charset="0"/>
              <a:buNone/>
            </a:pP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 FROM tab1 WHERE col1 BETWEEN 25</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and 75</a:t>
            </a:r>
            <a:endPar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标题 1"/>
          <p:cNvSpPr txBox="1"/>
          <p:nvPr/>
        </p:nvSpPr>
        <p:spPr>
          <a:xfrm>
            <a:off x="2116668" y="254001"/>
            <a:ext cx="7793567" cy="482600"/>
          </a:xfrm>
          <a:prstGeom prst="rect">
            <a:avLst/>
          </a:prstGeom>
        </p:spPr>
        <p:txBody>
          <a:bodyPr/>
          <a:lstStyle/>
          <a:p>
            <a:pPr lvl="0" eaLnBrk="0" hangingPunct="0"/>
            <a:endParaRPr kumimoji="0" lang="zh-CN" altLang="en-US" sz="28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分片忽略</a:t>
            </a:r>
            <a:r>
              <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执行计划</a:t>
            </a:r>
            <a:endPar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179" name="内容占位符 2"/>
          <p:cNvSpPr>
            <a:spLocks noGrp="1"/>
          </p:cNvSpPr>
          <p:nvPr>
            <p:ph type="body" sz="quarter" idx="10"/>
          </p:nvPr>
        </p:nvSpPr>
        <p:spPr>
          <a:solidFill>
            <a:schemeClr val="bg1">
              <a:lumMod val="85000"/>
            </a:schemeClr>
          </a:solidFill>
          <a:ln w="3175">
            <a:solidFill>
              <a:schemeClr val="bg1">
                <a:lumMod val="50000"/>
              </a:schemeClr>
            </a:solidFill>
            <a:miter lim="800000"/>
          </a:ln>
        </p:spPr>
        <p:txBody>
          <a:bodyPr>
            <a:normAutofit/>
          </a:bodyPr>
          <a:lstStyle/>
          <a:p>
            <a:pPr>
              <a:lnSpc>
                <a:spcPct val="150000"/>
              </a:lnSpc>
              <a:buFont typeface="Wingdings" panose="05000000000000000000" charset="0"/>
              <a:buNone/>
            </a:pPr>
            <a:endPar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cs typeface="微软雅黑" panose="020B0503020204020204" pitchFamily="34" charset="-122"/>
              </a:rPr>
              <a:t>SELECT </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 FROM tab1 WHERE col1 = 125</a:t>
            </a: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1</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usr1.tab1: SEQUENTIAL SCAN (</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Serial, fragments: 1</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Filters</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usr1.tab1.col1 = 125</a:t>
            </a:r>
          </a:p>
          <a:p>
            <a:pPr>
              <a:lnSpc>
                <a:spcPct val="150000"/>
              </a:lnSpc>
              <a:buFont typeface="Wingdings" panose="05000000000000000000" charset="0"/>
              <a:buNone/>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cs typeface="微软雅黑" panose="020B0503020204020204" pitchFamily="34" charset="-122"/>
              </a:rPr>
              <a:t>SELECT </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 FROM tab1 WHERE col1 BETWEEN 25 and 75</a:t>
            </a: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1</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usr1.tab1: SEQUENTIAL SCAN (</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Serial, fragments: 0</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buFont typeface="Wingdings" panose="05000000000000000000" charset="0"/>
              <a:buNone/>
            </a:pP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		Filters</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(usr1.tab1.col1 &lt;= 75 AND usr1.tab1.col1 &gt;= 25 )</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eaLnBrk="1" hangingPunct="1"/>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分片的目标 </a:t>
            </a:r>
            <a:r>
              <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分片忽略</a:t>
            </a:r>
            <a:r>
              <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(Fragment Elimination)</a:t>
            </a:r>
          </a:p>
        </p:txBody>
      </p:sp>
      <p:sp>
        <p:nvSpPr>
          <p:cNvPr id="51204" name="Rectangle 4"/>
          <p:cNvSpPr>
            <a:spLocks noGrp="1" noChangeArrowheads="1"/>
          </p:cNvSpPr>
          <p:nvPr>
            <p:ph type="body" sz="quarter" idx="10"/>
          </p:nvPr>
        </p:nvSpPr>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适用以下场景</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marL="465455" lvl="1" indent="-234950" eaLnBrk="1" hangingPunct="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优化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INSERT, UPDATE, SELECT or DELETE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fetch</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部分</a:t>
            </a:r>
          </a:p>
          <a:p>
            <a:pPr marL="465455" lvl="1" indent="-234950" eaLnBrk="1" hangingPunct="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nested-loop joins –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当从外表取得数据以后，访问内表时可以忽略不需要的分片</a:t>
            </a:r>
          </a:p>
          <a:p>
            <a:pPr marL="465455" lvl="1" indent="-234950" eaLnBrk="1" hangingPunct="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 =, &lt;, &gt;, =&gt;, &lt;=, AND, OR, NOT, MATCH,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LIKE</a:t>
            </a:r>
          </a:p>
          <a:p>
            <a:pPr eaLnBrk="1" hangingPunct="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不适用于以下场景</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marL="465455" lvl="1" indent="-234950" eaLnBrk="1" hangingPunct="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IS NULL, IS NOT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NULL</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5" name="组合 24"/>
          <p:cNvGrpSpPr/>
          <p:nvPr/>
        </p:nvGrpSpPr>
        <p:grpSpPr>
          <a:xfrm>
            <a:off x="5737560" y="3824502"/>
            <a:ext cx="3200400" cy="2133600"/>
            <a:chOff x="5105400" y="3200400"/>
            <a:chExt cx="3200400" cy="2133600"/>
          </a:xfrm>
        </p:grpSpPr>
        <p:grpSp>
          <p:nvGrpSpPr>
            <p:cNvPr id="2" name="Group 5"/>
            <p:cNvGrpSpPr/>
            <p:nvPr/>
          </p:nvGrpSpPr>
          <p:grpSpPr bwMode="auto">
            <a:xfrm>
              <a:off x="7486650" y="4343400"/>
              <a:ext cx="747713" cy="990600"/>
              <a:chOff x="1317" y="3316"/>
              <a:chExt cx="639" cy="568"/>
            </a:xfrm>
          </p:grpSpPr>
          <p:grpSp>
            <p:nvGrpSpPr>
              <p:cNvPr id="3" name="Group 6"/>
              <p:cNvGrpSpPr/>
              <p:nvPr/>
            </p:nvGrpSpPr>
            <p:grpSpPr bwMode="auto">
              <a:xfrm>
                <a:off x="1317" y="3316"/>
                <a:ext cx="639" cy="568"/>
                <a:chOff x="1317" y="3316"/>
                <a:chExt cx="639" cy="568"/>
              </a:xfrm>
            </p:grpSpPr>
            <p:grpSp>
              <p:nvGrpSpPr>
                <p:cNvPr id="4" name="Group 7"/>
                <p:cNvGrpSpPr/>
                <p:nvPr/>
              </p:nvGrpSpPr>
              <p:grpSpPr bwMode="auto">
                <a:xfrm>
                  <a:off x="1317" y="3316"/>
                  <a:ext cx="639" cy="568"/>
                  <a:chOff x="1317" y="3316"/>
                  <a:chExt cx="639" cy="568"/>
                </a:xfrm>
              </p:grpSpPr>
              <p:sp>
                <p:nvSpPr>
                  <p:cNvPr id="51281" name="Oval 8"/>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82" name="Rectangle 9"/>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51283" name="Oval 10"/>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84" name="Line 11"/>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51285" name="Line 12"/>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51280" name="Line 13"/>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78" name="Line 14"/>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15"/>
            <p:cNvGrpSpPr/>
            <p:nvPr/>
          </p:nvGrpSpPr>
          <p:grpSpPr bwMode="auto">
            <a:xfrm>
              <a:off x="6343650" y="4343400"/>
              <a:ext cx="747713" cy="990600"/>
              <a:chOff x="2097" y="3316"/>
              <a:chExt cx="639" cy="568"/>
            </a:xfrm>
          </p:grpSpPr>
          <p:grpSp>
            <p:nvGrpSpPr>
              <p:cNvPr id="6" name="Group 16"/>
              <p:cNvGrpSpPr/>
              <p:nvPr/>
            </p:nvGrpSpPr>
            <p:grpSpPr bwMode="auto">
              <a:xfrm>
                <a:off x="2097" y="3316"/>
                <a:ext cx="639" cy="568"/>
                <a:chOff x="2097" y="3316"/>
                <a:chExt cx="639" cy="568"/>
              </a:xfrm>
            </p:grpSpPr>
            <p:grpSp>
              <p:nvGrpSpPr>
                <p:cNvPr id="7" name="Group 17"/>
                <p:cNvGrpSpPr/>
                <p:nvPr/>
              </p:nvGrpSpPr>
              <p:grpSpPr bwMode="auto">
                <a:xfrm>
                  <a:off x="2097" y="3316"/>
                  <a:ext cx="639" cy="568"/>
                  <a:chOff x="2097" y="3316"/>
                  <a:chExt cx="639" cy="568"/>
                </a:xfrm>
              </p:grpSpPr>
              <p:sp>
                <p:nvSpPr>
                  <p:cNvPr id="51272" name="Oval 18"/>
                  <p:cNvSpPr>
                    <a:spLocks noChangeArrowheads="1"/>
                  </p:cNvSpPr>
                  <p:nvPr/>
                </p:nvSpPr>
                <p:spPr bwMode="auto">
                  <a:xfrm>
                    <a:off x="210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73" name="Rectangle 19"/>
                  <p:cNvSpPr>
                    <a:spLocks noChangeArrowheads="1"/>
                  </p:cNvSpPr>
                  <p:nvPr/>
                </p:nvSpPr>
                <p:spPr bwMode="auto">
                  <a:xfrm>
                    <a:off x="209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51274" name="Oval 20"/>
                  <p:cNvSpPr>
                    <a:spLocks noChangeArrowheads="1"/>
                  </p:cNvSpPr>
                  <p:nvPr/>
                </p:nvSpPr>
                <p:spPr bwMode="auto">
                  <a:xfrm>
                    <a:off x="210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75" name="Line 21"/>
                  <p:cNvSpPr>
                    <a:spLocks noChangeShapeType="1"/>
                  </p:cNvSpPr>
                  <p:nvPr/>
                </p:nvSpPr>
                <p:spPr bwMode="auto">
                  <a:xfrm>
                    <a:off x="210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51276" name="Line 22"/>
                  <p:cNvSpPr>
                    <a:spLocks noChangeShapeType="1"/>
                  </p:cNvSpPr>
                  <p:nvPr/>
                </p:nvSpPr>
                <p:spPr bwMode="auto">
                  <a:xfrm>
                    <a:off x="273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51271" name="Line 23"/>
                <p:cNvSpPr>
                  <a:spLocks noChangeShapeType="1"/>
                </p:cNvSpPr>
                <p:nvPr/>
              </p:nvSpPr>
              <p:spPr bwMode="auto">
                <a:xfrm>
                  <a:off x="209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69" name="Line 24"/>
              <p:cNvSpPr>
                <a:spLocks noChangeShapeType="1"/>
              </p:cNvSpPr>
              <p:nvPr/>
            </p:nvSpPr>
            <p:spPr bwMode="auto">
              <a:xfrm>
                <a:off x="272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25"/>
            <p:cNvGrpSpPr/>
            <p:nvPr/>
          </p:nvGrpSpPr>
          <p:grpSpPr bwMode="auto">
            <a:xfrm>
              <a:off x="5105400" y="4343400"/>
              <a:ext cx="747713" cy="990600"/>
              <a:chOff x="1317" y="3316"/>
              <a:chExt cx="639" cy="568"/>
            </a:xfrm>
          </p:grpSpPr>
          <p:grpSp>
            <p:nvGrpSpPr>
              <p:cNvPr id="9" name="Group 26"/>
              <p:cNvGrpSpPr/>
              <p:nvPr/>
            </p:nvGrpSpPr>
            <p:grpSpPr bwMode="auto">
              <a:xfrm>
                <a:off x="1317" y="3316"/>
                <a:ext cx="639" cy="568"/>
                <a:chOff x="1317" y="3316"/>
                <a:chExt cx="639" cy="568"/>
              </a:xfrm>
            </p:grpSpPr>
            <p:grpSp>
              <p:nvGrpSpPr>
                <p:cNvPr id="10" name="Group 27"/>
                <p:cNvGrpSpPr/>
                <p:nvPr/>
              </p:nvGrpSpPr>
              <p:grpSpPr bwMode="auto">
                <a:xfrm>
                  <a:off x="1317" y="3316"/>
                  <a:ext cx="639" cy="568"/>
                  <a:chOff x="1317" y="3316"/>
                  <a:chExt cx="639" cy="568"/>
                </a:xfrm>
              </p:grpSpPr>
              <p:sp>
                <p:nvSpPr>
                  <p:cNvPr id="51263" name="Oval 28"/>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64" name="Rectangle 29"/>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51265" name="Oval 30"/>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66" name="Line 31"/>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51267" name="Line 32"/>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51262" name="Line 33"/>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60" name="Line 34"/>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 name="Group 35"/>
            <p:cNvGrpSpPr/>
            <p:nvPr/>
          </p:nvGrpSpPr>
          <p:grpSpPr bwMode="auto">
            <a:xfrm>
              <a:off x="7505700" y="3200400"/>
              <a:ext cx="747713" cy="990600"/>
              <a:chOff x="1317" y="3316"/>
              <a:chExt cx="639" cy="568"/>
            </a:xfrm>
          </p:grpSpPr>
          <p:grpSp>
            <p:nvGrpSpPr>
              <p:cNvPr id="12" name="Group 36"/>
              <p:cNvGrpSpPr/>
              <p:nvPr/>
            </p:nvGrpSpPr>
            <p:grpSpPr bwMode="auto">
              <a:xfrm>
                <a:off x="1317" y="3316"/>
                <a:ext cx="639" cy="568"/>
                <a:chOff x="1317" y="3316"/>
                <a:chExt cx="639" cy="568"/>
              </a:xfrm>
            </p:grpSpPr>
            <p:grpSp>
              <p:nvGrpSpPr>
                <p:cNvPr id="13" name="Group 37"/>
                <p:cNvGrpSpPr/>
                <p:nvPr/>
              </p:nvGrpSpPr>
              <p:grpSpPr bwMode="auto">
                <a:xfrm>
                  <a:off x="1317" y="3316"/>
                  <a:ext cx="639" cy="568"/>
                  <a:chOff x="1317" y="3316"/>
                  <a:chExt cx="639" cy="568"/>
                </a:xfrm>
              </p:grpSpPr>
              <p:sp>
                <p:nvSpPr>
                  <p:cNvPr id="51254" name="Oval 38"/>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55" name="Rectangle 39"/>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51256" name="Oval 40"/>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57" name="Line 41"/>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51258" name="Line 42"/>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51253" name="Line 43"/>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51" name="Line 44"/>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 name="Group 45"/>
            <p:cNvGrpSpPr/>
            <p:nvPr/>
          </p:nvGrpSpPr>
          <p:grpSpPr bwMode="auto">
            <a:xfrm>
              <a:off x="6362700" y="3200400"/>
              <a:ext cx="747713" cy="990600"/>
              <a:chOff x="2097" y="3316"/>
              <a:chExt cx="639" cy="568"/>
            </a:xfrm>
          </p:grpSpPr>
          <p:grpSp>
            <p:nvGrpSpPr>
              <p:cNvPr id="15" name="Group 46"/>
              <p:cNvGrpSpPr/>
              <p:nvPr/>
            </p:nvGrpSpPr>
            <p:grpSpPr bwMode="auto">
              <a:xfrm>
                <a:off x="2097" y="3316"/>
                <a:ext cx="639" cy="568"/>
                <a:chOff x="2097" y="3316"/>
                <a:chExt cx="639" cy="568"/>
              </a:xfrm>
            </p:grpSpPr>
            <p:grpSp>
              <p:nvGrpSpPr>
                <p:cNvPr id="16" name="Group 47"/>
                <p:cNvGrpSpPr/>
                <p:nvPr/>
              </p:nvGrpSpPr>
              <p:grpSpPr bwMode="auto">
                <a:xfrm>
                  <a:off x="2097" y="3316"/>
                  <a:ext cx="639" cy="568"/>
                  <a:chOff x="2097" y="3316"/>
                  <a:chExt cx="639" cy="568"/>
                </a:xfrm>
              </p:grpSpPr>
              <p:sp>
                <p:nvSpPr>
                  <p:cNvPr id="51245" name="Oval 48"/>
                  <p:cNvSpPr>
                    <a:spLocks noChangeArrowheads="1"/>
                  </p:cNvSpPr>
                  <p:nvPr/>
                </p:nvSpPr>
                <p:spPr bwMode="auto">
                  <a:xfrm>
                    <a:off x="210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46" name="Rectangle 49"/>
                  <p:cNvSpPr>
                    <a:spLocks noChangeArrowheads="1"/>
                  </p:cNvSpPr>
                  <p:nvPr/>
                </p:nvSpPr>
                <p:spPr bwMode="auto">
                  <a:xfrm>
                    <a:off x="209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51247" name="Oval 50"/>
                  <p:cNvSpPr>
                    <a:spLocks noChangeArrowheads="1"/>
                  </p:cNvSpPr>
                  <p:nvPr/>
                </p:nvSpPr>
                <p:spPr bwMode="auto">
                  <a:xfrm>
                    <a:off x="210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48" name="Line 51"/>
                  <p:cNvSpPr>
                    <a:spLocks noChangeShapeType="1"/>
                  </p:cNvSpPr>
                  <p:nvPr/>
                </p:nvSpPr>
                <p:spPr bwMode="auto">
                  <a:xfrm>
                    <a:off x="210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51249" name="Line 52"/>
                  <p:cNvSpPr>
                    <a:spLocks noChangeShapeType="1"/>
                  </p:cNvSpPr>
                  <p:nvPr/>
                </p:nvSpPr>
                <p:spPr bwMode="auto">
                  <a:xfrm>
                    <a:off x="273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51244" name="Line 53"/>
                <p:cNvSpPr>
                  <a:spLocks noChangeShapeType="1"/>
                </p:cNvSpPr>
                <p:nvPr/>
              </p:nvSpPr>
              <p:spPr bwMode="auto">
                <a:xfrm>
                  <a:off x="209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42" name="Line 54"/>
              <p:cNvSpPr>
                <a:spLocks noChangeShapeType="1"/>
              </p:cNvSpPr>
              <p:nvPr/>
            </p:nvSpPr>
            <p:spPr bwMode="auto">
              <a:xfrm>
                <a:off x="272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7" name="Group 55"/>
            <p:cNvGrpSpPr/>
            <p:nvPr/>
          </p:nvGrpSpPr>
          <p:grpSpPr bwMode="auto">
            <a:xfrm>
              <a:off x="5124450" y="3200400"/>
              <a:ext cx="747713" cy="990600"/>
              <a:chOff x="1317" y="3316"/>
              <a:chExt cx="639" cy="568"/>
            </a:xfrm>
          </p:grpSpPr>
          <p:grpSp>
            <p:nvGrpSpPr>
              <p:cNvPr id="18" name="Group 56"/>
              <p:cNvGrpSpPr/>
              <p:nvPr/>
            </p:nvGrpSpPr>
            <p:grpSpPr bwMode="auto">
              <a:xfrm>
                <a:off x="1317" y="3316"/>
                <a:ext cx="639" cy="568"/>
                <a:chOff x="1317" y="3316"/>
                <a:chExt cx="639" cy="568"/>
              </a:xfrm>
            </p:grpSpPr>
            <p:grpSp>
              <p:nvGrpSpPr>
                <p:cNvPr id="19" name="Group 57"/>
                <p:cNvGrpSpPr/>
                <p:nvPr/>
              </p:nvGrpSpPr>
              <p:grpSpPr bwMode="auto">
                <a:xfrm>
                  <a:off x="1317" y="3316"/>
                  <a:ext cx="639" cy="568"/>
                  <a:chOff x="1317" y="3316"/>
                  <a:chExt cx="639" cy="568"/>
                </a:xfrm>
              </p:grpSpPr>
              <p:sp>
                <p:nvSpPr>
                  <p:cNvPr id="51236" name="Oval 58"/>
                  <p:cNvSpPr>
                    <a:spLocks noChangeArrowheads="1"/>
                  </p:cNvSpPr>
                  <p:nvPr/>
                </p:nvSpPr>
                <p:spPr bwMode="auto">
                  <a:xfrm>
                    <a:off x="1321" y="3686"/>
                    <a:ext cx="621" cy="19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37" name="Rectangle 59"/>
                  <p:cNvSpPr>
                    <a:spLocks noChangeArrowheads="1"/>
                  </p:cNvSpPr>
                  <p:nvPr/>
                </p:nvSpPr>
                <p:spPr bwMode="auto">
                  <a:xfrm>
                    <a:off x="1317" y="3393"/>
                    <a:ext cx="639" cy="3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51238" name="Oval 60"/>
                  <p:cNvSpPr>
                    <a:spLocks noChangeArrowheads="1"/>
                  </p:cNvSpPr>
                  <p:nvPr/>
                </p:nvSpPr>
                <p:spPr bwMode="auto">
                  <a:xfrm>
                    <a:off x="1321" y="3316"/>
                    <a:ext cx="621" cy="128"/>
                  </a:xfrm>
                  <a:prstGeom prst="ellipse">
                    <a:avLst/>
                  </a:prstGeom>
                  <a:solidFill>
                    <a:srgbClr val="FFFF00"/>
                  </a:solidFill>
                  <a:ln w="12700">
                    <a:solidFill>
                      <a:schemeClr val="tx1"/>
                    </a:solidFill>
                    <a:round/>
                  </a:ln>
                </p:spPr>
                <p:txBody>
                  <a:bodyPr wrap="none" anchor="ctr"/>
                  <a:lstStyle/>
                  <a:p>
                    <a:pPr algn="ctr"/>
                    <a:endParaRPr lang="zh-CN" altLang="en-US"/>
                  </a:p>
                </p:txBody>
              </p:sp>
              <p:sp>
                <p:nvSpPr>
                  <p:cNvPr id="51239" name="Line 61"/>
                  <p:cNvSpPr>
                    <a:spLocks noChangeShapeType="1"/>
                  </p:cNvSpPr>
                  <p:nvPr/>
                </p:nvSpPr>
                <p:spPr bwMode="auto">
                  <a:xfrm>
                    <a:off x="1323" y="3399"/>
                    <a:ext cx="0" cy="38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sp>
                <p:nvSpPr>
                  <p:cNvPr id="51240" name="Line 62"/>
                  <p:cNvSpPr>
                    <a:spLocks noChangeShapeType="1"/>
                  </p:cNvSpPr>
                  <p:nvPr/>
                </p:nvSpPr>
                <p:spPr bwMode="auto">
                  <a:xfrm>
                    <a:off x="1952" y="3399"/>
                    <a:ext cx="0" cy="40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zh-CN" altLang="en-US"/>
                  </a:p>
                </p:txBody>
              </p:sp>
            </p:grpSp>
            <p:sp>
              <p:nvSpPr>
                <p:cNvPr id="51235" name="Line 63"/>
                <p:cNvSpPr>
                  <a:spLocks noChangeShapeType="1"/>
                </p:cNvSpPr>
                <p:nvPr/>
              </p:nvSpPr>
              <p:spPr bwMode="auto">
                <a:xfrm>
                  <a:off x="1319"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33" name="Line 64"/>
              <p:cNvSpPr>
                <a:spLocks noChangeShapeType="1"/>
              </p:cNvSpPr>
              <p:nvPr/>
            </p:nvSpPr>
            <p:spPr bwMode="auto">
              <a:xfrm>
                <a:off x="1946" y="3390"/>
                <a:ext cx="0" cy="41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11" name="Rectangle 65"/>
            <p:cNvSpPr>
              <a:spLocks noChangeArrowheads="1"/>
            </p:cNvSpPr>
            <p:nvPr/>
          </p:nvSpPr>
          <p:spPr bwMode="auto">
            <a:xfrm>
              <a:off x="5105400" y="3581400"/>
              <a:ext cx="762000" cy="304800"/>
            </a:xfrm>
            <a:prstGeom prst="rect">
              <a:avLst/>
            </a:prstGeom>
            <a:gradFill rotWithShape="0">
              <a:gsLst>
                <a:gs pos="0">
                  <a:schemeClr val="folHlink"/>
                </a:gs>
                <a:gs pos="100000">
                  <a:srgbClr val="FFFFFF"/>
                </a:gs>
              </a:gsLst>
              <a:lin ang="2700000" scaled="1"/>
            </a:gra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algn="ctr"/>
              <a:endParaRPr lang="zh-CN" altLang="en-US"/>
            </a:p>
          </p:txBody>
        </p:sp>
        <p:sp>
          <p:nvSpPr>
            <p:cNvPr id="51212" name="Rectangle 66"/>
            <p:cNvSpPr>
              <a:spLocks noChangeArrowheads="1"/>
            </p:cNvSpPr>
            <p:nvPr/>
          </p:nvSpPr>
          <p:spPr bwMode="auto">
            <a:xfrm>
              <a:off x="6324600" y="3581400"/>
              <a:ext cx="762000" cy="304800"/>
            </a:xfrm>
            <a:prstGeom prst="rect">
              <a:avLst/>
            </a:prstGeom>
            <a:gradFill rotWithShape="0">
              <a:gsLst>
                <a:gs pos="0">
                  <a:schemeClr val="folHlink"/>
                </a:gs>
                <a:gs pos="100000">
                  <a:srgbClr val="FFFFFF"/>
                </a:gs>
              </a:gsLst>
              <a:lin ang="2700000" scaled="1"/>
            </a:gra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algn="ctr"/>
              <a:endParaRPr lang="zh-CN" altLang="en-US"/>
            </a:p>
          </p:txBody>
        </p:sp>
        <p:sp>
          <p:nvSpPr>
            <p:cNvPr id="51213" name="Rectangle 67"/>
            <p:cNvSpPr>
              <a:spLocks noChangeArrowheads="1"/>
            </p:cNvSpPr>
            <p:nvPr/>
          </p:nvSpPr>
          <p:spPr bwMode="auto">
            <a:xfrm>
              <a:off x="7543800" y="3581400"/>
              <a:ext cx="762000" cy="304800"/>
            </a:xfrm>
            <a:prstGeom prst="rect">
              <a:avLst/>
            </a:prstGeom>
            <a:gradFill rotWithShape="0">
              <a:gsLst>
                <a:gs pos="0">
                  <a:schemeClr val="folHlink"/>
                </a:gs>
                <a:gs pos="100000">
                  <a:srgbClr val="FFFFFF"/>
                </a:gs>
              </a:gsLst>
              <a:lin ang="2700000" scaled="1"/>
            </a:gra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algn="ctr"/>
              <a:endParaRPr lang="zh-CN" altLang="en-US"/>
            </a:p>
          </p:txBody>
        </p:sp>
        <p:sp>
          <p:nvSpPr>
            <p:cNvPr id="51214" name="Rectangle 68"/>
            <p:cNvSpPr>
              <a:spLocks noChangeArrowheads="1"/>
            </p:cNvSpPr>
            <p:nvPr/>
          </p:nvSpPr>
          <p:spPr bwMode="auto">
            <a:xfrm>
              <a:off x="5105400" y="4648200"/>
              <a:ext cx="762000" cy="304800"/>
            </a:xfrm>
            <a:prstGeom prst="rect">
              <a:avLst/>
            </a:prstGeom>
            <a:gradFill rotWithShape="0">
              <a:gsLst>
                <a:gs pos="0">
                  <a:schemeClr val="folHlink"/>
                </a:gs>
                <a:gs pos="100000">
                  <a:srgbClr val="FFFFFF"/>
                </a:gs>
              </a:gsLst>
              <a:lin ang="2700000" scaled="1"/>
            </a:gra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algn="ctr"/>
              <a:endParaRPr lang="zh-CN" altLang="en-US"/>
            </a:p>
          </p:txBody>
        </p:sp>
        <p:sp>
          <p:nvSpPr>
            <p:cNvPr id="51215" name="Rectangle 69"/>
            <p:cNvSpPr>
              <a:spLocks noChangeArrowheads="1"/>
            </p:cNvSpPr>
            <p:nvPr/>
          </p:nvSpPr>
          <p:spPr bwMode="auto">
            <a:xfrm>
              <a:off x="6324600" y="4648200"/>
              <a:ext cx="762000" cy="304800"/>
            </a:xfrm>
            <a:prstGeom prst="rect">
              <a:avLst/>
            </a:prstGeom>
            <a:gradFill rotWithShape="0">
              <a:gsLst>
                <a:gs pos="0">
                  <a:schemeClr val="folHlink"/>
                </a:gs>
                <a:gs pos="100000">
                  <a:srgbClr val="FFFFFF"/>
                </a:gs>
              </a:gsLst>
              <a:lin ang="2700000" scaled="1"/>
            </a:gra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algn="ctr"/>
              <a:endParaRPr lang="zh-CN" altLang="en-US"/>
            </a:p>
          </p:txBody>
        </p:sp>
        <p:sp>
          <p:nvSpPr>
            <p:cNvPr id="51216" name="Rectangle 70"/>
            <p:cNvSpPr>
              <a:spLocks noChangeArrowheads="1"/>
            </p:cNvSpPr>
            <p:nvPr/>
          </p:nvSpPr>
          <p:spPr bwMode="auto">
            <a:xfrm>
              <a:off x="7467600" y="4648200"/>
              <a:ext cx="762000" cy="304800"/>
            </a:xfrm>
            <a:prstGeom prst="rect">
              <a:avLst/>
            </a:prstGeom>
            <a:gradFill rotWithShape="0">
              <a:gsLst>
                <a:gs pos="0">
                  <a:schemeClr val="folHlink"/>
                </a:gs>
                <a:gs pos="100000">
                  <a:srgbClr val="FFFFFF"/>
                </a:gs>
              </a:gsLst>
              <a:lin ang="2700000" scaled="1"/>
            </a:gra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p>
              <a:pPr algn="ctr"/>
              <a:endParaRPr lang="zh-CN" altLang="en-US"/>
            </a:p>
          </p:txBody>
        </p:sp>
        <p:grpSp>
          <p:nvGrpSpPr>
            <p:cNvPr id="20" name="Group 71"/>
            <p:cNvGrpSpPr/>
            <p:nvPr/>
          </p:nvGrpSpPr>
          <p:grpSpPr bwMode="auto">
            <a:xfrm>
              <a:off x="5257800" y="3505200"/>
              <a:ext cx="381000" cy="381000"/>
              <a:chOff x="432" y="3120"/>
              <a:chExt cx="240" cy="240"/>
            </a:xfrm>
          </p:grpSpPr>
          <p:sp>
            <p:nvSpPr>
              <p:cNvPr id="51230" name="Line 72"/>
              <p:cNvSpPr>
                <a:spLocks noChangeShapeType="1"/>
              </p:cNvSpPr>
              <p:nvPr/>
            </p:nvSpPr>
            <p:spPr bwMode="auto">
              <a:xfrm flipH="1">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1" name="Line 73"/>
              <p:cNvSpPr>
                <a:spLocks noChangeShapeType="1"/>
              </p:cNvSpPr>
              <p:nvPr/>
            </p:nvSpPr>
            <p:spPr bwMode="auto">
              <a:xfrm>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 name="Group 74"/>
            <p:cNvGrpSpPr/>
            <p:nvPr/>
          </p:nvGrpSpPr>
          <p:grpSpPr bwMode="auto">
            <a:xfrm>
              <a:off x="7696200" y="3505200"/>
              <a:ext cx="381000" cy="381000"/>
              <a:chOff x="432" y="3120"/>
              <a:chExt cx="240" cy="240"/>
            </a:xfrm>
          </p:grpSpPr>
          <p:sp>
            <p:nvSpPr>
              <p:cNvPr id="51228" name="Line 75"/>
              <p:cNvSpPr>
                <a:spLocks noChangeShapeType="1"/>
              </p:cNvSpPr>
              <p:nvPr/>
            </p:nvSpPr>
            <p:spPr bwMode="auto">
              <a:xfrm flipH="1">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9" name="Line 76"/>
              <p:cNvSpPr>
                <a:spLocks noChangeShapeType="1"/>
              </p:cNvSpPr>
              <p:nvPr/>
            </p:nvSpPr>
            <p:spPr bwMode="auto">
              <a:xfrm>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2" name="Group 77"/>
            <p:cNvGrpSpPr/>
            <p:nvPr/>
          </p:nvGrpSpPr>
          <p:grpSpPr bwMode="auto">
            <a:xfrm>
              <a:off x="5257800" y="4572000"/>
              <a:ext cx="381000" cy="381000"/>
              <a:chOff x="432" y="3120"/>
              <a:chExt cx="240" cy="240"/>
            </a:xfrm>
          </p:grpSpPr>
          <p:sp>
            <p:nvSpPr>
              <p:cNvPr id="51226" name="Line 78"/>
              <p:cNvSpPr>
                <a:spLocks noChangeShapeType="1"/>
              </p:cNvSpPr>
              <p:nvPr/>
            </p:nvSpPr>
            <p:spPr bwMode="auto">
              <a:xfrm flipH="1">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7" name="Line 79"/>
              <p:cNvSpPr>
                <a:spLocks noChangeShapeType="1"/>
              </p:cNvSpPr>
              <p:nvPr/>
            </p:nvSpPr>
            <p:spPr bwMode="auto">
              <a:xfrm>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3" name="Group 80"/>
            <p:cNvGrpSpPr/>
            <p:nvPr/>
          </p:nvGrpSpPr>
          <p:grpSpPr bwMode="auto">
            <a:xfrm>
              <a:off x="6553200" y="4572000"/>
              <a:ext cx="381000" cy="381000"/>
              <a:chOff x="432" y="3120"/>
              <a:chExt cx="240" cy="240"/>
            </a:xfrm>
          </p:grpSpPr>
          <p:sp>
            <p:nvSpPr>
              <p:cNvPr id="51224" name="Line 81"/>
              <p:cNvSpPr>
                <a:spLocks noChangeShapeType="1"/>
              </p:cNvSpPr>
              <p:nvPr/>
            </p:nvSpPr>
            <p:spPr bwMode="auto">
              <a:xfrm flipH="1">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5" name="Line 82"/>
              <p:cNvSpPr>
                <a:spLocks noChangeShapeType="1"/>
              </p:cNvSpPr>
              <p:nvPr/>
            </p:nvSpPr>
            <p:spPr bwMode="auto">
              <a:xfrm>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4" name="Group 83"/>
            <p:cNvGrpSpPr/>
            <p:nvPr/>
          </p:nvGrpSpPr>
          <p:grpSpPr bwMode="auto">
            <a:xfrm>
              <a:off x="7696200" y="4572000"/>
              <a:ext cx="381000" cy="381000"/>
              <a:chOff x="432" y="3120"/>
              <a:chExt cx="240" cy="240"/>
            </a:xfrm>
          </p:grpSpPr>
          <p:sp>
            <p:nvSpPr>
              <p:cNvPr id="51222" name="Line 84"/>
              <p:cNvSpPr>
                <a:spLocks noChangeShapeType="1"/>
              </p:cNvSpPr>
              <p:nvPr/>
            </p:nvSpPr>
            <p:spPr bwMode="auto">
              <a:xfrm flipH="1">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3" name="Line 85"/>
              <p:cNvSpPr>
                <a:spLocks noChangeShapeType="1"/>
              </p:cNvSpPr>
              <p:nvPr/>
            </p:nvSpPr>
            <p:spPr bwMode="auto">
              <a:xfrm>
                <a:off x="432" y="3120"/>
                <a:ext cx="240" cy="240"/>
              </a:xfrm>
              <a:prstGeom prst="line">
                <a:avLst/>
              </a:prstGeom>
              <a:noFill/>
              <a:ln w="381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表达式分片的原则</a:t>
            </a:r>
          </a:p>
        </p:txBody>
      </p:sp>
      <p:sp>
        <p:nvSpPr>
          <p:cNvPr id="52227" name="Rectangle 3"/>
          <p:cNvSpPr>
            <a:spLocks noGrp="1" noChangeArrowheads="1"/>
          </p:cNvSpPr>
          <p:nvPr>
            <p:ph type="body" sz="quarter" idx="10"/>
          </p:nvPr>
        </p:nvSpPr>
        <p:spPr/>
        <p:txBody>
          <a:bodyPr/>
          <a:lstStyle/>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把不同分片的数据尽量分配到不同的设备</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上</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尽力保持表达式简洁，注意顺序，选择性高的放在前面，选择性低的放在后面，常用的放在</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前面</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同一个表达式中最严格的部分放在前面，以避免不必要的表达式</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验证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尽量创建连续的没有交叉区域的分片</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，以便分</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片忽</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略能够生效</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0000"/>
                </a:solidFill>
                <a:cs typeface="宋体" panose="02010600030101010101" pitchFamily="2" charset="-122"/>
              </a:rPr>
              <a:t>分片表</a:t>
            </a:r>
            <a:r>
              <a:rPr lang="zh-CN" altLang="en-US" dirty="0" smtClean="0">
                <a:solidFill>
                  <a:srgbClr val="000000"/>
                </a:solidFill>
                <a:cs typeface="宋体" panose="02010600030101010101" pitchFamily="2" charset="-122"/>
              </a:rPr>
              <a:t>与统计信息更新</a:t>
            </a:r>
            <a:r>
              <a:rPr lang="en-US" altLang="zh-CN" dirty="0" smtClean="0">
                <a:solidFill>
                  <a:srgbClr val="000000"/>
                </a:solidFill>
                <a:cs typeface="宋体" panose="02010600030101010101" pitchFamily="2" charset="-122"/>
              </a:rPr>
              <a:t>(update statistics)</a:t>
            </a:r>
            <a:endParaRPr kumimoji="1" lang="zh-CN" altLang="en-US" dirty="0">
              <a:solidFill>
                <a:srgbClr val="000000"/>
              </a:solidFill>
            </a:endParaRPr>
          </a:p>
        </p:txBody>
      </p:sp>
      <p:sp>
        <p:nvSpPr>
          <p:cNvPr id="3" name="文本占位符 2"/>
          <p:cNvSpPr>
            <a:spLocks noGrp="1"/>
          </p:cNvSpPr>
          <p:nvPr>
            <p:ph type="body" sz="quarter" idx="10"/>
          </p:nvPr>
        </p:nvSpPr>
        <p:spPr/>
        <p:txBody>
          <a:bodyPr/>
          <a:lstStyle/>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表数据量非常大，很多情况下无法完成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update statistics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操作</a:t>
            </a: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为保证优化器的正确执行，对分片表进行了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alter fragment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操作后，建议：</a:t>
            </a:r>
          </a:p>
          <a:p>
            <a:pPr lvl="1">
              <a:lnSpc>
                <a:spcPct val="200000"/>
              </a:lnSpc>
              <a:buFont typeface="Webdings" panose="05030102010509060703" charset="0"/>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Update statistics low for table </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tabname</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分片字段</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其他情况只对索引第一个字段进行统计更新即</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支持对</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指定的分片进行统计信息更新</a:t>
            </a:r>
          </a:p>
          <a:p>
            <a:endParaRPr kumimoji="1" lang="zh-CN" altLang="en-US" dirty="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0000"/>
                </a:solidFill>
                <a:latin typeface="Arial" panose="020B0604020202020204" pitchFamily="34" charset="0"/>
                <a:cs typeface="宋体" panose="02010600030101010101" pitchFamily="2" charset="-122"/>
              </a:rPr>
              <a:t>关于</a:t>
            </a:r>
            <a:r>
              <a:rPr lang="en-US" altLang="zh-CN" dirty="0">
                <a:solidFill>
                  <a:srgbClr val="000000"/>
                </a:solidFill>
                <a:latin typeface="Arial" panose="020B0604020202020204" pitchFamily="34" charset="0"/>
                <a:cs typeface="宋体" panose="02010600030101010101" pitchFamily="2" charset="-122"/>
              </a:rPr>
              <a:t>ROWIDS</a:t>
            </a:r>
            <a:endParaRPr kumimoji="1" lang="zh-CN" altLang="en-US" dirty="0">
              <a:solidFill>
                <a:srgbClr val="000000"/>
              </a:solidFill>
            </a:endParaRPr>
          </a:p>
        </p:txBody>
      </p:sp>
      <p:sp>
        <p:nvSpPr>
          <p:cNvPr id="3" name="文本占位符 2"/>
          <p:cNvSpPr>
            <a:spLocks noGrp="1"/>
          </p:cNvSpPr>
          <p:nvPr>
            <p:ph type="body" sz="quarter" idx="10"/>
          </p:nvPr>
        </p:nvSpPr>
        <p:spPr>
          <a:xfrm>
            <a:off x="755650" y="1248410"/>
            <a:ext cx="10718800" cy="5193030"/>
          </a:xfrm>
        </p:spPr>
        <p:txBody>
          <a:bodyPr>
            <a:normAutofit/>
          </a:bodyPr>
          <a:lstStyle/>
          <a:p>
            <a:pPr>
              <a:lnSpc>
                <a:spcPct val="150000"/>
              </a:lnSpc>
            </a:pPr>
            <a:r>
              <a:rPr lang="zh-CN" altLang="en-US" dirty="0">
                <a:latin typeface="Arial" panose="020B0604020202020204" pitchFamily="34" charset="0"/>
                <a:cs typeface="宋体" panose="02010600030101010101" pitchFamily="2" charset="-122"/>
              </a:rPr>
              <a:t>分片表中的</a:t>
            </a:r>
            <a:r>
              <a:rPr lang="en-US" altLang="zh-CN" dirty="0" err="1">
                <a:latin typeface="Arial" panose="020B0604020202020204" pitchFamily="34" charset="0"/>
                <a:cs typeface="宋体" panose="02010600030101010101" pitchFamily="2" charset="-122"/>
              </a:rPr>
              <a:t>rowid</a:t>
            </a:r>
            <a:r>
              <a:rPr lang="zh-CN" altLang="en-US" dirty="0">
                <a:latin typeface="Arial" panose="020B0604020202020204" pitchFamily="34" charset="0"/>
                <a:cs typeface="宋体" panose="02010600030101010101" pitchFamily="2" charset="-122"/>
              </a:rPr>
              <a:t>不是唯一</a:t>
            </a:r>
          </a:p>
          <a:p>
            <a:pPr>
              <a:lnSpc>
                <a:spcPct val="150000"/>
              </a:lnSpc>
            </a:pPr>
            <a:r>
              <a:rPr lang="zh-CN" altLang="en-US" dirty="0">
                <a:latin typeface="Arial" panose="020B0604020202020204" pitchFamily="34" charset="0"/>
                <a:cs typeface="宋体" panose="02010600030101010101" pitchFamily="2" charset="-122"/>
              </a:rPr>
              <a:t>如果需要在分片表中使用</a:t>
            </a:r>
            <a:r>
              <a:rPr lang="en-US" altLang="zh-CN" dirty="0" err="1">
                <a:latin typeface="Arial" panose="020B0604020202020204" pitchFamily="34" charset="0"/>
                <a:cs typeface="宋体" panose="02010600030101010101" pitchFamily="2" charset="-122"/>
              </a:rPr>
              <a:t>rowid</a:t>
            </a:r>
            <a:r>
              <a:rPr lang="zh-CN" altLang="en-US" dirty="0">
                <a:latin typeface="Arial" panose="020B0604020202020204" pitchFamily="34" charset="0"/>
                <a:cs typeface="宋体" panose="02010600030101010101" pitchFamily="2" charset="-122"/>
              </a:rPr>
              <a:t>，则必须明确的创建该列：</a:t>
            </a:r>
          </a:p>
          <a:p>
            <a:pPr>
              <a:lnSpc>
                <a:spcPct val="150000"/>
              </a:lnSpc>
            </a:pPr>
            <a:endParaRPr kumimoji="1" lang="zh-CN" altLang="en-US" dirty="0"/>
          </a:p>
        </p:txBody>
      </p:sp>
      <p:sp>
        <p:nvSpPr>
          <p:cNvPr id="4" name="内容占位符 3"/>
          <p:cNvSpPr>
            <a:spLocks noGrp="1"/>
          </p:cNvSpPr>
          <p:nvPr>
            <p:ph idx="4294967295"/>
          </p:nvPr>
        </p:nvSpPr>
        <p:spPr>
          <a:xfrm>
            <a:off x="2697480" y="2577465"/>
            <a:ext cx="7392670" cy="3787140"/>
          </a:xfrm>
          <a:solidFill>
            <a:schemeClr val="bg1">
              <a:lumMod val="85000"/>
            </a:schemeClr>
          </a:solidFill>
          <a:ln w="3175">
            <a:solidFill>
              <a:schemeClr val="bg1">
                <a:lumMod val="50000"/>
              </a:schemeClr>
            </a:solidFill>
          </a:ln>
        </p:spPr>
        <p:txBody>
          <a:bodyPr/>
          <a:lstStyle/>
          <a:p>
            <a:pPr marL="0" indent="0">
              <a:lnSpc>
                <a:spcPct val="150000"/>
              </a:lnSpc>
              <a:buNone/>
            </a:pPr>
            <a:r>
              <a:rPr kumimoji="1" lang="en-US" altLang="zh-CN" sz="1600" dirty="0" smtClean="0"/>
              <a:t>	CREATE TABLE orders(</a:t>
            </a:r>
          </a:p>
          <a:p>
            <a:pPr marL="0" indent="0">
              <a:lnSpc>
                <a:spcPct val="150000"/>
              </a:lnSpc>
              <a:buNone/>
            </a:pPr>
            <a:r>
              <a:rPr kumimoji="1" lang="en-US" altLang="zh-CN" sz="1600" dirty="0" smtClean="0"/>
              <a:t>	</a:t>
            </a:r>
            <a:r>
              <a:rPr kumimoji="1" lang="en-US" altLang="zh-CN" sz="1600" dirty="0" err="1" smtClean="0"/>
              <a:t>Order_num</a:t>
            </a:r>
            <a:r>
              <a:rPr kumimoji="1" lang="en-US" altLang="zh-CN" sz="1600" dirty="0" smtClean="0"/>
              <a:t> SERIAL,</a:t>
            </a:r>
          </a:p>
          <a:p>
            <a:pPr marL="0" indent="0">
              <a:lnSpc>
                <a:spcPct val="150000"/>
              </a:lnSpc>
              <a:buNone/>
            </a:pPr>
            <a:r>
              <a:rPr kumimoji="1" lang="en-US" altLang="zh-CN" sz="1600" dirty="0" smtClean="0"/>
              <a:t>	</a:t>
            </a:r>
            <a:r>
              <a:rPr kumimoji="1" lang="en-US" altLang="zh-CN" sz="1600" dirty="0" err="1" smtClean="0"/>
              <a:t>Customer_num</a:t>
            </a:r>
            <a:r>
              <a:rPr kumimoji="1" lang="en-US" altLang="zh-CN" sz="1600" dirty="0" smtClean="0"/>
              <a:t> INTEGER,</a:t>
            </a:r>
          </a:p>
          <a:p>
            <a:pPr marL="0" indent="0">
              <a:lnSpc>
                <a:spcPct val="150000"/>
              </a:lnSpc>
              <a:buNone/>
            </a:pPr>
            <a:r>
              <a:rPr kumimoji="1" lang="en-US" altLang="zh-CN" sz="1600" dirty="0" smtClean="0"/>
              <a:t>	</a:t>
            </a:r>
            <a:r>
              <a:rPr kumimoji="1" lang="en-US" altLang="zh-CN" sz="1600" dirty="0" err="1" smtClean="0"/>
              <a:t>Part_num</a:t>
            </a:r>
            <a:r>
              <a:rPr kumimoji="1" lang="en-US" altLang="zh-CN" sz="1600" dirty="0" smtClean="0"/>
              <a:t> CHAR(20) )</a:t>
            </a:r>
          </a:p>
          <a:p>
            <a:pPr marL="0" indent="0">
              <a:lnSpc>
                <a:spcPct val="150000"/>
              </a:lnSpc>
              <a:buNone/>
            </a:pPr>
            <a:r>
              <a:rPr kumimoji="1" lang="en-US" altLang="zh-CN" sz="1600" dirty="0" smtClean="0"/>
              <a:t>	WITH ROWIDS</a:t>
            </a:r>
          </a:p>
          <a:p>
            <a:pPr marL="0" indent="0">
              <a:lnSpc>
                <a:spcPct val="150000"/>
              </a:lnSpc>
              <a:buNone/>
            </a:pPr>
            <a:r>
              <a:rPr kumimoji="1" lang="en-US" altLang="zh-CN" sz="1600" dirty="0" smtClean="0"/>
              <a:t>	FRAGMENT by ROUND ROBIN IN dbs1 dbs2;</a:t>
            </a:r>
          </a:p>
          <a:p>
            <a:pPr marL="0" indent="0">
              <a:lnSpc>
                <a:spcPct val="150000"/>
              </a:lnSpc>
              <a:buNone/>
            </a:pPr>
            <a:r>
              <a:rPr kumimoji="1" lang="en-US" altLang="zh-CN" sz="1600" dirty="0" smtClean="0"/>
              <a:t>	ALTER TABLE items ADD ROWIDS;</a:t>
            </a:r>
          </a:p>
          <a:p>
            <a:pPr marL="0" indent="0">
              <a:lnSpc>
                <a:spcPct val="150000"/>
              </a:lnSpc>
              <a:buNone/>
            </a:pPr>
            <a:r>
              <a:rPr kumimoji="1" lang="en-US" altLang="zh-CN" sz="1600" dirty="0" smtClean="0"/>
              <a:t>	ALTER TABLE items DROP ROWIDS;</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smtClean="0">
                <a:solidFill>
                  <a:schemeClr val="tx2"/>
                </a:solidFill>
                <a:latin typeface="微软雅黑" panose="020B0503020204020204" pitchFamily="34" charset="-122"/>
                <a:ea typeface="微软雅黑" panose="020B0503020204020204" pitchFamily="34" charset="-122"/>
                <a:cs typeface="微软雅黑" panose="020B0503020204020204" pitchFamily="34" charset="-122"/>
              </a:rPr>
              <a:t>创建分片的临时表</a:t>
            </a:r>
            <a:endParaRPr lang="zh-CN" altLang="en-US" dirty="0">
              <a:solidFill>
                <a:schemeClr val="tx2"/>
              </a:solidFill>
            </a:endParaRPr>
          </a:p>
        </p:txBody>
      </p:sp>
      <p:sp>
        <p:nvSpPr>
          <p:cNvPr id="4" name="文本占位符 3"/>
          <p:cNvSpPr>
            <a:spLocks noGrp="1"/>
          </p:cNvSpPr>
          <p:nvPr>
            <p:ph type="body" sz="quarter" idx="10"/>
          </p:nvPr>
        </p:nvSpPr>
        <p:spPr>
          <a:noFill/>
        </p:spPr>
        <p:txBody>
          <a:bodyPr/>
          <a:lstStyle/>
          <a:p>
            <a:pPr>
              <a:lnSpc>
                <a:spcPct val="150000"/>
              </a:lnSpc>
              <a:buFont typeface="Arial" panose="020B0604020202020204" pitchFamily="34" charset="0"/>
              <a:buChar char="•"/>
            </a:pPr>
            <a:r>
              <a:rPr lang="zh-CN" altLang="en-US" sz="1400" dirty="0" smtClean="0">
                <a:solidFill>
                  <a:schemeClr val="tx2"/>
                </a:solidFill>
                <a:latin typeface="Arial" panose="020B0604020202020204" pitchFamily="34" charset="0"/>
                <a:cs typeface="宋体" panose="02010600030101010101" pitchFamily="2" charset="-122"/>
              </a:rPr>
              <a:t>轮转法</a:t>
            </a:r>
          </a:p>
          <a:p>
            <a:pPr marL="342900" lvl="1" indent="0">
              <a:lnSpc>
                <a:spcPct val="150000"/>
              </a:lnSpc>
              <a:buNone/>
            </a:pPr>
            <a:r>
              <a:rPr kumimoji="1" lang="en-US" altLang="zh-CN" sz="1400" dirty="0" smtClean="0">
                <a:solidFill>
                  <a:schemeClr val="tx2"/>
                </a:solidFill>
              </a:rPr>
              <a:t>CREATE </a:t>
            </a:r>
            <a:r>
              <a:rPr kumimoji="1" lang="en-US" altLang="zh-CN" sz="1400" dirty="0">
                <a:solidFill>
                  <a:schemeClr val="tx2"/>
                </a:solidFill>
              </a:rPr>
              <a:t>TEMP TABLE </a:t>
            </a:r>
            <a:r>
              <a:rPr kumimoji="1" lang="en-US" altLang="zh-CN" sz="1400" dirty="0" err="1">
                <a:solidFill>
                  <a:schemeClr val="tx2"/>
                </a:solidFill>
              </a:rPr>
              <a:t>temp_table</a:t>
            </a:r>
            <a:r>
              <a:rPr kumimoji="1" lang="en-US" altLang="zh-CN" sz="1400" dirty="0">
                <a:solidFill>
                  <a:schemeClr val="tx2"/>
                </a:solidFill>
              </a:rPr>
              <a:t> </a:t>
            </a:r>
            <a:r>
              <a:rPr kumimoji="1" lang="en-US" altLang="zh-CN" sz="1400" dirty="0" smtClean="0">
                <a:solidFill>
                  <a:schemeClr val="tx2"/>
                </a:solidFill>
              </a:rPr>
              <a:t>(column1  INTEGER,</a:t>
            </a:r>
            <a:r>
              <a:rPr kumimoji="1" lang="en-US" altLang="zh-CN" sz="1400" dirty="0">
                <a:solidFill>
                  <a:schemeClr val="tx2"/>
                </a:solidFill>
              </a:rPr>
              <a:t> </a:t>
            </a:r>
            <a:r>
              <a:rPr kumimoji="1" lang="en-US" altLang="zh-CN" sz="1400" dirty="0" smtClean="0">
                <a:solidFill>
                  <a:schemeClr val="tx2"/>
                </a:solidFill>
              </a:rPr>
              <a:t>column2  </a:t>
            </a:r>
            <a:r>
              <a:rPr kumimoji="1" lang="en-US" altLang="zh-CN" sz="1400" dirty="0">
                <a:solidFill>
                  <a:schemeClr val="tx2"/>
                </a:solidFill>
              </a:rPr>
              <a:t>CHAR(10</a:t>
            </a:r>
            <a:r>
              <a:rPr kumimoji="1" lang="en-US" altLang="zh-CN" sz="1080" dirty="0" smtClean="0">
                <a:solidFill>
                  <a:schemeClr val="tx2"/>
                </a:solidFill>
              </a:rPr>
              <a:t>) )</a:t>
            </a:r>
          </a:p>
          <a:p>
            <a:pPr marL="342900" lvl="1" indent="0">
              <a:lnSpc>
                <a:spcPct val="150000"/>
              </a:lnSpc>
              <a:buNone/>
            </a:pPr>
            <a:r>
              <a:rPr kumimoji="1" lang="en-US" altLang="zh-CN" sz="1400" dirty="0">
                <a:solidFill>
                  <a:schemeClr val="tx2"/>
                </a:solidFill>
              </a:rPr>
              <a:t>WITH NO LOG PRAGMENT BY ROUND ROBIN</a:t>
            </a:r>
          </a:p>
          <a:p>
            <a:pPr marL="342900" lvl="1" indent="0">
              <a:lnSpc>
                <a:spcPct val="150000"/>
              </a:lnSpc>
              <a:buNone/>
            </a:pPr>
            <a:r>
              <a:rPr kumimoji="1" lang="en-US" altLang="zh-CN" sz="1400" dirty="0">
                <a:solidFill>
                  <a:schemeClr val="tx2"/>
                </a:solidFill>
              </a:rPr>
              <a:t>IN tempdbs1, tempdbs2, tempdbs3</a:t>
            </a:r>
            <a:r>
              <a:rPr kumimoji="1" lang="en-US" altLang="zh-CN" sz="1400" dirty="0" smtClean="0">
                <a:solidFill>
                  <a:schemeClr val="tx2"/>
                </a:solidFill>
              </a:rPr>
              <a:t>;</a:t>
            </a:r>
          </a:p>
          <a:p>
            <a:pPr>
              <a:lnSpc>
                <a:spcPct val="150000"/>
              </a:lnSpc>
              <a:buFont typeface="Arial" panose="020B0604020202020204" pitchFamily="34" charset="0"/>
              <a:buChar char="•"/>
            </a:pPr>
            <a:r>
              <a:rPr lang="zh-CN" altLang="en-US" sz="1200" dirty="0" smtClean="0">
                <a:solidFill>
                  <a:schemeClr val="tx2"/>
                </a:solidFill>
                <a:latin typeface="Arial" panose="020B0604020202020204" pitchFamily="34" charset="0"/>
                <a:cs typeface="宋体" panose="02010600030101010101" pitchFamily="2" charset="-122"/>
              </a:rPr>
              <a:t>基于表达式</a:t>
            </a:r>
          </a:p>
          <a:p>
            <a:pPr marL="342900" lvl="1" indent="0">
              <a:lnSpc>
                <a:spcPct val="150000"/>
              </a:lnSpc>
              <a:buNone/>
            </a:pPr>
            <a:r>
              <a:rPr kumimoji="1" lang="en-US" altLang="zh-CN" sz="1400" dirty="0" smtClean="0">
                <a:solidFill>
                  <a:schemeClr val="tx2"/>
                </a:solidFill>
              </a:rPr>
              <a:t>CREATE TEMP </a:t>
            </a:r>
            <a:r>
              <a:rPr kumimoji="1" lang="en-US" altLang="zh-CN" sz="1400" dirty="0" err="1" smtClean="0">
                <a:solidFill>
                  <a:schemeClr val="tx2"/>
                </a:solidFill>
              </a:rPr>
              <a:t>temp_table</a:t>
            </a:r>
            <a:r>
              <a:rPr kumimoji="1" lang="en-US" altLang="zh-CN" sz="1400" dirty="0" smtClean="0">
                <a:solidFill>
                  <a:schemeClr val="tx2"/>
                </a:solidFill>
              </a:rPr>
              <a:t>(column1 INTEGER, column2 CHAR(10) )</a:t>
            </a:r>
          </a:p>
          <a:p>
            <a:pPr marL="342900" lvl="1" indent="0">
              <a:lnSpc>
                <a:spcPct val="150000"/>
              </a:lnSpc>
              <a:buNone/>
            </a:pPr>
            <a:r>
              <a:rPr kumimoji="1" lang="en-US" altLang="zh-CN" sz="1400" dirty="0" smtClean="0">
                <a:solidFill>
                  <a:schemeClr val="tx2"/>
                </a:solidFill>
              </a:rPr>
              <a:t>WITH NO LOG FRAGMENT BY EXPRESSION</a:t>
            </a:r>
          </a:p>
          <a:p>
            <a:pPr marL="342900" lvl="1" indent="0">
              <a:lnSpc>
                <a:spcPct val="150000"/>
              </a:lnSpc>
              <a:buNone/>
            </a:pPr>
            <a:r>
              <a:rPr kumimoji="1" lang="en-US" altLang="zh-CN" sz="1400" dirty="0" smtClean="0">
                <a:solidFill>
                  <a:schemeClr val="tx2"/>
                </a:solidFill>
              </a:rPr>
              <a:t>column1 &lt; 1000 in tempdbs1;</a:t>
            </a:r>
          </a:p>
          <a:p>
            <a:pPr marL="342900" lvl="1" indent="0">
              <a:lnSpc>
                <a:spcPct val="150000"/>
              </a:lnSpc>
              <a:buNone/>
            </a:pPr>
            <a:r>
              <a:rPr kumimoji="1" lang="en-US" altLang="zh-CN" sz="1400" dirty="0" smtClean="0">
                <a:solidFill>
                  <a:schemeClr val="tx2"/>
                </a:solidFill>
              </a:rPr>
              <a:t>column1 &lt; 2000 in tempdbs2;</a:t>
            </a:r>
          </a:p>
          <a:p>
            <a:pPr marL="342900" lvl="1" indent="0">
              <a:lnSpc>
                <a:spcPct val="150000"/>
              </a:lnSpc>
              <a:buNone/>
            </a:pPr>
            <a:r>
              <a:rPr kumimoji="1" lang="en-US" altLang="zh-CN" sz="1400" dirty="0" smtClean="0">
                <a:solidFill>
                  <a:schemeClr val="tx2"/>
                </a:solidFill>
              </a:rPr>
              <a:t>column1 &gt;= 2000 in </a:t>
            </a:r>
            <a:r>
              <a:rPr kumimoji="1" lang="en-US" altLang="zh-CN" sz="1400" dirty="0" err="1" smtClean="0">
                <a:solidFill>
                  <a:schemeClr val="tx2"/>
                </a:solidFill>
              </a:rPr>
              <a:t>tempdbs</a:t>
            </a:r>
            <a:r>
              <a:rPr kumimoji="1" lang="en-US" altLang="zh-CN" sz="1400" dirty="0" smtClean="0">
                <a:solidFill>
                  <a:schemeClr val="tx2"/>
                </a:solidFill>
              </a:rPr>
              <a:t>;</a:t>
            </a:r>
            <a:endParaRPr kumimoji="1" lang="en-US" altLang="zh-CN" sz="1080" dirty="0" smtClean="0">
              <a:solidFill>
                <a:schemeClr val="tx2"/>
              </a:solidFill>
              <a:latin typeface="Arial" panose="020B0604020202020204" pitchFamily="34" charset="0"/>
              <a:cs typeface="宋体" panose="02010600030101010101" pitchFamily="2" charset="-122"/>
            </a:endParaRPr>
          </a:p>
          <a:p>
            <a:pPr>
              <a:lnSpc>
                <a:spcPct val="150000"/>
              </a:lnSpc>
              <a:buFont typeface="Arial" panose="020B0604020202020204" pitchFamily="34" charset="0"/>
              <a:buChar char="•"/>
            </a:pPr>
            <a:r>
              <a:rPr lang="zh-CN" altLang="en-US" sz="1600" dirty="0">
                <a:solidFill>
                  <a:schemeClr val="tx2"/>
                </a:solidFill>
                <a:latin typeface="Arial" panose="020B0604020202020204" pitchFamily="34" charset="0"/>
                <a:cs typeface="宋体" panose="02010600030101010101" pitchFamily="2" charset="-122"/>
              </a:rPr>
              <a:t>自动采用</a:t>
            </a:r>
            <a:r>
              <a:rPr lang="en-US" altLang="zh-CN" sz="1600" dirty="0">
                <a:solidFill>
                  <a:schemeClr val="tx2"/>
                </a:solidFill>
                <a:latin typeface="Arial" panose="020B0604020202020204" pitchFamily="34" charset="0"/>
                <a:cs typeface="宋体" panose="02010600030101010101" pitchFamily="2" charset="-122"/>
              </a:rPr>
              <a:t>round robin</a:t>
            </a:r>
            <a:r>
              <a:rPr lang="zh-CN" altLang="en-US" sz="1600" dirty="0">
                <a:solidFill>
                  <a:schemeClr val="tx2"/>
                </a:solidFill>
                <a:latin typeface="Arial" panose="020B0604020202020204" pitchFamily="34" charset="0"/>
                <a:cs typeface="宋体" panose="02010600030101010101" pitchFamily="2" charset="-122"/>
              </a:rPr>
              <a:t>方式：</a:t>
            </a:r>
          </a:p>
          <a:p>
            <a:pPr marL="342900" lvl="1" indent="0">
              <a:lnSpc>
                <a:spcPct val="150000"/>
              </a:lnSpc>
              <a:buNone/>
            </a:pPr>
            <a:r>
              <a:rPr kumimoji="1" lang="en-US" altLang="zh-CN" sz="1400" dirty="0">
                <a:solidFill>
                  <a:schemeClr val="tx2"/>
                </a:solidFill>
              </a:rPr>
              <a:t>Select * from </a:t>
            </a:r>
            <a:r>
              <a:rPr kumimoji="1" lang="en-US" altLang="zh-CN" sz="1400" dirty="0" err="1">
                <a:solidFill>
                  <a:schemeClr val="tx2"/>
                </a:solidFill>
              </a:rPr>
              <a:t>tablename</a:t>
            </a:r>
            <a:r>
              <a:rPr kumimoji="1" lang="en-US" altLang="zh-CN" sz="1400" dirty="0">
                <a:solidFill>
                  <a:schemeClr val="tx2"/>
                </a:solidFill>
              </a:rPr>
              <a:t> into temp </a:t>
            </a:r>
            <a:r>
              <a:rPr kumimoji="1" lang="en-US" altLang="zh-CN" sz="1400" dirty="0" err="1">
                <a:solidFill>
                  <a:schemeClr val="tx2"/>
                </a:solidFill>
              </a:rPr>
              <a:t>tmp_table</a:t>
            </a:r>
            <a:r>
              <a:rPr kumimoji="1" lang="en-US" altLang="zh-CN" sz="1400" dirty="0">
                <a:solidFill>
                  <a:schemeClr val="tx2"/>
                </a:solidFill>
              </a:rPr>
              <a:t> with no log</a:t>
            </a:r>
            <a:r>
              <a:rPr kumimoji="1" lang="en-US" altLang="zh-CN" sz="1080" dirty="0" smtClean="0">
                <a:solidFill>
                  <a:schemeClr val="tx2"/>
                </a:solidFill>
              </a:rPr>
              <a:t>;</a:t>
            </a:r>
          </a:p>
          <a:p>
            <a:pPr marL="0" indent="0">
              <a:buNone/>
            </a:pPr>
            <a:endParaRPr kumimoji="1" lang="en-US" altLang="zh-CN" sz="1080" dirty="0" smtClean="0">
              <a:solidFill>
                <a:schemeClr val="tx2"/>
              </a:solidFill>
            </a:endParaRPr>
          </a:p>
        </p:txBody>
      </p:sp>
      <p:graphicFrame>
        <p:nvGraphicFramePr>
          <p:cNvPr id="3076" name="Object 2"/>
          <p:cNvGraphicFramePr>
            <a:graphicFrameLocks noChangeAspect="1"/>
          </p:cNvGraphicFramePr>
          <p:nvPr/>
        </p:nvGraphicFramePr>
        <p:xfrm>
          <a:off x="9102725" y="3081338"/>
          <a:ext cx="4763" cy="9525"/>
        </p:xfrm>
        <a:graphic>
          <a:graphicData uri="http://schemas.openxmlformats.org/presentationml/2006/ole">
            <mc:AlternateContent xmlns:mc="http://schemas.openxmlformats.org/markup-compatibility/2006">
              <mc:Choice xmlns:v="urn:schemas-microsoft-com:vml" Requires="v">
                <p:oleObj spid="_x0000_s2121" name="位图图像" r:id="rId4" imgW="9000" imgH="9000" progId="PBrush">
                  <p:embed/>
                </p:oleObj>
              </mc:Choice>
              <mc:Fallback>
                <p:oleObj name="位图图像" r:id="rId4" imgW="9000" imgH="9000" progId="PBrush">
                  <p:embed/>
                  <p:pic>
                    <p:nvPicPr>
                      <p:cNvPr id="0" name="Picture 2" descr="image16"/>
                      <p:cNvPicPr>
                        <a:picLocks noChangeAspect="1" noChangeArrowheads="1"/>
                      </p:cNvPicPr>
                      <p:nvPr/>
                    </p:nvPicPr>
                    <p:blipFill>
                      <a:blip r:embed="rId5">
                        <a:clrChange>
                          <a:clrFrom>
                            <a:srgbClr val="BFBFBF"/>
                          </a:clrFrom>
                          <a:clrTo>
                            <a:srgbClr val="BFBFBF">
                              <a:alpha val="0"/>
                            </a:srgbClr>
                          </a:clrTo>
                        </a:clrChange>
                        <a:extLst>
                          <a:ext uri="{28A0092B-C50C-407E-A947-70E740481C1C}">
                            <a14:useLocalDpi xmlns:a14="http://schemas.microsoft.com/office/drawing/2010/main" val="0"/>
                          </a:ext>
                        </a:extLst>
                      </a:blip>
                      <a:srcRect l="61049" t="25363" r="9380" b="25496"/>
                      <a:stretch>
                        <a:fillRect/>
                      </a:stretch>
                    </p:blipFill>
                    <p:spPr bwMode="auto">
                      <a:xfrm>
                        <a:off x="9102725" y="3081338"/>
                        <a:ext cx="4763" cy="9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zh-CN" altLang="en-US"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跳</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过不可访问</a:t>
            </a:r>
            <a:r>
              <a:rPr lang="zh-CN" altLang="en-US"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的分</a:t>
            </a:r>
            <a:r>
              <a:rPr lang="zh-CN" altLang="en-US"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片</a:t>
            </a:r>
            <a:endParaRPr lang="zh-CN" altLang="en-US" b="1" dirty="0">
              <a:solidFill>
                <a:schemeClr val="bg1"/>
              </a:solidFill>
              <a:latin typeface="Arial" panose="020B0604020202020204" pitchFamily="34" charset="0"/>
              <a:cs typeface="宋体" panose="02010600030101010101" pitchFamily="2" charset="-122"/>
            </a:endParaRPr>
          </a:p>
        </p:txBody>
      </p:sp>
      <p:sp>
        <p:nvSpPr>
          <p:cNvPr id="3" name="文本占位符 2"/>
          <p:cNvSpPr>
            <a:spLocks noGrp="1"/>
          </p:cNvSpPr>
          <p:nvPr>
            <p:ph type="body" sz="quarter" idx="10"/>
          </p:nvPr>
        </p:nvSpPr>
        <p:spPr>
          <a:noFill/>
          <a:ln>
            <a:noFill/>
          </a:ln>
        </p:spPr>
        <p:txBody>
          <a:bodyPr>
            <a:noAutofit/>
          </a:bodyPr>
          <a:lstStyle/>
          <a:p>
            <a:pPr>
              <a:lnSpc>
                <a:spcPct val="150000"/>
              </a:lnSpc>
              <a:buFont typeface="Arial" panose="020B0604020202020204" pitchFamily="34" charset="0"/>
              <a:buChar char="•"/>
            </a:pPr>
            <a:r>
              <a:rPr lang="en-US" altLang="zh-CN" dirty="0" smtClean="0">
                <a:latin typeface="Arial" panose="020B0604020202020204" pitchFamily="34" charset="0"/>
                <a:cs typeface="宋体" panose="02010600030101010101" pitchFamily="2" charset="-122"/>
              </a:rPr>
              <a:t>GBase 8s</a:t>
            </a:r>
            <a:r>
              <a:rPr lang="zh-CN" altLang="en-US" dirty="0" smtClean="0">
                <a:latin typeface="Arial" panose="020B0604020202020204" pitchFamily="34" charset="0"/>
                <a:cs typeface="宋体" panose="02010600030101010101" pitchFamily="2" charset="-122"/>
              </a:rPr>
              <a:t>允许我们通过设置</a:t>
            </a:r>
            <a:r>
              <a:rPr lang="en-US" altLang="zh-CN" dirty="0" smtClean="0">
                <a:latin typeface="Arial" panose="020B0604020202020204" pitchFamily="34" charset="0"/>
                <a:cs typeface="宋体" panose="02010600030101010101" pitchFamily="2" charset="-122"/>
              </a:rPr>
              <a:t>DATASKIP</a:t>
            </a:r>
            <a:r>
              <a:rPr lang="zh-CN" altLang="en-US" dirty="0" smtClean="0">
                <a:latin typeface="Arial" panose="020B0604020202020204" pitchFamily="34" charset="0"/>
                <a:cs typeface="宋体" panose="02010600030101010101" pitchFamily="2" charset="-122"/>
              </a:rPr>
              <a:t>参数，或者</a:t>
            </a:r>
            <a:r>
              <a:rPr lang="en-US" altLang="zh-CN" dirty="0" smtClean="0">
                <a:latin typeface="Arial" panose="020B0604020202020204" pitchFamily="34" charset="0"/>
                <a:cs typeface="宋体" panose="02010600030101010101" pitchFamily="2" charset="-122"/>
              </a:rPr>
              <a:t>set </a:t>
            </a:r>
            <a:r>
              <a:rPr lang="en-US" altLang="zh-CN" dirty="0" err="1" smtClean="0">
                <a:latin typeface="Arial" panose="020B0604020202020204" pitchFamily="34" charset="0"/>
                <a:cs typeface="宋体" panose="02010600030101010101" pitchFamily="2" charset="-122"/>
              </a:rPr>
              <a:t>dataskip</a:t>
            </a:r>
            <a:r>
              <a:rPr lang="zh-CN" altLang="en-US" dirty="0" smtClean="0">
                <a:latin typeface="Arial" panose="020B0604020202020204" pitchFamily="34" charset="0"/>
                <a:cs typeface="宋体" panose="02010600030101010101" pitchFamily="2" charset="-122"/>
              </a:rPr>
              <a:t>语句的方式跳过不可访问的分片</a:t>
            </a:r>
            <a:endParaRPr kumimoji="1" lang="en-US" altLang="zh-CN" sz="1600" dirty="0" smtClean="0"/>
          </a:p>
          <a:p>
            <a:pPr marL="0" indent="0">
              <a:lnSpc>
                <a:spcPct val="150000"/>
              </a:lnSpc>
              <a:buNone/>
            </a:pPr>
            <a:r>
              <a:rPr kumimoji="1" lang="en-US" altLang="zh-CN" sz="1600" dirty="0" smtClean="0"/>
              <a:t>	- To turn data skip;</a:t>
            </a:r>
          </a:p>
          <a:p>
            <a:pPr marL="0" indent="0">
              <a:lnSpc>
                <a:spcPct val="150000"/>
              </a:lnSpc>
              <a:buNone/>
            </a:pPr>
            <a:r>
              <a:rPr kumimoji="1" lang="en-US" altLang="zh-CN" sz="1600" dirty="0" smtClean="0"/>
              <a:t>    	SET DATASKIP ON;</a:t>
            </a:r>
          </a:p>
          <a:p>
            <a:pPr marL="0" indent="0">
              <a:lnSpc>
                <a:spcPct val="150000"/>
              </a:lnSpc>
              <a:buNone/>
            </a:pPr>
            <a:r>
              <a:rPr kumimoji="1" lang="en-US" altLang="zh-CN" sz="1600" dirty="0" smtClean="0"/>
              <a:t>	- To turn off data skip;</a:t>
            </a:r>
          </a:p>
          <a:p>
            <a:pPr marL="0" indent="0">
              <a:lnSpc>
                <a:spcPct val="150000"/>
              </a:lnSpc>
              <a:buNone/>
            </a:pPr>
            <a:r>
              <a:rPr kumimoji="1" lang="en-US" altLang="zh-CN" sz="1600" dirty="0" smtClean="0"/>
              <a:t>    	SET DATASKIP OFF;</a:t>
            </a:r>
          </a:p>
          <a:p>
            <a:pPr marL="0" indent="0">
              <a:lnSpc>
                <a:spcPct val="150000"/>
              </a:lnSpc>
              <a:buNone/>
            </a:pPr>
            <a:r>
              <a:rPr kumimoji="1" lang="en-US" altLang="zh-CN" sz="1600" dirty="0" smtClean="0"/>
              <a:t>	- To skip specific </a:t>
            </a:r>
            <a:r>
              <a:rPr kumimoji="1" lang="en-US" altLang="zh-CN" sz="1600" dirty="0" err="1" smtClean="0"/>
              <a:t>fargments</a:t>
            </a:r>
            <a:r>
              <a:rPr kumimoji="1" lang="en-US" altLang="zh-CN" sz="1600" dirty="0" smtClean="0"/>
              <a:t>;</a:t>
            </a:r>
          </a:p>
          <a:p>
            <a:pPr marL="0" indent="0">
              <a:lnSpc>
                <a:spcPct val="150000"/>
              </a:lnSpc>
              <a:buNone/>
            </a:pPr>
            <a:r>
              <a:rPr kumimoji="1" lang="en-US" altLang="zh-CN" sz="1600" dirty="0" smtClean="0"/>
              <a:t>    	SET DATASKIP dbspace1;</a:t>
            </a:r>
          </a:p>
          <a:p>
            <a:pPr marL="0" indent="0">
              <a:lnSpc>
                <a:spcPct val="150000"/>
              </a:lnSpc>
              <a:buNone/>
            </a:pPr>
            <a:r>
              <a:rPr kumimoji="1" lang="en-US" altLang="zh-CN" sz="1600" dirty="0" smtClean="0"/>
              <a:t>	- Follow the skip strategy set by the configuration parameter;</a:t>
            </a:r>
          </a:p>
          <a:p>
            <a:pPr marL="0" indent="0">
              <a:lnSpc>
                <a:spcPct val="150000"/>
              </a:lnSpc>
              <a:buNone/>
            </a:pPr>
            <a:r>
              <a:rPr kumimoji="1" lang="en-US" altLang="zh-CN" sz="1600" dirty="0" smtClean="0"/>
              <a:t>    	SET DATASKIP DEFAULT:</a:t>
            </a:r>
          </a:p>
          <a:p>
            <a:pPr marL="0" indent="0">
              <a:lnSpc>
                <a:spcPct val="100000"/>
              </a:lnSpc>
              <a:buNone/>
            </a:pPr>
            <a:r>
              <a:rPr kumimoji="1" lang="en-US" altLang="zh-CN" sz="2000" dirty="0" smtClean="0"/>
              <a:t> </a:t>
            </a:r>
            <a:endParaRPr kumimoji="1" lang="zh-CN" altLang="en-US" sz="2000" dirty="0"/>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内容占位符 2"/>
          <p:cNvSpPr txBox="1"/>
          <p:nvPr/>
        </p:nvSpPr>
        <p:spPr bwMode="auto">
          <a:xfrm>
            <a:off x="2062001" y="1490942"/>
            <a:ext cx="8068335" cy="4147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lvl1pPr marL="228600" indent="-22860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2pPr>
            <a:lvl3pPr marL="1143000" indent="-22860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3pPr>
            <a:lvl4pPr marL="1600200" indent="-22860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4pPr>
            <a:lvl5pPr marL="2057400" indent="-22860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9pPr>
          </a:lstStyle>
          <a:p>
            <a:pPr algn="l">
              <a:lnSpc>
                <a:spcPct val="200000"/>
              </a:lnSpc>
              <a:buClr>
                <a:schemeClr val="accent1"/>
              </a:buClr>
              <a:buFont typeface="Arial" panose="020B0604020202020204" pitchFamily="34" charset="0"/>
              <a:buChar char="•"/>
            </a:pPr>
            <a:r>
              <a:rPr lang="en-US" altLang="zh-CN"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GBase 8s</a:t>
            </a:r>
            <a:r>
              <a:rPr lang="zh-CN" altLang="en-US"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压缩可以针对</a:t>
            </a:r>
            <a:r>
              <a:rPr lang="zh-CN" altLang="en-US"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表和</a:t>
            </a: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分片进行</a:t>
            </a:r>
            <a:endParaRPr lang="en-US" alt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200000"/>
              </a:lnSpc>
              <a:buClr>
                <a:schemeClr val="accent1"/>
              </a:buClr>
              <a:buFont typeface="Arial" panose="020B0604020202020204" pitchFamily="34" charset="0"/>
              <a:buChar char="•"/>
            </a:pP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以下的命令可以把一个基于时间分片的表中老的数据进行压缩，而保持需要经常访问的新数据处于未压缩</a:t>
            </a:r>
            <a:r>
              <a:rPr lang="zh-CN" altLang="en-US"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状态</a:t>
            </a:r>
            <a:endParaRPr lang="en-US" altLang="zh-CN"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200000"/>
              </a:lnSpc>
              <a:buClr>
                <a:schemeClr val="accent1"/>
              </a:buClr>
              <a:buFont typeface="Arial" panose="020B0604020202020204" pitchFamily="34" charset="0"/>
              <a:buChar char="•"/>
            </a:pPr>
            <a:endParaRPr lang="en-US" altLang="zh-CN" sz="1100" b="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en-US" altLang="zh-CN" sz="1800" b="0" dirty="0">
                <a:solidFill>
                  <a:schemeClr val="tx1"/>
                </a:solidFill>
                <a:latin typeface="微软雅黑" panose="020B0503020204020204" pitchFamily="34" charset="-122"/>
                <a:ea typeface="微软雅黑" panose="020B0503020204020204" pitchFamily="34" charset="-122"/>
              </a:rPr>
              <a:t>select </a:t>
            </a:r>
            <a:r>
              <a:rPr lang="en-US" altLang="zh-CN" sz="1800" b="0" dirty="0" err="1">
                <a:solidFill>
                  <a:schemeClr val="tx1"/>
                </a:solidFill>
                <a:latin typeface="微软雅黑" panose="020B0503020204020204" pitchFamily="34" charset="-122"/>
                <a:ea typeface="微软雅黑" panose="020B0503020204020204" pitchFamily="34" charset="-122"/>
              </a:rPr>
              <a:t>sysadmin:task</a:t>
            </a:r>
            <a:r>
              <a:rPr lang="en-US" altLang="zh-CN" sz="1800" b="0" dirty="0">
                <a:solidFill>
                  <a:schemeClr val="tx1"/>
                </a:solidFill>
                <a:latin typeface="微软雅黑" panose="020B0503020204020204" pitchFamily="34" charset="-122"/>
                <a:ea typeface="微软雅黑" panose="020B0503020204020204" pitchFamily="34" charset="-122"/>
              </a:rPr>
              <a:t>('fragment compress repack shrink', </a:t>
            </a:r>
            <a:r>
              <a:rPr lang="en-US" altLang="zh-CN" sz="1800" b="0" dirty="0" err="1">
                <a:solidFill>
                  <a:schemeClr val="tx1"/>
                </a:solidFill>
                <a:latin typeface="微软雅黑" panose="020B0503020204020204" pitchFamily="34" charset="-122"/>
                <a:ea typeface="微软雅黑" panose="020B0503020204020204" pitchFamily="34" charset="-122"/>
              </a:rPr>
              <a:t>partn</a:t>
            </a:r>
            <a:r>
              <a:rPr lang="en-US" altLang="zh-CN" sz="1800" b="0" dirty="0">
                <a:solidFill>
                  <a:schemeClr val="tx1"/>
                </a:solidFill>
                <a:latin typeface="微软雅黑" panose="020B0503020204020204" pitchFamily="34" charset="-122"/>
                <a:ea typeface="微软雅黑" panose="020B0503020204020204" pitchFamily="34" charset="-122"/>
              </a:rPr>
              <a:t>) </a:t>
            </a:r>
            <a:endParaRPr lang="en-US" altLang="zh-CN" b="0" dirty="0" smtClean="0">
              <a:solidFill>
                <a:schemeClr val="tx1"/>
              </a:solidFill>
              <a:latin typeface="微软雅黑" panose="020B0503020204020204" pitchFamily="34" charset="-122"/>
              <a:ea typeface="微软雅黑" panose="020B0503020204020204" pitchFamily="34" charset="-122"/>
            </a:endParaRPr>
          </a:p>
          <a:p>
            <a:pPr lvl="1">
              <a:lnSpc>
                <a:spcPct val="150000"/>
              </a:lnSpc>
            </a:pPr>
            <a:r>
              <a:rPr lang="en-US" altLang="zh-CN" sz="1800" b="0" dirty="0" smtClean="0">
                <a:solidFill>
                  <a:schemeClr val="tx1"/>
                </a:solidFill>
                <a:latin typeface="微软雅黑" panose="020B0503020204020204" pitchFamily="34" charset="-122"/>
                <a:ea typeface="微软雅黑" panose="020B0503020204020204" pitchFamily="34" charset="-122"/>
              </a:rPr>
              <a:t>from </a:t>
            </a:r>
            <a:r>
              <a:rPr lang="en-US" altLang="zh-CN" sz="1800" b="0" dirty="0" err="1" smtClean="0">
                <a:solidFill>
                  <a:schemeClr val="tx1"/>
                </a:solidFill>
                <a:latin typeface="微软雅黑" panose="020B0503020204020204" pitchFamily="34" charset="-122"/>
                <a:ea typeface="微软雅黑" panose="020B0503020204020204" pitchFamily="34" charset="-122"/>
              </a:rPr>
              <a:t>sysfragments</a:t>
            </a:r>
            <a:r>
              <a:rPr lang="en-US" altLang="zh-CN" sz="1800" b="0" dirty="0" smtClean="0">
                <a:solidFill>
                  <a:schemeClr val="tx1"/>
                </a:solidFill>
                <a:latin typeface="微软雅黑" panose="020B0503020204020204" pitchFamily="34" charset="-122"/>
                <a:ea typeface="微软雅黑" panose="020B0503020204020204" pitchFamily="34" charset="-122"/>
              </a:rPr>
              <a:t> </a:t>
            </a:r>
            <a:r>
              <a:rPr lang="en-US" altLang="zh-CN" sz="1800" b="0" dirty="0">
                <a:solidFill>
                  <a:schemeClr val="tx1"/>
                </a:solidFill>
                <a:latin typeface="微软雅黑" panose="020B0503020204020204" pitchFamily="34" charset="-122"/>
                <a:ea typeface="微软雅黑" panose="020B0503020204020204" pitchFamily="34" charset="-122"/>
              </a:rPr>
              <a:t>F, </a:t>
            </a:r>
            <a:r>
              <a:rPr lang="en-US" altLang="zh-CN" sz="1800" b="0" dirty="0" err="1">
                <a:solidFill>
                  <a:schemeClr val="tx1"/>
                </a:solidFill>
                <a:latin typeface="微软雅黑" panose="020B0503020204020204" pitchFamily="34" charset="-122"/>
                <a:ea typeface="微软雅黑" panose="020B0503020204020204" pitchFamily="34" charset="-122"/>
              </a:rPr>
              <a:t>systables</a:t>
            </a:r>
            <a:r>
              <a:rPr lang="en-US" altLang="zh-CN" sz="1800" b="0" dirty="0">
                <a:solidFill>
                  <a:schemeClr val="tx1"/>
                </a:solidFill>
                <a:latin typeface="微软雅黑" panose="020B0503020204020204" pitchFamily="34" charset="-122"/>
                <a:ea typeface="微软雅黑" panose="020B0503020204020204" pitchFamily="34" charset="-122"/>
              </a:rPr>
              <a:t> T </a:t>
            </a:r>
          </a:p>
          <a:p>
            <a:pPr lvl="1">
              <a:lnSpc>
                <a:spcPct val="150000"/>
              </a:lnSpc>
            </a:pPr>
            <a:r>
              <a:rPr lang="en-US" altLang="zh-CN" sz="1800" b="0" dirty="0">
                <a:solidFill>
                  <a:schemeClr val="tx1"/>
                </a:solidFill>
                <a:latin typeface="微软雅黑" panose="020B0503020204020204" pitchFamily="34" charset="-122"/>
                <a:ea typeface="微软雅黑" panose="020B0503020204020204" pitchFamily="34" charset="-122"/>
              </a:rPr>
              <a:t>where </a:t>
            </a:r>
            <a:r>
              <a:rPr lang="en-US" altLang="zh-CN" sz="1800" b="0" dirty="0" err="1">
                <a:solidFill>
                  <a:schemeClr val="tx1"/>
                </a:solidFill>
                <a:latin typeface="微软雅黑" panose="020B0503020204020204" pitchFamily="34" charset="-122"/>
                <a:ea typeface="微软雅黑" panose="020B0503020204020204" pitchFamily="34" charset="-122"/>
              </a:rPr>
              <a:t>F.tabid</a:t>
            </a:r>
            <a:r>
              <a:rPr lang="en-US" altLang="zh-CN" sz="1800" b="0" dirty="0">
                <a:solidFill>
                  <a:schemeClr val="tx1"/>
                </a:solidFill>
                <a:latin typeface="微软雅黑" panose="020B0503020204020204" pitchFamily="34" charset="-122"/>
                <a:ea typeface="微软雅黑" panose="020B0503020204020204" pitchFamily="34" charset="-122"/>
              </a:rPr>
              <a:t> = </a:t>
            </a:r>
            <a:r>
              <a:rPr lang="en-US" altLang="zh-CN" sz="1800" b="0" dirty="0" err="1">
                <a:solidFill>
                  <a:schemeClr val="tx1"/>
                </a:solidFill>
                <a:latin typeface="微软雅黑" panose="020B0503020204020204" pitchFamily="34" charset="-122"/>
                <a:ea typeface="微软雅黑" panose="020B0503020204020204" pitchFamily="34" charset="-122"/>
              </a:rPr>
              <a:t>T.tabid</a:t>
            </a:r>
            <a:r>
              <a:rPr lang="en-US" altLang="zh-CN" sz="1800" b="0" dirty="0">
                <a:solidFill>
                  <a:schemeClr val="tx1"/>
                </a:solidFill>
                <a:latin typeface="微软雅黑" panose="020B0503020204020204" pitchFamily="34" charset="-122"/>
                <a:ea typeface="微软雅黑" panose="020B0503020204020204" pitchFamily="34" charset="-122"/>
              </a:rPr>
              <a:t>   and </a:t>
            </a:r>
            <a:r>
              <a:rPr lang="en-US" altLang="zh-CN" sz="1800" b="0" dirty="0" err="1">
                <a:solidFill>
                  <a:schemeClr val="tx1"/>
                </a:solidFill>
                <a:latin typeface="微软雅黑" panose="020B0503020204020204" pitchFamily="34" charset="-122"/>
                <a:ea typeface="微软雅黑" panose="020B0503020204020204" pitchFamily="34" charset="-122"/>
              </a:rPr>
              <a:t>F.partition</a:t>
            </a:r>
            <a:r>
              <a:rPr lang="en-US" altLang="zh-CN" sz="1800" b="0" dirty="0">
                <a:solidFill>
                  <a:schemeClr val="tx1"/>
                </a:solidFill>
                <a:latin typeface="微软雅黑" panose="020B0503020204020204" pitchFamily="34" charset="-122"/>
                <a:ea typeface="微软雅黑" panose="020B0503020204020204" pitchFamily="34" charset="-122"/>
              </a:rPr>
              <a:t> in LIST{"dbsp3", "dbsp4"}   </a:t>
            </a:r>
            <a:endParaRPr lang="en-US" altLang="zh-CN" b="0" dirty="0" smtClean="0">
              <a:solidFill>
                <a:schemeClr val="tx1"/>
              </a:solidFill>
              <a:latin typeface="微软雅黑" panose="020B0503020204020204" pitchFamily="34" charset="-122"/>
              <a:ea typeface="微软雅黑" panose="020B0503020204020204" pitchFamily="34" charset="-122"/>
            </a:endParaRPr>
          </a:p>
          <a:p>
            <a:pPr lvl="1">
              <a:lnSpc>
                <a:spcPct val="150000"/>
              </a:lnSpc>
            </a:pPr>
            <a:r>
              <a:rPr lang="en-US" altLang="zh-CN" sz="1800" b="0" dirty="0">
                <a:solidFill>
                  <a:schemeClr val="tx1"/>
                </a:solidFill>
                <a:latin typeface="微软雅黑" panose="020B0503020204020204" pitchFamily="34" charset="-122"/>
                <a:ea typeface="微软雅黑" panose="020B0503020204020204" pitchFamily="34" charset="-122"/>
              </a:rPr>
              <a:t> </a:t>
            </a:r>
            <a:r>
              <a:rPr lang="en-US" altLang="zh-CN" sz="1800" b="0" dirty="0" smtClean="0">
                <a:solidFill>
                  <a:schemeClr val="tx1"/>
                </a:solidFill>
                <a:latin typeface="微软雅黑" panose="020B0503020204020204" pitchFamily="34" charset="-122"/>
                <a:ea typeface="微软雅黑" panose="020B0503020204020204" pitchFamily="34" charset="-122"/>
              </a:rPr>
              <a:t>          and </a:t>
            </a:r>
            <a:r>
              <a:rPr lang="en-US" altLang="zh-CN" sz="1800" b="0" dirty="0" err="1">
                <a:solidFill>
                  <a:schemeClr val="tx1"/>
                </a:solidFill>
                <a:latin typeface="微软雅黑" panose="020B0503020204020204" pitchFamily="34" charset="-122"/>
                <a:ea typeface="微软雅黑" panose="020B0503020204020204" pitchFamily="34" charset="-122"/>
              </a:rPr>
              <a:t>T.tabname</a:t>
            </a:r>
            <a:r>
              <a:rPr lang="en-US" altLang="zh-CN" sz="1800" b="0" dirty="0">
                <a:solidFill>
                  <a:schemeClr val="tx1"/>
                </a:solidFill>
                <a:latin typeface="微软雅黑" panose="020B0503020204020204" pitchFamily="34" charset="-122"/>
                <a:ea typeface="微软雅黑" panose="020B0503020204020204" pitchFamily="34" charset="-122"/>
              </a:rPr>
              <a:t> = "</a:t>
            </a:r>
            <a:r>
              <a:rPr lang="en-US" altLang="zh-CN" sz="1800" b="0" dirty="0" err="1">
                <a:solidFill>
                  <a:schemeClr val="tx1"/>
                </a:solidFill>
                <a:latin typeface="微软雅黑" panose="020B0503020204020204" pitchFamily="34" charset="-122"/>
                <a:ea typeface="微软雅黑" panose="020B0503020204020204" pitchFamily="34" charset="-122"/>
              </a:rPr>
              <a:t>trans_detail</a:t>
            </a:r>
            <a:r>
              <a:rPr lang="en-US" altLang="zh-CN" sz="1800" b="0" dirty="0">
                <a:solidFill>
                  <a:schemeClr val="tx1"/>
                </a:solidFill>
                <a:latin typeface="微软雅黑" panose="020B0503020204020204" pitchFamily="34" charset="-122"/>
                <a:ea typeface="微软雅黑" panose="020B0503020204020204" pitchFamily="34" charset="-122"/>
              </a:rPr>
              <a:t>";</a:t>
            </a:r>
          </a:p>
          <a:p>
            <a:pPr marL="457200" lvl="1" indent="0">
              <a:lnSpc>
                <a:spcPct val="150000"/>
              </a:lnSpc>
              <a:buClr>
                <a:schemeClr val="accent1"/>
              </a:buClr>
            </a:pPr>
            <a:r>
              <a:rPr lang="en-US" altLang="zh-CN" sz="1800" b="0" dirty="0">
                <a:solidFill>
                  <a:srgbClr val="000000"/>
                </a:solidFill>
                <a:latin typeface="微软雅黑" panose="020B0503020204020204" pitchFamily="34" charset="-122"/>
                <a:ea typeface="微软雅黑" panose="020B0503020204020204" pitchFamily="34" charset="-122"/>
              </a:rPr>
              <a:t>execute function </a:t>
            </a:r>
            <a:r>
              <a:rPr lang="en-US" altLang="zh-CN" sz="1800" b="0" dirty="0" err="1">
                <a:solidFill>
                  <a:srgbClr val="000000"/>
                </a:solidFill>
                <a:latin typeface="微软雅黑" panose="020B0503020204020204" pitchFamily="34" charset="-122"/>
                <a:ea typeface="微软雅黑" panose="020B0503020204020204" pitchFamily="34" charset="-122"/>
              </a:rPr>
              <a:t>sysadmin:task</a:t>
            </a:r>
            <a:r>
              <a:rPr lang="en-US" altLang="zh-CN" sz="1600" b="0" dirty="0">
                <a:solidFill>
                  <a:srgbClr val="000000"/>
                </a:solidFill>
                <a:latin typeface="微软雅黑" panose="020B0503020204020204" pitchFamily="34" charset="-122"/>
                <a:ea typeface="微软雅黑" panose="020B0503020204020204" pitchFamily="34" charset="-122"/>
              </a:rPr>
              <a:t>("fragment compress", “</a:t>
            </a:r>
            <a:r>
              <a:rPr lang="en-US" altLang="zh-CN" sz="1800" b="0" dirty="0" smtClean="0">
                <a:solidFill>
                  <a:srgbClr val="000000"/>
                </a:solidFill>
                <a:latin typeface="微软雅黑" panose="020B0503020204020204" pitchFamily="34" charset="-122"/>
                <a:ea typeface="微软雅黑" panose="020B0503020204020204" pitchFamily="34" charset="-122"/>
              </a:rPr>
              <a:t>0x500002”);</a:t>
            </a:r>
          </a:p>
          <a:p>
            <a:pPr algn="l">
              <a:lnSpc>
                <a:spcPct val="150000"/>
              </a:lnSpc>
              <a:buClr>
                <a:schemeClr val="accent1"/>
              </a:buClr>
              <a:buFont typeface="Arial" panose="020B0604020202020204" pitchFamily="34" charset="0"/>
              <a:buChar char="•"/>
            </a:pPr>
            <a:endParaRPr lang="en-US" altLang="zh-CN" sz="18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buClr>
                <a:srgbClr val="00A3A1"/>
              </a:buClr>
              <a:buFont typeface="Wingdings" panose="05000000000000000000" charset="0"/>
              <a:buNone/>
            </a:pP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275" name="标题 1"/>
          <p:cNvSpPr>
            <a:spLocks noGrp="1"/>
          </p:cNvSpPr>
          <p:nvPr>
            <p:ph type="title"/>
          </p:nvPr>
        </p:nvSpPr>
        <p:spPr/>
        <p:txBody>
          <a:bodyPr/>
          <a:lstStyle/>
          <a:p>
            <a:r>
              <a:rPr lang="zh-CN" altLang="en-US" dirty="0">
                <a:solidFill>
                  <a:srgbClr val="000000"/>
                </a:solidFill>
                <a:latin typeface="Arial" panose="020B0604020202020204" pitchFamily="34" charset="0"/>
                <a:cs typeface="宋体" panose="02010600030101010101" pitchFamily="2" charset="-122"/>
              </a:rPr>
              <a:t>压缩和分片</a:t>
            </a: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4" name="标题 1"/>
          <p:cNvSpPr>
            <a:spLocks noGrp="1"/>
          </p:cNvSpPr>
          <p:nvPr>
            <p:ph type="title"/>
          </p:nvPr>
        </p:nvSpPr>
        <p:spPr/>
        <p:txBody>
          <a:bodyPr/>
          <a:lstStyle/>
          <a:p>
            <a:r>
              <a:rPr lang="zh-CN" altLang="en-US" dirty="0" smtClean="0">
                <a:solidFill>
                  <a:srgbClr val="000000"/>
                </a:solidFill>
                <a:latin typeface="Arial" panose="020B0604020202020204" pitchFamily="34" charset="0"/>
                <a:cs typeface="宋体" panose="02010600030101010101" pitchFamily="2" charset="-122"/>
              </a:rPr>
              <a:t>压缩</a:t>
            </a:r>
            <a:r>
              <a:rPr lang="zh-CN" altLang="en-US" dirty="0">
                <a:solidFill>
                  <a:srgbClr val="000000"/>
                </a:solidFill>
                <a:latin typeface="Arial" panose="020B0604020202020204" pitchFamily="34" charset="0"/>
                <a:cs typeface="宋体" panose="02010600030101010101" pitchFamily="2" charset="-122"/>
              </a:rPr>
              <a:t>和分片</a:t>
            </a:r>
          </a:p>
        </p:txBody>
      </p:sp>
      <p:grpSp>
        <p:nvGrpSpPr>
          <p:cNvPr id="3" name="组合 2"/>
          <p:cNvGrpSpPr/>
          <p:nvPr/>
        </p:nvGrpSpPr>
        <p:grpSpPr>
          <a:xfrm>
            <a:off x="1093468" y="1632212"/>
            <a:ext cx="10005695" cy="3625850"/>
            <a:chOff x="-573195" y="1009550"/>
            <a:chExt cx="10519467" cy="3625850"/>
          </a:xfrm>
        </p:grpSpPr>
        <p:grpSp>
          <p:nvGrpSpPr>
            <p:cNvPr id="2" name="组合 1"/>
            <p:cNvGrpSpPr/>
            <p:nvPr/>
          </p:nvGrpSpPr>
          <p:grpSpPr>
            <a:xfrm>
              <a:off x="-573195" y="1009550"/>
              <a:ext cx="10519467" cy="3625850"/>
              <a:chOff x="-573195" y="1009550"/>
              <a:chExt cx="10519467" cy="3625850"/>
            </a:xfrm>
          </p:grpSpPr>
          <p:sp>
            <p:nvSpPr>
              <p:cNvPr id="5123" name="内容占位符 2"/>
              <p:cNvSpPr txBox="1"/>
              <p:nvPr/>
            </p:nvSpPr>
            <p:spPr bwMode="auto">
              <a:xfrm>
                <a:off x="464136" y="1009550"/>
                <a:ext cx="700839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lvl1pPr marL="228600" indent="-22860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marL="742950" indent="-28575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2pPr>
                <a:lvl3pPr marL="1143000" indent="-22860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3pPr>
                <a:lvl4pPr marL="1600200" indent="-22860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4pPr>
                <a:lvl5pPr marL="2057400" indent="-228600" eaLnBrk="0" hangingPunct="0">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tabLst>
                    <a:tab pos="228600" algn="l"/>
                    <a:tab pos="742950" algn="l"/>
                    <a:tab pos="1141095" algn="l"/>
                    <a:tab pos="1600200" algn="l"/>
                    <a:tab pos="2057400" algn="l"/>
                  </a:tabLst>
                  <a:defRPr sz="2000">
                    <a:solidFill>
                      <a:schemeClr val="bg1"/>
                    </a:solidFill>
                    <a:latin typeface="Times New Roman" panose="02020603050405020304" charset="0"/>
                    <a:ea typeface="宋体" panose="02010600030101010101" pitchFamily="2" charset="-122"/>
                  </a:defRPr>
                </a:lvl9pPr>
              </a:lstStyle>
              <a:p>
                <a:pPr algn="l">
                  <a:buClr>
                    <a:schemeClr val="accent1"/>
                  </a:buClr>
                  <a:buFont typeface="Arial" panose="020B0604020202020204" pitchFamily="34" charset="0"/>
                  <a:buChar char="•"/>
                </a:pPr>
                <a:r>
                  <a:rPr lang="en-US" altLang="zh-CN" b="0" dirty="0">
                    <a:solidFill>
                      <a:srgbClr val="000000"/>
                    </a:solidFill>
                    <a:latin typeface="微软雅黑" panose="020B0503020204020204" pitchFamily="34" charset="-122"/>
                    <a:ea typeface="微软雅黑" panose="020B0503020204020204" pitchFamily="34" charset="-122"/>
                  </a:rPr>
                  <a:t>OAT</a:t>
                </a:r>
                <a:r>
                  <a:rPr lang="zh-CN" altLang="en-US" b="0" dirty="0">
                    <a:solidFill>
                      <a:srgbClr val="000000"/>
                    </a:solidFill>
                    <a:latin typeface="微软雅黑" panose="020B0503020204020204" pitchFamily="34" charset="-122"/>
                    <a:ea typeface="微软雅黑" panose="020B0503020204020204" pitchFamily="34" charset="-122"/>
                  </a:rPr>
                  <a:t>进行单个分片进行压缩</a:t>
                </a:r>
              </a:p>
            </p:txBody>
          </p:sp>
          <p:graphicFrame>
            <p:nvGraphicFramePr>
              <p:cNvPr id="5122" name="Object 4"/>
              <p:cNvGraphicFramePr>
                <a:graphicFrameLocks noChangeAspect="1"/>
              </p:cNvGraphicFramePr>
              <p:nvPr/>
            </p:nvGraphicFramePr>
            <p:xfrm>
              <a:off x="-573195" y="1937920"/>
              <a:ext cx="10519467" cy="2697480"/>
            </p:xfrm>
            <a:graphic>
              <a:graphicData uri="http://schemas.openxmlformats.org/presentationml/2006/ole">
                <mc:AlternateContent xmlns:mc="http://schemas.openxmlformats.org/markup-compatibility/2006">
                  <mc:Choice xmlns:v="urn:schemas-microsoft-com:vml" Requires="v">
                    <p:oleObj spid="_x0000_s122883" name="位图图像" r:id="rId4" imgW="9933333" imgH="1438095" progId="PBrush">
                      <p:embed/>
                    </p:oleObj>
                  </mc:Choice>
                  <mc:Fallback>
                    <p:oleObj name="位图图像" r:id="rId4" imgW="9933333" imgH="1438095" progId="PBrush">
                      <p:embed/>
                      <p:pic>
                        <p:nvPicPr>
                          <p:cNvPr id="0" name="Picture 2" descr="image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195" y="1937920"/>
                            <a:ext cx="10519467" cy="2697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125" name="Rectangle 5"/>
            <p:cNvSpPr>
              <a:spLocks noChangeArrowheads="1"/>
            </p:cNvSpPr>
            <p:nvPr/>
          </p:nvSpPr>
          <p:spPr bwMode="auto">
            <a:xfrm>
              <a:off x="7232434" y="1937646"/>
              <a:ext cx="914400" cy="381000"/>
            </a:xfrm>
            <a:prstGeom prst="rect">
              <a:avLst/>
            </a:prstGeom>
            <a:noFill/>
            <a:ln w="15875">
              <a:solidFill>
                <a:srgbClr val="FF3300"/>
              </a:solidFill>
              <a:miter lim="800000"/>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5126" name="Rectangle 6"/>
            <p:cNvSpPr>
              <a:spLocks noChangeArrowheads="1"/>
            </p:cNvSpPr>
            <p:nvPr/>
          </p:nvSpPr>
          <p:spPr bwMode="auto">
            <a:xfrm>
              <a:off x="6452409" y="3263696"/>
              <a:ext cx="914400" cy="1371600"/>
            </a:xfrm>
            <a:prstGeom prst="rect">
              <a:avLst/>
            </a:prstGeom>
            <a:noFill/>
            <a:ln w="15875">
              <a:solidFill>
                <a:srgbClr val="FF3300"/>
              </a:solidFill>
              <a:miter lim="800000"/>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gr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表实例</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创建、管理、</a:t>
            </a:r>
            <a:r>
              <a:rPr lang="zh-CN" altLang="en-US"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分配</a:t>
            </a:r>
            <a:endParaRPr lang="en-US" altLang="zh-CN" dirty="0">
              <a:cs typeface="华文楷体" panose="02010600040101010101" charset="-122"/>
            </a:endParaRPr>
          </a:p>
        </p:txBody>
      </p:sp>
      <p:sp>
        <p:nvSpPr>
          <p:cNvPr id="57347" name="Rectangle 3"/>
          <p:cNvSpPr>
            <a:spLocks noGrp="1" noChangeArrowheads="1"/>
          </p:cNvSpPr>
          <p:nvPr>
            <p:ph type="body" sz="quarter" idx="10"/>
          </p:nvPr>
        </p:nvSpPr>
        <p:spPr/>
        <p:txBody>
          <a:bodyPr>
            <a:normAutofit/>
          </a:bodyPr>
          <a:lstStyle/>
          <a:p>
            <a:pPr eaLnBrk="1" hangingPunct="1">
              <a:lnSpc>
                <a:spcPct val="80000"/>
              </a:lnSpc>
            </a:pPr>
            <a:r>
              <a:rPr lang="zh-CN" altLang="en-US" dirty="0">
                <a:latin typeface="+mn-ea"/>
                <a:ea typeface="+mn-ea"/>
                <a:cs typeface="华文楷体" panose="02010600040101010101" charset="-122"/>
              </a:rPr>
              <a:t>创建分片表在 </a:t>
            </a:r>
            <a:r>
              <a:rPr lang="en-US" altLang="zh-CN" dirty="0">
                <a:latin typeface="+mn-ea"/>
                <a:ea typeface="+mn-ea"/>
                <a:cs typeface="宋体" panose="02010600030101010101" pitchFamily="2" charset="-122"/>
              </a:rPr>
              <a:t>datadbs01</a:t>
            </a:r>
            <a:r>
              <a:rPr lang="zh-CN" altLang="en-US" dirty="0">
                <a:latin typeface="+mn-ea"/>
                <a:ea typeface="+mn-ea"/>
                <a:cs typeface="宋体" panose="02010600030101010101" pitchFamily="2" charset="-122"/>
              </a:rPr>
              <a:t>， </a:t>
            </a:r>
            <a:r>
              <a:rPr lang="en-US" altLang="zh-CN" dirty="0">
                <a:latin typeface="+mn-ea"/>
                <a:ea typeface="+mn-ea"/>
                <a:cs typeface="宋体" panose="02010600030101010101" pitchFamily="2" charset="-122"/>
              </a:rPr>
              <a:t>datadbs02</a:t>
            </a:r>
            <a:endParaRPr lang="zh-CN" altLang="en-US" dirty="0">
              <a:latin typeface="+mn-ea"/>
              <a:ea typeface="+mn-ea"/>
              <a:cs typeface="华文楷体" panose="02010600040101010101" charset="-122"/>
            </a:endParaRPr>
          </a:p>
          <a:p>
            <a:pPr eaLnBrk="1" hangingPunct="1">
              <a:lnSpc>
                <a:spcPct val="80000"/>
              </a:lnSpc>
            </a:pPr>
            <a:endParaRPr lang="zh-CN" altLang="en-US" sz="2400" dirty="0">
              <a:latin typeface="+mn-ea"/>
              <a:ea typeface="+mn-ea"/>
              <a:cs typeface="宋体" panose="02010600030101010101" pitchFamily="2" charset="-122"/>
            </a:endParaRPr>
          </a:p>
        </p:txBody>
      </p:sp>
      <p:sp>
        <p:nvSpPr>
          <p:cNvPr id="57348" name="内容占位符 3"/>
          <p:cNvSpPr txBox="1"/>
          <p:nvPr/>
        </p:nvSpPr>
        <p:spPr bwMode="auto">
          <a:xfrm>
            <a:off x="1828795" y="1631426"/>
            <a:ext cx="8694061" cy="4528438"/>
          </a:xfrm>
          <a:prstGeom prst="rect">
            <a:avLst/>
          </a:prstGeom>
          <a:solidFill>
            <a:schemeClr val="bg1">
              <a:lumMod val="85000"/>
            </a:schemeClr>
          </a:solidFill>
          <a:ln w="3175">
            <a:solidFill>
              <a:schemeClr val="bg1">
                <a:lumMod val="50000"/>
              </a:schemeClr>
            </a:solidFill>
            <a:miter lim="800000"/>
          </a:ln>
        </p:spPr>
        <p:txBody>
          <a:bodyPr/>
          <a:lstStyle>
            <a:lvl1pPr marL="342900" indent="-342900"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indent="-22733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algn="l" eaLnBrk="1" hangingPunct="1">
              <a:lnSpc>
                <a:spcPct val="150000"/>
              </a:lnSpc>
            </a:pPr>
            <a:r>
              <a:rPr lang="en-US" altLang="zh-CN" sz="1600" b="0" dirty="0">
                <a:solidFill>
                  <a:srgbClr val="000000"/>
                </a:solidFill>
                <a:latin typeface="+mn-lt"/>
              </a:rPr>
              <a:t>create table </a:t>
            </a:r>
            <a:r>
              <a:rPr lang="en-US" altLang="zh-CN" sz="1600" b="0" dirty="0" err="1">
                <a:solidFill>
                  <a:srgbClr val="000000"/>
                </a:solidFill>
                <a:latin typeface="+mn-lt"/>
              </a:rPr>
              <a:t>frag_table</a:t>
            </a:r>
            <a:r>
              <a:rPr lang="en-US" altLang="zh-CN" sz="1600" b="0" dirty="0">
                <a:solidFill>
                  <a:srgbClr val="000000"/>
                </a:solidFill>
                <a:latin typeface="+mn-lt"/>
              </a:rPr>
              <a:t> </a:t>
            </a:r>
          </a:p>
          <a:p>
            <a:pPr lvl="1" algn="l" eaLnBrk="1" hangingPunct="1">
              <a:lnSpc>
                <a:spcPct val="150000"/>
              </a:lnSpc>
            </a:pPr>
            <a:r>
              <a:rPr lang="en-US" altLang="zh-CN" sz="1600" b="0" dirty="0">
                <a:solidFill>
                  <a:srgbClr val="000000"/>
                </a:solidFill>
                <a:latin typeface="+mn-lt"/>
              </a:rPr>
              <a:t>  </a:t>
            </a:r>
            <a:r>
              <a:rPr lang="en-US" altLang="zh-CN" sz="1600" b="0" dirty="0" smtClean="0">
                <a:solidFill>
                  <a:srgbClr val="000000"/>
                </a:solidFill>
                <a:latin typeface="+mn-lt"/>
              </a:rPr>
              <a:t>(</a:t>
            </a:r>
            <a:r>
              <a:rPr lang="en-US" altLang="zh-CN" sz="1600" b="0" dirty="0" err="1" smtClean="0">
                <a:solidFill>
                  <a:srgbClr val="000000"/>
                </a:solidFill>
                <a:latin typeface="+mn-lt"/>
              </a:rPr>
              <a:t>data_time</a:t>
            </a:r>
            <a:r>
              <a:rPr lang="en-US" altLang="zh-CN" sz="1600" b="0" dirty="0" smtClean="0">
                <a:solidFill>
                  <a:srgbClr val="000000"/>
                </a:solidFill>
                <a:latin typeface="+mn-lt"/>
              </a:rPr>
              <a:t> </a:t>
            </a:r>
            <a:r>
              <a:rPr lang="en-US" altLang="zh-CN" sz="1600" b="0" dirty="0" err="1">
                <a:solidFill>
                  <a:srgbClr val="000000"/>
                </a:solidFill>
                <a:latin typeface="+mn-lt"/>
              </a:rPr>
              <a:t>datetime</a:t>
            </a:r>
            <a:r>
              <a:rPr lang="en-US" altLang="zh-CN" sz="1600" b="0" dirty="0">
                <a:solidFill>
                  <a:srgbClr val="000000"/>
                </a:solidFill>
                <a:latin typeface="+mn-lt"/>
              </a:rPr>
              <a:t> year to </a:t>
            </a:r>
            <a:r>
              <a:rPr lang="en-US" altLang="zh-CN" sz="1600" b="0" dirty="0" err="1" smtClean="0">
                <a:solidFill>
                  <a:srgbClr val="000000"/>
                </a:solidFill>
                <a:latin typeface="+mn-lt"/>
              </a:rPr>
              <a:t>second,id</a:t>
            </a:r>
            <a:r>
              <a:rPr lang="en-US" altLang="zh-CN" sz="1600" b="0" dirty="0" smtClean="0">
                <a:solidFill>
                  <a:srgbClr val="000000"/>
                </a:solidFill>
                <a:latin typeface="+mn-lt"/>
              </a:rPr>
              <a:t> </a:t>
            </a:r>
            <a:r>
              <a:rPr lang="en-US" altLang="zh-CN" sz="1600" b="0" dirty="0" err="1" smtClean="0">
                <a:solidFill>
                  <a:srgbClr val="000000"/>
                </a:solidFill>
                <a:latin typeface="+mn-lt"/>
              </a:rPr>
              <a:t>int</a:t>
            </a:r>
            <a:r>
              <a:rPr lang="en-US" altLang="zh-CN" sz="1600" b="0" dirty="0" smtClean="0">
                <a:solidFill>
                  <a:srgbClr val="000000"/>
                </a:solidFill>
                <a:latin typeface="+mn-lt"/>
              </a:rPr>
              <a:t> ,</a:t>
            </a:r>
            <a:r>
              <a:rPr lang="en-US" altLang="zh-CN" sz="1600" b="0" dirty="0" err="1" smtClean="0">
                <a:solidFill>
                  <a:srgbClr val="000000"/>
                </a:solidFill>
                <a:latin typeface="+mn-lt"/>
              </a:rPr>
              <a:t>abc</a:t>
            </a:r>
            <a:r>
              <a:rPr lang="en-US" altLang="zh-CN" sz="1600" b="0" dirty="0" smtClean="0">
                <a:solidFill>
                  <a:srgbClr val="000000"/>
                </a:solidFill>
                <a:latin typeface="+mn-lt"/>
              </a:rPr>
              <a:t> integer,c1 </a:t>
            </a:r>
            <a:r>
              <a:rPr lang="en-US" altLang="zh-CN" sz="1600" b="0" dirty="0">
                <a:solidFill>
                  <a:srgbClr val="000000"/>
                </a:solidFill>
                <a:latin typeface="+mn-lt"/>
              </a:rPr>
              <a:t>varchar(255</a:t>
            </a:r>
            <a:r>
              <a:rPr lang="en-US" altLang="zh-CN" sz="1600" b="0" dirty="0" smtClean="0">
                <a:solidFill>
                  <a:srgbClr val="000000"/>
                </a:solidFill>
                <a:latin typeface="+mn-lt"/>
              </a:rPr>
              <a:t>),c2 integer,c3 </a:t>
            </a:r>
            <a:r>
              <a:rPr lang="en-US" altLang="zh-CN" sz="1600" b="0" dirty="0">
                <a:solidFill>
                  <a:srgbClr val="000000"/>
                </a:solidFill>
                <a:latin typeface="+mn-lt"/>
              </a:rPr>
              <a:t>int8  ) </a:t>
            </a:r>
          </a:p>
          <a:p>
            <a:pPr lvl="1" algn="l" eaLnBrk="1" hangingPunct="1">
              <a:lnSpc>
                <a:spcPct val="150000"/>
              </a:lnSpc>
            </a:pPr>
            <a:r>
              <a:rPr lang="en-US" altLang="zh-CN" sz="1600" b="0" dirty="0">
                <a:solidFill>
                  <a:srgbClr val="000000"/>
                </a:solidFill>
                <a:latin typeface="+mn-lt"/>
              </a:rPr>
              <a:t>  fragment by expression </a:t>
            </a:r>
            <a:endParaRPr lang="en-US" altLang="zh-CN" sz="1600" b="0" dirty="0" smtClean="0">
              <a:solidFill>
                <a:srgbClr val="000000"/>
              </a:solidFill>
              <a:latin typeface="+mn-lt"/>
            </a:endParaRPr>
          </a:p>
          <a:p>
            <a:pPr lvl="1" algn="l" eaLnBrk="1" hangingPunct="1">
              <a:lnSpc>
                <a:spcPct val="150000"/>
              </a:lnSpc>
            </a:pPr>
            <a:r>
              <a:rPr lang="en-US" altLang="zh-CN" sz="1600" b="0" dirty="0" smtClean="0">
                <a:solidFill>
                  <a:srgbClr val="000000"/>
                </a:solidFill>
                <a:latin typeface="+mn-lt"/>
              </a:rPr>
              <a:t>partition p1</a:t>
            </a:r>
          </a:p>
          <a:p>
            <a:pPr lvl="1" algn="l" eaLnBrk="1" hangingPunct="1">
              <a:lnSpc>
                <a:spcPct val="150000"/>
              </a:lnSpc>
            </a:pPr>
            <a:r>
              <a:rPr lang="en-US" altLang="zh-CN" sz="1600" b="0" dirty="0" smtClean="0">
                <a:solidFill>
                  <a:srgbClr val="000000"/>
                </a:solidFill>
                <a:latin typeface="+mn-lt"/>
              </a:rPr>
              <a:t> </a:t>
            </a:r>
            <a:r>
              <a:rPr lang="en-US" altLang="zh-CN" sz="1600" b="0" dirty="0">
                <a:solidFill>
                  <a:srgbClr val="000000"/>
                </a:solidFill>
                <a:latin typeface="+mn-lt"/>
              </a:rPr>
              <a:t>( </a:t>
            </a:r>
            <a:r>
              <a:rPr lang="en-US" altLang="zh-CN" sz="1600" b="0" dirty="0" err="1">
                <a:solidFill>
                  <a:srgbClr val="000000"/>
                </a:solidFill>
                <a:latin typeface="+mn-lt"/>
              </a:rPr>
              <a:t>data_time</a:t>
            </a:r>
            <a:r>
              <a:rPr lang="en-US" altLang="zh-CN" sz="1600" b="0" dirty="0">
                <a:solidFill>
                  <a:srgbClr val="000000"/>
                </a:solidFill>
                <a:latin typeface="+mn-lt"/>
              </a:rPr>
              <a:t> &lt; '2011-01-02 00:00:00'  AND  </a:t>
            </a:r>
            <a:r>
              <a:rPr lang="en-US" altLang="zh-CN" sz="1600" b="0" dirty="0" err="1">
                <a:solidFill>
                  <a:srgbClr val="000000"/>
                </a:solidFill>
                <a:latin typeface="+mn-lt"/>
              </a:rPr>
              <a:t>data_time</a:t>
            </a:r>
            <a:r>
              <a:rPr lang="en-US" altLang="zh-CN" sz="1600" b="0" dirty="0">
                <a:solidFill>
                  <a:srgbClr val="000000"/>
                </a:solidFill>
                <a:latin typeface="+mn-lt"/>
              </a:rPr>
              <a:t> &gt;= '2011-01-01 00:00:00' ) in datadbs01,</a:t>
            </a:r>
          </a:p>
          <a:p>
            <a:pPr lvl="1" algn="l" eaLnBrk="1" hangingPunct="1">
              <a:lnSpc>
                <a:spcPct val="150000"/>
              </a:lnSpc>
            </a:pPr>
            <a:r>
              <a:rPr lang="en-US" altLang="zh-CN" sz="1600" b="0" dirty="0">
                <a:solidFill>
                  <a:srgbClr val="000000"/>
                </a:solidFill>
                <a:latin typeface="+mn-lt"/>
              </a:rPr>
              <a:t>  partition p2 </a:t>
            </a:r>
            <a:endParaRPr lang="en-US" altLang="zh-CN" sz="1600" b="0" dirty="0" smtClean="0">
              <a:solidFill>
                <a:srgbClr val="000000"/>
              </a:solidFill>
              <a:latin typeface="+mn-lt"/>
            </a:endParaRPr>
          </a:p>
          <a:p>
            <a:pPr lvl="1" algn="l" eaLnBrk="1" hangingPunct="1">
              <a:lnSpc>
                <a:spcPct val="150000"/>
              </a:lnSpc>
            </a:pPr>
            <a:r>
              <a:rPr lang="en-US" altLang="zh-CN" sz="1600" b="0" dirty="0" smtClean="0">
                <a:solidFill>
                  <a:srgbClr val="000000"/>
                </a:solidFill>
                <a:latin typeface="+mn-lt"/>
              </a:rPr>
              <a:t>( </a:t>
            </a:r>
            <a:r>
              <a:rPr lang="en-US" altLang="zh-CN" sz="1600" b="0" dirty="0" err="1">
                <a:solidFill>
                  <a:srgbClr val="000000"/>
                </a:solidFill>
                <a:latin typeface="+mn-lt"/>
              </a:rPr>
              <a:t>data_time</a:t>
            </a:r>
            <a:r>
              <a:rPr lang="en-US" altLang="zh-CN" sz="1600" b="0" dirty="0">
                <a:solidFill>
                  <a:srgbClr val="000000"/>
                </a:solidFill>
                <a:latin typeface="+mn-lt"/>
              </a:rPr>
              <a:t> &lt; '2011-01-03 00:00:00'  AND  </a:t>
            </a:r>
            <a:r>
              <a:rPr lang="en-US" altLang="zh-CN" sz="1600" b="0" dirty="0" err="1">
                <a:solidFill>
                  <a:srgbClr val="000000"/>
                </a:solidFill>
                <a:latin typeface="+mn-lt"/>
              </a:rPr>
              <a:t>data_time</a:t>
            </a:r>
            <a:r>
              <a:rPr lang="en-US" altLang="zh-CN" sz="1600" b="0" dirty="0">
                <a:solidFill>
                  <a:srgbClr val="000000"/>
                </a:solidFill>
                <a:latin typeface="+mn-lt"/>
              </a:rPr>
              <a:t> &gt;= '2011-01-02 00:00:00' ) in datadbs02</a:t>
            </a:r>
            <a:r>
              <a:rPr lang="en-US" altLang="zh-CN" sz="1600" b="0" dirty="0" smtClean="0">
                <a:solidFill>
                  <a:srgbClr val="000000"/>
                </a:solidFill>
                <a:latin typeface="+mn-lt"/>
              </a:rPr>
              <a:t>;</a:t>
            </a:r>
            <a:endParaRPr lang="en-US" altLang="zh-CN" sz="1600" b="0" dirty="0">
              <a:solidFill>
                <a:srgbClr val="000000"/>
              </a:solidFill>
              <a:latin typeface="+mn-lt"/>
            </a:endParaRPr>
          </a:p>
          <a:p>
            <a:pPr lvl="1" algn="l" eaLnBrk="1" hangingPunct="1">
              <a:lnSpc>
                <a:spcPct val="150000"/>
              </a:lnSpc>
            </a:pPr>
            <a:r>
              <a:rPr lang="en-US" altLang="zh-CN" sz="1600" b="0" dirty="0">
                <a:solidFill>
                  <a:srgbClr val="000000"/>
                </a:solidFill>
                <a:latin typeface="+mn-lt"/>
              </a:rPr>
              <a:t>--</a:t>
            </a:r>
            <a:r>
              <a:rPr lang="zh-CN" altLang="en-US" sz="1600" b="0" dirty="0">
                <a:solidFill>
                  <a:srgbClr val="000000"/>
                </a:solidFill>
                <a:latin typeface="+mn-lt"/>
              </a:rPr>
              <a:t>创建的唯一索引</a:t>
            </a:r>
            <a:r>
              <a:rPr lang="en-US" altLang="zh-CN" sz="1600" b="0" dirty="0">
                <a:solidFill>
                  <a:srgbClr val="000000"/>
                </a:solidFill>
                <a:latin typeface="+mn-lt"/>
              </a:rPr>
              <a:t>idx1_frag</a:t>
            </a:r>
            <a:r>
              <a:rPr lang="zh-CN" altLang="en-US" sz="1600" b="0" dirty="0">
                <a:solidFill>
                  <a:srgbClr val="000000"/>
                </a:solidFill>
                <a:latin typeface="+mn-lt"/>
              </a:rPr>
              <a:t>为本地索引</a:t>
            </a:r>
          </a:p>
          <a:p>
            <a:pPr lvl="1" algn="l" eaLnBrk="1" hangingPunct="1">
              <a:lnSpc>
                <a:spcPct val="150000"/>
              </a:lnSpc>
            </a:pPr>
            <a:r>
              <a:rPr lang="en-US" altLang="zh-CN" sz="1600" b="0" dirty="0">
                <a:solidFill>
                  <a:srgbClr val="000000"/>
                </a:solidFill>
                <a:latin typeface="+mn-lt"/>
              </a:rPr>
              <a:t>create unique index idx1_frag_table on </a:t>
            </a:r>
            <a:r>
              <a:rPr lang="en-US" altLang="zh-CN" sz="1600" b="0" dirty="0" err="1">
                <a:solidFill>
                  <a:srgbClr val="000000"/>
                </a:solidFill>
                <a:latin typeface="+mn-lt"/>
              </a:rPr>
              <a:t>frag_table</a:t>
            </a:r>
            <a:r>
              <a:rPr lang="en-US" altLang="zh-CN" sz="1600" b="0" dirty="0">
                <a:solidFill>
                  <a:srgbClr val="000000"/>
                </a:solidFill>
                <a:latin typeface="+mn-lt"/>
              </a:rPr>
              <a:t> (</a:t>
            </a:r>
            <a:r>
              <a:rPr lang="en-US" altLang="zh-CN" sz="1600" b="0" dirty="0" err="1">
                <a:solidFill>
                  <a:srgbClr val="000000"/>
                </a:solidFill>
                <a:latin typeface="+mn-lt"/>
              </a:rPr>
              <a:t>data_time,id</a:t>
            </a:r>
            <a:r>
              <a:rPr lang="en-US" altLang="zh-CN" sz="1600" b="0" dirty="0">
                <a:solidFill>
                  <a:srgbClr val="000000"/>
                </a:solidFill>
                <a:latin typeface="+mn-lt"/>
              </a:rPr>
              <a:t>);</a:t>
            </a:r>
          </a:p>
          <a:p>
            <a:pPr lvl="1" algn="l" eaLnBrk="1" hangingPunct="1">
              <a:lnSpc>
                <a:spcPct val="150000"/>
              </a:lnSpc>
            </a:pPr>
            <a:r>
              <a:rPr lang="en-US" altLang="zh-CN" sz="1600" b="0" dirty="0">
                <a:solidFill>
                  <a:srgbClr val="000000"/>
                </a:solidFill>
                <a:latin typeface="+mn-lt"/>
              </a:rPr>
              <a:t>create index idx2_frag_table on </a:t>
            </a:r>
            <a:r>
              <a:rPr lang="en-US" altLang="zh-CN" sz="1600" b="0" dirty="0" err="1">
                <a:solidFill>
                  <a:srgbClr val="000000"/>
                </a:solidFill>
                <a:latin typeface="+mn-lt"/>
              </a:rPr>
              <a:t>frag_table</a:t>
            </a:r>
            <a:r>
              <a:rPr lang="en-US" altLang="zh-CN" sz="1600" b="0" dirty="0">
                <a:solidFill>
                  <a:srgbClr val="000000"/>
                </a:solidFill>
                <a:latin typeface="+mn-lt"/>
              </a:rPr>
              <a:t> (</a:t>
            </a:r>
            <a:r>
              <a:rPr lang="en-US" altLang="zh-CN" sz="1600" b="0" dirty="0" err="1">
                <a:solidFill>
                  <a:srgbClr val="000000"/>
                </a:solidFill>
                <a:latin typeface="+mn-lt"/>
              </a:rPr>
              <a:t>abc</a:t>
            </a:r>
            <a:r>
              <a:rPr lang="en-US" altLang="zh-CN" sz="1600" b="0" dirty="0" smtClean="0">
                <a:solidFill>
                  <a:srgbClr val="000000"/>
                </a:solidFill>
                <a:latin typeface="+mn-lt"/>
              </a:rPr>
              <a:t>);</a:t>
            </a:r>
            <a:endParaRPr lang="en-US" altLang="zh-CN" sz="1600" b="0" dirty="0">
              <a:solidFill>
                <a:srgbClr val="000000"/>
              </a:solidFill>
              <a:latin typeface="+mn-lt"/>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lvl="0"/>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分片表实例</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创建、管理、分配</a:t>
            </a:r>
            <a:r>
              <a:rPr lang="en-US" altLang="zh-CN" kern="1200" dirty="0" smtClean="0">
                <a:latin typeface="微软雅黑" panose="020B0503020204020204" pitchFamily="34" charset="-122"/>
                <a:ea typeface="微软雅黑" panose="020B0503020204020204" pitchFamily="34" charset="-122"/>
                <a:cs typeface="微软雅黑" panose="020B0503020204020204" pitchFamily="34" charset="-122"/>
              </a:rPr>
              <a:t/>
            </a:r>
            <a:br>
              <a:rPr lang="en-US" altLang="zh-CN" kern="120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dirty="0"/>
          </a:p>
        </p:txBody>
      </p:sp>
      <p:sp>
        <p:nvSpPr>
          <p:cNvPr id="58371" name="Rectangle 3"/>
          <p:cNvSpPr>
            <a:spLocks noGrp="1" noChangeArrowheads="1"/>
          </p:cNvSpPr>
          <p:nvPr>
            <p:ph type="body" sz="quarter" idx="10"/>
          </p:nvPr>
        </p:nvSpPr>
        <p:spPr/>
        <p:txBody>
          <a:bodyPr/>
          <a:lstStyle/>
          <a:p>
            <a:pPr eaLnBrk="1" hangingPunct="1"/>
            <a:r>
              <a:rPr lang="zh-CN" altLang="en-US" dirty="0">
                <a:latin typeface="+mn-ea"/>
                <a:ea typeface="+mn-ea"/>
                <a:cs typeface="华文楷体" panose="02010600040101010101" charset="-122"/>
              </a:rPr>
              <a:t>创建表在 </a:t>
            </a:r>
            <a:r>
              <a:rPr lang="en-US" altLang="zh-CN" dirty="0">
                <a:latin typeface="+mn-ea"/>
                <a:ea typeface="+mn-ea"/>
                <a:cs typeface="宋体" panose="02010600030101010101" pitchFamily="2" charset="-122"/>
              </a:rPr>
              <a:t>datadbs03</a:t>
            </a:r>
            <a:r>
              <a:rPr lang="zh-CN" altLang="en-US" dirty="0">
                <a:latin typeface="+mn-ea"/>
                <a:ea typeface="+mn-ea"/>
                <a:cs typeface="宋体" panose="02010600030101010101" pitchFamily="2" charset="-122"/>
              </a:rPr>
              <a:t> </a:t>
            </a:r>
            <a:endParaRPr lang="zh-CN" altLang="en-US" dirty="0">
              <a:latin typeface="+mn-ea"/>
              <a:ea typeface="+mn-ea"/>
              <a:cs typeface="华文楷体" panose="02010600040101010101" charset="-122"/>
            </a:endParaRPr>
          </a:p>
          <a:p>
            <a:pPr eaLnBrk="1" hangingPunct="1">
              <a:buNone/>
            </a:pPr>
            <a:endParaRPr lang="zh-CN" altLang="en-US" sz="2000" dirty="0">
              <a:latin typeface="Arial" panose="020B0604020202020204" pitchFamily="34" charset="0"/>
              <a:cs typeface="宋体" panose="02010600030101010101" pitchFamily="2" charset="-122"/>
            </a:endParaRPr>
          </a:p>
        </p:txBody>
      </p:sp>
      <p:sp>
        <p:nvSpPr>
          <p:cNvPr id="58372" name="内容占位符 3"/>
          <p:cNvSpPr txBox="1"/>
          <p:nvPr/>
        </p:nvSpPr>
        <p:spPr bwMode="auto">
          <a:xfrm>
            <a:off x="2168210" y="1719939"/>
            <a:ext cx="7893756" cy="4151085"/>
          </a:xfrm>
          <a:prstGeom prst="rect">
            <a:avLst/>
          </a:prstGeom>
          <a:solidFill>
            <a:schemeClr val="bg1">
              <a:lumMod val="85000"/>
            </a:schemeClr>
          </a:solidFill>
          <a:ln w="3175">
            <a:solidFill>
              <a:schemeClr val="bg1">
                <a:lumMod val="50000"/>
              </a:schemeClr>
            </a:solidFill>
            <a:miter lim="800000"/>
          </a:ln>
        </p:spPr>
        <p:txBody>
          <a:bodyPr/>
          <a:lstStyle>
            <a:lvl1pPr marL="342900" indent="-342900"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indent="-22733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algn="l" eaLnBrk="1" hangingPunct="1"/>
            <a:r>
              <a:rPr lang="en-US" altLang="zh-CN" sz="1600" b="0" dirty="0" smtClean="0">
                <a:solidFill>
                  <a:srgbClr val="000000"/>
                </a:solidFill>
                <a:latin typeface="+mn-lt"/>
                <a:ea typeface="微软雅黑" panose="020B0503020204020204" pitchFamily="34" charset="-122"/>
                <a:cs typeface="微软雅黑" panose="020B0503020204020204" pitchFamily="34" charset="-122"/>
              </a:rPr>
              <a:t>create </a:t>
            </a:r>
            <a:r>
              <a:rPr lang="en-US" altLang="zh-CN" sz="1600" b="0" dirty="0">
                <a:solidFill>
                  <a:srgbClr val="000000"/>
                </a:solidFill>
                <a:latin typeface="+mn-lt"/>
                <a:ea typeface="微软雅黑" panose="020B0503020204020204" pitchFamily="34" charset="-122"/>
                <a:cs typeface="微软雅黑" panose="020B0503020204020204" pitchFamily="34" charset="-122"/>
              </a:rPr>
              <a:t>table tab1 </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  (</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    </a:t>
            </a:r>
            <a:r>
              <a:rPr lang="en-US" altLang="zh-CN" sz="1600" b="0" dirty="0" err="1">
                <a:solidFill>
                  <a:srgbClr val="000000"/>
                </a:solidFill>
                <a:latin typeface="+mn-lt"/>
                <a:ea typeface="微软雅黑" panose="020B0503020204020204" pitchFamily="34" charset="-122"/>
                <a:cs typeface="微软雅黑" panose="020B0503020204020204" pitchFamily="34" charset="-122"/>
              </a:rPr>
              <a:t>data_time</a:t>
            </a:r>
            <a:r>
              <a:rPr lang="en-US" altLang="zh-CN" sz="1600" b="0" dirty="0">
                <a:solidFill>
                  <a:srgbClr val="000000"/>
                </a:solidFill>
                <a:latin typeface="+mn-lt"/>
                <a:ea typeface="微软雅黑" panose="020B0503020204020204" pitchFamily="34" charset="-122"/>
                <a:cs typeface="微软雅黑" panose="020B0503020204020204" pitchFamily="34" charset="-122"/>
              </a:rPr>
              <a:t> </a:t>
            </a:r>
            <a:r>
              <a:rPr lang="en-US" altLang="zh-CN" sz="1600" b="0" dirty="0" err="1">
                <a:solidFill>
                  <a:srgbClr val="000000"/>
                </a:solidFill>
                <a:latin typeface="+mn-lt"/>
                <a:ea typeface="微软雅黑" panose="020B0503020204020204" pitchFamily="34" charset="-122"/>
                <a:cs typeface="微软雅黑" panose="020B0503020204020204" pitchFamily="34" charset="-122"/>
              </a:rPr>
              <a:t>datetime</a:t>
            </a:r>
            <a:r>
              <a:rPr lang="en-US" altLang="zh-CN" sz="1600" b="0" dirty="0">
                <a:solidFill>
                  <a:srgbClr val="000000"/>
                </a:solidFill>
                <a:latin typeface="+mn-lt"/>
                <a:ea typeface="微软雅黑" panose="020B0503020204020204" pitchFamily="34" charset="-122"/>
                <a:cs typeface="微软雅黑" panose="020B0503020204020204" pitchFamily="34" charset="-122"/>
              </a:rPr>
              <a:t> year to second  ,</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    id </a:t>
            </a:r>
            <a:r>
              <a:rPr lang="en-US" altLang="zh-CN" sz="1600" b="0" dirty="0" err="1">
                <a:solidFill>
                  <a:srgbClr val="000000"/>
                </a:solidFill>
                <a:latin typeface="+mn-lt"/>
                <a:ea typeface="微软雅黑" panose="020B0503020204020204" pitchFamily="34" charset="-122"/>
                <a:cs typeface="微软雅黑" panose="020B0503020204020204" pitchFamily="34" charset="-122"/>
              </a:rPr>
              <a:t>int</a:t>
            </a:r>
            <a:r>
              <a:rPr lang="en-US" altLang="zh-CN" sz="1600" b="0" dirty="0">
                <a:solidFill>
                  <a:srgbClr val="000000"/>
                </a:solidFill>
                <a:latin typeface="+mn-lt"/>
                <a:ea typeface="微软雅黑" panose="020B0503020204020204" pitchFamily="34" charset="-122"/>
                <a:cs typeface="微软雅黑" panose="020B0503020204020204" pitchFamily="34" charset="-122"/>
              </a:rPr>
              <a:t>  ,</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    </a:t>
            </a:r>
            <a:r>
              <a:rPr lang="en-US" altLang="zh-CN" sz="1600" b="0" dirty="0" err="1">
                <a:solidFill>
                  <a:srgbClr val="000000"/>
                </a:solidFill>
                <a:latin typeface="+mn-lt"/>
                <a:ea typeface="微软雅黑" panose="020B0503020204020204" pitchFamily="34" charset="-122"/>
                <a:cs typeface="微软雅黑" panose="020B0503020204020204" pitchFamily="34" charset="-122"/>
              </a:rPr>
              <a:t>abc</a:t>
            </a:r>
            <a:r>
              <a:rPr lang="en-US" altLang="zh-CN" sz="1600" b="0" dirty="0">
                <a:solidFill>
                  <a:srgbClr val="000000"/>
                </a:solidFill>
                <a:latin typeface="+mn-lt"/>
                <a:ea typeface="微软雅黑" panose="020B0503020204020204" pitchFamily="34" charset="-122"/>
                <a:cs typeface="微软雅黑" panose="020B0503020204020204" pitchFamily="34" charset="-122"/>
              </a:rPr>
              <a:t> integer,</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    c1 </a:t>
            </a:r>
            <a:r>
              <a:rPr lang="en-US" altLang="zh-CN" sz="1600" b="0" dirty="0" err="1">
                <a:solidFill>
                  <a:srgbClr val="000000"/>
                </a:solidFill>
                <a:latin typeface="+mn-lt"/>
                <a:ea typeface="微软雅黑" panose="020B0503020204020204" pitchFamily="34" charset="-122"/>
                <a:cs typeface="微软雅黑" panose="020B0503020204020204" pitchFamily="34" charset="-122"/>
              </a:rPr>
              <a:t>varchar</a:t>
            </a:r>
            <a:r>
              <a:rPr lang="en-US" altLang="zh-CN" sz="1600" b="0" dirty="0">
                <a:solidFill>
                  <a:srgbClr val="000000"/>
                </a:solidFill>
                <a:latin typeface="+mn-lt"/>
                <a:ea typeface="微软雅黑" panose="020B0503020204020204" pitchFamily="34" charset="-122"/>
                <a:cs typeface="微软雅黑" panose="020B0503020204020204" pitchFamily="34" charset="-122"/>
              </a:rPr>
              <a:t>(255),</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    c2 integer,</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    c3 int8 </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  )in </a:t>
            </a:r>
            <a:r>
              <a:rPr lang="en-US" altLang="zh-CN" sz="1600" b="0" dirty="0" smtClean="0">
                <a:solidFill>
                  <a:srgbClr val="FF0000"/>
                </a:solidFill>
                <a:latin typeface="+mn-lt"/>
                <a:ea typeface="微软雅黑" panose="020B0503020204020204" pitchFamily="34" charset="-122"/>
                <a:cs typeface="微软雅黑" panose="020B0503020204020204" pitchFamily="34" charset="-122"/>
              </a:rPr>
              <a:t>datadbs03</a:t>
            </a:r>
            <a:r>
              <a:rPr lang="en-US" altLang="zh-CN" sz="1600" b="0" dirty="0" smtClean="0">
                <a:solidFill>
                  <a:srgbClr val="000000"/>
                </a:solidFill>
                <a:latin typeface="+mn-lt"/>
                <a:ea typeface="微软雅黑" panose="020B0503020204020204" pitchFamily="34" charset="-122"/>
                <a:cs typeface="微软雅黑" panose="020B0503020204020204" pitchFamily="34" charset="-122"/>
              </a:rPr>
              <a:t> ;</a:t>
            </a:r>
          </a:p>
          <a:p>
            <a:pPr lvl="1" algn="l" eaLnBrk="1" hangingPunct="1"/>
            <a:endParaRPr lang="en-US" altLang="zh-CN" sz="1600" b="0" dirty="0" smtClean="0">
              <a:solidFill>
                <a:srgbClr val="000000"/>
              </a:solidFill>
              <a:latin typeface="+mn-lt"/>
              <a:ea typeface="微软雅黑" panose="020B0503020204020204" pitchFamily="34" charset="-122"/>
              <a:cs typeface="微软雅黑" panose="020B0503020204020204" pitchFamily="34" charset="-122"/>
            </a:endParaRPr>
          </a:p>
          <a:p>
            <a:pPr lvl="1" algn="l" eaLnBrk="1" hangingPunct="1"/>
            <a:r>
              <a:rPr lang="en-US" altLang="zh-CN" sz="1600" b="0" dirty="0" smtClean="0">
                <a:solidFill>
                  <a:srgbClr val="000000"/>
                </a:solidFill>
                <a:latin typeface="+mn-lt"/>
                <a:ea typeface="微软雅黑" panose="020B0503020204020204" pitchFamily="34" charset="-122"/>
                <a:cs typeface="微软雅黑" panose="020B0503020204020204" pitchFamily="34" charset="-122"/>
              </a:rPr>
              <a:t>--</a:t>
            </a:r>
            <a:r>
              <a:rPr lang="zh-CN" altLang="en-US" sz="1600" b="0" dirty="0">
                <a:solidFill>
                  <a:srgbClr val="000000"/>
                </a:solidFill>
                <a:latin typeface="+mn-lt"/>
                <a:ea typeface="微软雅黑" panose="020B0503020204020204" pitchFamily="34" charset="-122"/>
                <a:cs typeface="微软雅黑" panose="020B0503020204020204" pitchFamily="34" charset="-122"/>
              </a:rPr>
              <a:t>表</a:t>
            </a:r>
            <a:r>
              <a:rPr lang="en-US" altLang="zh-CN" sz="1600" b="0" dirty="0">
                <a:solidFill>
                  <a:srgbClr val="000000"/>
                </a:solidFill>
                <a:latin typeface="+mn-lt"/>
                <a:ea typeface="微软雅黑" panose="020B0503020204020204" pitchFamily="34" charset="-122"/>
                <a:cs typeface="微软雅黑" panose="020B0503020204020204" pitchFamily="34" charset="-122"/>
              </a:rPr>
              <a:t>tab1</a:t>
            </a:r>
            <a:r>
              <a:rPr lang="zh-CN" altLang="en-US" sz="1600" b="0" dirty="0">
                <a:solidFill>
                  <a:srgbClr val="000000"/>
                </a:solidFill>
                <a:latin typeface="+mn-lt"/>
                <a:ea typeface="微软雅黑" panose="020B0503020204020204" pitchFamily="34" charset="-122"/>
                <a:cs typeface="微软雅黑" panose="020B0503020204020204" pitchFamily="34" charset="-122"/>
              </a:rPr>
              <a:t>上的索引与</a:t>
            </a:r>
            <a:r>
              <a:rPr lang="en-US" altLang="zh-CN" sz="1600" b="0" dirty="0" err="1">
                <a:solidFill>
                  <a:srgbClr val="000000"/>
                </a:solidFill>
                <a:latin typeface="+mn-lt"/>
                <a:ea typeface="微软雅黑" panose="020B0503020204020204" pitchFamily="34" charset="-122"/>
                <a:cs typeface="微软雅黑" panose="020B0503020204020204" pitchFamily="34" charset="-122"/>
              </a:rPr>
              <a:t>frag_table</a:t>
            </a:r>
            <a:r>
              <a:rPr lang="zh-CN" altLang="en-US" sz="1600" b="0" dirty="0">
                <a:solidFill>
                  <a:srgbClr val="000000"/>
                </a:solidFill>
                <a:latin typeface="+mn-lt"/>
                <a:ea typeface="微软雅黑" panose="020B0503020204020204" pitchFamily="34" charset="-122"/>
                <a:cs typeface="微软雅黑" panose="020B0503020204020204" pitchFamily="34" charset="-122"/>
              </a:rPr>
              <a:t>的索引</a:t>
            </a:r>
            <a:r>
              <a:rPr lang="zh-CN" altLang="en-US" sz="1600" b="0" dirty="0" smtClean="0">
                <a:solidFill>
                  <a:srgbClr val="000000"/>
                </a:solidFill>
                <a:latin typeface="+mn-lt"/>
                <a:ea typeface="微软雅黑" panose="020B0503020204020204" pitchFamily="34" charset="-122"/>
                <a:cs typeface="微软雅黑" panose="020B0503020204020204" pitchFamily="34" charset="-122"/>
              </a:rPr>
              <a:t>一致</a:t>
            </a:r>
            <a:endParaRPr lang="zh-CN" altLang="en-US" sz="1600" b="0" dirty="0">
              <a:solidFill>
                <a:srgbClr val="000000"/>
              </a:solidFill>
              <a:latin typeface="+mn-lt"/>
              <a:ea typeface="微软雅黑" panose="020B0503020204020204" pitchFamily="34" charset="-122"/>
              <a:cs typeface="微软雅黑" panose="020B0503020204020204" pitchFamily="34" charset="-122"/>
            </a:endParaRP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create unique index idx1_tab1 on tab1(</a:t>
            </a:r>
            <a:r>
              <a:rPr lang="en-US" altLang="zh-CN" sz="1600" b="0" dirty="0" err="1">
                <a:solidFill>
                  <a:srgbClr val="000000"/>
                </a:solidFill>
                <a:latin typeface="+mn-lt"/>
                <a:ea typeface="微软雅黑" panose="020B0503020204020204" pitchFamily="34" charset="-122"/>
                <a:cs typeface="微软雅黑" panose="020B0503020204020204" pitchFamily="34" charset="-122"/>
              </a:rPr>
              <a:t>data_time,id</a:t>
            </a:r>
            <a:r>
              <a:rPr lang="en-US" altLang="zh-CN" sz="1600" b="0" dirty="0">
                <a:solidFill>
                  <a:srgbClr val="000000"/>
                </a:solidFill>
                <a:latin typeface="+mn-lt"/>
                <a:ea typeface="微软雅黑" panose="020B0503020204020204" pitchFamily="34" charset="-122"/>
                <a:cs typeface="微软雅黑" panose="020B0503020204020204" pitchFamily="34" charset="-122"/>
              </a:rPr>
              <a:t>) in datadbs03;</a:t>
            </a: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create index idx2_tab1 on tab1 (</a:t>
            </a:r>
            <a:r>
              <a:rPr lang="en-US" altLang="zh-CN" sz="1600" b="0" dirty="0" err="1">
                <a:solidFill>
                  <a:srgbClr val="000000"/>
                </a:solidFill>
                <a:latin typeface="+mn-lt"/>
                <a:ea typeface="微软雅黑" panose="020B0503020204020204" pitchFamily="34" charset="-122"/>
                <a:cs typeface="微软雅黑" panose="020B0503020204020204" pitchFamily="34" charset="-122"/>
              </a:rPr>
              <a:t>abc</a:t>
            </a:r>
            <a:r>
              <a:rPr lang="en-US" altLang="zh-CN" sz="1600" b="0" dirty="0">
                <a:solidFill>
                  <a:srgbClr val="000000"/>
                </a:solidFill>
                <a:latin typeface="+mn-lt"/>
                <a:ea typeface="微软雅黑" panose="020B0503020204020204" pitchFamily="34" charset="-122"/>
                <a:cs typeface="微软雅黑" panose="020B0503020204020204" pitchFamily="34" charset="-122"/>
              </a:rPr>
              <a:t>) in datadbs03;</a:t>
            </a:r>
          </a:p>
          <a:p>
            <a:pPr lvl="1" algn="l" eaLnBrk="1" hangingPunct="1"/>
            <a:endParaRPr lang="en-US" altLang="zh-CN" sz="1600" b="0" dirty="0">
              <a:solidFill>
                <a:srgbClr val="000000"/>
              </a:solidFill>
              <a:latin typeface="+mn-lt"/>
              <a:ea typeface="微软雅黑" panose="020B0503020204020204" pitchFamily="34" charset="-122"/>
              <a:cs typeface="微软雅黑" panose="020B0503020204020204" pitchFamily="34" charset="-122"/>
            </a:endParaRPr>
          </a:p>
          <a:p>
            <a:pPr lvl="1" algn="l" eaLnBrk="1" hangingPunct="1"/>
            <a:r>
              <a:rPr lang="en-US" altLang="zh-CN" sz="1600" b="0" dirty="0">
                <a:solidFill>
                  <a:srgbClr val="000000"/>
                </a:solidFill>
                <a:latin typeface="+mn-lt"/>
                <a:ea typeface="微软雅黑" panose="020B0503020204020204" pitchFamily="34" charset="-122"/>
                <a:cs typeface="微软雅黑" panose="020B0503020204020204" pitchFamily="34" charset="-122"/>
              </a:rPr>
              <a:t>alter table tab1 add constraint </a:t>
            </a:r>
            <a:r>
              <a:rPr lang="en-US" altLang="zh-CN" sz="1600" b="0" dirty="0" smtClean="0">
                <a:solidFill>
                  <a:srgbClr val="000000"/>
                </a:solidFill>
                <a:latin typeface="+mn-lt"/>
                <a:ea typeface="微软雅黑" panose="020B0503020204020204" pitchFamily="34" charset="-122"/>
                <a:cs typeface="微软雅黑" panose="020B0503020204020204" pitchFamily="34" charset="-122"/>
              </a:rPr>
              <a:t>check</a:t>
            </a:r>
          </a:p>
          <a:p>
            <a:pPr lvl="1" algn="l" eaLnBrk="1" hangingPunct="1"/>
            <a:r>
              <a:rPr lang="en-US" altLang="zh-CN" sz="1600" b="0" dirty="0" smtClean="0">
                <a:solidFill>
                  <a:srgbClr val="000000"/>
                </a:solidFill>
                <a:latin typeface="+mn-lt"/>
                <a:ea typeface="微软雅黑" panose="020B0503020204020204" pitchFamily="34" charset="-122"/>
                <a:cs typeface="微软雅黑" panose="020B0503020204020204" pitchFamily="34" charset="-122"/>
              </a:rPr>
              <a:t>(</a:t>
            </a:r>
            <a:r>
              <a:rPr lang="en-US" altLang="zh-CN" sz="1600" b="0" dirty="0" err="1">
                <a:solidFill>
                  <a:srgbClr val="000000"/>
                </a:solidFill>
                <a:latin typeface="+mn-lt"/>
                <a:ea typeface="微软雅黑" panose="020B0503020204020204" pitchFamily="34" charset="-122"/>
                <a:cs typeface="微软雅黑" panose="020B0503020204020204" pitchFamily="34" charset="-122"/>
              </a:rPr>
              <a:t>data_time</a:t>
            </a:r>
            <a:r>
              <a:rPr lang="en-US" altLang="zh-CN" sz="1600" b="0" dirty="0">
                <a:solidFill>
                  <a:srgbClr val="000000"/>
                </a:solidFill>
                <a:latin typeface="+mn-lt"/>
                <a:ea typeface="微软雅黑" panose="020B0503020204020204" pitchFamily="34" charset="-122"/>
                <a:cs typeface="微软雅黑" panose="020B0503020204020204" pitchFamily="34" charset="-122"/>
              </a:rPr>
              <a:t> &lt; '2011-01-04 00:00:00'  AND  </a:t>
            </a:r>
            <a:r>
              <a:rPr lang="en-US" altLang="zh-CN" sz="1600" b="0" dirty="0" err="1">
                <a:solidFill>
                  <a:srgbClr val="000000"/>
                </a:solidFill>
                <a:latin typeface="+mn-lt"/>
                <a:ea typeface="微软雅黑" panose="020B0503020204020204" pitchFamily="34" charset="-122"/>
                <a:cs typeface="微软雅黑" panose="020B0503020204020204" pitchFamily="34" charset="-122"/>
              </a:rPr>
              <a:t>data_time</a:t>
            </a:r>
            <a:r>
              <a:rPr lang="en-US" altLang="zh-CN" sz="1600" b="0" dirty="0">
                <a:solidFill>
                  <a:srgbClr val="000000"/>
                </a:solidFill>
                <a:latin typeface="+mn-lt"/>
                <a:ea typeface="微软雅黑" panose="020B0503020204020204" pitchFamily="34" charset="-122"/>
                <a:cs typeface="微软雅黑" panose="020B0503020204020204" pitchFamily="34" charset="-122"/>
              </a:rPr>
              <a:t> &gt;= '2011-01-03 00:00:00'); </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p:txBody>
          <a:bodyPr/>
          <a:lstStyle/>
          <a:p>
            <a:pPr eaLnBrk="1" hangingPunct="1"/>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分片表实例</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创建、管理、分配</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395" name="Rectangle 3"/>
          <p:cNvSpPr>
            <a:spLocks noGrp="1" noChangeArrowheads="1"/>
          </p:cNvSpPr>
          <p:nvPr>
            <p:ph type="body" sz="quarter" idx="10"/>
          </p:nvPr>
        </p:nvSpPr>
        <p:spPr>
          <a:xfrm>
            <a:off x="755650" y="1157068"/>
            <a:ext cx="10718800" cy="4888767"/>
          </a:xfrm>
        </p:spPr>
        <p:txBody>
          <a:bodyPr>
            <a:normAutofit/>
          </a:bodyPr>
          <a:lstStyle/>
          <a:p>
            <a:pPr eaLnBrk="1" hangingPunct="1">
              <a:lnSpc>
                <a:spcPct val="80000"/>
              </a:lnSpc>
            </a:pPr>
            <a:r>
              <a:rPr lang="zh-CN" altLang="en-US" sz="2000" dirty="0">
                <a:cs typeface="华文楷体" panose="02010600040101010101" charset="-122"/>
              </a:rPr>
              <a:t>合并表</a:t>
            </a:r>
            <a:r>
              <a:rPr lang="en-US" altLang="zh-CN" sz="2000" dirty="0">
                <a:cs typeface="华文楷体" panose="02010600040101010101" charset="-122"/>
              </a:rPr>
              <a:t>tab1</a:t>
            </a:r>
            <a:r>
              <a:rPr lang="zh-CN" altLang="en-US" sz="2000" dirty="0">
                <a:cs typeface="华文楷体" panose="02010600040101010101" charset="-122"/>
              </a:rPr>
              <a:t>到分片表</a:t>
            </a:r>
            <a:r>
              <a:rPr lang="en-US" altLang="zh-CN" sz="2000" dirty="0" err="1">
                <a:cs typeface="华文楷体" panose="02010600040101010101" charset="-122"/>
              </a:rPr>
              <a:t>frag_table</a:t>
            </a:r>
            <a:r>
              <a:rPr lang="zh-CN" altLang="en-US" sz="2000" dirty="0">
                <a:cs typeface="华文楷体" panose="02010600040101010101" charset="-122"/>
              </a:rPr>
              <a:t> </a:t>
            </a:r>
            <a:r>
              <a:rPr lang="en-US" altLang="zh-CN" sz="2000" dirty="0">
                <a:cs typeface="华文楷体" panose="02010600040101010101" charset="-122"/>
              </a:rPr>
              <a:t>--</a:t>
            </a:r>
            <a:r>
              <a:rPr lang="zh-CN" altLang="en-US" sz="2000" dirty="0">
                <a:cs typeface="华文楷体" panose="02010600040101010101" charset="-122"/>
              </a:rPr>
              <a:t>小于 </a:t>
            </a:r>
            <a:r>
              <a:rPr lang="en-US" altLang="zh-CN" sz="2000" dirty="0">
                <a:cs typeface="华文楷体" panose="02010600040101010101" charset="-122"/>
              </a:rPr>
              <a:t>1 </a:t>
            </a:r>
            <a:r>
              <a:rPr lang="zh-CN" altLang="en-US" sz="2000" dirty="0">
                <a:cs typeface="华文楷体" panose="02010600040101010101" charset="-122"/>
              </a:rPr>
              <a:t>秒完成</a:t>
            </a:r>
          </a:p>
          <a:p>
            <a:pPr eaLnBrk="1" hangingPunct="1">
              <a:lnSpc>
                <a:spcPct val="80000"/>
              </a:lnSpc>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pPr>
            <a:endParaRPr lang="en-US" altLang="zh-CN" sz="2000" b="1" dirty="0">
              <a:latin typeface="华文楷体" panose="02010600040101010101" charset="-122"/>
              <a:ea typeface="华文楷体" panose="02010600040101010101" charset="-122"/>
              <a:cs typeface="华文楷体" panose="02010600040101010101" charset="-122"/>
            </a:endParaRPr>
          </a:p>
          <a:p>
            <a:pPr marL="0" lvl="1" indent="0" eaLnBrk="1" hangingPunct="1">
              <a:lnSpc>
                <a:spcPct val="80000"/>
              </a:lnSpc>
              <a:spcBef>
                <a:spcPct val="0"/>
              </a:spcBef>
              <a:spcAft>
                <a:spcPct val="0"/>
              </a:spcAft>
              <a:buClr>
                <a:srgbClr val="00A3A1"/>
              </a:buClr>
              <a:buNone/>
            </a:pPr>
            <a:endParaRPr lang="en-US" altLang="zh-CN" dirty="0">
              <a:latin typeface="华文楷体" panose="02010600040101010101" charset="-122"/>
              <a:ea typeface="华文楷体" panose="02010600040101010101" charset="-122"/>
              <a:cs typeface="华文楷体" panose="02010600040101010101" charset="-122"/>
            </a:endParaRPr>
          </a:p>
          <a:p>
            <a:pPr marL="228600" lvl="1" eaLnBrk="1" hangingPunct="1">
              <a:lnSpc>
                <a:spcPct val="150000"/>
              </a:lnSpc>
              <a:spcBef>
                <a:spcPct val="0"/>
              </a:spcBef>
            </a:pPr>
            <a:r>
              <a:rPr lang="zh-CN" altLang="en-US" sz="2000" dirty="0">
                <a:cs typeface="华文楷体" panose="02010600040101010101" charset="-122"/>
              </a:rPr>
              <a:t>表的新结构</a:t>
            </a:r>
          </a:p>
          <a:p>
            <a:pPr eaLnBrk="1" hangingPunct="1">
              <a:lnSpc>
                <a:spcPct val="80000"/>
              </a:lnSpc>
            </a:pPr>
            <a:endParaRPr lang="zh-CN" altLang="en-US"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zh-CN" altLang="en-US" sz="2000" b="1" dirty="0">
              <a:latin typeface="华文楷体" panose="02010600040101010101" charset="-122"/>
              <a:ea typeface="华文楷体" panose="02010600040101010101" charset="-122"/>
              <a:cs typeface="华文楷体" panose="02010600040101010101" charset="-122"/>
            </a:endParaRPr>
          </a:p>
          <a:p>
            <a:pPr marL="228600" lvl="1" indent="-228600" eaLnBrk="1" hangingPunct="1">
              <a:lnSpc>
                <a:spcPct val="80000"/>
              </a:lnSpc>
              <a:buFont typeface="Webdings" panose="05030102010509060703" charset="0"/>
              <a:buNone/>
            </a:pPr>
            <a:endParaRPr lang="en-US" altLang="zh-CN"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zh-CN" altLang="en-US" sz="2000" dirty="0">
              <a:latin typeface="华文楷体" panose="02010600040101010101" charset="-122"/>
              <a:ea typeface="华文楷体" panose="02010600040101010101" charset="-122"/>
              <a:cs typeface="华文楷体" panose="02010600040101010101" charset="-122"/>
            </a:endParaRPr>
          </a:p>
        </p:txBody>
      </p:sp>
      <p:sp>
        <p:nvSpPr>
          <p:cNvPr id="2" name="文本框 1"/>
          <p:cNvSpPr txBox="1"/>
          <p:nvPr/>
        </p:nvSpPr>
        <p:spPr>
          <a:xfrm>
            <a:off x="2013674" y="2838477"/>
            <a:ext cx="8371116" cy="3592195"/>
          </a:xfrm>
          <a:prstGeom prst="rect">
            <a:avLst/>
          </a:prstGeom>
          <a:solidFill>
            <a:schemeClr val="bg1">
              <a:lumMod val="85000"/>
            </a:schemeClr>
          </a:solidFill>
          <a:ln w="3175">
            <a:solidFill>
              <a:schemeClr val="bg1">
                <a:lumMod val="50000"/>
              </a:schemeClr>
            </a:solidFill>
          </a:ln>
        </p:spPr>
        <p:txBody>
          <a:bodyPr wrap="square" rtlCol="0">
            <a:spAutoFit/>
          </a:bodyPr>
          <a:lstStyle/>
          <a:p>
            <a:pPr>
              <a:lnSpc>
                <a:spcPts val="2100"/>
              </a:lnSpc>
            </a:pPr>
            <a:r>
              <a:rPr lang="en-US" altLang="zh-CN" sz="1600" b="0" dirty="0">
                <a:latin typeface="+mn-lt"/>
                <a:ea typeface="微软雅黑" panose="020B0503020204020204" pitchFamily="34" charset="-122"/>
                <a:cs typeface="微软雅黑" panose="020B0503020204020204" pitchFamily="34" charset="-122"/>
              </a:rPr>
              <a:t>create table </a:t>
            </a: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err="1" smtClean="0">
                <a:latin typeface="+mn-lt"/>
                <a:ea typeface="微软雅黑" panose="020B0503020204020204" pitchFamily="34" charset="-122"/>
                <a:cs typeface="微软雅黑" panose="020B0503020204020204" pitchFamily="34" charset="-122"/>
              </a:rPr>
              <a:t>gbasedbt".frag_table</a:t>
            </a: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err="1" smtClean="0">
                <a:latin typeface="+mn-lt"/>
                <a:ea typeface="微软雅黑" panose="020B0503020204020204" pitchFamily="34" charset="-122"/>
                <a:cs typeface="微软雅黑" panose="020B0503020204020204" pitchFamily="34" charset="-122"/>
              </a:rPr>
              <a:t>data_time</a:t>
            </a:r>
            <a:r>
              <a:rPr lang="en-US" altLang="zh-CN" sz="1600" b="0" dirty="0" smtClean="0">
                <a:latin typeface="+mn-lt"/>
                <a:ea typeface="微软雅黑" panose="020B0503020204020204" pitchFamily="34" charset="-122"/>
                <a:cs typeface="微软雅黑" panose="020B0503020204020204" pitchFamily="34" charset="-122"/>
              </a:rPr>
              <a:t> </a:t>
            </a:r>
            <a:r>
              <a:rPr lang="en-US" altLang="zh-CN" sz="1600" b="0" dirty="0" err="1">
                <a:latin typeface="+mn-lt"/>
                <a:ea typeface="微软雅黑" panose="020B0503020204020204" pitchFamily="34" charset="-122"/>
                <a:cs typeface="微软雅黑" panose="020B0503020204020204" pitchFamily="34" charset="-122"/>
              </a:rPr>
              <a:t>datetime</a:t>
            </a:r>
            <a:r>
              <a:rPr lang="en-US" altLang="zh-CN" sz="1600" b="0" dirty="0">
                <a:latin typeface="+mn-lt"/>
                <a:ea typeface="微软雅黑" panose="020B0503020204020204" pitchFamily="34" charset="-122"/>
                <a:cs typeface="微软雅黑" panose="020B0503020204020204" pitchFamily="34" charset="-122"/>
              </a:rPr>
              <a:t> year to </a:t>
            </a:r>
            <a:r>
              <a:rPr lang="en-US" altLang="zh-CN" sz="1600" b="0" dirty="0" err="1" smtClean="0">
                <a:latin typeface="+mn-lt"/>
                <a:ea typeface="微软雅黑" panose="020B0503020204020204" pitchFamily="34" charset="-122"/>
                <a:cs typeface="微软雅黑" panose="020B0503020204020204" pitchFamily="34" charset="-122"/>
              </a:rPr>
              <a:t>second,id</a:t>
            </a:r>
            <a:r>
              <a:rPr lang="en-US" altLang="zh-CN" sz="1600" b="0" dirty="0" smtClean="0">
                <a:latin typeface="+mn-lt"/>
                <a:ea typeface="微软雅黑" panose="020B0503020204020204" pitchFamily="34" charset="-122"/>
                <a:cs typeface="微软雅黑" panose="020B0503020204020204" pitchFamily="34" charset="-122"/>
              </a:rPr>
              <a:t> </a:t>
            </a:r>
            <a:r>
              <a:rPr lang="en-US" altLang="zh-CN" sz="1600" b="0" dirty="0">
                <a:latin typeface="+mn-lt"/>
                <a:ea typeface="微软雅黑" panose="020B0503020204020204" pitchFamily="34" charset="-122"/>
                <a:cs typeface="微软雅黑" panose="020B0503020204020204" pitchFamily="34" charset="-122"/>
              </a:rPr>
              <a:t>integer,</a:t>
            </a:r>
          </a:p>
          <a:p>
            <a:pPr>
              <a:lnSpc>
                <a:spcPts val="2100"/>
              </a:lnSpc>
            </a:pPr>
            <a:r>
              <a:rPr lang="en-US" altLang="zh-CN" sz="1600" b="0" dirty="0" err="1" smtClean="0">
                <a:latin typeface="+mn-lt"/>
                <a:ea typeface="微软雅黑" panose="020B0503020204020204" pitchFamily="34" charset="-122"/>
                <a:cs typeface="微软雅黑" panose="020B0503020204020204" pitchFamily="34" charset="-122"/>
              </a:rPr>
              <a:t>abc</a:t>
            </a:r>
            <a:r>
              <a:rPr lang="en-US" altLang="zh-CN" sz="1600" b="0" dirty="0" smtClean="0">
                <a:latin typeface="+mn-lt"/>
                <a:ea typeface="微软雅黑" panose="020B0503020204020204" pitchFamily="34" charset="-122"/>
                <a:cs typeface="微软雅黑" panose="020B0503020204020204" pitchFamily="34" charset="-122"/>
              </a:rPr>
              <a:t> integer,c1 varchar(255),c2 integer,c3 </a:t>
            </a:r>
            <a:r>
              <a:rPr lang="en-US" altLang="zh-CN" sz="1600" b="0" dirty="0">
                <a:latin typeface="+mn-lt"/>
                <a:ea typeface="微软雅黑" panose="020B0503020204020204" pitchFamily="34" charset="-122"/>
                <a:cs typeface="微软雅黑" panose="020B0503020204020204" pitchFamily="34" charset="-122"/>
              </a:rPr>
              <a:t>int8 </a:t>
            </a:r>
            <a:r>
              <a:rPr lang="en-US" altLang="zh-CN" sz="1600" b="0" dirty="0" smtClean="0">
                <a:latin typeface="+mn-lt"/>
                <a:ea typeface="微软雅黑" panose="020B0503020204020204" pitchFamily="34" charset="-122"/>
                <a:cs typeface="微软雅黑" panose="020B0503020204020204" pitchFamily="34" charset="-122"/>
              </a:rPr>
              <a:t>) </a:t>
            </a:r>
            <a:r>
              <a:rPr lang="en-US" altLang="zh-CN" sz="1600" dirty="0" smtClean="0">
                <a:latin typeface="+mn-lt"/>
                <a:ea typeface="微软雅黑" panose="020B0503020204020204" pitchFamily="34" charset="-122"/>
                <a:cs typeface="微软雅黑" panose="020B0503020204020204" pitchFamily="34" charset="-122"/>
              </a:rPr>
              <a:t>fragment by expression </a:t>
            </a:r>
          </a:p>
          <a:p>
            <a:pPr>
              <a:lnSpc>
                <a:spcPts val="2100"/>
              </a:lnSpc>
            </a:pPr>
            <a:r>
              <a:rPr lang="en-US" altLang="zh-CN" sz="1600" b="0" dirty="0" smtClean="0">
                <a:latin typeface="+mn-lt"/>
                <a:ea typeface="微软雅黑" panose="020B0503020204020204" pitchFamily="34" charset="-122"/>
                <a:cs typeface="微软雅黑" panose="020B0503020204020204" pitchFamily="34" charset="-122"/>
              </a:rPr>
              <a:t> </a:t>
            </a:r>
            <a:r>
              <a:rPr lang="en-US" altLang="zh-CN" sz="1600" dirty="0" smtClean="0">
                <a:latin typeface="+mn-lt"/>
                <a:ea typeface="微软雅黑" panose="020B0503020204020204" pitchFamily="34" charset="-122"/>
                <a:cs typeface="微软雅黑" panose="020B0503020204020204" pitchFamily="34" charset="-122"/>
              </a:rPr>
              <a:t>partition </a:t>
            </a:r>
            <a:r>
              <a:rPr lang="en-US" altLang="zh-CN" sz="1600" dirty="0">
                <a:latin typeface="+mn-lt"/>
                <a:ea typeface="微软雅黑" panose="020B0503020204020204" pitchFamily="34" charset="-122"/>
                <a:cs typeface="微软雅黑" panose="020B0503020204020204" pitchFamily="34" charset="-122"/>
              </a:rPr>
              <a:t>p1 </a:t>
            </a:r>
            <a:r>
              <a:rPr lang="en-US" altLang="zh-CN" sz="1600" b="0" dirty="0">
                <a:latin typeface="+mn-lt"/>
                <a:ea typeface="微软雅黑" panose="020B0503020204020204" pitchFamily="34" charset="-122"/>
                <a:cs typeface="微软雅黑" panose="020B0503020204020204" pitchFamily="34" charset="-122"/>
              </a:rPr>
              <a:t>((</a:t>
            </a:r>
            <a:r>
              <a:rPr lang="en-US" altLang="zh-CN" sz="1600" b="0" dirty="0" err="1">
                <a:latin typeface="+mn-lt"/>
                <a:ea typeface="微软雅黑" panose="020B0503020204020204" pitchFamily="34" charset="-122"/>
                <a:cs typeface="微软雅黑" panose="020B0503020204020204" pitchFamily="34" charset="-122"/>
              </a:rPr>
              <a:t>data_time</a:t>
            </a:r>
            <a:r>
              <a:rPr lang="en-US" altLang="zh-CN" sz="1600" b="0" dirty="0">
                <a:latin typeface="+mn-lt"/>
                <a:ea typeface="微软雅黑" panose="020B0503020204020204" pitchFamily="34" charset="-122"/>
                <a:cs typeface="微软雅黑" panose="020B0503020204020204" pitchFamily="34" charset="-122"/>
              </a:rPr>
              <a:t> &lt; </a:t>
            </a:r>
            <a:r>
              <a:rPr lang="en-US" altLang="zh-CN" sz="1600" b="0" dirty="0" err="1">
                <a:latin typeface="+mn-lt"/>
                <a:ea typeface="微软雅黑" panose="020B0503020204020204" pitchFamily="34" charset="-122"/>
                <a:cs typeface="微软雅黑" panose="020B0503020204020204" pitchFamily="34" charset="-122"/>
              </a:rPr>
              <a:t>datetime</a:t>
            </a:r>
            <a:r>
              <a:rPr lang="en-US" altLang="zh-CN" sz="1600" b="0" dirty="0">
                <a:latin typeface="+mn-lt"/>
                <a:ea typeface="微软雅黑" panose="020B0503020204020204" pitchFamily="34" charset="-122"/>
                <a:cs typeface="微软雅黑" panose="020B0503020204020204" pitchFamily="34" charset="-122"/>
              </a:rPr>
              <a:t>(2011-01-02 00:00:00</a:t>
            </a:r>
            <a:r>
              <a:rPr lang="en-US" altLang="zh-CN" sz="1600" b="0" dirty="0" smtClean="0">
                <a:latin typeface="+mn-lt"/>
                <a:ea typeface="微软雅黑" panose="020B0503020204020204" pitchFamily="34" charset="-122"/>
                <a:cs typeface="微软雅黑" panose="020B0503020204020204" pitchFamily="34" charset="-122"/>
              </a:rPr>
              <a:t>) </a:t>
            </a:r>
            <a:r>
              <a:rPr lang="en-US" altLang="zh-CN" sz="1600" b="0" dirty="0">
                <a:latin typeface="+mn-lt"/>
                <a:ea typeface="微软雅黑" panose="020B0503020204020204" pitchFamily="34" charset="-122"/>
                <a:cs typeface="微软雅黑" panose="020B0503020204020204" pitchFamily="34" charset="-122"/>
              </a:rPr>
              <a:t>year to second ) AND (</a:t>
            </a:r>
            <a:r>
              <a:rPr lang="en-US" altLang="zh-CN" sz="1600" b="0" dirty="0" err="1">
                <a:latin typeface="+mn-lt"/>
                <a:ea typeface="微软雅黑" panose="020B0503020204020204" pitchFamily="34" charset="-122"/>
                <a:cs typeface="微软雅黑" panose="020B0503020204020204" pitchFamily="34" charset="-122"/>
              </a:rPr>
              <a:t>data_time</a:t>
            </a:r>
            <a:r>
              <a:rPr lang="en-US" altLang="zh-CN" sz="1600" b="0" dirty="0">
                <a:latin typeface="+mn-lt"/>
                <a:ea typeface="微软雅黑" panose="020B0503020204020204" pitchFamily="34" charset="-122"/>
                <a:cs typeface="微软雅黑" panose="020B0503020204020204" pitchFamily="34" charset="-122"/>
              </a:rPr>
              <a:t> &gt;= </a:t>
            </a:r>
            <a:r>
              <a:rPr lang="en-US" altLang="zh-CN" sz="1600" b="0" dirty="0" err="1">
                <a:latin typeface="+mn-lt"/>
                <a:ea typeface="微软雅黑" panose="020B0503020204020204" pitchFamily="34" charset="-122"/>
                <a:cs typeface="微软雅黑" panose="020B0503020204020204" pitchFamily="34" charset="-122"/>
              </a:rPr>
              <a:t>datetime</a:t>
            </a:r>
            <a:r>
              <a:rPr lang="en-US" altLang="zh-CN" sz="1600" b="0" dirty="0">
                <a:latin typeface="+mn-lt"/>
                <a:ea typeface="微软雅黑" panose="020B0503020204020204" pitchFamily="34" charset="-122"/>
                <a:cs typeface="微软雅黑" panose="020B0503020204020204" pitchFamily="34" charset="-122"/>
              </a:rPr>
              <a:t>(2011-01-01 </a:t>
            </a:r>
            <a:r>
              <a:rPr lang="en-US" altLang="zh-CN" sz="1600" b="0" dirty="0" smtClean="0">
                <a:latin typeface="+mn-lt"/>
                <a:ea typeface="微软雅黑" panose="020B0503020204020204" pitchFamily="34" charset="-122"/>
                <a:cs typeface="微软雅黑" panose="020B0503020204020204" pitchFamily="34" charset="-122"/>
              </a:rPr>
              <a:t>00:00:00</a:t>
            </a:r>
            <a:r>
              <a:rPr lang="en-US" altLang="zh-CN" sz="1600" b="0" dirty="0">
                <a:latin typeface="+mn-lt"/>
                <a:ea typeface="微软雅黑" panose="020B0503020204020204" pitchFamily="34" charset="-122"/>
                <a:cs typeface="微软雅黑" panose="020B0503020204020204" pitchFamily="34" charset="-122"/>
              </a:rPr>
              <a:t>) year to second ) ) in datadbs01</a:t>
            </a: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a:latin typeface="+mn-lt"/>
                <a:ea typeface="微软雅黑" panose="020B0503020204020204" pitchFamily="34" charset="-122"/>
                <a:cs typeface="微软雅黑" panose="020B0503020204020204" pitchFamily="34" charset="-122"/>
              </a:rPr>
              <a:t> </a:t>
            </a:r>
            <a:endParaRPr lang="en-US" altLang="zh-CN" sz="1600" b="0" dirty="0" smtClean="0">
              <a:latin typeface="+mn-lt"/>
              <a:ea typeface="微软雅黑" panose="020B0503020204020204" pitchFamily="34" charset="-122"/>
              <a:cs typeface="微软雅黑" panose="020B0503020204020204" pitchFamily="34" charset="-122"/>
            </a:endParaRPr>
          </a:p>
          <a:p>
            <a:pPr>
              <a:lnSpc>
                <a:spcPts val="2100"/>
              </a:lnSpc>
            </a:pPr>
            <a:r>
              <a:rPr lang="en-US" altLang="zh-CN" sz="1600" dirty="0" smtClean="0">
                <a:latin typeface="+mn-lt"/>
                <a:ea typeface="微软雅黑" panose="020B0503020204020204" pitchFamily="34" charset="-122"/>
                <a:cs typeface="微软雅黑" panose="020B0503020204020204" pitchFamily="34" charset="-122"/>
              </a:rPr>
              <a:t>partition </a:t>
            </a:r>
            <a:r>
              <a:rPr lang="en-US" altLang="zh-CN" sz="1600" dirty="0">
                <a:latin typeface="+mn-lt"/>
                <a:ea typeface="微软雅黑" panose="020B0503020204020204" pitchFamily="34" charset="-122"/>
                <a:cs typeface="微软雅黑" panose="020B0503020204020204" pitchFamily="34" charset="-122"/>
              </a:rPr>
              <a:t>p2 </a:t>
            </a:r>
            <a:r>
              <a:rPr lang="en-US" altLang="zh-CN" sz="1600" b="0" dirty="0">
                <a:latin typeface="+mn-lt"/>
                <a:ea typeface="微软雅黑" panose="020B0503020204020204" pitchFamily="34" charset="-122"/>
                <a:cs typeface="微软雅黑" panose="020B0503020204020204" pitchFamily="34" charset="-122"/>
              </a:rPr>
              <a:t>((</a:t>
            </a:r>
            <a:r>
              <a:rPr lang="en-US" altLang="zh-CN" sz="1600" b="0" dirty="0" err="1">
                <a:latin typeface="+mn-lt"/>
                <a:ea typeface="微软雅黑" panose="020B0503020204020204" pitchFamily="34" charset="-122"/>
                <a:cs typeface="微软雅黑" panose="020B0503020204020204" pitchFamily="34" charset="-122"/>
              </a:rPr>
              <a:t>data_time</a:t>
            </a:r>
            <a:r>
              <a:rPr lang="en-US" altLang="zh-CN" sz="1600" b="0" dirty="0">
                <a:latin typeface="+mn-lt"/>
                <a:ea typeface="微软雅黑" panose="020B0503020204020204" pitchFamily="34" charset="-122"/>
                <a:cs typeface="微软雅黑" panose="020B0503020204020204" pitchFamily="34" charset="-122"/>
              </a:rPr>
              <a:t> &lt; </a:t>
            </a:r>
            <a:r>
              <a:rPr lang="en-US" altLang="zh-CN" sz="1600" b="0" dirty="0" err="1">
                <a:latin typeface="+mn-lt"/>
                <a:ea typeface="微软雅黑" panose="020B0503020204020204" pitchFamily="34" charset="-122"/>
                <a:cs typeface="微软雅黑" panose="020B0503020204020204" pitchFamily="34" charset="-122"/>
              </a:rPr>
              <a:t>datetime</a:t>
            </a:r>
            <a:r>
              <a:rPr lang="en-US" altLang="zh-CN" sz="1600" b="0" dirty="0">
                <a:latin typeface="+mn-lt"/>
                <a:ea typeface="微软雅黑" panose="020B0503020204020204" pitchFamily="34" charset="-122"/>
                <a:cs typeface="微软雅黑" panose="020B0503020204020204" pitchFamily="34" charset="-122"/>
              </a:rPr>
              <a:t>(2011-01-03 00:00:00) </a:t>
            </a:r>
            <a:r>
              <a:rPr lang="en-US" altLang="zh-CN" sz="1600" b="0" dirty="0" smtClean="0">
                <a:latin typeface="+mn-lt"/>
                <a:ea typeface="微软雅黑" panose="020B0503020204020204" pitchFamily="34" charset="-122"/>
                <a:cs typeface="微软雅黑" panose="020B0503020204020204" pitchFamily="34" charset="-122"/>
              </a:rPr>
              <a:t>year </a:t>
            </a:r>
            <a:r>
              <a:rPr lang="en-US" altLang="zh-CN" sz="1600" b="0" dirty="0">
                <a:latin typeface="+mn-lt"/>
                <a:ea typeface="微软雅黑" panose="020B0503020204020204" pitchFamily="34" charset="-122"/>
                <a:cs typeface="微软雅黑" panose="020B0503020204020204" pitchFamily="34" charset="-122"/>
              </a:rPr>
              <a:t>to second ) AND </a:t>
            </a:r>
            <a:endParaRPr lang="en-US" altLang="zh-CN" sz="1600" b="0" dirty="0" smtClean="0">
              <a:latin typeface="+mn-lt"/>
              <a:ea typeface="微软雅黑" panose="020B0503020204020204" pitchFamily="34" charset="-122"/>
              <a:cs typeface="微软雅黑" panose="020B0503020204020204" pitchFamily="34" charset="-122"/>
            </a:endParaRPr>
          </a:p>
          <a:p>
            <a:pPr>
              <a:lnSpc>
                <a:spcPts val="2100"/>
              </a:lnSpc>
            </a:pP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err="1">
                <a:latin typeface="+mn-lt"/>
                <a:ea typeface="微软雅黑" panose="020B0503020204020204" pitchFamily="34" charset="-122"/>
                <a:cs typeface="微软雅黑" panose="020B0503020204020204" pitchFamily="34" charset="-122"/>
              </a:rPr>
              <a:t>data_time</a:t>
            </a:r>
            <a:r>
              <a:rPr lang="en-US" altLang="zh-CN" sz="1600" b="0" dirty="0">
                <a:latin typeface="+mn-lt"/>
                <a:ea typeface="微软雅黑" panose="020B0503020204020204" pitchFamily="34" charset="-122"/>
                <a:cs typeface="微软雅黑" panose="020B0503020204020204" pitchFamily="34" charset="-122"/>
              </a:rPr>
              <a:t> &gt;= </a:t>
            </a:r>
            <a:r>
              <a:rPr lang="en-US" altLang="zh-CN" sz="1600" b="0" dirty="0" err="1">
                <a:latin typeface="+mn-lt"/>
                <a:ea typeface="微软雅黑" panose="020B0503020204020204" pitchFamily="34" charset="-122"/>
                <a:cs typeface="微软雅黑" panose="020B0503020204020204" pitchFamily="34" charset="-122"/>
              </a:rPr>
              <a:t>datetime</a:t>
            </a:r>
            <a:r>
              <a:rPr lang="en-US" altLang="zh-CN" sz="1600" b="0" dirty="0">
                <a:latin typeface="+mn-lt"/>
                <a:ea typeface="微软雅黑" panose="020B0503020204020204" pitchFamily="34" charset="-122"/>
                <a:cs typeface="微软雅黑" panose="020B0503020204020204" pitchFamily="34" charset="-122"/>
              </a:rPr>
              <a:t>(2011-01-02 </a:t>
            </a:r>
            <a:r>
              <a:rPr lang="en-US" altLang="zh-CN" sz="1600" b="0" dirty="0" smtClean="0">
                <a:latin typeface="+mn-lt"/>
                <a:ea typeface="微软雅黑" panose="020B0503020204020204" pitchFamily="34" charset="-122"/>
                <a:cs typeface="微软雅黑" panose="020B0503020204020204" pitchFamily="34" charset="-122"/>
              </a:rPr>
              <a:t>00:00:00</a:t>
            </a:r>
            <a:r>
              <a:rPr lang="en-US" altLang="zh-CN" sz="1600" b="0" dirty="0">
                <a:latin typeface="+mn-lt"/>
                <a:ea typeface="微软雅黑" panose="020B0503020204020204" pitchFamily="34" charset="-122"/>
                <a:cs typeface="微软雅黑" panose="020B0503020204020204" pitchFamily="34" charset="-122"/>
              </a:rPr>
              <a:t>) year to second ) ) in </a:t>
            </a:r>
            <a:r>
              <a:rPr lang="en-US" altLang="zh-CN" sz="1600" b="0" dirty="0" smtClean="0">
                <a:latin typeface="+mn-lt"/>
                <a:ea typeface="微软雅黑" panose="020B0503020204020204" pitchFamily="34" charset="-122"/>
                <a:cs typeface="微软雅黑" panose="020B0503020204020204" pitchFamily="34" charset="-122"/>
              </a:rPr>
              <a:t>datadbs02,</a:t>
            </a:r>
          </a:p>
          <a:p>
            <a:pPr>
              <a:lnSpc>
                <a:spcPts val="2100"/>
              </a:lnSpc>
            </a:pPr>
            <a:r>
              <a:rPr lang="en-US" altLang="zh-CN" sz="1600" dirty="0" smtClean="0">
                <a:latin typeface="+mn-lt"/>
                <a:ea typeface="微软雅黑" panose="020B0503020204020204" pitchFamily="34" charset="-122"/>
                <a:cs typeface="微软雅黑" panose="020B0503020204020204" pitchFamily="34" charset="-122"/>
              </a:rPr>
              <a:t>partition </a:t>
            </a:r>
            <a:r>
              <a:rPr lang="en-US" altLang="zh-CN" sz="1600" dirty="0">
                <a:latin typeface="+mn-lt"/>
                <a:ea typeface="微软雅黑" panose="020B0503020204020204" pitchFamily="34" charset="-122"/>
                <a:cs typeface="微软雅黑" panose="020B0503020204020204" pitchFamily="34" charset="-122"/>
              </a:rPr>
              <a:t>p3 </a:t>
            </a:r>
            <a:r>
              <a:rPr lang="en-US" altLang="zh-CN" sz="1600" b="0" dirty="0">
                <a:latin typeface="+mn-lt"/>
                <a:ea typeface="微软雅黑" panose="020B0503020204020204" pitchFamily="34" charset="-122"/>
                <a:cs typeface="微软雅黑" panose="020B0503020204020204" pitchFamily="34" charset="-122"/>
              </a:rPr>
              <a:t>((</a:t>
            </a:r>
            <a:r>
              <a:rPr lang="en-US" altLang="zh-CN" sz="1600" b="0" dirty="0" err="1">
                <a:latin typeface="+mn-lt"/>
                <a:ea typeface="微软雅黑" panose="020B0503020204020204" pitchFamily="34" charset="-122"/>
                <a:cs typeface="微软雅黑" panose="020B0503020204020204" pitchFamily="34" charset="-122"/>
              </a:rPr>
              <a:t>data_time</a:t>
            </a:r>
            <a:r>
              <a:rPr lang="en-US" altLang="zh-CN" sz="1600" b="0" dirty="0">
                <a:latin typeface="+mn-lt"/>
                <a:ea typeface="微软雅黑" panose="020B0503020204020204" pitchFamily="34" charset="-122"/>
                <a:cs typeface="微软雅黑" panose="020B0503020204020204" pitchFamily="34" charset="-122"/>
              </a:rPr>
              <a:t> &lt; </a:t>
            </a:r>
            <a:r>
              <a:rPr lang="en-US" altLang="zh-CN" sz="1600" b="0" dirty="0" err="1">
                <a:latin typeface="+mn-lt"/>
                <a:ea typeface="微软雅黑" panose="020B0503020204020204" pitchFamily="34" charset="-122"/>
                <a:cs typeface="微软雅黑" panose="020B0503020204020204" pitchFamily="34" charset="-122"/>
              </a:rPr>
              <a:t>datetime</a:t>
            </a:r>
            <a:r>
              <a:rPr lang="en-US" altLang="zh-CN" sz="1600" b="0" dirty="0">
                <a:latin typeface="+mn-lt"/>
                <a:ea typeface="微软雅黑" panose="020B0503020204020204" pitchFamily="34" charset="-122"/>
                <a:cs typeface="微软雅黑" panose="020B0503020204020204" pitchFamily="34" charset="-122"/>
              </a:rPr>
              <a:t>(2011-01-04 00:00:00) </a:t>
            </a:r>
            <a:r>
              <a:rPr lang="en-US" altLang="zh-CN" sz="1600" b="0" dirty="0" smtClean="0">
                <a:latin typeface="+mn-lt"/>
                <a:ea typeface="微软雅黑" panose="020B0503020204020204" pitchFamily="34" charset="-122"/>
                <a:cs typeface="微软雅黑" panose="020B0503020204020204" pitchFamily="34" charset="-122"/>
              </a:rPr>
              <a:t>year </a:t>
            </a:r>
            <a:r>
              <a:rPr lang="en-US" altLang="zh-CN" sz="1600" b="0" dirty="0">
                <a:latin typeface="+mn-lt"/>
                <a:ea typeface="微软雅黑" panose="020B0503020204020204" pitchFamily="34" charset="-122"/>
                <a:cs typeface="微软雅黑" panose="020B0503020204020204" pitchFamily="34" charset="-122"/>
              </a:rPr>
              <a:t>to second ) AND </a:t>
            </a:r>
            <a:endParaRPr lang="en-US" altLang="zh-CN" sz="1600" b="0" dirty="0" smtClean="0">
              <a:latin typeface="+mn-lt"/>
              <a:ea typeface="微软雅黑" panose="020B0503020204020204" pitchFamily="34" charset="-122"/>
              <a:cs typeface="微软雅黑" panose="020B0503020204020204" pitchFamily="34" charset="-122"/>
            </a:endParaRPr>
          </a:p>
          <a:p>
            <a:pPr eaLnBrk="1" hangingPunct="1">
              <a:lnSpc>
                <a:spcPts val="2100"/>
              </a:lnSpc>
            </a:pP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err="1">
                <a:latin typeface="+mn-lt"/>
                <a:ea typeface="微软雅黑" panose="020B0503020204020204" pitchFamily="34" charset="-122"/>
                <a:cs typeface="微软雅黑" panose="020B0503020204020204" pitchFamily="34" charset="-122"/>
              </a:rPr>
              <a:t>data_time</a:t>
            </a:r>
            <a:r>
              <a:rPr lang="en-US" altLang="zh-CN" sz="1600" b="0" dirty="0">
                <a:latin typeface="+mn-lt"/>
                <a:ea typeface="微软雅黑" panose="020B0503020204020204" pitchFamily="34" charset="-122"/>
                <a:cs typeface="微软雅黑" panose="020B0503020204020204" pitchFamily="34" charset="-122"/>
              </a:rPr>
              <a:t> &gt;= </a:t>
            </a:r>
            <a:r>
              <a:rPr lang="en-US" altLang="zh-CN" sz="1600" b="0" dirty="0" err="1">
                <a:latin typeface="+mn-lt"/>
                <a:ea typeface="微软雅黑" panose="020B0503020204020204" pitchFamily="34" charset="-122"/>
                <a:cs typeface="微软雅黑" panose="020B0503020204020204" pitchFamily="34" charset="-122"/>
              </a:rPr>
              <a:t>datetime</a:t>
            </a:r>
            <a:r>
              <a:rPr lang="en-US" altLang="zh-CN" sz="1600" b="0" dirty="0">
                <a:latin typeface="+mn-lt"/>
                <a:ea typeface="微软雅黑" panose="020B0503020204020204" pitchFamily="34" charset="-122"/>
                <a:cs typeface="微软雅黑" panose="020B0503020204020204" pitchFamily="34" charset="-122"/>
              </a:rPr>
              <a:t>(2011-01-03 </a:t>
            </a:r>
            <a:r>
              <a:rPr lang="en-US" altLang="zh-CN" sz="1600" b="0" dirty="0" smtClean="0">
                <a:latin typeface="+mn-lt"/>
                <a:ea typeface="微软雅黑" panose="020B0503020204020204" pitchFamily="34" charset="-122"/>
                <a:cs typeface="微软雅黑" panose="020B0503020204020204" pitchFamily="34" charset="-122"/>
              </a:rPr>
              <a:t>00:00:00</a:t>
            </a:r>
            <a:r>
              <a:rPr lang="en-US" altLang="zh-CN" sz="1600" b="0" dirty="0">
                <a:latin typeface="+mn-lt"/>
                <a:ea typeface="微软雅黑" panose="020B0503020204020204" pitchFamily="34" charset="-122"/>
                <a:cs typeface="微软雅黑" panose="020B0503020204020204" pitchFamily="34" charset="-122"/>
              </a:rPr>
              <a:t>) year to second ) ) in datadbs03</a:t>
            </a:r>
          </a:p>
          <a:p>
            <a:pPr eaLnBrk="1" hangingPunct="1">
              <a:lnSpc>
                <a:spcPts val="2100"/>
              </a:lnSpc>
            </a:pPr>
            <a:r>
              <a:rPr lang="en-US" altLang="zh-CN" sz="1600" b="0" dirty="0" smtClean="0">
                <a:latin typeface="+mn-lt"/>
                <a:ea typeface="微软雅黑" panose="020B0503020204020204" pitchFamily="34" charset="-122"/>
                <a:cs typeface="微软雅黑" panose="020B0503020204020204" pitchFamily="34" charset="-122"/>
              </a:rPr>
              <a:t>extent </a:t>
            </a:r>
            <a:r>
              <a:rPr lang="en-US" altLang="zh-CN" sz="1600" b="0" dirty="0">
                <a:latin typeface="+mn-lt"/>
                <a:ea typeface="微软雅黑" panose="020B0503020204020204" pitchFamily="34" charset="-122"/>
                <a:cs typeface="微软雅黑" panose="020B0503020204020204" pitchFamily="34" charset="-122"/>
              </a:rPr>
              <a:t>size 16 next size 16 lock mode row;</a:t>
            </a:r>
          </a:p>
          <a:p>
            <a:pPr eaLnBrk="1" hangingPunct="1">
              <a:lnSpc>
                <a:spcPts val="2100"/>
              </a:lnSpc>
            </a:pPr>
            <a:r>
              <a:rPr lang="en-US" altLang="zh-CN" sz="1600" b="0" dirty="0">
                <a:latin typeface="+mn-lt"/>
                <a:ea typeface="微软雅黑" panose="020B0503020204020204" pitchFamily="34" charset="-122"/>
                <a:cs typeface="微软雅黑" panose="020B0503020204020204" pitchFamily="34" charset="-122"/>
              </a:rPr>
              <a:t> </a:t>
            </a:r>
          </a:p>
          <a:p>
            <a:pPr eaLnBrk="1" hangingPunct="1">
              <a:lnSpc>
                <a:spcPts val="2100"/>
              </a:lnSpc>
            </a:pPr>
            <a:r>
              <a:rPr lang="en-US" altLang="zh-CN" sz="1600" b="0" dirty="0" smtClean="0">
                <a:latin typeface="+mn-lt"/>
                <a:ea typeface="微软雅黑" panose="020B0503020204020204" pitchFamily="34" charset="-122"/>
                <a:cs typeface="微软雅黑" panose="020B0503020204020204" pitchFamily="34" charset="-122"/>
              </a:rPr>
              <a:t>create </a:t>
            </a:r>
            <a:r>
              <a:rPr lang="en-US" altLang="zh-CN" sz="1600" b="0" dirty="0">
                <a:latin typeface="+mn-lt"/>
                <a:ea typeface="微软雅黑" panose="020B0503020204020204" pitchFamily="34" charset="-122"/>
                <a:cs typeface="微软雅黑" panose="020B0503020204020204" pitchFamily="34" charset="-122"/>
              </a:rPr>
              <a:t>unique index </a:t>
            </a:r>
            <a:r>
              <a:rPr lang="en-US" altLang="zh-CN" sz="1600" b="0" dirty="0" smtClean="0">
                <a:latin typeface="+mn-lt"/>
                <a:ea typeface="微软雅黑" panose="020B0503020204020204" pitchFamily="34" charset="-122"/>
                <a:cs typeface="微软雅黑" panose="020B0503020204020204" pitchFamily="34" charset="-122"/>
              </a:rPr>
              <a:t>"gbasedbt".</a:t>
            </a:r>
            <a:r>
              <a:rPr lang="en-US" altLang="zh-CN" sz="1600" b="0" dirty="0">
                <a:latin typeface="+mn-lt"/>
                <a:ea typeface="微软雅黑" panose="020B0503020204020204" pitchFamily="34" charset="-122"/>
                <a:cs typeface="微软雅黑" panose="020B0503020204020204" pitchFamily="34" charset="-122"/>
              </a:rPr>
              <a:t>idx1_frag_table on </a:t>
            </a: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err="1" smtClean="0">
                <a:latin typeface="+mn-lt"/>
                <a:ea typeface="微软雅黑" panose="020B0503020204020204" pitchFamily="34" charset="-122"/>
                <a:cs typeface="微软雅黑" panose="020B0503020204020204" pitchFamily="34" charset="-122"/>
              </a:rPr>
              <a:t>gbasedbt".</a:t>
            </a:r>
            <a:r>
              <a:rPr lang="en-US" altLang="zh-CN" sz="1600" b="0" dirty="0" err="1">
                <a:latin typeface="+mn-lt"/>
                <a:ea typeface="微软雅黑" panose="020B0503020204020204" pitchFamily="34" charset="-122"/>
                <a:cs typeface="微软雅黑" panose="020B0503020204020204" pitchFamily="34" charset="-122"/>
              </a:rPr>
              <a:t>frag_table</a:t>
            </a:r>
            <a:r>
              <a:rPr lang="en-US" altLang="zh-CN" sz="1600" b="0" dirty="0">
                <a:latin typeface="+mn-lt"/>
                <a:ea typeface="微软雅黑" panose="020B0503020204020204" pitchFamily="34" charset="-122"/>
                <a:cs typeface="微软雅黑" panose="020B0503020204020204" pitchFamily="34" charset="-122"/>
              </a:rPr>
              <a:t>  </a:t>
            </a:r>
            <a:endParaRPr lang="en-US" altLang="zh-CN" sz="1600" b="0" dirty="0" smtClean="0">
              <a:latin typeface="+mn-lt"/>
              <a:ea typeface="微软雅黑" panose="020B0503020204020204" pitchFamily="34" charset="-122"/>
              <a:cs typeface="微软雅黑" panose="020B0503020204020204" pitchFamily="34" charset="-122"/>
            </a:endParaRPr>
          </a:p>
          <a:p>
            <a:pPr eaLnBrk="1" hangingPunct="1">
              <a:lnSpc>
                <a:spcPts val="2100"/>
              </a:lnSpc>
            </a:pP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err="1">
                <a:latin typeface="+mn-lt"/>
                <a:ea typeface="微软雅黑" panose="020B0503020204020204" pitchFamily="34" charset="-122"/>
                <a:cs typeface="微软雅黑" panose="020B0503020204020204" pitchFamily="34" charset="-122"/>
              </a:rPr>
              <a:t>data_time,id</a:t>
            </a:r>
            <a:r>
              <a:rPr lang="en-US" altLang="zh-CN" sz="1600" b="0" dirty="0">
                <a:latin typeface="+mn-lt"/>
                <a:ea typeface="微软雅黑" panose="020B0503020204020204" pitchFamily="34" charset="-122"/>
                <a:cs typeface="微软雅黑" panose="020B0503020204020204" pitchFamily="34" charset="-122"/>
              </a:rPr>
              <a:t>) using </a:t>
            </a:r>
            <a:r>
              <a:rPr lang="en-US" altLang="zh-CN" sz="1600" b="0" dirty="0" err="1">
                <a:latin typeface="+mn-lt"/>
                <a:ea typeface="微软雅黑" panose="020B0503020204020204" pitchFamily="34" charset="-122"/>
                <a:cs typeface="微软雅黑" panose="020B0503020204020204" pitchFamily="34" charset="-122"/>
              </a:rPr>
              <a:t>btree</a:t>
            </a:r>
            <a:r>
              <a:rPr lang="en-US" altLang="zh-CN" sz="1600" b="0" dirty="0">
                <a:latin typeface="+mn-lt"/>
                <a:ea typeface="微软雅黑" panose="020B0503020204020204" pitchFamily="34" charset="-122"/>
                <a:cs typeface="微软雅黑" panose="020B0503020204020204" pitchFamily="34" charset="-122"/>
              </a:rPr>
              <a:t> ;</a:t>
            </a:r>
          </a:p>
          <a:p>
            <a:pPr eaLnBrk="1" hangingPunct="1">
              <a:lnSpc>
                <a:spcPts val="2100"/>
              </a:lnSpc>
            </a:pPr>
            <a:r>
              <a:rPr lang="en-US" altLang="zh-CN" sz="1600" b="0" dirty="0" smtClean="0">
                <a:latin typeface="+mn-lt"/>
                <a:ea typeface="微软雅黑" panose="020B0503020204020204" pitchFamily="34" charset="-122"/>
                <a:cs typeface="微软雅黑" panose="020B0503020204020204" pitchFamily="34" charset="-122"/>
              </a:rPr>
              <a:t>create </a:t>
            </a:r>
            <a:r>
              <a:rPr lang="en-US" altLang="zh-CN" sz="1600" b="0" dirty="0">
                <a:latin typeface="+mn-lt"/>
                <a:ea typeface="微软雅黑" panose="020B0503020204020204" pitchFamily="34" charset="-122"/>
                <a:cs typeface="微软雅黑" panose="020B0503020204020204" pitchFamily="34" charset="-122"/>
              </a:rPr>
              <a:t>index </a:t>
            </a:r>
            <a:r>
              <a:rPr lang="en-US" altLang="zh-CN" sz="1600" b="0" dirty="0" smtClean="0">
                <a:latin typeface="+mn-lt"/>
                <a:ea typeface="微软雅黑" panose="020B0503020204020204" pitchFamily="34" charset="-122"/>
                <a:cs typeface="微软雅黑" panose="020B0503020204020204" pitchFamily="34" charset="-122"/>
              </a:rPr>
              <a:t>"gbasedbt".</a:t>
            </a:r>
            <a:r>
              <a:rPr lang="en-US" altLang="zh-CN" sz="1600" b="0" dirty="0">
                <a:latin typeface="+mn-lt"/>
                <a:ea typeface="微软雅黑" panose="020B0503020204020204" pitchFamily="34" charset="-122"/>
                <a:cs typeface="微软雅黑" panose="020B0503020204020204" pitchFamily="34" charset="-122"/>
              </a:rPr>
              <a:t>idx2_frag_table on </a:t>
            </a: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err="1" smtClean="0">
                <a:latin typeface="+mn-lt"/>
                <a:ea typeface="微软雅黑" panose="020B0503020204020204" pitchFamily="34" charset="-122"/>
                <a:cs typeface="微软雅黑" panose="020B0503020204020204" pitchFamily="34" charset="-122"/>
              </a:rPr>
              <a:t>gbasedbt".</a:t>
            </a:r>
            <a:r>
              <a:rPr lang="en-US" altLang="zh-CN" sz="1600" b="0" dirty="0" err="1">
                <a:latin typeface="+mn-lt"/>
                <a:ea typeface="微软雅黑" panose="020B0503020204020204" pitchFamily="34" charset="-122"/>
                <a:cs typeface="微软雅黑" panose="020B0503020204020204" pitchFamily="34" charset="-122"/>
              </a:rPr>
              <a:t>frag_table</a:t>
            </a:r>
            <a:r>
              <a:rPr lang="en-US" altLang="zh-CN" sz="1600" b="0" dirty="0">
                <a:latin typeface="+mn-lt"/>
                <a:ea typeface="微软雅黑" panose="020B0503020204020204" pitchFamily="34" charset="-122"/>
                <a:cs typeface="微软雅黑" panose="020B0503020204020204" pitchFamily="34" charset="-122"/>
              </a:rPr>
              <a:t> </a:t>
            </a:r>
            <a:r>
              <a:rPr lang="en-US" altLang="zh-CN" sz="1600" b="0" dirty="0" smtClean="0">
                <a:latin typeface="+mn-lt"/>
                <a:ea typeface="微软雅黑" panose="020B0503020204020204" pitchFamily="34" charset="-122"/>
                <a:cs typeface="微软雅黑" panose="020B0503020204020204" pitchFamily="34" charset="-122"/>
              </a:rPr>
              <a:t>(</a:t>
            </a:r>
            <a:r>
              <a:rPr lang="en-US" altLang="zh-CN" sz="1600" b="0" dirty="0" err="1">
                <a:latin typeface="+mn-lt"/>
                <a:ea typeface="微软雅黑" panose="020B0503020204020204" pitchFamily="34" charset="-122"/>
                <a:cs typeface="微软雅黑" panose="020B0503020204020204" pitchFamily="34" charset="-122"/>
              </a:rPr>
              <a:t>abc</a:t>
            </a:r>
            <a:r>
              <a:rPr lang="en-US" altLang="zh-CN" sz="1600" b="0" dirty="0">
                <a:latin typeface="+mn-lt"/>
                <a:ea typeface="微软雅黑" panose="020B0503020204020204" pitchFamily="34" charset="-122"/>
                <a:cs typeface="微软雅黑" panose="020B0503020204020204" pitchFamily="34" charset="-122"/>
              </a:rPr>
              <a:t>) using </a:t>
            </a:r>
            <a:r>
              <a:rPr lang="en-US" altLang="zh-CN" sz="1600" b="0" dirty="0" err="1">
                <a:latin typeface="+mn-lt"/>
                <a:ea typeface="微软雅黑" panose="020B0503020204020204" pitchFamily="34" charset="-122"/>
                <a:cs typeface="微软雅黑" panose="020B0503020204020204" pitchFamily="34" charset="-122"/>
              </a:rPr>
              <a:t>btree</a:t>
            </a:r>
            <a:r>
              <a:rPr lang="en-US" altLang="zh-CN" sz="1600" b="0" dirty="0">
                <a:latin typeface="+mn-lt"/>
                <a:ea typeface="微软雅黑" panose="020B0503020204020204" pitchFamily="34" charset="-122"/>
                <a:cs typeface="微软雅黑" panose="020B0503020204020204" pitchFamily="34" charset="-122"/>
              </a:rPr>
              <a:t> </a:t>
            </a:r>
            <a:r>
              <a:rPr lang="en-US" altLang="zh-CN" sz="1600" b="0" dirty="0" smtClean="0">
                <a:latin typeface="+mn-lt"/>
                <a:ea typeface="微软雅黑" panose="020B0503020204020204" pitchFamily="34" charset="-122"/>
                <a:cs typeface="微软雅黑" panose="020B0503020204020204" pitchFamily="34" charset="-122"/>
              </a:rPr>
              <a:t>;</a:t>
            </a:r>
            <a:endParaRPr lang="en-US" altLang="zh-CN" sz="1600" b="0" dirty="0">
              <a:latin typeface="+mn-lt"/>
              <a:ea typeface="微软雅黑" panose="020B0503020204020204" pitchFamily="34" charset="-122"/>
              <a:cs typeface="微软雅黑" panose="020B0503020204020204" pitchFamily="34" charset="-122"/>
            </a:endParaRPr>
          </a:p>
        </p:txBody>
      </p:sp>
      <p:sp>
        <p:nvSpPr>
          <p:cNvPr id="8" name="文本框 1"/>
          <p:cNvSpPr txBox="1"/>
          <p:nvPr/>
        </p:nvSpPr>
        <p:spPr>
          <a:xfrm>
            <a:off x="2013765" y="1642569"/>
            <a:ext cx="8371116" cy="829945"/>
          </a:xfrm>
          <a:prstGeom prst="rect">
            <a:avLst/>
          </a:prstGeom>
          <a:solidFill>
            <a:schemeClr val="bg1">
              <a:lumMod val="85000"/>
            </a:schemeClr>
          </a:solidFill>
          <a:ln w="3175">
            <a:solidFill>
              <a:schemeClr val="bg1">
                <a:lumMod val="50000"/>
              </a:schemeClr>
            </a:solidFill>
          </a:ln>
        </p:spPr>
        <p:txBody>
          <a:bodyPr wrap="square" rtlCol="0">
            <a:spAutoFit/>
          </a:bodyPr>
          <a:lstStyle/>
          <a:p>
            <a:pPr lvl="1"/>
            <a:r>
              <a:rPr lang="en-US" altLang="zh-CN" sz="1600" b="0" dirty="0" smtClean="0">
                <a:solidFill>
                  <a:srgbClr val="000000"/>
                </a:solidFill>
              </a:rPr>
              <a:t>ALTER FRAGMENT ON TABLE </a:t>
            </a:r>
            <a:r>
              <a:rPr lang="en-US" altLang="zh-CN" sz="1600" b="0" dirty="0" err="1" smtClean="0">
                <a:solidFill>
                  <a:srgbClr val="000000"/>
                </a:solidFill>
              </a:rPr>
              <a:t>frag_table</a:t>
            </a:r>
            <a:endParaRPr lang="en-US" altLang="zh-CN" sz="1600" b="0" dirty="0" smtClean="0">
              <a:solidFill>
                <a:srgbClr val="000000"/>
              </a:solidFill>
            </a:endParaRPr>
          </a:p>
          <a:p>
            <a:pPr lvl="1"/>
            <a:r>
              <a:rPr lang="en-US" altLang="zh-CN" sz="1600" b="0" dirty="0" smtClean="0">
                <a:solidFill>
                  <a:srgbClr val="000000"/>
                </a:solidFill>
              </a:rPr>
              <a:t>ATTACH tab1 AS partition p3 (</a:t>
            </a:r>
            <a:r>
              <a:rPr lang="en-US" altLang="zh-CN" sz="1600" b="0" dirty="0" err="1" smtClean="0">
                <a:solidFill>
                  <a:srgbClr val="000000"/>
                </a:solidFill>
              </a:rPr>
              <a:t>data_time</a:t>
            </a:r>
            <a:r>
              <a:rPr lang="en-US" altLang="zh-CN" sz="1600" b="0" dirty="0" smtClean="0">
                <a:solidFill>
                  <a:srgbClr val="000000"/>
                </a:solidFill>
              </a:rPr>
              <a:t> &lt; '2011-01-04 00:00:00'  AND  </a:t>
            </a:r>
            <a:r>
              <a:rPr lang="en-US" altLang="zh-CN" sz="1600" b="0" dirty="0" err="1" smtClean="0">
                <a:solidFill>
                  <a:srgbClr val="000000"/>
                </a:solidFill>
              </a:rPr>
              <a:t>data_time</a:t>
            </a:r>
            <a:r>
              <a:rPr lang="en-US" altLang="zh-CN" sz="1600" b="0" dirty="0" smtClean="0">
                <a:solidFill>
                  <a:srgbClr val="000000"/>
                </a:solidFill>
              </a:rPr>
              <a:t> &gt;= '2011-01-03 00:00:00' ); </a:t>
            </a:r>
            <a:endParaRPr lang="en-US" altLang="zh-CN" sz="1600" b="0" dirty="0">
              <a:solidFill>
                <a:srgbClr val="000000"/>
              </a:solidFill>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分片表实例</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创建、管理、分配</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0420" name="内容占位符 3"/>
          <p:cNvSpPr txBox="1"/>
          <p:nvPr/>
        </p:nvSpPr>
        <p:spPr bwMode="auto">
          <a:xfrm>
            <a:off x="2210099" y="1201833"/>
            <a:ext cx="7772401" cy="5225545"/>
          </a:xfrm>
          <a:prstGeom prst="rect">
            <a:avLst/>
          </a:prstGeom>
          <a:solidFill>
            <a:schemeClr val="bg1">
              <a:lumMod val="85000"/>
            </a:schemeClr>
          </a:solidFill>
          <a:ln w="3175">
            <a:solidFill>
              <a:schemeClr val="bg1">
                <a:lumMod val="50000"/>
              </a:schemeClr>
            </a:solidFill>
            <a:miter lim="800000"/>
          </a:ln>
        </p:spPr>
        <p:txBody>
          <a:bodyPr/>
          <a:lstStyle>
            <a:lvl1pPr marL="342900" indent="-342900"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indent="-22733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algn="l" eaLnBrk="1" hangingPunct="1"/>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QUERY</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(OPTIMIZATION TIMESTAMP: 06-29-2011 05:36:35)</a:t>
            </a: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p>
          <a:p>
            <a:pPr lvl="1" algn="l" eaLnBrk="1" hangingPunct="1">
              <a:lnSpc>
                <a:spcPts val="22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select * from </a:t>
            </a:r>
            <a:r>
              <a:rPr lang="en-US" altLang="zh-CN" sz="16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frag_table</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where </a:t>
            </a:r>
            <a:r>
              <a:rPr lang="en-US" altLang="zh-CN" sz="1600" b="0" dirty="0" err="1"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abc</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=182</a:t>
            </a: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lnSpc>
                <a:spcPts val="22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Estimated Cost: 64803</a:t>
            </a:r>
          </a:p>
          <a:p>
            <a:pPr lvl="1" algn="l" eaLnBrk="1" hangingPunct="1">
              <a:lnSpc>
                <a:spcPts val="22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Estimated # of Rows Returned: </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2160000</a:t>
            </a: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lnSpc>
                <a:spcPts val="22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1) </a:t>
            </a:r>
            <a:r>
              <a:rPr lang="en-US" altLang="zh-CN" sz="1600" b="0" dirty="0" err="1"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gbasedbt.frag_table</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PATH</a:t>
            </a:r>
          </a:p>
          <a:p>
            <a:pPr lvl="1" algn="l" eaLnBrk="1" hangingPunct="1">
              <a:lnSpc>
                <a:spcPts val="22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 Index Name: </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gbasedbt.idx2_frag_table</a:t>
            </a: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lnSpc>
                <a:spcPts val="22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Index Keys: </a:t>
            </a:r>
            <a:r>
              <a:rPr lang="en-US" altLang="zh-CN" sz="16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abc</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(Serial, fragments: ALL)</a:t>
            </a:r>
          </a:p>
          <a:p>
            <a:pPr lvl="1" algn="l" eaLnBrk="1" hangingPunct="1">
              <a:lnSpc>
                <a:spcPts val="22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Lower Index Filter: </a:t>
            </a:r>
            <a:r>
              <a:rPr lang="en-US" altLang="zh-CN" sz="1600" b="0" dirty="0" err="1"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gbasedbt.frag_table.abc</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182 </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lnSpc>
                <a:spcPts val="22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Query statistics:</a:t>
            </a:r>
          </a:p>
          <a:p>
            <a:pPr lvl="1" algn="l" eaLnBrk="1" hangingPunct="1"/>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Table map :</a:t>
            </a: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Internal name     Table name</a:t>
            </a: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t1                </a:t>
            </a:r>
            <a:r>
              <a:rPr lang="en-US" altLang="zh-CN" sz="16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frag_table</a:t>
            </a: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type     table  </a:t>
            </a:r>
            <a:r>
              <a:rPr lang="en-US" altLang="zh-CN" sz="16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rows_prod</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est_rows</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rows_scan</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time       </a:t>
            </a:r>
            <a:r>
              <a:rPr lang="en-US" altLang="zh-CN" sz="1600" b="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est_cost</a:t>
            </a:r>
            <a:endPar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a:p>
            <a:pPr lvl="1" algn="l" eaLnBrk="1" hangingPunct="1"/>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scan     t1     91         2160000   91         00:00.05   64803 </a:t>
            </a: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分片表实例</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创建、管理、分配</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2078838" y="1248236"/>
            <a:ext cx="8072362" cy="4948555"/>
          </a:xfrm>
          <a:prstGeom prst="rect">
            <a:avLst/>
          </a:prstGeom>
          <a:solidFill>
            <a:schemeClr val="bg1">
              <a:lumMod val="85000"/>
            </a:schemeClr>
          </a:solidFill>
          <a:ln w="3175">
            <a:solidFill>
              <a:schemeClr val="bg1">
                <a:lumMod val="50000"/>
              </a:schemeClr>
            </a:solidFill>
          </a:ln>
        </p:spPr>
        <p:txBody>
          <a:bodyPr wrap="square" rtlCol="0">
            <a:spAutoFit/>
          </a:bodyPr>
          <a:lstStyle/>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QUERY: (OPTIMIZATION TIMESTAMP: 06-29-2011 05:23:15)</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p>
          <a:p>
            <a:pPr>
              <a:lnSpc>
                <a:spcPts val="21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select * from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frag_table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where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data_time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='2011-01-03 10:00:00' and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id=1201999 </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a:lnSpc>
                <a:spcPts val="21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Estimated Cost: 64801</a:t>
            </a:r>
          </a:p>
          <a:p>
            <a:pPr>
              <a:lnSpc>
                <a:spcPts val="21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Estimated # of Rows Returned: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2160000</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a:lnSpc>
                <a:spcPts val="21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1) </a:t>
            </a: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gbasedbt.frag_table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INDEX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PATH</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a:lnSpc>
                <a:spcPts val="21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(1) Index Name: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gbasedbt.idx1_frag_table</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a:lnSpc>
                <a:spcPts val="2100"/>
              </a:lnSpc>
              <a:buFont typeface="Wingdings" panose="05000000000000000000" charset="0"/>
              <a:buNone/>
            </a:pPr>
            <a:r>
              <a:rPr lang="en-US" altLang="zh-CN" sz="1600" b="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Index Keys: </a:t>
            </a:r>
            <a:r>
              <a:rPr lang="en-US" altLang="zh-CN" sz="1600" b="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data_time</a:t>
            </a:r>
            <a:r>
              <a:rPr lang="en-US" altLang="zh-CN" sz="1600" b="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id   (Serial, fragments: 2)</a:t>
            </a:r>
          </a:p>
          <a:p>
            <a:pPr>
              <a:lnSpc>
                <a:spcPts val="21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Fragments Scanned: (2) p3 in datadbs03</a:t>
            </a:r>
          </a:p>
          <a:p>
            <a:pPr>
              <a:lnSpc>
                <a:spcPts val="21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Lower Index Filter: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gbasedbt.frag_table.data_time</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datetime</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(2011-01-03 10:00:00) year to second AND </a:t>
            </a:r>
            <a:r>
              <a:rPr lang="en-US" altLang="zh-CN" sz="1600" b="0" dirty="0" smtClean="0">
                <a:latin typeface="微软雅黑" panose="020B0503020204020204" pitchFamily="34" charset="-122"/>
                <a:ea typeface="微软雅黑" panose="020B0503020204020204" pitchFamily="34" charset="-122"/>
                <a:cs typeface="微软雅黑" panose="020B0503020204020204" pitchFamily="34" charset="-122"/>
              </a:rPr>
              <a:t>gbasedbt.frag_table.id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1201999 ) </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Query statistics:</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Table map :</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Internal name     Table name</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90000"/>
              </a:lnSpc>
              <a:buFont typeface="Wingdings" panose="05000000000000000000" charset="0"/>
              <a:buNone/>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t1                </a:t>
            </a:r>
            <a:r>
              <a:rPr lang="en-US" altLang="zh-CN" sz="1600" b="0" dirty="0" err="1" smtClean="0">
                <a:latin typeface="微软雅黑" panose="020B0503020204020204" pitchFamily="34" charset="-122"/>
                <a:ea typeface="微软雅黑" panose="020B0503020204020204" pitchFamily="34" charset="-122"/>
                <a:cs typeface="微软雅黑" panose="020B0503020204020204" pitchFamily="34" charset="-122"/>
              </a:rPr>
              <a:t>frag_table</a:t>
            </a:r>
            <a:endParaRPr lang="en-US" altLang="zh-CN" sz="1600" b="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lvl="0"/>
            <a:r>
              <a:rPr lang="zh-CN" altLang="en-US" kern="1200" dirty="0" smtClean="0">
                <a:latin typeface="微软雅黑" panose="020B0503020204020204" pitchFamily="34" charset="-122"/>
                <a:ea typeface="微软雅黑" panose="020B0503020204020204" pitchFamily="34" charset="-122"/>
                <a:cs typeface="微软雅黑" panose="020B0503020204020204" pitchFamily="34" charset="-122"/>
              </a:rPr>
              <a:t>分片表</a:t>
            </a:r>
            <a:r>
              <a:rPr lang="en-US" altLang="zh-CN" kern="1200" dirty="0" smtClean="0">
                <a:latin typeface="微软雅黑" panose="020B0503020204020204" pitchFamily="34" charset="-122"/>
                <a:ea typeface="微软雅黑" panose="020B0503020204020204" pitchFamily="34" charset="-122"/>
                <a:cs typeface="微软雅黑" panose="020B0503020204020204" pitchFamily="34" charset="-122"/>
              </a:rPr>
              <a:t>--EXAMPLE</a:t>
            </a:r>
            <a:br>
              <a:rPr lang="en-US" altLang="zh-CN" kern="120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dirty="0"/>
          </a:p>
        </p:txBody>
      </p:sp>
      <p:sp>
        <p:nvSpPr>
          <p:cNvPr id="62467" name="Rectangle 3"/>
          <p:cNvSpPr>
            <a:spLocks noGrp="1" noChangeArrowheads="1"/>
          </p:cNvSpPr>
          <p:nvPr>
            <p:ph type="body" sz="quarter" idx="10"/>
          </p:nvPr>
        </p:nvSpPr>
        <p:spPr/>
        <p:txBody>
          <a:bodyPr>
            <a:normAutofit/>
          </a:bodyPr>
          <a:lstStyle/>
          <a:p>
            <a:pPr eaLnBrk="1" hangingPunct="1">
              <a:lnSpc>
                <a:spcPct val="80000"/>
              </a:lnSpc>
            </a:pPr>
            <a:r>
              <a:rPr lang="en-US" altLang="zh-CN" sz="2000" dirty="0">
                <a:cs typeface="华文楷体" panose="02010600040101010101" charset="-122"/>
              </a:rPr>
              <a:t>Detach</a:t>
            </a:r>
            <a:r>
              <a:rPr lang="zh-CN" altLang="en-US" sz="2000" dirty="0">
                <a:cs typeface="华文楷体" panose="02010600040101010101" charset="-122"/>
              </a:rPr>
              <a:t>分片</a:t>
            </a:r>
            <a:r>
              <a:rPr lang="en-US" altLang="zh-CN" sz="2000" dirty="0">
                <a:cs typeface="华文楷体" panose="02010600040101010101" charset="-122"/>
              </a:rPr>
              <a:t>—</a:t>
            </a:r>
            <a:r>
              <a:rPr lang="zh-CN" altLang="en-US" sz="2000" dirty="0">
                <a:cs typeface="华文楷体" panose="02010600040101010101" charset="-122"/>
              </a:rPr>
              <a:t>快速删除数据</a:t>
            </a:r>
          </a:p>
          <a:p>
            <a:pPr eaLnBrk="1" hangingPunct="1">
              <a:lnSpc>
                <a:spcPct val="80000"/>
              </a:lnSpc>
            </a:pPr>
            <a:endParaRPr lang="en-US" altLang="zh-CN" sz="2000" b="1" dirty="0">
              <a:latin typeface="华文楷体" panose="02010600040101010101" charset="-122"/>
              <a:ea typeface="华文楷体" panose="02010600040101010101" charset="-122"/>
              <a:cs typeface="华文楷体" panose="02010600040101010101" charset="-122"/>
            </a:endParaRPr>
          </a:p>
          <a:p>
            <a:pPr marL="0" lvl="1" indent="0" eaLnBrk="1" hangingPunct="1">
              <a:lnSpc>
                <a:spcPct val="80000"/>
              </a:lnSpc>
              <a:spcBef>
                <a:spcPct val="0"/>
              </a:spcBef>
              <a:spcAft>
                <a:spcPct val="0"/>
              </a:spcAft>
              <a:buClr>
                <a:srgbClr val="00A3A1"/>
              </a:buClr>
              <a:buNone/>
            </a:pPr>
            <a:endParaRPr lang="en-US" altLang="zh-CN" sz="2000" dirty="0" smtClean="0">
              <a:cs typeface="华文楷体" panose="02010600040101010101" charset="-122"/>
            </a:endParaRPr>
          </a:p>
          <a:p>
            <a:pPr marL="0" lvl="1" indent="0" eaLnBrk="1" hangingPunct="1">
              <a:lnSpc>
                <a:spcPct val="80000"/>
              </a:lnSpc>
              <a:spcBef>
                <a:spcPct val="0"/>
              </a:spcBef>
              <a:spcAft>
                <a:spcPct val="0"/>
              </a:spcAft>
              <a:buClr>
                <a:srgbClr val="00A3A1"/>
              </a:buClr>
              <a:buNone/>
            </a:pPr>
            <a:endParaRPr lang="en-US" altLang="zh-CN" sz="2000" dirty="0">
              <a:cs typeface="华文楷体" panose="02010600040101010101" charset="-122"/>
            </a:endParaRPr>
          </a:p>
          <a:p>
            <a:pPr marL="228600" lvl="1" eaLnBrk="1" hangingPunct="1">
              <a:lnSpc>
                <a:spcPct val="80000"/>
              </a:lnSpc>
              <a:spcBef>
                <a:spcPct val="0"/>
              </a:spcBef>
            </a:pPr>
            <a:r>
              <a:rPr lang="zh-CN" altLang="en-US" sz="2000" dirty="0">
                <a:cs typeface="华文楷体" panose="02010600040101010101" charset="-122"/>
              </a:rPr>
              <a:t>表的新结构</a:t>
            </a:r>
          </a:p>
          <a:p>
            <a:pPr eaLnBrk="1" hangingPunct="1">
              <a:lnSpc>
                <a:spcPct val="80000"/>
              </a:lnSpc>
            </a:pPr>
            <a:endParaRPr lang="zh-CN" altLang="en-US"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zh-CN" altLang="en-US" sz="2000" b="1" dirty="0">
              <a:latin typeface="华文楷体" panose="02010600040101010101" charset="-122"/>
              <a:ea typeface="华文楷体" panose="02010600040101010101" charset="-122"/>
              <a:cs typeface="华文楷体" panose="02010600040101010101" charset="-122"/>
            </a:endParaRPr>
          </a:p>
          <a:p>
            <a:pPr marL="228600" lvl="1" indent="-228600" eaLnBrk="1" hangingPunct="1">
              <a:lnSpc>
                <a:spcPct val="80000"/>
              </a:lnSpc>
              <a:buFont typeface="Webdings" panose="05030102010509060703" charset="0"/>
              <a:buNone/>
            </a:pPr>
            <a:endParaRPr lang="en-US" altLang="zh-CN"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en-US" altLang="zh-CN" sz="2000" b="1" dirty="0">
              <a:latin typeface="华文楷体" panose="02010600040101010101" charset="-122"/>
              <a:ea typeface="华文楷体" panose="02010600040101010101" charset="-122"/>
              <a:cs typeface="华文楷体" panose="02010600040101010101" charset="-122"/>
            </a:endParaRPr>
          </a:p>
          <a:p>
            <a:pPr eaLnBrk="1" hangingPunct="1">
              <a:lnSpc>
                <a:spcPct val="80000"/>
              </a:lnSpc>
              <a:buFont typeface="Wingdings" panose="05000000000000000000" charset="0"/>
              <a:buNone/>
            </a:pPr>
            <a:endParaRPr lang="zh-CN" altLang="en-US" sz="2000" dirty="0">
              <a:latin typeface="华文楷体" panose="02010600040101010101" charset="-122"/>
              <a:ea typeface="华文楷体" panose="02010600040101010101" charset="-122"/>
              <a:cs typeface="华文楷体" panose="02010600040101010101" charset="-122"/>
            </a:endParaRPr>
          </a:p>
        </p:txBody>
      </p:sp>
      <p:sp>
        <p:nvSpPr>
          <p:cNvPr id="62468" name="内容占位符 3"/>
          <p:cNvSpPr txBox="1"/>
          <p:nvPr/>
        </p:nvSpPr>
        <p:spPr bwMode="auto">
          <a:xfrm>
            <a:off x="2297783" y="1594631"/>
            <a:ext cx="7162800" cy="446076"/>
          </a:xfrm>
          <a:prstGeom prst="rect">
            <a:avLst/>
          </a:prstGeom>
          <a:solidFill>
            <a:schemeClr val="bg1">
              <a:lumMod val="85000"/>
            </a:schemeClr>
          </a:solidFill>
          <a:ln w="3175">
            <a:solidFill>
              <a:schemeClr val="bg1">
                <a:lumMod val="50000"/>
              </a:schemeClr>
            </a:solidFill>
            <a:miter lim="800000"/>
          </a:ln>
        </p:spPr>
        <p:txBody>
          <a:bodyPr/>
          <a:lstStyle>
            <a:lvl1pPr marL="342900" indent="-342900"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indent="-22733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algn="l" eaLnBrk="1" hangingPunct="1">
              <a:lnSpc>
                <a:spcPct val="150000"/>
              </a:lnSpc>
            </a:pP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ALTER FRAGMENT ON TABLE </a:t>
            </a:r>
            <a:r>
              <a:rPr lang="en-US" altLang="zh-CN" sz="1600" b="0" dirty="0" err="1"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frag_table</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detach </a:t>
            </a:r>
            <a:r>
              <a:rPr lang="en-US" altLang="zh-CN" sz="16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partition p3 t_p3; </a:t>
            </a:r>
          </a:p>
        </p:txBody>
      </p:sp>
      <p:sp>
        <p:nvSpPr>
          <p:cNvPr id="62469" name="内容占位符 3"/>
          <p:cNvSpPr txBox="1"/>
          <p:nvPr/>
        </p:nvSpPr>
        <p:spPr bwMode="auto">
          <a:xfrm>
            <a:off x="2298145" y="2740384"/>
            <a:ext cx="7162800" cy="3589295"/>
          </a:xfrm>
          <a:prstGeom prst="rect">
            <a:avLst/>
          </a:prstGeom>
          <a:solidFill>
            <a:schemeClr val="bg1">
              <a:lumMod val="85000"/>
            </a:schemeClr>
          </a:solidFill>
          <a:ln w="3175">
            <a:solidFill>
              <a:schemeClr val="bg1">
                <a:lumMod val="50000"/>
              </a:schemeClr>
            </a:solidFill>
            <a:miter lim="800000"/>
          </a:ln>
        </p:spPr>
        <p:txBody>
          <a:bodyPr/>
          <a:lstStyle>
            <a:lvl1pPr marL="342900" indent="-342900" eaLnBrk="0" hangingPunct="0">
              <a:defRPr sz="2000">
                <a:solidFill>
                  <a:schemeClr val="bg1"/>
                </a:solidFill>
                <a:latin typeface="Times New Roman" panose="02020603050405020304" charset="0"/>
                <a:ea typeface="宋体" panose="02010600030101010101" pitchFamily="2" charset="-122"/>
                <a:cs typeface="宋体" panose="02010600030101010101" pitchFamily="2" charset="-122"/>
              </a:defRPr>
            </a:lvl1pPr>
            <a:lvl2pPr indent="-227330" eaLnBrk="0" hangingPunct="0">
              <a:defRPr sz="2000">
                <a:solidFill>
                  <a:schemeClr val="bg1"/>
                </a:solidFill>
                <a:latin typeface="Times New Roman" panose="02020603050405020304" charset="0"/>
                <a:ea typeface="宋体" panose="02010600030101010101" pitchFamily="2" charset="-122"/>
              </a:defRPr>
            </a:lvl2pPr>
            <a:lvl3pPr marL="1143000" indent="-228600" eaLnBrk="0" hangingPunct="0">
              <a:defRPr sz="2000">
                <a:solidFill>
                  <a:schemeClr val="bg1"/>
                </a:solidFill>
                <a:latin typeface="Times New Roman" panose="02020603050405020304" charset="0"/>
                <a:ea typeface="宋体" panose="02010600030101010101" pitchFamily="2" charset="-122"/>
              </a:defRPr>
            </a:lvl3pPr>
            <a:lvl4pPr marL="1600200" indent="-228600" eaLnBrk="0" hangingPunct="0">
              <a:defRPr sz="2000">
                <a:solidFill>
                  <a:schemeClr val="bg1"/>
                </a:solidFill>
                <a:latin typeface="Times New Roman" panose="02020603050405020304" charset="0"/>
                <a:ea typeface="宋体" panose="02010600030101010101" pitchFamily="2" charset="-122"/>
              </a:defRPr>
            </a:lvl4pPr>
            <a:lvl5pPr marL="2057400" indent="-228600" eaLnBrk="0" hangingPunct="0">
              <a:defRPr sz="2000">
                <a:solidFill>
                  <a:schemeClr val="bg1"/>
                </a:solidFill>
                <a:latin typeface="Times New Roman" panose="02020603050405020304" charset="0"/>
                <a:ea typeface="宋体" panose="02010600030101010101" pitchFamily="2" charset="-122"/>
              </a:defRPr>
            </a:lvl5pPr>
            <a:lvl6pPr marL="25146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6pPr>
            <a:lvl7pPr marL="29718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7pPr>
            <a:lvl8pPr marL="34290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8pPr>
            <a:lvl9pPr marL="3886200" indent="-228600" algn="r" eaLnBrk="0" fontAlgn="base" hangingPunct="0">
              <a:spcBef>
                <a:spcPct val="0"/>
              </a:spcBef>
              <a:spcAft>
                <a:spcPct val="0"/>
              </a:spcAft>
              <a:defRPr sz="2000">
                <a:solidFill>
                  <a:schemeClr val="bg1"/>
                </a:solidFill>
                <a:latin typeface="Times New Roman" panose="02020603050405020304" charset="0"/>
                <a:ea typeface="宋体" panose="02010600030101010101" pitchFamily="2" charset="-122"/>
              </a:defRPr>
            </a:lvl9pPr>
          </a:lstStyle>
          <a:p>
            <a:pPr lvl="1" algn="l" eaLnBrk="1" hangingPunct="1"/>
            <a:r>
              <a:rPr lang="en-US" altLang="zh-CN" sz="1600" b="0" dirty="0" smtClean="0">
                <a:solidFill>
                  <a:srgbClr val="000000"/>
                </a:solidFill>
              </a:rPr>
              <a:t>create </a:t>
            </a:r>
            <a:r>
              <a:rPr lang="en-US" altLang="zh-CN" sz="1600" b="0" dirty="0">
                <a:solidFill>
                  <a:srgbClr val="000000"/>
                </a:solidFill>
              </a:rPr>
              <a:t>table </a:t>
            </a:r>
            <a:r>
              <a:rPr lang="en-US" altLang="zh-CN" sz="1600" b="0" dirty="0" smtClean="0">
                <a:solidFill>
                  <a:srgbClr val="000000"/>
                </a:solidFill>
              </a:rPr>
              <a:t>"</a:t>
            </a:r>
            <a:r>
              <a:rPr lang="en-US" altLang="zh-CN" sz="1600" b="0" dirty="0" err="1" smtClean="0">
                <a:solidFill>
                  <a:srgbClr val="000000"/>
                </a:solidFill>
              </a:rPr>
              <a:t>gbasedbt".frag_table</a:t>
            </a:r>
            <a:r>
              <a:rPr lang="en-US" altLang="zh-CN" sz="1600" b="0" dirty="0" smtClean="0">
                <a:solidFill>
                  <a:srgbClr val="000000"/>
                </a:solidFill>
              </a:rPr>
              <a:t> </a:t>
            </a:r>
            <a:endParaRPr lang="en-US" altLang="zh-CN" sz="1600" b="0" dirty="0">
              <a:solidFill>
                <a:srgbClr val="000000"/>
              </a:solidFill>
            </a:endParaRPr>
          </a:p>
          <a:p>
            <a:pPr lvl="1" algn="l" eaLnBrk="1" hangingPunct="1"/>
            <a:r>
              <a:rPr lang="en-US" altLang="zh-CN" sz="1600" b="0" dirty="0">
                <a:solidFill>
                  <a:srgbClr val="000000"/>
                </a:solidFill>
              </a:rPr>
              <a:t>  </a:t>
            </a:r>
            <a:r>
              <a:rPr lang="en-US" altLang="zh-CN" sz="1600" b="0" dirty="0" smtClean="0">
                <a:solidFill>
                  <a:srgbClr val="000000"/>
                </a:solidFill>
              </a:rPr>
              <a:t>(</a:t>
            </a:r>
            <a:r>
              <a:rPr lang="en-US" altLang="zh-CN" sz="1600" b="0" dirty="0" err="1" smtClean="0">
                <a:solidFill>
                  <a:srgbClr val="000000"/>
                </a:solidFill>
              </a:rPr>
              <a:t>data_time</a:t>
            </a:r>
            <a:r>
              <a:rPr lang="en-US" altLang="zh-CN" sz="1600" b="0" dirty="0" smtClean="0">
                <a:solidFill>
                  <a:srgbClr val="000000"/>
                </a:solidFill>
              </a:rPr>
              <a:t> </a:t>
            </a:r>
            <a:r>
              <a:rPr lang="en-US" altLang="zh-CN" sz="1600" b="0" dirty="0" err="1">
                <a:solidFill>
                  <a:srgbClr val="000000"/>
                </a:solidFill>
              </a:rPr>
              <a:t>datetime</a:t>
            </a:r>
            <a:r>
              <a:rPr lang="en-US" altLang="zh-CN" sz="1600" b="0" dirty="0">
                <a:solidFill>
                  <a:srgbClr val="000000"/>
                </a:solidFill>
              </a:rPr>
              <a:t> year to second</a:t>
            </a:r>
            <a:r>
              <a:rPr lang="en-US" altLang="zh-CN" sz="1600" b="0" dirty="0" smtClean="0">
                <a:solidFill>
                  <a:srgbClr val="000000"/>
                </a:solidFill>
              </a:rPr>
              <a:t>, </a:t>
            </a:r>
            <a:r>
              <a:rPr lang="en-US" altLang="zh-CN" sz="1600" b="0" dirty="0">
                <a:solidFill>
                  <a:srgbClr val="000000"/>
                </a:solidFill>
              </a:rPr>
              <a:t>id </a:t>
            </a:r>
            <a:r>
              <a:rPr lang="en-US" altLang="zh-CN" sz="1600" b="0" dirty="0" err="1" smtClean="0">
                <a:solidFill>
                  <a:srgbClr val="000000"/>
                </a:solidFill>
              </a:rPr>
              <a:t>integer,abc</a:t>
            </a:r>
            <a:r>
              <a:rPr lang="en-US" altLang="zh-CN" sz="1600" b="0" dirty="0" smtClean="0">
                <a:solidFill>
                  <a:srgbClr val="000000"/>
                </a:solidFill>
              </a:rPr>
              <a:t> </a:t>
            </a:r>
            <a:r>
              <a:rPr lang="en-US" altLang="zh-CN" sz="1600" b="0" dirty="0">
                <a:solidFill>
                  <a:srgbClr val="000000"/>
                </a:solidFill>
              </a:rPr>
              <a:t>integer,</a:t>
            </a:r>
          </a:p>
          <a:p>
            <a:pPr lvl="1" algn="l" eaLnBrk="1" hangingPunct="1"/>
            <a:r>
              <a:rPr lang="en-US" altLang="zh-CN" sz="1600" b="0" dirty="0">
                <a:solidFill>
                  <a:srgbClr val="000000"/>
                </a:solidFill>
              </a:rPr>
              <a:t>    c1 varchar(255</a:t>
            </a:r>
            <a:r>
              <a:rPr lang="en-US" altLang="zh-CN" sz="1600" b="0" dirty="0" smtClean="0">
                <a:solidFill>
                  <a:srgbClr val="000000"/>
                </a:solidFill>
              </a:rPr>
              <a:t>),c2 integer,c3 </a:t>
            </a:r>
            <a:r>
              <a:rPr lang="en-US" altLang="zh-CN" sz="1600" b="0" dirty="0">
                <a:solidFill>
                  <a:srgbClr val="000000"/>
                </a:solidFill>
              </a:rPr>
              <a:t>int8 ) </a:t>
            </a:r>
          </a:p>
          <a:p>
            <a:pPr lvl="1" algn="l" eaLnBrk="1" hangingPunct="1"/>
            <a:r>
              <a:rPr lang="en-US" altLang="zh-CN" sz="1600" b="0" dirty="0">
                <a:solidFill>
                  <a:srgbClr val="000000"/>
                </a:solidFill>
              </a:rPr>
              <a:t>  fragment by expression </a:t>
            </a:r>
          </a:p>
          <a:p>
            <a:pPr lvl="1" algn="l" eaLnBrk="1" hangingPunct="1"/>
            <a:r>
              <a:rPr lang="en-US" altLang="zh-CN" sz="1600" b="0" dirty="0">
                <a:solidFill>
                  <a:srgbClr val="000000"/>
                </a:solidFill>
              </a:rPr>
              <a:t>    partition p1 ((</a:t>
            </a:r>
            <a:r>
              <a:rPr lang="en-US" altLang="zh-CN" sz="1600" b="0" dirty="0" err="1">
                <a:solidFill>
                  <a:srgbClr val="000000"/>
                </a:solidFill>
              </a:rPr>
              <a:t>data_time</a:t>
            </a:r>
            <a:r>
              <a:rPr lang="en-US" altLang="zh-CN" sz="1600" b="0" dirty="0">
                <a:solidFill>
                  <a:srgbClr val="000000"/>
                </a:solidFill>
              </a:rPr>
              <a:t> &lt; </a:t>
            </a:r>
            <a:r>
              <a:rPr lang="en-US" altLang="zh-CN" sz="1600" b="0" dirty="0" err="1">
                <a:solidFill>
                  <a:srgbClr val="000000"/>
                </a:solidFill>
              </a:rPr>
              <a:t>datetime</a:t>
            </a:r>
            <a:r>
              <a:rPr lang="en-US" altLang="zh-CN" sz="1600" b="0" dirty="0">
                <a:solidFill>
                  <a:srgbClr val="000000"/>
                </a:solidFill>
              </a:rPr>
              <a:t>(2011-01-02 00:00:00) </a:t>
            </a:r>
            <a:r>
              <a:rPr lang="en-US" altLang="zh-CN" sz="1600" b="0" dirty="0" smtClean="0">
                <a:solidFill>
                  <a:srgbClr val="000000"/>
                </a:solidFill>
              </a:rPr>
              <a:t>year </a:t>
            </a:r>
            <a:r>
              <a:rPr lang="en-US" altLang="zh-CN" sz="1600" b="0" dirty="0">
                <a:solidFill>
                  <a:srgbClr val="000000"/>
                </a:solidFill>
              </a:rPr>
              <a:t>to second </a:t>
            </a:r>
            <a:r>
              <a:rPr lang="en-US" altLang="zh-CN" sz="1600" b="0" dirty="0" smtClean="0">
                <a:solidFill>
                  <a:srgbClr val="000000"/>
                </a:solidFill>
              </a:rPr>
              <a:t>)AND </a:t>
            </a:r>
          </a:p>
          <a:p>
            <a:pPr lvl="1" algn="l" eaLnBrk="1" hangingPunct="1"/>
            <a:r>
              <a:rPr lang="en-US" altLang="zh-CN" sz="1600" b="0" dirty="0" smtClean="0">
                <a:solidFill>
                  <a:srgbClr val="000000"/>
                </a:solidFill>
              </a:rPr>
              <a:t>(</a:t>
            </a:r>
            <a:r>
              <a:rPr lang="en-US" altLang="zh-CN" sz="1600" b="0" dirty="0" err="1">
                <a:solidFill>
                  <a:srgbClr val="000000"/>
                </a:solidFill>
              </a:rPr>
              <a:t>data_time</a:t>
            </a:r>
            <a:r>
              <a:rPr lang="en-US" altLang="zh-CN" sz="1600" b="0" dirty="0">
                <a:solidFill>
                  <a:srgbClr val="000000"/>
                </a:solidFill>
              </a:rPr>
              <a:t> &gt;= </a:t>
            </a:r>
            <a:r>
              <a:rPr lang="en-US" altLang="zh-CN" sz="1600" b="0" dirty="0" err="1" smtClean="0">
                <a:solidFill>
                  <a:srgbClr val="000000"/>
                </a:solidFill>
              </a:rPr>
              <a:t>datetime</a:t>
            </a:r>
            <a:r>
              <a:rPr lang="en-US" altLang="zh-CN" sz="1600" b="0" dirty="0" smtClean="0">
                <a:solidFill>
                  <a:srgbClr val="000000"/>
                </a:solidFill>
              </a:rPr>
              <a:t>(2011-01-01 00:00:00) year to second ) ) in datadbs01,</a:t>
            </a:r>
          </a:p>
          <a:p>
            <a:pPr lvl="1" algn="l" eaLnBrk="1" hangingPunct="1"/>
            <a:r>
              <a:rPr lang="en-US" altLang="zh-CN" sz="1600" b="0" dirty="0" smtClean="0">
                <a:solidFill>
                  <a:srgbClr val="000000"/>
                </a:solidFill>
              </a:rPr>
              <a:t>    </a:t>
            </a:r>
            <a:r>
              <a:rPr lang="en-US" altLang="zh-CN" sz="1600" b="0" dirty="0">
                <a:solidFill>
                  <a:srgbClr val="000000"/>
                </a:solidFill>
              </a:rPr>
              <a:t>partition p2 ((</a:t>
            </a:r>
            <a:r>
              <a:rPr lang="en-US" altLang="zh-CN" sz="1600" b="0" dirty="0" err="1">
                <a:solidFill>
                  <a:srgbClr val="000000"/>
                </a:solidFill>
              </a:rPr>
              <a:t>data_time</a:t>
            </a:r>
            <a:r>
              <a:rPr lang="en-US" altLang="zh-CN" sz="1600" b="0" dirty="0">
                <a:solidFill>
                  <a:srgbClr val="000000"/>
                </a:solidFill>
              </a:rPr>
              <a:t> &lt; </a:t>
            </a:r>
            <a:r>
              <a:rPr lang="en-US" altLang="zh-CN" sz="1600" b="0" dirty="0" err="1">
                <a:solidFill>
                  <a:srgbClr val="000000"/>
                </a:solidFill>
              </a:rPr>
              <a:t>datetime</a:t>
            </a:r>
            <a:r>
              <a:rPr lang="en-US" altLang="zh-CN" sz="1600" b="0" dirty="0">
                <a:solidFill>
                  <a:srgbClr val="000000"/>
                </a:solidFill>
              </a:rPr>
              <a:t>(2011-01-03 00:00:00) </a:t>
            </a:r>
            <a:r>
              <a:rPr lang="en-US" altLang="zh-CN" sz="1600" b="0" dirty="0" smtClean="0">
                <a:solidFill>
                  <a:srgbClr val="000000"/>
                </a:solidFill>
              </a:rPr>
              <a:t>year </a:t>
            </a:r>
            <a:r>
              <a:rPr lang="en-US" altLang="zh-CN" sz="1600" b="0" dirty="0">
                <a:solidFill>
                  <a:srgbClr val="000000"/>
                </a:solidFill>
              </a:rPr>
              <a:t>to second ) AND </a:t>
            </a:r>
            <a:endParaRPr lang="en-US" altLang="zh-CN" sz="1600" b="0" dirty="0" smtClean="0">
              <a:solidFill>
                <a:srgbClr val="000000"/>
              </a:solidFill>
            </a:endParaRPr>
          </a:p>
          <a:p>
            <a:pPr lvl="1" algn="l" eaLnBrk="1" hangingPunct="1"/>
            <a:r>
              <a:rPr lang="en-US" altLang="zh-CN" sz="1600" b="0" dirty="0" smtClean="0">
                <a:solidFill>
                  <a:srgbClr val="000000"/>
                </a:solidFill>
              </a:rPr>
              <a:t>(</a:t>
            </a:r>
            <a:r>
              <a:rPr lang="en-US" altLang="zh-CN" sz="1600" b="0" dirty="0" err="1">
                <a:solidFill>
                  <a:srgbClr val="000000"/>
                </a:solidFill>
              </a:rPr>
              <a:t>data_time</a:t>
            </a:r>
            <a:r>
              <a:rPr lang="en-US" altLang="zh-CN" sz="1600" b="0" dirty="0">
                <a:solidFill>
                  <a:srgbClr val="000000"/>
                </a:solidFill>
              </a:rPr>
              <a:t> &gt;= </a:t>
            </a:r>
            <a:r>
              <a:rPr lang="en-US" altLang="zh-CN" sz="1600" b="0" dirty="0" err="1">
                <a:solidFill>
                  <a:srgbClr val="000000"/>
                </a:solidFill>
              </a:rPr>
              <a:t>datetime</a:t>
            </a:r>
            <a:r>
              <a:rPr lang="en-US" altLang="zh-CN" sz="1600" b="0" dirty="0">
                <a:solidFill>
                  <a:srgbClr val="000000"/>
                </a:solidFill>
              </a:rPr>
              <a:t>(2011-01-02 </a:t>
            </a:r>
            <a:r>
              <a:rPr lang="en-US" altLang="zh-CN" sz="1600" b="0" dirty="0" smtClean="0">
                <a:solidFill>
                  <a:srgbClr val="000000"/>
                </a:solidFill>
              </a:rPr>
              <a:t>00:00:00</a:t>
            </a:r>
            <a:r>
              <a:rPr lang="en-US" altLang="zh-CN" sz="1600" b="0" dirty="0">
                <a:solidFill>
                  <a:srgbClr val="000000"/>
                </a:solidFill>
              </a:rPr>
              <a:t>) year to second ) ) in datadbs02</a:t>
            </a:r>
          </a:p>
          <a:p>
            <a:pPr lvl="1" algn="l" eaLnBrk="1" hangingPunct="1"/>
            <a:r>
              <a:rPr lang="en-US" altLang="zh-CN" sz="1600" b="0" dirty="0">
                <a:solidFill>
                  <a:srgbClr val="000000"/>
                </a:solidFill>
              </a:rPr>
              <a:t>  extent size 16 next size 16 lock mode row;</a:t>
            </a:r>
          </a:p>
          <a:p>
            <a:pPr lvl="1" algn="l" eaLnBrk="1" hangingPunct="1"/>
            <a:r>
              <a:rPr lang="en-US" altLang="zh-CN" sz="1600" b="0" dirty="0">
                <a:solidFill>
                  <a:srgbClr val="000000"/>
                </a:solidFill>
              </a:rPr>
              <a:t> </a:t>
            </a:r>
          </a:p>
          <a:p>
            <a:pPr lvl="1" algn="l" eaLnBrk="1" hangingPunct="1"/>
            <a:r>
              <a:rPr lang="en-US" altLang="zh-CN" sz="1600" b="0" dirty="0">
                <a:solidFill>
                  <a:srgbClr val="000000"/>
                </a:solidFill>
              </a:rPr>
              <a:t>create unique index </a:t>
            </a:r>
            <a:r>
              <a:rPr lang="en-US" altLang="zh-CN" sz="1600" b="0" dirty="0" smtClean="0">
                <a:solidFill>
                  <a:srgbClr val="000000"/>
                </a:solidFill>
              </a:rPr>
              <a:t>"gbasedbt".</a:t>
            </a:r>
            <a:r>
              <a:rPr lang="en-US" altLang="zh-CN" sz="1600" b="0" dirty="0">
                <a:solidFill>
                  <a:srgbClr val="000000"/>
                </a:solidFill>
              </a:rPr>
              <a:t>idx1_frag_table on </a:t>
            </a:r>
            <a:r>
              <a:rPr lang="en-US" altLang="zh-CN" sz="1600" b="0" dirty="0" smtClean="0">
                <a:solidFill>
                  <a:srgbClr val="000000"/>
                </a:solidFill>
              </a:rPr>
              <a:t>"</a:t>
            </a:r>
            <a:r>
              <a:rPr lang="en-US" altLang="zh-CN" sz="1600" b="0" dirty="0" err="1" smtClean="0">
                <a:solidFill>
                  <a:srgbClr val="000000"/>
                </a:solidFill>
              </a:rPr>
              <a:t>gbasedbt".</a:t>
            </a:r>
            <a:r>
              <a:rPr lang="en-US" altLang="zh-CN" sz="1600" b="0" dirty="0" err="1">
                <a:solidFill>
                  <a:srgbClr val="000000"/>
                </a:solidFill>
              </a:rPr>
              <a:t>frag_table</a:t>
            </a:r>
            <a:r>
              <a:rPr lang="en-US" altLang="zh-CN" sz="1600" b="0" dirty="0">
                <a:solidFill>
                  <a:srgbClr val="000000"/>
                </a:solidFill>
              </a:rPr>
              <a:t> </a:t>
            </a:r>
          </a:p>
          <a:p>
            <a:pPr lvl="1" algn="l" eaLnBrk="1" hangingPunct="1"/>
            <a:r>
              <a:rPr lang="en-US" altLang="zh-CN" sz="1600" b="0" dirty="0">
                <a:solidFill>
                  <a:srgbClr val="000000"/>
                </a:solidFill>
              </a:rPr>
              <a:t>    (</a:t>
            </a:r>
            <a:r>
              <a:rPr lang="en-US" altLang="zh-CN" sz="1600" b="0" dirty="0" err="1">
                <a:solidFill>
                  <a:srgbClr val="000000"/>
                </a:solidFill>
              </a:rPr>
              <a:t>data_time,id</a:t>
            </a:r>
            <a:r>
              <a:rPr lang="en-US" altLang="zh-CN" sz="1600" b="0" dirty="0">
                <a:solidFill>
                  <a:srgbClr val="000000"/>
                </a:solidFill>
              </a:rPr>
              <a:t>) using </a:t>
            </a:r>
            <a:r>
              <a:rPr lang="en-US" altLang="zh-CN" sz="1600" b="0" dirty="0" err="1">
                <a:solidFill>
                  <a:srgbClr val="000000"/>
                </a:solidFill>
              </a:rPr>
              <a:t>btree</a:t>
            </a:r>
            <a:r>
              <a:rPr lang="en-US" altLang="zh-CN" sz="1600" b="0" dirty="0">
                <a:solidFill>
                  <a:srgbClr val="000000"/>
                </a:solidFill>
              </a:rPr>
              <a:t> ;</a:t>
            </a:r>
          </a:p>
          <a:p>
            <a:pPr lvl="1" algn="l" eaLnBrk="1" hangingPunct="1"/>
            <a:r>
              <a:rPr lang="en-US" altLang="zh-CN" sz="1600" b="0" dirty="0">
                <a:solidFill>
                  <a:srgbClr val="000000"/>
                </a:solidFill>
              </a:rPr>
              <a:t>create index </a:t>
            </a:r>
            <a:r>
              <a:rPr lang="en-US" altLang="zh-CN" sz="1600" b="0" dirty="0" smtClean="0">
                <a:solidFill>
                  <a:srgbClr val="000000"/>
                </a:solidFill>
              </a:rPr>
              <a:t>"gbasedbt".</a:t>
            </a:r>
            <a:r>
              <a:rPr lang="en-US" altLang="zh-CN" sz="1600" b="0" dirty="0">
                <a:solidFill>
                  <a:srgbClr val="000000"/>
                </a:solidFill>
              </a:rPr>
              <a:t>idx2_frag_table on </a:t>
            </a:r>
            <a:r>
              <a:rPr lang="en-US" altLang="zh-CN" sz="1600" b="0" dirty="0" smtClean="0">
                <a:solidFill>
                  <a:srgbClr val="000000"/>
                </a:solidFill>
              </a:rPr>
              <a:t>"</a:t>
            </a:r>
            <a:r>
              <a:rPr lang="en-US" altLang="zh-CN" sz="1600" b="0" dirty="0" err="1" smtClean="0">
                <a:solidFill>
                  <a:srgbClr val="000000"/>
                </a:solidFill>
              </a:rPr>
              <a:t>gbasedbt".</a:t>
            </a:r>
            <a:r>
              <a:rPr lang="en-US" altLang="zh-CN" sz="1600" b="0" dirty="0" err="1">
                <a:solidFill>
                  <a:srgbClr val="000000"/>
                </a:solidFill>
              </a:rPr>
              <a:t>frag_table</a:t>
            </a:r>
            <a:r>
              <a:rPr lang="en-US" altLang="zh-CN" sz="1600" b="0" dirty="0">
                <a:solidFill>
                  <a:srgbClr val="000000"/>
                </a:solidFill>
              </a:rPr>
              <a:t> </a:t>
            </a:r>
          </a:p>
          <a:p>
            <a:pPr lvl="1" algn="l" eaLnBrk="1" hangingPunct="1"/>
            <a:r>
              <a:rPr lang="en-US" altLang="zh-CN" sz="1600" b="0" dirty="0">
                <a:solidFill>
                  <a:srgbClr val="000000"/>
                </a:solidFill>
              </a:rPr>
              <a:t>    (</a:t>
            </a:r>
            <a:r>
              <a:rPr lang="en-US" altLang="zh-CN" sz="1600" b="0" dirty="0" err="1">
                <a:solidFill>
                  <a:srgbClr val="000000"/>
                </a:solidFill>
              </a:rPr>
              <a:t>abc</a:t>
            </a:r>
            <a:r>
              <a:rPr lang="en-US" altLang="zh-CN" sz="1600" b="0" dirty="0">
                <a:solidFill>
                  <a:srgbClr val="000000"/>
                </a:solidFill>
              </a:rPr>
              <a:t>) using </a:t>
            </a:r>
            <a:r>
              <a:rPr lang="en-US" altLang="zh-CN" sz="1600" b="0" dirty="0" err="1">
                <a:solidFill>
                  <a:srgbClr val="000000"/>
                </a:solidFill>
              </a:rPr>
              <a:t>btree</a:t>
            </a:r>
            <a:r>
              <a:rPr lang="en-US" altLang="zh-CN" sz="1600" b="0" dirty="0">
                <a:solidFill>
                  <a:srgbClr val="000000"/>
                </a:solidFill>
              </a:rPr>
              <a:t> ;</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39148" y="16052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6052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2225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2225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171764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4993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4993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1178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1178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61299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3934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3934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93903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93903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508345"/>
            <a:ext cx="436880" cy="39878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5213350"/>
            <a:ext cx="7223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5213350"/>
            <a:ext cx="45704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5319365"/>
            <a:ext cx="436880" cy="39878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五</a:t>
            </a:r>
          </a:p>
        </p:txBody>
      </p:sp>
      <p:sp>
        <p:nvSpPr>
          <p:cNvPr id="24" name="文本框 55"/>
          <p:cNvSpPr txBox="1">
            <a:spLocks noChangeArrowheads="1"/>
          </p:cNvSpPr>
          <p:nvPr/>
        </p:nvSpPr>
        <p:spPr bwMode="auto">
          <a:xfrm>
            <a:off x="4378960" y="1724794"/>
            <a:ext cx="4236720" cy="398780"/>
          </a:xfrm>
          <a:prstGeom prst="rect">
            <a:avLst/>
          </a:prstGeom>
          <a:noFill/>
          <a:ln w="9525">
            <a:noFill/>
            <a:miter lim="800000"/>
          </a:ln>
        </p:spPr>
        <p:txBody>
          <a:bodyPr wrap="square">
            <a:spAutoFit/>
          </a:bodyPr>
          <a:lstStyle/>
          <a:p>
            <a:pPr marL="360680" lvl="1" algn="ctr">
              <a:spcBef>
                <a:spcPct val="20000"/>
              </a:spcBef>
              <a:buClr>
                <a:srgbClr val="FD0000"/>
              </a:buClr>
              <a:defRPr/>
            </a:pP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表分片的意义及策略</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5" name="文本框 55"/>
          <p:cNvSpPr txBox="1">
            <a:spLocks noChangeArrowheads="1"/>
          </p:cNvSpPr>
          <p:nvPr/>
        </p:nvSpPr>
        <p:spPr bwMode="auto">
          <a:xfrm>
            <a:off x="4378960" y="2609984"/>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索引分片策略与语法</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6" name="文本框 55"/>
          <p:cNvSpPr txBox="1">
            <a:spLocks noChangeArrowheads="1"/>
          </p:cNvSpPr>
          <p:nvPr/>
        </p:nvSpPr>
        <p:spPr bwMode="auto">
          <a:xfrm>
            <a:off x="4378960" y="3515608"/>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分片的管理</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7" name="文本框 55"/>
          <p:cNvSpPr txBox="1">
            <a:spLocks noChangeArrowheads="1"/>
          </p:cNvSpPr>
          <p:nvPr/>
        </p:nvSpPr>
        <p:spPr bwMode="auto">
          <a:xfrm>
            <a:off x="4378960" y="5316468"/>
            <a:ext cx="4236720" cy="706755"/>
          </a:xfrm>
          <a:prstGeom prst="rect">
            <a:avLst/>
          </a:prstGeom>
          <a:noFill/>
          <a:ln w="9525">
            <a:noFill/>
            <a:miter lim="800000"/>
          </a:ln>
        </p:spPr>
        <p:txBody>
          <a:bodyPr wrap="square">
            <a:spAutoFit/>
          </a:bodyPr>
          <a:lstStyle/>
          <a:p>
            <a:pPr algn="ctr"/>
            <a:r>
              <a:rPr lang="zh-CN" altLang="zh-CN" sz="2000" spc="200" dirty="0">
                <a:solidFill>
                  <a:schemeClr val="bg1"/>
                </a:solidFill>
                <a:latin typeface="微软雅黑" panose="020B0503020204020204" pitchFamily="34" charset="-122"/>
                <a:ea typeface="微软雅黑" panose="020B0503020204020204" pitchFamily="34" charset="-122"/>
                <a:sym typeface="+mn-ea"/>
              </a:rPr>
              <a:t>分片与索引策略</a:t>
            </a:r>
            <a:r>
              <a:rPr lang="en-US" altLang="zh-CN" sz="2000" spc="200" dirty="0">
                <a:solidFill>
                  <a:schemeClr val="bg1"/>
                </a:solidFill>
                <a:latin typeface="微软雅黑" panose="020B0503020204020204" pitchFamily="34" charset="-122"/>
                <a:ea typeface="微软雅黑" panose="020B0503020204020204" pitchFamily="34" charset="-122"/>
                <a:sym typeface="+mn-ea"/>
              </a:rPr>
              <a:t>FAQ</a:t>
            </a:r>
            <a:endParaRPr lang="en-US" altLang="zh-CN" sz="2000" spc="200" dirty="0">
              <a:solidFill>
                <a:schemeClr val="bg1"/>
              </a:solidFill>
              <a:latin typeface="微软雅黑" panose="020B0503020204020204" pitchFamily="34" charset="-122"/>
              <a:ea typeface="微软雅黑" panose="020B0503020204020204" pitchFamily="34" charset="-122"/>
            </a:endParaRPr>
          </a:p>
          <a:p>
            <a:pPr algn="ct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29" name="矩形 28"/>
          <p:cNvSpPr/>
          <p:nvPr/>
        </p:nvSpPr>
        <p:spPr bwMode="auto">
          <a:xfrm>
            <a:off x="3329623" y="4324985"/>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矩形 29"/>
          <p:cNvSpPr/>
          <p:nvPr/>
        </p:nvSpPr>
        <p:spPr bwMode="auto">
          <a:xfrm>
            <a:off x="4193223" y="4324985"/>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矩形 30"/>
          <p:cNvSpPr/>
          <p:nvPr/>
        </p:nvSpPr>
        <p:spPr bwMode="auto">
          <a:xfrm>
            <a:off x="3329623" y="4935855"/>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矩形 31"/>
          <p:cNvSpPr/>
          <p:nvPr/>
        </p:nvSpPr>
        <p:spPr bwMode="auto">
          <a:xfrm>
            <a:off x="4193223" y="4935855"/>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文本框 60"/>
          <p:cNvSpPr txBox="1">
            <a:spLocks noChangeArrowheads="1"/>
          </p:cNvSpPr>
          <p:nvPr/>
        </p:nvSpPr>
        <p:spPr bwMode="auto">
          <a:xfrm>
            <a:off x="3460860" y="4431000"/>
            <a:ext cx="436880" cy="398780"/>
          </a:xfrm>
          <a:prstGeom prst="rect">
            <a:avLst/>
          </a:prstGeom>
          <a:noFill/>
          <a:ln w="9525">
            <a:noFill/>
            <a:miter lim="800000"/>
          </a:ln>
        </p:spPr>
        <p:txBody>
          <a:bodyPr wrap="none">
            <a:spAutoFit/>
          </a:bodyPr>
          <a:lstStyle/>
          <a:p>
            <a:r>
              <a:rPr lang="zh-CN" altLang="zh-CN" sz="2000" b="1">
                <a:solidFill>
                  <a:schemeClr val="bg1"/>
                </a:solidFill>
                <a:latin typeface="微软雅黑" panose="020B0503020204020204" pitchFamily="34" charset="-122"/>
                <a:ea typeface="微软雅黑" panose="020B0503020204020204" pitchFamily="34" charset="-122"/>
              </a:rPr>
              <a:t>四</a:t>
            </a:r>
          </a:p>
        </p:txBody>
      </p:sp>
      <p:sp>
        <p:nvSpPr>
          <p:cNvPr id="34" name="文本框 55"/>
          <p:cNvSpPr txBox="1">
            <a:spLocks noChangeArrowheads="1"/>
          </p:cNvSpPr>
          <p:nvPr/>
        </p:nvSpPr>
        <p:spPr bwMode="auto">
          <a:xfrm>
            <a:off x="4369435" y="4431278"/>
            <a:ext cx="4236720" cy="398780"/>
          </a:xfrm>
          <a:prstGeom prst="rect">
            <a:avLst/>
          </a:prstGeom>
          <a:noFill/>
          <a:ln w="9525">
            <a:noFill/>
            <a:miter lim="800000"/>
          </a:ln>
        </p:spPr>
        <p:txBody>
          <a:bodyPr wrap="square">
            <a:spAutoFit/>
          </a:bodyPr>
          <a:lstStyle/>
          <a:p>
            <a:pPr algn="ctr"/>
            <a:r>
              <a:rPr lang="zh-CN" altLang="en-US" sz="2000" kern="0" dirty="0" smtClean="0">
                <a:solidFill>
                  <a:schemeClr val="bg1"/>
                </a:solidFill>
                <a:latin typeface="微软雅黑" panose="020B0503020204020204" pitchFamily="34" charset="-122"/>
                <a:ea typeface="微软雅黑" panose="020B0503020204020204" pitchFamily="34" charset="-122"/>
                <a:sym typeface="+mn-ea"/>
              </a:rPr>
              <a:t>分片与性能调优</a:t>
            </a:r>
            <a:endParaRPr lang="en-US" altLang="zh-CN" sz="2000" spc="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lvl="0"/>
            <a:r>
              <a:rPr lang="en-US" altLang="zh-CN" dirty="0">
                <a:solidFill>
                  <a:srgbClr val="000000"/>
                </a:solidFill>
                <a:sym typeface="+mn-ea"/>
              </a:rPr>
              <a:t>FAQ</a:t>
            </a:r>
            <a:r>
              <a:rPr lang="zh-CN" altLang="en-US" dirty="0">
                <a:solidFill>
                  <a:srgbClr val="000000"/>
                </a:solidFill>
                <a:sym typeface="+mn-ea"/>
              </a:rPr>
              <a:t>一</a:t>
            </a:r>
          </a:p>
        </p:txBody>
      </p:sp>
      <p:sp>
        <p:nvSpPr>
          <p:cNvPr id="3" name="内容占位符 2"/>
          <p:cNvSpPr>
            <a:spLocks noGrp="1"/>
          </p:cNvSpPr>
          <p:nvPr>
            <p:ph type="body" sz="quarter" idx="10"/>
          </p:nvPr>
        </p:nvSpPr>
        <p:spPr/>
        <p:txBody>
          <a:bodyPr/>
          <a:lstStyle/>
          <a:p>
            <a:pPr>
              <a:buNone/>
            </a:pPr>
            <a:r>
              <a:rPr lang="zh-CN" altLang="en-US" sz="2000" b="1" dirty="0" smtClean="0"/>
              <a:t>问题</a:t>
            </a:r>
          </a:p>
          <a:p>
            <a:pPr>
              <a:buNone/>
            </a:pPr>
            <a:r>
              <a:rPr lang="zh-CN" altLang="en-US" sz="2000" dirty="0" smtClean="0"/>
              <a:t>什么时候需要对表进行分片？</a:t>
            </a:r>
          </a:p>
          <a:p>
            <a:pPr>
              <a:buNone/>
            </a:pPr>
            <a:endParaRPr lang="zh-CN" altLang="en-US" sz="1800" dirty="0" smtClean="0"/>
          </a:p>
          <a:p>
            <a:pPr>
              <a:buNone/>
            </a:pPr>
            <a:r>
              <a:rPr lang="zh-CN" altLang="en-US" sz="2000" b="1" dirty="0" smtClean="0"/>
              <a:t>回答</a:t>
            </a:r>
          </a:p>
          <a:p>
            <a:pPr marL="0">
              <a:spcBef>
                <a:spcPts val="0"/>
              </a:spcBef>
              <a:buNone/>
            </a:pPr>
            <a:r>
              <a:rPr lang="en-US" altLang="zh-CN" sz="2400" dirty="0" smtClean="0"/>
              <a:t>1</a:t>
            </a:r>
            <a:r>
              <a:rPr lang="zh-CN" altLang="en-US" sz="2400" dirty="0" smtClean="0"/>
              <a:t>、表数据量比较大。 根据最常用的字段进行分片后，</a:t>
            </a:r>
            <a:r>
              <a:rPr lang="en-US" altLang="zh-CN" sz="2400" dirty="0" smtClean="0"/>
              <a:t>select</a:t>
            </a:r>
            <a:r>
              <a:rPr lang="zh-CN" altLang="en-US" sz="2000" dirty="0" smtClean="0"/>
              <a:t>操作只需要扫描符合条件的分片，加快访问效率。</a:t>
            </a:r>
          </a:p>
          <a:p>
            <a:pPr marL="0">
              <a:spcBef>
                <a:spcPts val="0"/>
              </a:spcBef>
              <a:buNone/>
            </a:pPr>
            <a:r>
              <a:rPr lang="en-US" altLang="zh-CN" sz="2400" dirty="0" smtClean="0"/>
              <a:t>2</a:t>
            </a:r>
            <a:r>
              <a:rPr lang="zh-CN" altLang="en-US" sz="2000" dirty="0" smtClean="0"/>
              <a:t>、表的并发访问非常大的表。</a:t>
            </a:r>
          </a:p>
          <a:p>
            <a:pPr marL="0">
              <a:spcBef>
                <a:spcPts val="0"/>
              </a:spcBef>
              <a:buNone/>
            </a:pPr>
            <a:r>
              <a:rPr lang="en-US" altLang="zh-CN" sz="2400" dirty="0" smtClean="0"/>
              <a:t>3</a:t>
            </a:r>
            <a:r>
              <a:rPr lang="zh-CN" altLang="en-US" sz="2400" dirty="0" smtClean="0"/>
              <a:t>、存在</a:t>
            </a:r>
            <a:r>
              <a:rPr lang="en-US" altLang="zh-CN" sz="2400" dirty="0" smtClean="0"/>
              <a:t>HDR</a:t>
            </a:r>
            <a:r>
              <a:rPr lang="zh-CN" altLang="en-US" sz="2400" dirty="0" smtClean="0"/>
              <a:t>备机的情况。  通过分片可以实现主备数据并行同步，加快同步效率。</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lvl="0"/>
            <a:r>
              <a:rPr lang="en-US" altLang="zh-CN" dirty="0">
                <a:solidFill>
                  <a:srgbClr val="000000"/>
                </a:solidFill>
                <a:sym typeface="+mn-ea"/>
              </a:rPr>
              <a:t>FAQ</a:t>
            </a:r>
            <a:r>
              <a:rPr lang="zh-CN" altLang="en-US" dirty="0">
                <a:solidFill>
                  <a:srgbClr val="000000"/>
                </a:solidFill>
                <a:sym typeface="+mn-ea"/>
              </a:rPr>
              <a:t>二</a:t>
            </a:r>
          </a:p>
        </p:txBody>
      </p:sp>
      <p:sp>
        <p:nvSpPr>
          <p:cNvPr id="3" name="内容占位符 2"/>
          <p:cNvSpPr>
            <a:spLocks noGrp="1"/>
          </p:cNvSpPr>
          <p:nvPr>
            <p:ph type="body" sz="quarter" idx="10"/>
          </p:nvPr>
        </p:nvSpPr>
        <p:spPr/>
        <p:txBody>
          <a:bodyPr/>
          <a:lstStyle/>
          <a:p>
            <a:pPr>
              <a:buNone/>
            </a:pPr>
            <a:r>
              <a:rPr lang="zh-CN" altLang="en-US" sz="1800" b="1" dirty="0" smtClean="0"/>
              <a:t>问题</a:t>
            </a:r>
            <a:endParaRPr lang="en-US" altLang="zh-CN" sz="1800" b="1" dirty="0" smtClean="0"/>
          </a:p>
          <a:p>
            <a:pPr>
              <a:buNone/>
            </a:pPr>
            <a:r>
              <a:rPr lang="zh-CN" altLang="en-US" sz="1800" dirty="0" smtClean="0"/>
              <a:t>在对一个超大的分片表做</a:t>
            </a:r>
            <a:r>
              <a:rPr lang="en-US" altLang="zh-CN" sz="1800" dirty="0" smtClean="0"/>
              <a:t>detach</a:t>
            </a:r>
            <a:r>
              <a:rPr lang="zh-CN" altLang="en-US" sz="1800" dirty="0" smtClean="0"/>
              <a:t>的时候，需要耗费很长时间是什么原因</a:t>
            </a:r>
            <a:endParaRPr lang="en-US" altLang="zh-CN" sz="1800" dirty="0" smtClean="0"/>
          </a:p>
          <a:p>
            <a:pPr>
              <a:buNone/>
            </a:pPr>
            <a:endParaRPr lang="en-US" altLang="zh-CN" sz="1800" dirty="0" smtClean="0"/>
          </a:p>
          <a:p>
            <a:pPr>
              <a:buNone/>
            </a:pPr>
            <a:r>
              <a:rPr lang="zh-CN" altLang="en-US" sz="1800" b="1" dirty="0" smtClean="0"/>
              <a:t>回答</a:t>
            </a:r>
            <a:endParaRPr lang="en-US" altLang="zh-CN" sz="1800" b="1" dirty="0" smtClean="0"/>
          </a:p>
          <a:p>
            <a:pPr marL="0">
              <a:spcBef>
                <a:spcPts val="0"/>
              </a:spcBef>
              <a:buNone/>
            </a:pPr>
            <a:r>
              <a:rPr lang="zh-CN" altLang="en-US" sz="1800" dirty="0" smtClean="0"/>
              <a:t>如果要常对一个大表执行</a:t>
            </a:r>
            <a:r>
              <a:rPr lang="en-US" altLang="zh-CN" sz="1800" dirty="0" smtClean="0"/>
              <a:t>detach/</a:t>
            </a:r>
            <a:r>
              <a:rPr lang="en-US" altLang="zh-CN" sz="1800" dirty="0" err="1" smtClean="0"/>
              <a:t>atach</a:t>
            </a:r>
            <a:r>
              <a:rPr lang="zh-CN" altLang="en-US" sz="1800" dirty="0" smtClean="0"/>
              <a:t>的操作，表上的索引需要采用默认的方式存放，不需要单独指定</a:t>
            </a:r>
            <a:r>
              <a:rPr lang="en-US" altLang="zh-CN" sz="1800" dirty="0" err="1" smtClean="0"/>
              <a:t>dbspace</a:t>
            </a:r>
            <a:r>
              <a:rPr lang="zh-CN" altLang="en-US" sz="1800" dirty="0" smtClean="0"/>
              <a:t>存放。 如果单独指定</a:t>
            </a:r>
            <a:r>
              <a:rPr lang="en-US" altLang="zh-CN" sz="1800" dirty="0" err="1" smtClean="0"/>
              <a:t>dbspace</a:t>
            </a:r>
            <a:r>
              <a:rPr lang="zh-CN" altLang="en-US" sz="1800" dirty="0" smtClean="0"/>
              <a:t>存放索引，会严重降低</a:t>
            </a:r>
            <a:r>
              <a:rPr lang="en-US" altLang="zh-CN" sz="1800" dirty="0" smtClean="0"/>
              <a:t>detach</a:t>
            </a:r>
            <a:r>
              <a:rPr lang="zh-CN" altLang="en-US" sz="1800" dirty="0" smtClean="0"/>
              <a:t>的效率。</a:t>
            </a:r>
            <a:endParaRPr lang="en-US" altLang="zh-CN" sz="1800" dirty="0" smtClean="0"/>
          </a:p>
          <a:p>
            <a:pPr marL="0">
              <a:spcBef>
                <a:spcPts val="0"/>
              </a:spcBef>
              <a:buNone/>
            </a:pPr>
            <a:endParaRPr lang="en-US" altLang="zh-CN" sz="1800" dirty="0" smtClean="0"/>
          </a:p>
          <a:p>
            <a:pPr marL="0">
              <a:spcBef>
                <a:spcPts val="0"/>
              </a:spcBef>
              <a:buFont typeface="Wingdings" panose="05000000000000000000" charset="0"/>
              <a:buNone/>
            </a:pPr>
            <a:r>
              <a:rPr lang="en-US" altLang="zh-CN" sz="1800" dirty="0" smtClean="0">
                <a:latin typeface="微软雅黑" panose="020B0503020204020204" pitchFamily="34" charset="-122"/>
                <a:ea typeface="微软雅黑" panose="020B0503020204020204" pitchFamily="34" charset="-122"/>
                <a:cs typeface="微软雅黑" panose="020B0503020204020204" pitchFamily="34" charset="-122"/>
              </a:rPr>
              <a:t> CREATE TABLE tb1(a </a:t>
            </a:r>
            <a:r>
              <a:rPr lang="en-US" altLang="zh-CN" sz="1800" dirty="0" err="1" smtClean="0">
                <a:latin typeface="微软雅黑" panose="020B0503020204020204" pitchFamily="34" charset="-122"/>
                <a:ea typeface="微软雅黑" panose="020B0503020204020204" pitchFamily="34" charset="-122"/>
                <a:cs typeface="微软雅黑" panose="020B0503020204020204" pitchFamily="34" charset="-122"/>
              </a:rPr>
              <a:t>int</a:t>
            </a:r>
            <a:r>
              <a:rPr lang="en-US" altLang="zh-CN" sz="1800" dirty="0" smtClean="0">
                <a:latin typeface="微软雅黑" panose="020B0503020204020204" pitchFamily="34" charset="-122"/>
                <a:ea typeface="微软雅黑" panose="020B0503020204020204" pitchFamily="34" charset="-122"/>
                <a:cs typeface="微软雅黑" panose="020B0503020204020204" pitchFamily="34" charset="-122"/>
              </a:rPr>
              <a:t>)  FRAGMENT BY EXPRESSION</a:t>
            </a:r>
          </a:p>
          <a:p>
            <a:pPr marL="0">
              <a:spcBef>
                <a:spcPts val="0"/>
              </a:spcBef>
              <a:buFont typeface="Wingdings" panose="05000000000000000000" charset="0"/>
              <a:buNone/>
            </a:pPr>
            <a:r>
              <a:rPr lang="en-US" altLang="zh-CN" sz="1800" dirty="0" smtClean="0">
                <a:latin typeface="微软雅黑" panose="020B0503020204020204" pitchFamily="34" charset="-122"/>
                <a:ea typeface="微软雅黑" panose="020B0503020204020204" pitchFamily="34" charset="-122"/>
                <a:cs typeface="微软雅黑" panose="020B0503020204020204" pitchFamily="34" charset="-122"/>
              </a:rPr>
              <a:t>(a &gt;=0 AND a &lt; 5) IN db1,</a:t>
            </a:r>
          </a:p>
          <a:p>
            <a:pPr marL="0">
              <a:spcBef>
                <a:spcPts val="0"/>
              </a:spcBef>
              <a:buFont typeface="Wingdings" panose="05000000000000000000" charset="0"/>
              <a:buNone/>
            </a:pPr>
            <a:r>
              <a:rPr lang="en-US" altLang="zh-CN" sz="1800" dirty="0" smtClean="0">
                <a:latin typeface="微软雅黑" panose="020B0503020204020204" pitchFamily="34" charset="-122"/>
                <a:ea typeface="微软雅黑" panose="020B0503020204020204" pitchFamily="34" charset="-122"/>
                <a:cs typeface="微软雅黑" panose="020B0503020204020204" pitchFamily="34" charset="-122"/>
              </a:rPr>
              <a:t>(a &gt;=5 AND a &lt;10) IN db2,</a:t>
            </a:r>
          </a:p>
          <a:p>
            <a:pPr marL="0">
              <a:spcBef>
                <a:spcPts val="0"/>
              </a:spcBef>
              <a:buFont typeface="Wingdings" panose="05000000000000000000" charset="0"/>
              <a:buNone/>
            </a:pPr>
            <a:r>
              <a:rPr lang="en-US" altLang="zh-CN" sz="1800" dirty="0" smtClean="0">
                <a:latin typeface="微软雅黑" panose="020B0503020204020204" pitchFamily="34" charset="-122"/>
                <a:ea typeface="微软雅黑" panose="020B0503020204020204" pitchFamily="34" charset="-122"/>
                <a:cs typeface="微软雅黑" panose="020B0503020204020204" pitchFamily="34" charset="-122"/>
              </a:rPr>
              <a:t>(a &gt;=10 AND a &lt;15) IN db3;</a:t>
            </a:r>
          </a:p>
          <a:p>
            <a:pPr marL="0">
              <a:spcBef>
                <a:spcPts val="0"/>
              </a:spcBef>
              <a:buFont typeface="Wingdings" panose="05000000000000000000" charset="0"/>
              <a:buNone/>
            </a:pPr>
            <a:r>
              <a:rPr lang="en-US" altLang="zh-CN" sz="18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CREATE INDEX idx1 ON tb1(a</a:t>
            </a:r>
            <a:r>
              <a:rPr lang="en-US" altLang="zh-CN" sz="1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此处没有单独指定索引存放的</a:t>
            </a:r>
            <a:r>
              <a:rPr lang="en-US" altLang="zh-CN" sz="1800" b="1" dirty="0" err="1"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dbspace</a:t>
            </a:r>
            <a:r>
              <a:rPr lang="zh-CN" altLang="en-US" sz="1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，对</a:t>
            </a:r>
            <a:r>
              <a:rPr lang="en-US" altLang="zh-CN" sz="1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detach</a:t>
            </a:r>
            <a:r>
              <a:rPr lang="zh-CN" altLang="en-US" sz="1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有利。</a:t>
            </a:r>
            <a:endParaRPr lang="en-US" altLang="zh-CN" sz="1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a:spcBef>
                <a:spcPts val="0"/>
              </a:spcBef>
              <a:buFont typeface="Wingdings" panose="05000000000000000000" charset="0"/>
              <a:buNone/>
            </a:pPr>
            <a:r>
              <a:rPr lang="en-US" altLang="zh-CN" sz="1800" dirty="0" smtClean="0">
                <a:latin typeface="微软雅黑" panose="020B0503020204020204" pitchFamily="34" charset="-122"/>
                <a:ea typeface="微软雅黑" panose="020B0503020204020204" pitchFamily="34" charset="-122"/>
                <a:cs typeface="微软雅黑" panose="020B0503020204020204" pitchFamily="34" charset="-122"/>
              </a:rPr>
              <a:t>ALTER FRAGMENT ON TABLE tb1 DETACH db3 tb3;</a:t>
            </a:r>
            <a:endParaRPr lang="en-US" altLang="zh-CN" sz="1800" dirty="0" smtClean="0"/>
          </a:p>
          <a:p>
            <a:pPr marL="0">
              <a:spcBef>
                <a:spcPts val="0"/>
              </a:spcBef>
              <a:buNone/>
            </a:pPr>
            <a:endParaRPr lang="zh-CN" altLang="en-US" sz="18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Thank you !</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TotalTime>
  <Words>6174</Words>
  <Application>Microsoft Office PowerPoint</Application>
  <PresentationFormat>自定义</PresentationFormat>
  <Paragraphs>956</Paragraphs>
  <Slides>66</Slides>
  <Notes>44</Notes>
  <HiddenSlides>3</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79" baseType="lpstr">
      <vt:lpstr>Arial</vt:lpstr>
      <vt:lpstr>宋体</vt:lpstr>
      <vt:lpstr>Times New Roman</vt:lpstr>
      <vt:lpstr>Calibri</vt:lpstr>
      <vt:lpstr>微软雅黑</vt:lpstr>
      <vt:lpstr>华文楷体</vt:lpstr>
      <vt:lpstr>Calibri Light</vt:lpstr>
      <vt:lpstr>Verdana</vt:lpstr>
      <vt:lpstr>Webdings</vt:lpstr>
      <vt:lpstr>Wingdings</vt:lpstr>
      <vt:lpstr>Corbel</vt:lpstr>
      <vt:lpstr>Office 主题</vt:lpstr>
      <vt:lpstr>位图图像</vt:lpstr>
      <vt:lpstr>GBase 8s 分片与索引策略 </vt:lpstr>
      <vt:lpstr>目标</vt:lpstr>
      <vt:lpstr>目录</vt:lpstr>
      <vt:lpstr>数据库表分片</vt:lpstr>
      <vt:lpstr>数据库表分片 </vt:lpstr>
      <vt:lpstr>为什么分片</vt:lpstr>
      <vt:lpstr>分片, PDQ, I/O</vt:lpstr>
      <vt:lpstr>分片, PDQ, I/O(二）</vt:lpstr>
      <vt:lpstr>分片方式</vt:lpstr>
      <vt:lpstr>表达式分片（Expression-Based） </vt:lpstr>
      <vt:lpstr>表达式分片– 基于多个列</vt:lpstr>
      <vt:lpstr>表达式分片– 任意表达式</vt:lpstr>
      <vt:lpstr>表达式分片– MOD in expression</vt:lpstr>
      <vt:lpstr>表达式分片- remainder</vt:lpstr>
      <vt:lpstr>轮询法分片(Round-Robin) </vt:lpstr>
      <vt:lpstr>列表式(List)分片策略</vt:lpstr>
      <vt:lpstr>GBase 8s 间隔分片</vt:lpstr>
      <vt:lpstr>间隔分片策略</vt:lpstr>
      <vt:lpstr>GBase 8s间隔分片策略—范例</vt:lpstr>
      <vt:lpstr>GBase 8s间隔分片策略—范例</vt:lpstr>
      <vt:lpstr>在一个dbspace中创建多个分片</vt:lpstr>
      <vt:lpstr>分片(Fragmentation) 和区段（Extents）</vt:lpstr>
      <vt:lpstr>目录</vt:lpstr>
      <vt:lpstr>索引分片</vt:lpstr>
      <vt:lpstr>索引分片举例— Attached</vt:lpstr>
      <vt:lpstr>索引分片举例— Attached</vt:lpstr>
      <vt:lpstr>索引分片- example</vt:lpstr>
      <vt:lpstr>索引分片- example</vt:lpstr>
      <vt:lpstr>索引分片- example</vt:lpstr>
      <vt:lpstr>索引分片-分离 (detach)范例</vt:lpstr>
      <vt:lpstr>索引分片-分离 (detach)范例</vt:lpstr>
      <vt:lpstr>目录</vt:lpstr>
      <vt:lpstr>分片管理</vt:lpstr>
      <vt:lpstr>分片表attach &amp; detach操作</vt:lpstr>
      <vt:lpstr>Alter fragments -表组合</vt:lpstr>
      <vt:lpstr>Alter fragments – ATTACH</vt:lpstr>
      <vt:lpstr>提高attach的性能—举例</vt:lpstr>
      <vt:lpstr>提高附加(Attach)的性能—举例</vt:lpstr>
      <vt:lpstr>提高attach的性能—举例</vt:lpstr>
      <vt:lpstr>Alter fragment - 表分片(DETACH)</vt:lpstr>
      <vt:lpstr>提高detach的性能—举例</vt:lpstr>
      <vt:lpstr>提高detach的性能—举例</vt:lpstr>
      <vt:lpstr>目录</vt:lpstr>
      <vt:lpstr>分片的好处</vt:lpstr>
      <vt:lpstr>分片的目的</vt:lpstr>
      <vt:lpstr>分片忽略</vt:lpstr>
      <vt:lpstr>分片忽略- example </vt:lpstr>
      <vt:lpstr>分片忽略– 执行计划</vt:lpstr>
      <vt:lpstr>分片的目标 : 分片忽略(Fragment Elimination)</vt:lpstr>
      <vt:lpstr>表达式分片的原则</vt:lpstr>
      <vt:lpstr>分片表与统计信息更新(update statistics)</vt:lpstr>
      <vt:lpstr>关于ROWIDS</vt:lpstr>
      <vt:lpstr>创建分片的临时表</vt:lpstr>
      <vt:lpstr>跳过不可访问的分片</vt:lpstr>
      <vt:lpstr>压缩和分片</vt:lpstr>
      <vt:lpstr>压缩和分片</vt:lpstr>
      <vt:lpstr>分片表实例—创建、管理、分配</vt:lpstr>
      <vt:lpstr>分片表实例—创建、管理、分配 </vt:lpstr>
      <vt:lpstr>分片表实例—创建、管理、分配</vt:lpstr>
      <vt:lpstr>分片表实例—创建、管理、分配</vt:lpstr>
      <vt:lpstr>分片表实例—创建、管理、分配</vt:lpstr>
      <vt:lpstr>分片表--EXAMPLE </vt:lpstr>
      <vt:lpstr>目录</vt:lpstr>
      <vt:lpstr>FAQ一</vt:lpstr>
      <vt:lpstr>FAQ二</vt:lpstr>
      <vt:lpstr>Thank you !</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3</cp:lastModifiedBy>
  <dcterms:modified xsi:type="dcterms:W3CDTF">2019-01-08T05:06:51Z</dcterms:modified>
  <cp:revision>995</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2052-10.1.0.6930</vt:lpwstr>
  </property>
</Properties>
</file>