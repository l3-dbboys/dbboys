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custom-properties+xml" PartName="/docProps/custom.xml"/>
  <Override ContentType="application/vnd.openxmlformats-officedocument.presentationml.handoutMaster+xml" PartName="/ppt/handoutMasters/handoutMaster1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Relationship Id="rId5" Target="docProps/custom.xml" Type="http://schemas.openxmlformats.org/officeDocument/2006/relationships/custom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embedTrueTypeFonts="1" saveSubsetFonts="1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400" r:id="rId2"/>
    <p:sldId id="415" r:id="rId3"/>
    <p:sldId id="401" r:id="rId4"/>
    <p:sldId id="402" r:id="rId5"/>
    <p:sldId id="416" r:id="rId6"/>
    <p:sldId id="418" r:id="rId7"/>
    <p:sldId id="417" r:id="rId8"/>
    <p:sldId id="419" r:id="rId9"/>
    <p:sldId id="414" r:id="rId10"/>
    <p:sldId id="420" r:id="rId11"/>
    <p:sldId id="421" r:id="rId12"/>
    <p:sldId id="407" r:id="rId13"/>
  </p:sldIdLst>
  <p:sldSz cx="12192000" cy="6858000"/>
  <p:notesSz cx="6858000" cy="9144000"/>
  <p:embeddedFontLst>
    <p:embeddedFont>
      <p:font typeface="Calibri" panose="020F0502020204030204" pitchFamily="34" charset="0"/>
      <p:regular r:id="rId16"/>
      <p:bold r:id="rId17"/>
      <p:italic r:id="rId18"/>
      <p:boldItalic r:id="rId19"/>
    </p:embeddedFont>
    <p:embeddedFont>
      <p:font typeface="Calibri Light" panose="020F0302020204030204" pitchFamily="34" charset="0"/>
      <p:regular r:id="rId20"/>
      <p:italic r:id="rId21"/>
    </p:embeddedFont>
    <p:embeddedFont>
      <p:font typeface="微软雅黑" panose="020B0503020204020204" pitchFamily="34" charset="-122"/>
      <p:regular r:id="rId22"/>
      <p:bold r:id="rId23"/>
    </p:embeddedFont>
  </p:embeddedFont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94">
          <p15:clr>
            <a:srgbClr val="A4A3A4"/>
          </p15:clr>
        </p15:guide>
        <p15:guide id="2" orient="horz" pos="4065">
          <p15:clr>
            <a:srgbClr val="A4A3A4"/>
          </p15:clr>
        </p15:guide>
        <p15:guide id="3" pos="325">
          <p15:clr>
            <a:srgbClr val="A4A3A4"/>
          </p15:clr>
        </p15:guide>
        <p15:guide id="4" pos="7106">
          <p15:clr>
            <a:srgbClr val="A4A3A4"/>
          </p15:clr>
        </p15:guide>
        <p15:guide id="5" pos="189">
          <p15:clr>
            <a:srgbClr val="A4A3A4"/>
          </p15:clr>
        </p15:guide>
        <p15:guide id="6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A5656"/>
    <a:srgbClr val="B5B5B5"/>
    <a:srgbClr val="DE1208"/>
    <a:srgbClr val="85898F"/>
    <a:srgbClr val="DADEE6"/>
    <a:srgbClr val="494545"/>
    <a:srgbClr val="5A6783"/>
    <a:srgbClr val="F15B67"/>
    <a:srgbClr val="A1A1A1"/>
    <a:srgbClr val="3D485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16DA210-FB5B-4158-B5E0-FEB733F419BA}" styleName="浅色样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832" autoAdjust="0"/>
    <p:restoredTop sz="99878" autoAdjust="0"/>
  </p:normalViewPr>
  <p:slideViewPr>
    <p:cSldViewPr snapToGrid="0">
      <p:cViewPr varScale="1">
        <p:scale>
          <a:sx n="60" d="100"/>
          <a:sy n="60" d="100"/>
        </p:scale>
        <p:origin x="884" y="28"/>
      </p:cViewPr>
      <p:guideLst>
        <p:guide orient="horz" pos="1094"/>
        <p:guide orient="horz" pos="4065"/>
        <p:guide pos="325"/>
        <p:guide pos="7106"/>
        <p:guide pos="189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7" d="100"/>
        <a:sy n="87" d="100"/>
      </p:scale>
      <p:origin x="0" y="0"/>
    </p:cViewPr>
  </p:sorterViewPr>
  <p:gridSpacing cx="72008" cy="72008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9.xml" Type="http://schemas.openxmlformats.org/officeDocument/2006/relationships/slide"/><Relationship Id="rId11" Target="slides/slide10.xml" Type="http://schemas.openxmlformats.org/officeDocument/2006/relationships/slide"/><Relationship Id="rId12" Target="slides/slide11.xml" Type="http://schemas.openxmlformats.org/officeDocument/2006/relationships/slide"/><Relationship Id="rId13" Target="slides/slide12.xml" Type="http://schemas.openxmlformats.org/officeDocument/2006/relationships/slide"/><Relationship Id="rId14" Target="notesMasters/notesMaster1.xml" Type="http://schemas.openxmlformats.org/officeDocument/2006/relationships/notesMaster"/><Relationship Id="rId15" Target="handoutMasters/handoutMaster1.xml" Type="http://schemas.openxmlformats.org/officeDocument/2006/relationships/handoutMaster"/><Relationship Id="rId16" Target="fonts/font1.fntdata" Type="http://schemas.openxmlformats.org/officeDocument/2006/relationships/font"/><Relationship Id="rId17" Target="fonts/font2.fntdata" Type="http://schemas.openxmlformats.org/officeDocument/2006/relationships/font"/><Relationship Id="rId18" Target="fonts/font3.fntdata" Type="http://schemas.openxmlformats.org/officeDocument/2006/relationships/font"/><Relationship Id="rId19" Target="fonts/font4.fntdata" Type="http://schemas.openxmlformats.org/officeDocument/2006/relationships/font"/><Relationship Id="rId2" Target="slides/slide1.xml" Type="http://schemas.openxmlformats.org/officeDocument/2006/relationships/slide"/><Relationship Id="rId20" Target="fonts/font5.fntdata" Type="http://schemas.openxmlformats.org/officeDocument/2006/relationships/font"/><Relationship Id="rId21" Target="fonts/font6.fntdata" Type="http://schemas.openxmlformats.org/officeDocument/2006/relationships/font"/><Relationship Id="rId22" Target="fonts/font7.fntdata" Type="http://schemas.openxmlformats.org/officeDocument/2006/relationships/font"/><Relationship Id="rId23" Target="fonts/font8.fntdata" Type="http://schemas.openxmlformats.org/officeDocument/2006/relationships/font"/><Relationship Id="rId24" Target="presProps.xml" Type="http://schemas.openxmlformats.org/officeDocument/2006/relationships/presProps"/><Relationship Id="rId25" Target="viewProps.xml" Type="http://schemas.openxmlformats.org/officeDocument/2006/relationships/viewProps"/><Relationship Id="rId26" Target="theme/theme1.xml" Type="http://schemas.openxmlformats.org/officeDocument/2006/relationships/theme"/><Relationship Id="rId27" Target="tableStyles.xml" Type="http://schemas.openxmlformats.org/officeDocument/2006/relationships/tableStyles"/><Relationship Id="rId3" Target="slides/slide2.xml" Type="http://schemas.openxmlformats.org/officeDocument/2006/relationships/slide"/><Relationship Id="rId4" Target="slides/slide3.xml" Type="http://schemas.openxmlformats.org/officeDocument/2006/relationships/slide"/><Relationship Id="rId5" Target="slides/slide4.xml" Type="http://schemas.openxmlformats.org/officeDocument/2006/relationships/slide"/><Relationship Id="rId6" Target="slides/slide5.xml" Type="http://schemas.openxmlformats.org/officeDocument/2006/relationships/slide"/><Relationship Id="rId7" Target="slides/slide6.xml" Type="http://schemas.openxmlformats.org/officeDocument/2006/relationships/slide"/><Relationship Id="rId8" Target="slides/slide7.xml" Type="http://schemas.openxmlformats.org/officeDocument/2006/relationships/slide"/><Relationship Id="rId9" Target="slides/slide8.xml" Type="http://schemas.openxmlformats.org/officeDocument/2006/relationships/slide"/></Relationships>
</file>

<file path=ppt/handoutMasters/_rels/handoutMaster1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pPr/>
              <a:t>2020/1/3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ea typeface="+mn-ea"/>
              </a:defRPr>
            </a:lvl1pPr>
          </a:lstStyle>
          <a:p>
            <a:pPr>
              <a:defRPr/>
            </a:pPr>
            <a:fld id="{F6622AFC-370D-4D83-BC2C-E3B279A36771}" type="datetimeFigureOut">
              <a:rPr lang="zh-CN" altLang="en-US"/>
              <a:pPr>
                <a:defRPr/>
              </a:pPr>
              <a:t>2020/1/3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ea typeface="+mn-ea"/>
              </a:defRPr>
            </a:lvl1pPr>
          </a:lstStyle>
          <a:p>
            <a:pPr>
              <a:defRPr/>
            </a:pPr>
            <a:fld id="{4B37621B-8712-439F-AD62-D011FD133EC3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B37621B-8712-439F-AD62-D011FD133EC3}" type="slidenum">
              <a:rPr lang="zh-CN" altLang="en-US" smtClean="0"/>
              <a:pPr>
                <a:defRPr/>
              </a:pPr>
              <a:t>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B37621B-8712-439F-AD62-D011FD133EC3}" type="slidenum">
              <a:rPr lang="zh-CN" altLang="en-US" smtClean="0"/>
              <a:pPr>
                <a:defRPr/>
              </a:pPr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B37621B-8712-439F-AD62-D011FD133EC3}" type="slidenum">
              <a:rPr lang="zh-CN" altLang="en-US" smtClean="0"/>
              <a:pPr>
                <a:defRPr/>
              </a:pPr>
              <a:t>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B37621B-8712-439F-AD62-D011FD133EC3}" type="slidenum">
              <a:rPr lang="zh-CN" altLang="en-US" smtClean="0"/>
              <a:pPr>
                <a:defRPr/>
              </a:pPr>
              <a:t>7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Relationship Id="rId2" Target="../media/image2.jpeg" Type="http://schemas.openxmlformats.org/officeDocument/2006/relationships/image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Relationship Id="rId2" Target="../media/image3.png" Type="http://schemas.openxmlformats.org/officeDocument/2006/relationships/image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Relationship Id="rId2" Target="../media/image3.png" Type="http://schemas.openxmlformats.org/officeDocument/2006/relationships/image"/><Relationship Id="rId3" Target="../media/image4.png" Type="http://schemas.openxmlformats.org/officeDocument/2006/relationships/image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Relationship Id="rId2" Target="../media/image3.png" Type="http://schemas.openxmlformats.org/officeDocument/2006/relationships/image"/><Relationship Id="rId3" Target="../media/image4.png" Type="http://schemas.openxmlformats.org/officeDocument/2006/relationships/image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Relationship Id="rId2" Target="../media/image5.jpeg" Type="http://schemas.openxmlformats.org/officeDocument/2006/relationships/image"/><Relationship Id="rId3" Target="../media/image6.png" Type="http://schemas.openxmlformats.org/officeDocument/2006/relationships/image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-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7"/>
          <p:cNvSpPr/>
          <p:nvPr userDrawn="1"/>
        </p:nvSpPr>
        <p:spPr>
          <a:xfrm>
            <a:off x="0" y="6554788"/>
            <a:ext cx="12192000" cy="303212"/>
          </a:xfrm>
          <a:prstGeom prst="rect">
            <a:avLst/>
          </a:prstGeom>
          <a:gradFill>
            <a:gsLst>
              <a:gs pos="0">
                <a:srgbClr val="404040"/>
              </a:gs>
              <a:gs pos="94000">
                <a:srgbClr val="0D0D0D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4" name="任意多边形 8"/>
          <p:cNvSpPr/>
          <p:nvPr userDrawn="1"/>
        </p:nvSpPr>
        <p:spPr>
          <a:xfrm>
            <a:off x="0" y="6465888"/>
            <a:ext cx="2305050" cy="392112"/>
          </a:xfrm>
          <a:custGeom>
            <a:avLst/>
            <a:gdLst>
              <a:gd name="connsiteX0" fmla="*/ 0 w 2305316"/>
              <a:gd name="connsiteY0" fmla="*/ 0 h 392806"/>
              <a:gd name="connsiteX1" fmla="*/ 2305316 w 2305316"/>
              <a:gd name="connsiteY1" fmla="*/ 0 h 392806"/>
              <a:gd name="connsiteX2" fmla="*/ 2163649 w 2305316"/>
              <a:gd name="connsiteY2" fmla="*/ 392806 h 392806"/>
              <a:gd name="connsiteX3" fmla="*/ 0 w 2305316"/>
              <a:gd name="connsiteY3" fmla="*/ 392806 h 392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05316" h="392806">
                <a:moveTo>
                  <a:pt x="0" y="0"/>
                </a:moveTo>
                <a:lnTo>
                  <a:pt x="2305316" y="0"/>
                </a:lnTo>
                <a:lnTo>
                  <a:pt x="2163649" y="392806"/>
                </a:lnTo>
                <a:lnTo>
                  <a:pt x="0" y="392806"/>
                </a:lnTo>
                <a:close/>
              </a:path>
            </a:pathLst>
          </a:custGeom>
          <a:gradFill flip="none" rotWithShape="1">
            <a:gsLst>
              <a:gs pos="0">
                <a:srgbClr val="F5715B"/>
              </a:gs>
              <a:gs pos="71000">
                <a:srgbClr val="B82E24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1787C887-E0EA-48E6-9009-742CC8F3D7AC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  <p:pic>
        <p:nvPicPr>
          <p:cNvPr id="8" name="图片 7" descr="01-封面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2"/>
            <a:ext cx="12192000" cy="6857998"/>
          </a:xfrm>
          <a:prstGeom prst="rect">
            <a:avLst/>
          </a:prstGeom>
        </p:spPr>
      </p:pic>
      <p:sp>
        <p:nvSpPr>
          <p:cNvPr id="10" name="副标题 10"/>
          <p:cNvSpPr txBox="1"/>
          <p:nvPr userDrawn="1"/>
        </p:nvSpPr>
        <p:spPr bwMode="auto">
          <a:xfrm>
            <a:off x="9240716" y="6017112"/>
            <a:ext cx="2632716" cy="24295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/>
          <a:lstStyle/>
          <a:p>
            <a:pPr algn="r" eaLnBrk="0" hangingPunct="0">
              <a:buClr>
                <a:schemeClr val="accent1"/>
              </a:buClr>
              <a:buFontTx/>
              <a:buNone/>
              <a:defRPr/>
            </a:pPr>
            <a:r>
              <a:rPr lang="zh-CN" altLang="en-US" sz="1380" kern="0" spc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南大通用数据技术股份有限公司</a:t>
            </a:r>
          </a:p>
        </p:txBody>
      </p:sp>
      <p:sp>
        <p:nvSpPr>
          <p:cNvPr id="11" name="TextBox 9"/>
          <p:cNvSpPr>
            <a:spLocks noChangeArrowheads="1"/>
          </p:cNvSpPr>
          <p:nvPr userDrawn="1"/>
        </p:nvSpPr>
        <p:spPr bwMode="auto">
          <a:xfrm>
            <a:off x="9817548" y="6424733"/>
            <a:ext cx="2148350" cy="27699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r">
              <a:buFontTx/>
              <a:buNone/>
            </a:pPr>
            <a:r>
              <a:rPr lang="zh-CN" altLang="zh-CN" sz="1200" spc="100" dirty="0">
                <a:solidFill>
                  <a:srgbClr val="89898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Verdana" panose="020B0604030504040204" pitchFamily="34" charset="0"/>
              </a:rPr>
              <a:t>版权所有© GBASE 201</a:t>
            </a:r>
            <a:r>
              <a:rPr lang="en-US" altLang="zh-CN" sz="1200" spc="100" dirty="0">
                <a:solidFill>
                  <a:srgbClr val="89898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Verdana" panose="020B0604030504040204" pitchFamily="34" charset="0"/>
              </a:rPr>
              <a:t>7</a:t>
            </a:r>
            <a:endParaRPr lang="zh-CN" altLang="zh-CN" sz="1200" spc="1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Verdana" panose="020B0604030504040204" pitchFamily="34" charset="0"/>
            </a:endParaRPr>
          </a:p>
        </p:txBody>
      </p:sp>
      <p:sp>
        <p:nvSpPr>
          <p:cNvPr id="12" name="文本框 1"/>
          <p:cNvSpPr txBox="1">
            <a:spLocks noChangeArrowheads="1"/>
          </p:cNvSpPr>
          <p:nvPr userDrawn="1"/>
        </p:nvSpPr>
        <p:spPr bwMode="auto">
          <a:xfrm>
            <a:off x="227398" y="2703406"/>
            <a:ext cx="3185487" cy="30777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zh-CN" altLang="en-US" sz="1400" b="1" spc="400" baseline="0" dirty="0">
                <a:solidFill>
                  <a:srgbClr val="49454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让中国用上世界级国产数据库</a:t>
            </a:r>
          </a:p>
        </p:txBody>
      </p:sp>
      <p:sp>
        <p:nvSpPr>
          <p:cNvPr id="19" name="标题 1"/>
          <p:cNvSpPr>
            <a:spLocks noGrp="1"/>
          </p:cNvSpPr>
          <p:nvPr>
            <p:ph type="title" hasCustomPrompt="1"/>
          </p:nvPr>
        </p:nvSpPr>
        <p:spPr>
          <a:xfrm>
            <a:off x="5506720" y="2395515"/>
            <a:ext cx="6461760" cy="569447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algn="ctr">
              <a:lnSpc>
                <a:spcPct val="100000"/>
              </a:lnSpc>
              <a:defRPr sz="3200" b="1" spc="100" baseline="0">
                <a:solidFill>
                  <a:srgbClr val="494545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南大通用数据技术股份有限公司</a:t>
            </a:r>
          </a:p>
        </p:txBody>
      </p:sp>
      <p:sp>
        <p:nvSpPr>
          <p:cNvPr id="13" name="副标题 10"/>
          <p:cNvSpPr txBox="1"/>
          <p:nvPr userDrawn="1"/>
        </p:nvSpPr>
        <p:spPr bwMode="auto">
          <a:xfrm>
            <a:off x="8361486" y="6246160"/>
            <a:ext cx="3511948" cy="30405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/>
          <a:lstStyle/>
          <a:p>
            <a:pPr algn="r" eaLnBrk="0" hangingPunct="0">
              <a:buClr>
                <a:schemeClr val="accent1"/>
              </a:buClr>
              <a:buFontTx/>
              <a:buNone/>
              <a:defRPr/>
            </a:pPr>
            <a:r>
              <a:rPr lang="en-US" altLang="zh-CN" sz="1300" kern="0" spc="0" baseline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General Data Technology </a:t>
            </a:r>
            <a:r>
              <a:rPr lang="en-US" altLang="zh-CN" sz="1300" kern="0" spc="0" baseline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Co.,Ltd</a:t>
            </a:r>
            <a:endParaRPr lang="zh-CN" altLang="en-US" sz="1300" kern="0" spc="0" baseline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-Title&amp;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带Rlogo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221943" y="6504180"/>
            <a:ext cx="1695635" cy="302606"/>
          </a:xfrm>
          <a:prstGeom prst="rect">
            <a:avLst/>
          </a:prstGeom>
        </p:spPr>
      </p:pic>
      <p:sp>
        <p:nvSpPr>
          <p:cNvPr id="3" name="TextBox 2"/>
          <p:cNvSpPr txBox="1"/>
          <p:nvPr userDrawn="1"/>
        </p:nvSpPr>
        <p:spPr>
          <a:xfrm>
            <a:off x="8525573" y="6585145"/>
            <a:ext cx="364575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spc="1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400-013-9696 / www.gbase.cn / info@gbase.cn</a:t>
            </a:r>
            <a:endParaRPr lang="zh-CN" altLang="en-US" sz="1000" spc="1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" name="直接连接符 5"/>
          <p:cNvCxnSpPr/>
          <p:nvPr userDrawn="1"/>
        </p:nvCxnSpPr>
        <p:spPr>
          <a:xfrm>
            <a:off x="0" y="1019175"/>
            <a:ext cx="12192000" cy="0"/>
          </a:xfrm>
          <a:prstGeom prst="line">
            <a:avLst/>
          </a:prstGeom>
          <a:ln>
            <a:solidFill>
              <a:srgbClr val="B82E2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标题 1"/>
          <p:cNvSpPr>
            <a:spLocks noGrp="1"/>
          </p:cNvSpPr>
          <p:nvPr>
            <p:ph type="title" hasCustomPrompt="1"/>
          </p:nvPr>
        </p:nvSpPr>
        <p:spPr>
          <a:xfrm>
            <a:off x="275491" y="538406"/>
            <a:ext cx="11207263" cy="481500"/>
          </a:xfrm>
          <a:prstGeom prst="rect">
            <a:avLst/>
          </a:prstGeom>
        </p:spPr>
        <p:txBody>
          <a:bodyPr/>
          <a:lstStyle>
            <a:lvl1pPr>
              <a:defRPr sz="3000" b="1" spc="100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标题文字</a:t>
            </a:r>
          </a:p>
        </p:txBody>
      </p:sp>
      <p:sp>
        <p:nvSpPr>
          <p:cNvPr id="16" name="灯片编号占位符 9"/>
          <p:cNvSpPr>
            <a:spLocks noGrp="1"/>
          </p:cNvSpPr>
          <p:nvPr>
            <p:ph type="sldNum" sz="quarter" idx="11"/>
          </p:nvPr>
        </p:nvSpPr>
        <p:spPr>
          <a:xfrm>
            <a:off x="2312375" y="6539402"/>
            <a:ext cx="9144000" cy="274638"/>
          </a:xfrm>
          <a:prstGeom prst="rect">
            <a:avLst/>
          </a:prstGeom>
        </p:spPr>
        <p:txBody>
          <a:bodyPr/>
          <a:lstStyle>
            <a:lvl1pPr>
              <a:defRPr kumimoji="0" sz="1600" spc="200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F7A5AB6F-CD07-488A-A1B3-7EEE4CCFC41B}" type="slidenum">
              <a:rPr lang="zh-CN" altLang="en-US" smtClean="0"/>
              <a:pPr>
                <a:defRPr/>
              </a:pPr>
              <a:t>‹#›</a:t>
            </a:fld>
            <a:r>
              <a:rPr lang="en-US" altLang="zh-CN" dirty="0"/>
              <a:t>/10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3-Title&amp;段落文本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带Rlogo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221943" y="6504180"/>
            <a:ext cx="1695635" cy="302606"/>
          </a:xfrm>
          <a:prstGeom prst="rect">
            <a:avLst/>
          </a:prstGeom>
        </p:spPr>
      </p:pic>
      <p:sp>
        <p:nvSpPr>
          <p:cNvPr id="3" name="TextBox 2"/>
          <p:cNvSpPr txBox="1"/>
          <p:nvPr userDrawn="1"/>
        </p:nvSpPr>
        <p:spPr>
          <a:xfrm>
            <a:off x="8525573" y="6585145"/>
            <a:ext cx="364575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spc="1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400-013-9696 / www.gbase.cn / info@gbase.cn</a:t>
            </a:r>
            <a:endParaRPr lang="zh-CN" altLang="en-US" sz="1000" spc="1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" name="直接连接符 5"/>
          <p:cNvCxnSpPr/>
          <p:nvPr userDrawn="1"/>
        </p:nvCxnSpPr>
        <p:spPr>
          <a:xfrm>
            <a:off x="0" y="1019175"/>
            <a:ext cx="12192000" cy="0"/>
          </a:xfrm>
          <a:prstGeom prst="line">
            <a:avLst/>
          </a:prstGeom>
          <a:ln>
            <a:solidFill>
              <a:srgbClr val="B82E2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标题 1"/>
          <p:cNvSpPr>
            <a:spLocks noGrp="1"/>
          </p:cNvSpPr>
          <p:nvPr>
            <p:ph type="title" hasCustomPrompt="1"/>
          </p:nvPr>
        </p:nvSpPr>
        <p:spPr>
          <a:xfrm>
            <a:off x="275491" y="538406"/>
            <a:ext cx="11207263" cy="481500"/>
          </a:xfrm>
          <a:prstGeom prst="rect">
            <a:avLst/>
          </a:prstGeom>
        </p:spPr>
        <p:txBody>
          <a:bodyPr/>
          <a:lstStyle>
            <a:lvl1pPr>
              <a:defRPr sz="3000" b="1" spc="100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标题文字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0" hasCustomPrompt="1"/>
          </p:nvPr>
        </p:nvSpPr>
        <p:spPr>
          <a:xfrm>
            <a:off x="755650" y="1248508"/>
            <a:ext cx="10718800" cy="4888767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buFontTx/>
              <a:buBlip>
                <a:blip r:embed="rId3"/>
              </a:buBlip>
              <a:defRPr sz="2400" spc="100" baseline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lnSpc>
                <a:spcPct val="100000"/>
              </a:lnSpc>
              <a:defRPr sz="1800" spc="100" baseline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</a:lstStyle>
          <a:p>
            <a:pPr lvl="0"/>
            <a:r>
              <a:rPr lang="zh-CN" altLang="en-US" dirty="0"/>
              <a:t>第一级</a:t>
            </a:r>
          </a:p>
          <a:p>
            <a:pPr lvl="1"/>
            <a:r>
              <a:rPr lang="zh-CN" altLang="en-US" dirty="0"/>
              <a:t>第二级</a:t>
            </a:r>
          </a:p>
        </p:txBody>
      </p:sp>
      <p:sp>
        <p:nvSpPr>
          <p:cNvPr id="13" name="灯片编号占位符 9"/>
          <p:cNvSpPr>
            <a:spLocks noGrp="1"/>
          </p:cNvSpPr>
          <p:nvPr>
            <p:ph type="sldNum" sz="quarter" idx="11"/>
          </p:nvPr>
        </p:nvSpPr>
        <p:spPr>
          <a:xfrm>
            <a:off x="2312375" y="6539402"/>
            <a:ext cx="9144000" cy="274638"/>
          </a:xfrm>
          <a:prstGeom prst="rect">
            <a:avLst/>
          </a:prstGeom>
        </p:spPr>
        <p:txBody>
          <a:bodyPr/>
          <a:lstStyle>
            <a:lvl1pPr>
              <a:defRPr kumimoji="0" sz="1600" spc="200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F7A5AB6F-CD07-488A-A1B3-7EEE4CCFC41B}" type="slidenum">
              <a:rPr lang="zh-CN" altLang="en-US" smtClean="0"/>
              <a:pPr>
                <a:defRPr/>
              </a:pPr>
              <a:t>‹#›</a:t>
            </a:fld>
            <a:r>
              <a:rPr lang="en-US" altLang="zh-CN" dirty="0"/>
              <a:t>/10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4-Title&amp;文字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 descr="带Rlogo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221943" y="6504180"/>
            <a:ext cx="1695635" cy="302606"/>
          </a:xfrm>
          <a:prstGeom prst="rect">
            <a:avLst/>
          </a:prstGeom>
        </p:spPr>
      </p:pic>
      <p:sp>
        <p:nvSpPr>
          <p:cNvPr id="20" name="TextBox 19"/>
          <p:cNvSpPr txBox="1"/>
          <p:nvPr userDrawn="1"/>
        </p:nvSpPr>
        <p:spPr>
          <a:xfrm>
            <a:off x="8525573" y="6585145"/>
            <a:ext cx="364575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spc="1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400-013-9696 / www.gbase.cn / info@gbase.cn</a:t>
            </a:r>
            <a:endParaRPr lang="zh-CN" altLang="en-US" sz="1000" spc="1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0" y="1019175"/>
            <a:ext cx="12192000" cy="0"/>
          </a:xfrm>
          <a:prstGeom prst="line">
            <a:avLst/>
          </a:prstGeom>
          <a:ln>
            <a:solidFill>
              <a:srgbClr val="B82E2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标题 1"/>
          <p:cNvSpPr>
            <a:spLocks noGrp="1"/>
          </p:cNvSpPr>
          <p:nvPr>
            <p:ph type="title" hasCustomPrompt="1"/>
          </p:nvPr>
        </p:nvSpPr>
        <p:spPr>
          <a:xfrm>
            <a:off x="275491" y="538406"/>
            <a:ext cx="11207263" cy="481500"/>
          </a:xfrm>
          <a:prstGeom prst="rect">
            <a:avLst/>
          </a:prstGeom>
        </p:spPr>
        <p:txBody>
          <a:bodyPr/>
          <a:lstStyle>
            <a:lvl1pPr>
              <a:defRPr sz="3000" b="1" spc="100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标题文字</a:t>
            </a:r>
          </a:p>
        </p:txBody>
      </p:sp>
      <p:sp>
        <p:nvSpPr>
          <p:cNvPr id="23" name="文本占位符 11"/>
          <p:cNvSpPr>
            <a:spLocks noGrp="1"/>
          </p:cNvSpPr>
          <p:nvPr>
            <p:ph type="body" sz="quarter" idx="10" hasCustomPrompt="1"/>
          </p:nvPr>
        </p:nvSpPr>
        <p:spPr>
          <a:xfrm>
            <a:off x="6177280" y="1248508"/>
            <a:ext cx="5297170" cy="4888767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buFontTx/>
              <a:buBlip>
                <a:blip r:embed="rId3"/>
              </a:buBlip>
              <a:defRPr sz="2400" spc="100" baseline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lnSpc>
                <a:spcPct val="100000"/>
              </a:lnSpc>
              <a:defRPr sz="1800" spc="100" baseline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</a:lstStyle>
          <a:p>
            <a:pPr lvl="0"/>
            <a:r>
              <a:rPr lang="zh-CN" altLang="en-US" dirty="0"/>
              <a:t>第一级</a:t>
            </a:r>
          </a:p>
          <a:p>
            <a:pPr lvl="1"/>
            <a:r>
              <a:rPr lang="zh-CN" altLang="en-US" dirty="0"/>
              <a:t>第二级</a:t>
            </a:r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1"/>
          </p:nvPr>
        </p:nvSpPr>
        <p:spPr>
          <a:xfrm>
            <a:off x="2312375" y="6539402"/>
            <a:ext cx="9144000" cy="274638"/>
          </a:xfrm>
          <a:prstGeom prst="rect">
            <a:avLst/>
          </a:prstGeom>
        </p:spPr>
        <p:txBody>
          <a:bodyPr/>
          <a:lstStyle>
            <a:lvl1pPr>
              <a:defRPr kumimoji="0" sz="1600" spc="200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F7A5AB6F-CD07-488A-A1B3-7EEE4CCFC41B}" type="slidenum">
              <a:rPr lang="zh-CN" altLang="en-US" smtClean="0"/>
              <a:pPr>
                <a:defRPr/>
              </a:pPr>
              <a:t>‹#›</a:t>
            </a:fld>
            <a:r>
              <a:rPr lang="en-US" altLang="zh-CN" dirty="0"/>
              <a:t>/10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-封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01-封面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2"/>
            <a:ext cx="12192000" cy="6857998"/>
          </a:xfrm>
          <a:prstGeom prst="rect">
            <a:avLst/>
          </a:prstGeom>
        </p:spPr>
      </p:pic>
      <p:sp>
        <p:nvSpPr>
          <p:cNvPr id="10" name="副标题 10"/>
          <p:cNvSpPr txBox="1"/>
          <p:nvPr userDrawn="1"/>
        </p:nvSpPr>
        <p:spPr bwMode="auto">
          <a:xfrm>
            <a:off x="9037516" y="6057752"/>
            <a:ext cx="2632716" cy="24295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/>
          <a:lstStyle/>
          <a:p>
            <a:pPr algn="r" eaLnBrk="0" hangingPunct="0">
              <a:buClr>
                <a:schemeClr val="accent1"/>
              </a:buClr>
              <a:buFontTx/>
              <a:buNone/>
              <a:defRPr/>
            </a:pPr>
            <a:r>
              <a:rPr lang="zh-CN" altLang="en-US" sz="1200" kern="0" spc="150" baseline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南大通用数据技术股份有限公司</a:t>
            </a:r>
          </a:p>
        </p:txBody>
      </p:sp>
      <p:sp>
        <p:nvSpPr>
          <p:cNvPr id="11" name="TextBox 9"/>
          <p:cNvSpPr>
            <a:spLocks noChangeArrowheads="1"/>
          </p:cNvSpPr>
          <p:nvPr userDrawn="1"/>
        </p:nvSpPr>
        <p:spPr bwMode="auto">
          <a:xfrm>
            <a:off x="9614348" y="6424733"/>
            <a:ext cx="2148350" cy="27699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r">
              <a:buFontTx/>
              <a:buNone/>
            </a:pPr>
            <a:r>
              <a:rPr lang="zh-CN" altLang="zh-CN" sz="1200" spc="100" dirty="0">
                <a:solidFill>
                  <a:srgbClr val="89898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Verdana" panose="020B0604030504040204" pitchFamily="34" charset="0"/>
              </a:rPr>
              <a:t>版权所有© GBASE 201</a:t>
            </a:r>
            <a:r>
              <a:rPr lang="en-US" altLang="zh-CN" sz="1200" spc="100" dirty="0">
                <a:solidFill>
                  <a:srgbClr val="89898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Verdana" panose="020B0604030504040204" pitchFamily="34" charset="0"/>
              </a:rPr>
              <a:t>7</a:t>
            </a:r>
            <a:endParaRPr lang="zh-CN" altLang="zh-CN" sz="1200" spc="1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Verdana" panose="020B0604030504040204" pitchFamily="34" charset="0"/>
            </a:endParaRPr>
          </a:p>
        </p:txBody>
      </p:sp>
      <p:sp>
        <p:nvSpPr>
          <p:cNvPr id="19" name="标题 1"/>
          <p:cNvSpPr>
            <a:spLocks noGrp="1"/>
          </p:cNvSpPr>
          <p:nvPr>
            <p:ph type="title" hasCustomPrompt="1"/>
          </p:nvPr>
        </p:nvSpPr>
        <p:spPr>
          <a:xfrm>
            <a:off x="2236371" y="3381035"/>
            <a:ext cx="7816361" cy="611845"/>
          </a:xfrm>
          <a:prstGeom prst="rect">
            <a:avLst/>
          </a:prstGeom>
        </p:spPr>
        <p:txBody>
          <a:bodyPr/>
          <a:lstStyle>
            <a:lvl1pPr algn="ctr">
              <a:lnSpc>
                <a:spcPct val="100000"/>
              </a:lnSpc>
              <a:defRPr sz="3200" b="1" spc="100" baseline="0">
                <a:solidFill>
                  <a:srgbClr val="5A6783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Thank you</a:t>
            </a:r>
            <a:r>
              <a:rPr lang="zh-CN" altLang="en-US" dirty="0"/>
              <a:t>！</a:t>
            </a:r>
          </a:p>
        </p:txBody>
      </p:sp>
      <p:sp>
        <p:nvSpPr>
          <p:cNvPr id="13" name="副标题 10"/>
          <p:cNvSpPr txBox="1"/>
          <p:nvPr userDrawn="1"/>
        </p:nvSpPr>
        <p:spPr bwMode="auto">
          <a:xfrm>
            <a:off x="8137966" y="6246160"/>
            <a:ext cx="3511948" cy="30405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/>
          <a:lstStyle/>
          <a:p>
            <a:pPr algn="r" eaLnBrk="0" hangingPunct="0">
              <a:buClr>
                <a:schemeClr val="accent1"/>
              </a:buClr>
              <a:buFontTx/>
              <a:buNone/>
              <a:defRPr/>
            </a:pPr>
            <a:r>
              <a:rPr lang="en-US" altLang="zh-CN" sz="1200" kern="0" spc="0" baseline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General Data Technology </a:t>
            </a:r>
            <a:r>
              <a:rPr lang="en-US" altLang="zh-CN" sz="1200" kern="0" spc="0" baseline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Co.,Ltd</a:t>
            </a:r>
            <a:endParaRPr lang="zh-CN" altLang="en-US" sz="1200" kern="0" spc="0" baseline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标题 1"/>
          <p:cNvSpPr txBox="1"/>
          <p:nvPr userDrawn="1"/>
        </p:nvSpPr>
        <p:spPr>
          <a:xfrm>
            <a:off x="4445779" y="1516752"/>
            <a:ext cx="3189069" cy="1582048"/>
          </a:xfrm>
          <a:prstGeom prst="rect">
            <a:avLst/>
          </a:prstGeom>
        </p:spPr>
        <p:txBody>
          <a:bodyPr/>
          <a:lstStyle>
            <a:lvl1pPr algn="ctr">
              <a:lnSpc>
                <a:spcPct val="100000"/>
              </a:lnSpc>
              <a:defRPr sz="3200" b="1" spc="100" baseline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9600" b="0" i="0" u="none" strike="noStrike" kern="1200" cap="none" spc="20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Q&amp;A</a:t>
            </a:r>
            <a:endParaRPr kumimoji="0" lang="zh-CN" altLang="en-US" sz="9600" b="0" i="0" u="none" strike="noStrike" kern="1200" cap="none" spc="20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pic>
        <p:nvPicPr>
          <p:cNvPr id="16" name="图片 15" descr="logo_02.png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9215120" y="5520055"/>
            <a:ext cx="2692400" cy="504825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theme/theme1.xml" Type="http://schemas.openxmlformats.org/officeDocument/2006/relationships/theme"/><Relationship Id="rId7" Target="../media/image1.jpeg" Type="http://schemas.openxmlformats.org/officeDocument/2006/relationships/image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图片 6"/>
          <p:cNvPicPr>
            <a:picLocks noChangeAspect="1"/>
          </p:cNvPicPr>
          <p:nvPr userDrawn="1"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矩形 1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chemeClr val="bg1">
                  <a:alpha val="59000"/>
                </a:schemeClr>
              </a:gs>
              <a:gs pos="0">
                <a:schemeClr val="bg1">
                  <a:alpha val="34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0" y="6554788"/>
            <a:ext cx="12192000" cy="303212"/>
          </a:xfrm>
          <a:prstGeom prst="rect">
            <a:avLst/>
          </a:prstGeom>
          <a:gradFill>
            <a:gsLst>
              <a:gs pos="0">
                <a:srgbClr val="404040"/>
              </a:gs>
              <a:gs pos="94000">
                <a:srgbClr val="0D0D0D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9" name="任意多边形 8"/>
          <p:cNvSpPr/>
          <p:nvPr userDrawn="1"/>
        </p:nvSpPr>
        <p:spPr>
          <a:xfrm>
            <a:off x="0" y="6465888"/>
            <a:ext cx="2305050" cy="392112"/>
          </a:xfrm>
          <a:custGeom>
            <a:avLst/>
            <a:gdLst>
              <a:gd name="connsiteX0" fmla="*/ 0 w 2305316"/>
              <a:gd name="connsiteY0" fmla="*/ 0 h 392806"/>
              <a:gd name="connsiteX1" fmla="*/ 2305316 w 2305316"/>
              <a:gd name="connsiteY1" fmla="*/ 0 h 392806"/>
              <a:gd name="connsiteX2" fmla="*/ 2163649 w 2305316"/>
              <a:gd name="connsiteY2" fmla="*/ 392806 h 392806"/>
              <a:gd name="connsiteX3" fmla="*/ 0 w 2305316"/>
              <a:gd name="connsiteY3" fmla="*/ 392806 h 392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05316" h="392806">
                <a:moveTo>
                  <a:pt x="0" y="0"/>
                </a:moveTo>
                <a:lnTo>
                  <a:pt x="2305316" y="0"/>
                </a:lnTo>
                <a:lnTo>
                  <a:pt x="2163649" y="392806"/>
                </a:lnTo>
                <a:lnTo>
                  <a:pt x="0" y="392806"/>
                </a:lnTo>
                <a:close/>
              </a:path>
            </a:pathLst>
          </a:custGeom>
          <a:gradFill flip="none" rotWithShape="1">
            <a:gsLst>
              <a:gs pos="0">
                <a:srgbClr val="F93D32"/>
              </a:gs>
              <a:gs pos="91000">
                <a:srgbClr val="BE1007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10" name="任意多边形 9"/>
          <p:cNvSpPr/>
          <p:nvPr userDrawn="1"/>
        </p:nvSpPr>
        <p:spPr>
          <a:xfrm>
            <a:off x="0" y="566738"/>
            <a:ext cx="168275" cy="454025"/>
          </a:xfrm>
          <a:custGeom>
            <a:avLst/>
            <a:gdLst>
              <a:gd name="connsiteX0" fmla="*/ 0 w 2305316"/>
              <a:gd name="connsiteY0" fmla="*/ 0 h 392806"/>
              <a:gd name="connsiteX1" fmla="*/ 2305316 w 2305316"/>
              <a:gd name="connsiteY1" fmla="*/ 0 h 392806"/>
              <a:gd name="connsiteX2" fmla="*/ 2163649 w 2305316"/>
              <a:gd name="connsiteY2" fmla="*/ 392806 h 392806"/>
              <a:gd name="connsiteX3" fmla="*/ 0 w 2305316"/>
              <a:gd name="connsiteY3" fmla="*/ 392806 h 392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05316" h="392806">
                <a:moveTo>
                  <a:pt x="0" y="0"/>
                </a:moveTo>
                <a:lnTo>
                  <a:pt x="2305316" y="0"/>
                </a:lnTo>
                <a:lnTo>
                  <a:pt x="2163649" y="392806"/>
                </a:lnTo>
                <a:lnTo>
                  <a:pt x="0" y="392806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0" y="1019175"/>
            <a:ext cx="12192000" cy="0"/>
          </a:xfrm>
          <a:prstGeom prst="line">
            <a:avLst/>
          </a:prstGeom>
          <a:ln>
            <a:solidFill>
              <a:srgbClr val="B82E2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hdr="0" ftr="0" dt="0"/>
  <p:txStyles>
    <p:titleStyle>
      <a:lvl1pPr algn="l" rtl="0" fontAlgn="base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2pPr>
      <a:lvl3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3pPr>
      <a:lvl4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4pPr>
      <a:lvl5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9pPr>
    </p:titleStyle>
    <p:bodyStyle>
      <a:lvl1pPr marL="228600" indent="-228600" algn="l" rtl="0" fontAlgn="base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2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3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3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3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Relationship Id="rId2" Target="../notesSlides/notesSlide3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3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Relationship Id="rId2" Target="../notesSlides/notesSlide4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3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3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3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5.xml" Type="http://schemas.openxmlformats.org/officeDocument/2006/relationships/slideLayout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>
                <a:latin typeface="微软雅黑"/>
                <a:ea typeface="微软雅黑"/>
                <a:cs typeface="微软雅黑"/>
              </a:rPr>
              <a:t>GBase8s</a:t>
            </a:r>
            <a:r>
              <a:rPr lang="zh-CN" altLang="en-US" dirty="0">
                <a:latin typeface="微软雅黑"/>
                <a:ea typeface="微软雅黑"/>
                <a:cs typeface="微软雅黑"/>
              </a:rPr>
              <a:t>连续自动备份策略</a:t>
            </a:r>
            <a:endParaRPr lang="zh-CN" altLang="en-US" dirty="0"/>
          </a:p>
        </p:txBody>
      </p:sp>
      <p:sp>
        <p:nvSpPr>
          <p:cNvPr id="3" name="TextBox 2"/>
          <p:cNvSpPr txBox="1"/>
          <p:nvPr/>
        </p:nvSpPr>
        <p:spPr bwMode="auto">
          <a:xfrm>
            <a:off x="2388703" y="6563417"/>
            <a:ext cx="506870" cy="27699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rtlCol="0" anchor="b">
            <a:spAutoFit/>
          </a:bodyPr>
          <a:lstStyle/>
          <a:p>
            <a:pPr algn="ctr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fld id="{D84502BE-93F0-4EA8-A8AA-6F5E8ED668D7}" type="slidenum">
              <a:rPr lang="zh-CN" altLang="en-US" sz="1200" kern="0" spc="20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pPr algn="ctr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None/>
              </a:pPr>
              <a:t>0</a:t>
            </a:fld>
            <a:r>
              <a:rPr lang="en-US" altLang="zh-CN" sz="1200" kern="0" spc="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/7</a:t>
            </a:r>
            <a:endParaRPr lang="zh-CN" altLang="en-US" sz="1200" kern="0" spc="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目标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lnSpc>
                <a:spcPct val="200000"/>
              </a:lnSpc>
            </a:pPr>
            <a:r>
              <a:rPr lang="zh-CN" altLang="en-US" dirty="0"/>
              <a:t>了解</a:t>
            </a:r>
            <a:r>
              <a:rPr lang="en-US" altLang="zh-CN" dirty="0" err="1"/>
              <a:t>redhat</a:t>
            </a:r>
            <a:r>
              <a:rPr lang="zh-CN" altLang="en-US" dirty="0"/>
              <a:t>的</a:t>
            </a:r>
            <a:r>
              <a:rPr lang="en-US" altLang="zh-CN" dirty="0" err="1"/>
              <a:t>crontab</a:t>
            </a:r>
            <a:r>
              <a:rPr lang="zh-CN" altLang="en-US" dirty="0"/>
              <a:t>定时执行机制</a:t>
            </a:r>
            <a:endParaRPr lang="en-US" altLang="zh-CN" dirty="0"/>
          </a:p>
          <a:p>
            <a:pPr>
              <a:lnSpc>
                <a:spcPct val="200000"/>
              </a:lnSpc>
            </a:pPr>
            <a:r>
              <a:rPr lang="zh-CN" altLang="en-US" dirty="0"/>
              <a:t>了解</a:t>
            </a:r>
            <a:r>
              <a:rPr lang="en-US" altLang="zh-CN" dirty="0" err="1"/>
              <a:t>ontape</a:t>
            </a:r>
            <a:r>
              <a:rPr lang="zh-CN" altLang="en-US" dirty="0"/>
              <a:t>备份命令</a:t>
            </a:r>
            <a:endParaRPr lang="en-US" altLang="zh-CN" dirty="0"/>
          </a:p>
          <a:p>
            <a:pPr>
              <a:lnSpc>
                <a:spcPct val="200000"/>
              </a:lnSpc>
            </a:pPr>
            <a:r>
              <a:rPr lang="zh-CN" altLang="en-US" dirty="0"/>
              <a:t>掌握如何使用脚本进行备份</a:t>
            </a:r>
            <a:endParaRPr lang="en-US" altLang="zh-CN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7A5AB6F-CD07-488A-A1B3-7EEE4CCFC41B}" type="slidenum">
              <a:rPr lang="zh-CN" altLang="en-US" smtClean="0"/>
              <a:pPr>
                <a:defRPr/>
              </a:pPr>
              <a:t>1</a:t>
            </a:fld>
            <a:r>
              <a:rPr lang="en-US" altLang="zh-CN"/>
              <a:t>/10</a:t>
            </a:r>
            <a:endParaRPr lang="zh-CN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目录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 bwMode="auto">
          <a:xfrm>
            <a:off x="3339148" y="1960880"/>
            <a:ext cx="722312" cy="662940"/>
          </a:xfrm>
          <a:prstGeom prst="rect">
            <a:avLst/>
          </a:prstGeom>
          <a:solidFill>
            <a:srgbClr val="DE120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" name="矩形 4"/>
          <p:cNvSpPr/>
          <p:nvPr/>
        </p:nvSpPr>
        <p:spPr bwMode="auto">
          <a:xfrm>
            <a:off x="4202748" y="1960880"/>
            <a:ext cx="4570412" cy="662940"/>
          </a:xfrm>
          <a:prstGeom prst="rect">
            <a:avLst/>
          </a:prstGeom>
          <a:solidFill>
            <a:srgbClr val="DE120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6" name="矩形 5"/>
          <p:cNvSpPr/>
          <p:nvPr/>
        </p:nvSpPr>
        <p:spPr bwMode="auto">
          <a:xfrm>
            <a:off x="3339148" y="2578100"/>
            <a:ext cx="722312" cy="45719"/>
          </a:xfrm>
          <a:prstGeom prst="rect">
            <a:avLst/>
          </a:prstGeom>
          <a:solidFill>
            <a:srgbClr val="2020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7" name="矩形 6"/>
          <p:cNvSpPr/>
          <p:nvPr/>
        </p:nvSpPr>
        <p:spPr bwMode="auto">
          <a:xfrm>
            <a:off x="4202748" y="2578100"/>
            <a:ext cx="4570412" cy="45719"/>
          </a:xfrm>
          <a:prstGeom prst="rect">
            <a:avLst/>
          </a:prstGeom>
          <a:solidFill>
            <a:srgbClr val="2020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8" name="文本框 3"/>
          <p:cNvSpPr txBox="1">
            <a:spLocks noChangeArrowheads="1"/>
          </p:cNvSpPr>
          <p:nvPr/>
        </p:nvSpPr>
        <p:spPr bwMode="auto">
          <a:xfrm>
            <a:off x="3470385" y="2073245"/>
            <a:ext cx="441146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zh-CN" altLang="en-US"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</a:t>
            </a:r>
          </a:p>
        </p:txBody>
      </p:sp>
      <p:sp>
        <p:nvSpPr>
          <p:cNvPr id="9" name="矩形 8"/>
          <p:cNvSpPr/>
          <p:nvPr/>
        </p:nvSpPr>
        <p:spPr bwMode="auto">
          <a:xfrm>
            <a:off x="3339148" y="2854960"/>
            <a:ext cx="722312" cy="664210"/>
          </a:xfrm>
          <a:prstGeom prst="rect">
            <a:avLst/>
          </a:prstGeom>
          <a:solidFill>
            <a:srgbClr val="B5B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10" name="矩形 9"/>
          <p:cNvSpPr/>
          <p:nvPr/>
        </p:nvSpPr>
        <p:spPr bwMode="auto">
          <a:xfrm>
            <a:off x="4202748" y="2854960"/>
            <a:ext cx="4570412" cy="664210"/>
          </a:xfrm>
          <a:prstGeom prst="rect">
            <a:avLst/>
          </a:prstGeom>
          <a:solidFill>
            <a:srgbClr val="B5B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11" name="矩形 10"/>
          <p:cNvSpPr/>
          <p:nvPr/>
        </p:nvSpPr>
        <p:spPr bwMode="auto">
          <a:xfrm>
            <a:off x="3339148" y="3473450"/>
            <a:ext cx="722312" cy="45719"/>
          </a:xfrm>
          <a:prstGeom prst="rect">
            <a:avLst/>
          </a:prstGeom>
          <a:solidFill>
            <a:srgbClr val="5A565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12" name="矩形 11"/>
          <p:cNvSpPr/>
          <p:nvPr/>
        </p:nvSpPr>
        <p:spPr bwMode="auto">
          <a:xfrm>
            <a:off x="4202748" y="3473450"/>
            <a:ext cx="4570412" cy="45719"/>
          </a:xfrm>
          <a:prstGeom prst="rect">
            <a:avLst/>
          </a:prstGeom>
          <a:solidFill>
            <a:srgbClr val="5A565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13" name="文本框 48"/>
          <p:cNvSpPr txBox="1">
            <a:spLocks noChangeArrowheads="1"/>
          </p:cNvSpPr>
          <p:nvPr/>
        </p:nvSpPr>
        <p:spPr bwMode="auto">
          <a:xfrm>
            <a:off x="3470385" y="2968595"/>
            <a:ext cx="441146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zh-CN" altLang="en-US"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</a:t>
            </a:r>
          </a:p>
        </p:txBody>
      </p:sp>
      <p:sp>
        <p:nvSpPr>
          <p:cNvPr id="24" name="文本框 55"/>
          <p:cNvSpPr txBox="1">
            <a:spLocks noChangeArrowheads="1"/>
          </p:cNvSpPr>
          <p:nvPr/>
        </p:nvSpPr>
        <p:spPr bwMode="auto">
          <a:xfrm>
            <a:off x="4378960" y="2080394"/>
            <a:ext cx="4236720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2000" b="1" kern="0" dirty="0">
                <a:solidFill>
                  <a:srgbClr val="000000"/>
                </a:solidFill>
              </a:rPr>
              <a:t> </a:t>
            </a:r>
            <a:r>
              <a:rPr lang="en-US" altLang="zh-CN" sz="2000" b="1" kern="0" dirty="0" err="1">
                <a:solidFill>
                  <a:srgbClr val="000000"/>
                </a:solidFill>
              </a:rPr>
              <a:t>crontab</a:t>
            </a:r>
            <a:r>
              <a:rPr lang="zh-CN" altLang="en-US" sz="2000" b="1" kern="0" dirty="0">
                <a:solidFill>
                  <a:srgbClr val="000000"/>
                </a:solidFill>
              </a:rPr>
              <a:t>定时任务        </a:t>
            </a:r>
            <a:endParaRPr lang="zh-CN" altLang="en-US" sz="2000" spc="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文本框 55"/>
          <p:cNvSpPr txBox="1">
            <a:spLocks noChangeArrowheads="1"/>
          </p:cNvSpPr>
          <p:nvPr/>
        </p:nvSpPr>
        <p:spPr bwMode="auto">
          <a:xfrm>
            <a:off x="4378960" y="2965584"/>
            <a:ext cx="4236720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360363" lvl="1" algn="ctr">
              <a:spcBef>
                <a:spcPct val="20000"/>
              </a:spcBef>
              <a:buClr>
                <a:srgbClr val="FD0000"/>
              </a:buClr>
              <a:defRPr/>
            </a:pPr>
            <a:r>
              <a:rPr lang="zh-CN" altLang="en-US" sz="2000" b="1" kern="0" dirty="0">
                <a:solidFill>
                  <a:srgbClr val="000000"/>
                </a:solidFill>
              </a:rPr>
              <a:t>备份脚本编写</a:t>
            </a:r>
            <a:endParaRPr lang="en-US" altLang="zh-CN" sz="2000" b="1" kern="0" dirty="0">
              <a:solidFill>
                <a:srgbClr val="000000"/>
              </a:solidFill>
            </a:endParaRPr>
          </a:p>
        </p:txBody>
      </p:sp>
      <p:sp>
        <p:nvSpPr>
          <p:cNvPr id="28" name="灯片编号占位符 2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7A5AB6F-CD07-488A-A1B3-7EEE4CCFC41B}" type="slidenum">
              <a:rPr lang="zh-CN" altLang="en-US" smtClean="0"/>
              <a:pPr>
                <a:defRPr/>
              </a:pPr>
              <a:t>2</a:t>
            </a:fld>
            <a:r>
              <a:rPr lang="en-US" altLang="zh-CN"/>
              <a:t>/10</a:t>
            </a:r>
            <a:endParaRPr lang="zh-CN" altLang="en-US" dirty="0"/>
          </a:p>
        </p:txBody>
      </p:sp>
      <p:sp>
        <p:nvSpPr>
          <p:cNvPr id="29" name="矩形 28"/>
          <p:cNvSpPr/>
          <p:nvPr/>
        </p:nvSpPr>
        <p:spPr bwMode="auto">
          <a:xfrm>
            <a:off x="3347855" y="3725825"/>
            <a:ext cx="722312" cy="664210"/>
          </a:xfrm>
          <a:prstGeom prst="rect">
            <a:avLst/>
          </a:prstGeom>
          <a:solidFill>
            <a:srgbClr val="B5B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30" name="矩形 29"/>
          <p:cNvSpPr/>
          <p:nvPr/>
        </p:nvSpPr>
        <p:spPr bwMode="auto">
          <a:xfrm>
            <a:off x="4211455" y="3725825"/>
            <a:ext cx="4570412" cy="664210"/>
          </a:xfrm>
          <a:prstGeom prst="rect">
            <a:avLst/>
          </a:prstGeom>
          <a:solidFill>
            <a:srgbClr val="B5B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31" name="矩形 30"/>
          <p:cNvSpPr/>
          <p:nvPr/>
        </p:nvSpPr>
        <p:spPr bwMode="auto">
          <a:xfrm>
            <a:off x="3347855" y="4344315"/>
            <a:ext cx="722312" cy="45719"/>
          </a:xfrm>
          <a:prstGeom prst="rect">
            <a:avLst/>
          </a:prstGeom>
          <a:solidFill>
            <a:srgbClr val="5A565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32" name="矩形 31"/>
          <p:cNvSpPr/>
          <p:nvPr/>
        </p:nvSpPr>
        <p:spPr bwMode="auto">
          <a:xfrm>
            <a:off x="4211455" y="4344315"/>
            <a:ext cx="4570412" cy="45719"/>
          </a:xfrm>
          <a:prstGeom prst="rect">
            <a:avLst/>
          </a:prstGeom>
          <a:solidFill>
            <a:srgbClr val="5A565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33" name="文本框 48"/>
          <p:cNvSpPr txBox="1">
            <a:spLocks noChangeArrowheads="1"/>
          </p:cNvSpPr>
          <p:nvPr/>
        </p:nvSpPr>
        <p:spPr bwMode="auto">
          <a:xfrm>
            <a:off x="3479092" y="3839460"/>
            <a:ext cx="441146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zh-CN" altLang="en-US"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</a:t>
            </a:r>
          </a:p>
        </p:txBody>
      </p:sp>
      <p:sp>
        <p:nvSpPr>
          <p:cNvPr id="34" name="文本框 55"/>
          <p:cNvSpPr txBox="1">
            <a:spLocks noChangeArrowheads="1"/>
          </p:cNvSpPr>
          <p:nvPr/>
        </p:nvSpPr>
        <p:spPr bwMode="auto">
          <a:xfrm>
            <a:off x="4387667" y="3836449"/>
            <a:ext cx="4236720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360363" lvl="1" algn="ctr">
              <a:spcBef>
                <a:spcPct val="20000"/>
              </a:spcBef>
              <a:buClr>
                <a:srgbClr val="FD0000"/>
              </a:buClr>
              <a:defRPr/>
            </a:pPr>
            <a:r>
              <a:rPr lang="en-US" altLang="zh-CN" sz="2000" b="1" kern="0" dirty="0" err="1">
                <a:solidFill>
                  <a:srgbClr val="000000"/>
                </a:solidFill>
              </a:rPr>
              <a:t>ontape</a:t>
            </a:r>
            <a:r>
              <a:rPr lang="zh-CN" altLang="en-US" sz="2000" b="1" kern="0" dirty="0">
                <a:solidFill>
                  <a:srgbClr val="000000"/>
                </a:solidFill>
              </a:rPr>
              <a:t>自动备份策略</a:t>
            </a:r>
            <a:endParaRPr lang="en-US" altLang="zh-CN" sz="2000" b="1" kern="0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>
                <a:solidFill>
                  <a:srgbClr val="000000"/>
                </a:solidFill>
              </a:rPr>
              <a:t>crontab</a:t>
            </a:r>
            <a:r>
              <a:rPr lang="zh-CN" altLang="en-US" dirty="0">
                <a:solidFill>
                  <a:srgbClr val="000000"/>
                </a:solidFill>
              </a:rPr>
              <a:t>定时任务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altLang="zh-CN" dirty="0" err="1"/>
              <a:t>crontab</a:t>
            </a:r>
            <a:r>
              <a:rPr lang="zh-CN" altLang="en-US" dirty="0"/>
              <a:t>作用</a:t>
            </a:r>
            <a:endParaRPr lang="en-US" altLang="zh-CN" dirty="0"/>
          </a:p>
          <a:p>
            <a:pPr lvl="1">
              <a:lnSpc>
                <a:spcPct val="150000"/>
              </a:lnSpc>
            </a:pPr>
            <a:r>
              <a:rPr lang="en-US" altLang="zh-CN" sz="1400" dirty="0" err="1"/>
              <a:t>crontab</a:t>
            </a:r>
            <a:r>
              <a:rPr lang="zh-CN" altLang="en-US" sz="1400" dirty="0"/>
              <a:t>命令用于设置周期性被执行的指令。该命令从标准输入设备读取指令，并将其存放于“</a:t>
            </a:r>
            <a:r>
              <a:rPr lang="en-US" altLang="zh-CN" sz="1400" dirty="0" err="1"/>
              <a:t>crontab</a:t>
            </a:r>
            <a:r>
              <a:rPr lang="en-US" altLang="zh-CN" sz="1400" dirty="0"/>
              <a:t>”</a:t>
            </a:r>
            <a:r>
              <a:rPr lang="zh-CN" altLang="en-US" sz="1400" dirty="0"/>
              <a:t>文件中，以供之后读取和执行。</a:t>
            </a:r>
            <a:endParaRPr lang="en-US" altLang="zh-CN" sz="1400" dirty="0"/>
          </a:p>
          <a:p>
            <a:pPr>
              <a:lnSpc>
                <a:spcPct val="150000"/>
              </a:lnSpc>
            </a:pPr>
            <a:r>
              <a:rPr lang="en-US" altLang="zh-CN" dirty="0" err="1"/>
              <a:t>crontab</a:t>
            </a:r>
            <a:r>
              <a:rPr lang="zh-CN" altLang="en-US" dirty="0"/>
              <a:t>格式</a:t>
            </a:r>
            <a:endParaRPr lang="en-US" altLang="zh-CN" dirty="0"/>
          </a:p>
          <a:p>
            <a:pPr lvl="1"/>
            <a:r>
              <a:rPr lang="zh-CN" altLang="en-US" sz="1400" dirty="0"/>
              <a:t>一般</a:t>
            </a:r>
            <a:r>
              <a:rPr lang="en-US" altLang="zh-CN" sz="1400" dirty="0" err="1"/>
              <a:t>crontab</a:t>
            </a:r>
            <a:r>
              <a:rPr lang="zh-CN" altLang="en-US" sz="1400" dirty="0"/>
              <a:t>文件里面的定时任务格式如下所示：</a:t>
            </a:r>
          </a:p>
          <a:p>
            <a:pPr lvl="1"/>
            <a:r>
              <a:rPr lang="en-US" altLang="zh-CN" sz="1400" dirty="0"/>
              <a:t>59 23 * * * /bin/</a:t>
            </a:r>
            <a:r>
              <a:rPr lang="en-US" altLang="zh-CN" sz="1400" dirty="0" err="1"/>
              <a:t>sh</a:t>
            </a:r>
            <a:r>
              <a:rPr lang="en-US" altLang="zh-CN" sz="1400" dirty="0"/>
              <a:t> /home/</a:t>
            </a:r>
            <a:r>
              <a:rPr lang="en-US" altLang="zh-CN" sz="1400" dirty="0" err="1"/>
              <a:t>gbase</a:t>
            </a:r>
            <a:r>
              <a:rPr lang="en-US" altLang="zh-CN" sz="1400" dirty="0"/>
              <a:t>/</a:t>
            </a:r>
            <a:r>
              <a:rPr lang="en-US" altLang="zh-CN" sz="1400" dirty="0" err="1"/>
              <a:t>sql</a:t>
            </a:r>
            <a:r>
              <a:rPr lang="en-US" altLang="zh-CN" sz="1400" dirty="0"/>
              <a:t>/backup.sh &gt;&gt;/home/</a:t>
            </a:r>
            <a:r>
              <a:rPr lang="en-US" altLang="zh-CN" sz="1400" dirty="0" err="1"/>
              <a:t>gbase</a:t>
            </a:r>
            <a:r>
              <a:rPr lang="en-US" altLang="zh-CN" sz="1400" dirty="0"/>
              <a:t>/</a:t>
            </a:r>
            <a:r>
              <a:rPr lang="en-US" altLang="zh-CN" sz="1400" dirty="0" err="1"/>
              <a:t>sql</a:t>
            </a:r>
            <a:r>
              <a:rPr lang="en-US" altLang="zh-CN" sz="1400" dirty="0"/>
              <a:t>/backup.log 2&gt;&amp;1</a:t>
            </a:r>
          </a:p>
          <a:p>
            <a:pPr lvl="1"/>
            <a:r>
              <a:rPr lang="en-US" altLang="zh-CN" sz="1400" dirty="0" err="1"/>
              <a:t>crontab</a:t>
            </a:r>
            <a:r>
              <a:rPr lang="en-US" altLang="zh-CN" sz="1400" dirty="0"/>
              <a:t> </a:t>
            </a:r>
            <a:r>
              <a:rPr lang="zh-CN" altLang="en-US" sz="1400" dirty="0"/>
              <a:t>文件中每个条目中各个域的意义和格式：</a:t>
            </a:r>
          </a:p>
          <a:p>
            <a:pPr lvl="1"/>
            <a:r>
              <a:rPr lang="zh-CN" altLang="en-US" sz="1400" dirty="0"/>
              <a:t>第一列 分钟： </a:t>
            </a:r>
            <a:r>
              <a:rPr lang="en-US" altLang="zh-CN" sz="1400" dirty="0"/>
              <a:t>1——59</a:t>
            </a:r>
          </a:p>
          <a:p>
            <a:pPr lvl="1"/>
            <a:r>
              <a:rPr lang="zh-CN" altLang="en-US" sz="1400" dirty="0"/>
              <a:t>第二列 小时： </a:t>
            </a:r>
            <a:r>
              <a:rPr lang="en-US" altLang="zh-CN" sz="1400" dirty="0"/>
              <a:t>1——23(0</a:t>
            </a:r>
            <a:r>
              <a:rPr lang="zh-CN" altLang="en-US" sz="1400" dirty="0"/>
              <a:t>表示子夜</a:t>
            </a:r>
            <a:r>
              <a:rPr lang="en-US" altLang="zh-CN" sz="1400" dirty="0"/>
              <a:t>)</a:t>
            </a:r>
          </a:p>
          <a:p>
            <a:pPr lvl="1"/>
            <a:r>
              <a:rPr lang="zh-CN" altLang="en-US" sz="1400" dirty="0"/>
              <a:t>第三列 日 ： </a:t>
            </a:r>
            <a:r>
              <a:rPr lang="en-US" altLang="zh-CN" sz="1400" dirty="0"/>
              <a:t>1——31</a:t>
            </a:r>
          </a:p>
          <a:p>
            <a:pPr lvl="1"/>
            <a:r>
              <a:rPr lang="zh-CN" altLang="en-US" sz="1400" dirty="0"/>
              <a:t>第四列 月 ： </a:t>
            </a:r>
            <a:r>
              <a:rPr lang="en-US" altLang="zh-CN" sz="1400" dirty="0"/>
              <a:t>1——12</a:t>
            </a:r>
          </a:p>
          <a:p>
            <a:pPr lvl="1"/>
            <a:r>
              <a:rPr lang="zh-CN" altLang="en-US" sz="1400" dirty="0"/>
              <a:t>第五列 星期： 星期</a:t>
            </a:r>
            <a:r>
              <a:rPr lang="en-US" altLang="zh-CN" sz="1400" dirty="0"/>
              <a:t>0——6(0</a:t>
            </a:r>
            <a:r>
              <a:rPr lang="zh-CN" altLang="en-US" sz="1400" dirty="0"/>
              <a:t>表示星期天，</a:t>
            </a:r>
            <a:r>
              <a:rPr lang="en-US" altLang="zh-CN" sz="1400" dirty="0"/>
              <a:t>1</a:t>
            </a:r>
            <a:r>
              <a:rPr lang="zh-CN" altLang="en-US" sz="1400" dirty="0"/>
              <a:t>表示星期一、以此类推</a:t>
            </a:r>
            <a:r>
              <a:rPr lang="en-US" altLang="zh-CN" sz="1400" dirty="0"/>
              <a:t>)</a:t>
            </a:r>
          </a:p>
          <a:p>
            <a:pPr lvl="1"/>
            <a:r>
              <a:rPr lang="zh-CN" altLang="en-US" sz="1400" dirty="0"/>
              <a:t>第六列 要运行的命令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7A5AB6F-CD07-488A-A1B3-7EEE4CCFC41B}" type="slidenum">
              <a:rPr lang="zh-CN" altLang="en-US" smtClean="0"/>
              <a:pPr>
                <a:defRPr/>
              </a:pPr>
              <a:t>3</a:t>
            </a:fld>
            <a:r>
              <a:rPr lang="en-US" altLang="zh-CN" dirty="0"/>
              <a:t>/10</a:t>
            </a:r>
            <a:endParaRPr lang="zh-CN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>
                <a:solidFill>
                  <a:srgbClr val="000000"/>
                </a:solidFill>
              </a:rPr>
              <a:t>crontab</a:t>
            </a:r>
            <a:r>
              <a:rPr lang="zh-CN" altLang="en-US" dirty="0">
                <a:solidFill>
                  <a:srgbClr val="000000"/>
                </a:solidFill>
              </a:rPr>
              <a:t>定时任务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altLang="zh-CN" dirty="0" err="1"/>
              <a:t>crontab</a:t>
            </a:r>
            <a:r>
              <a:rPr lang="zh-CN" altLang="en-US" dirty="0"/>
              <a:t>语法</a:t>
            </a:r>
            <a:endParaRPr lang="en-US" altLang="zh-CN" dirty="0"/>
          </a:p>
          <a:p>
            <a:pPr lvl="1"/>
            <a:r>
              <a:rPr lang="zh-CN" altLang="en-US" sz="1400" b="1" dirty="0"/>
              <a:t>查看当前用户的定时任务</a:t>
            </a:r>
            <a:endParaRPr lang="zh-CN" altLang="en-US" sz="1400" dirty="0"/>
          </a:p>
          <a:p>
            <a:pPr lvl="2"/>
            <a:r>
              <a:rPr lang="en-US" altLang="zh-CN" sz="1400" dirty="0" err="1">
                <a:latin typeface="微软雅黑" pitchFamily="34" charset="-122"/>
                <a:ea typeface="微软雅黑" pitchFamily="34" charset="-122"/>
              </a:rPr>
              <a:t>crontab</a:t>
            </a:r>
            <a:r>
              <a:rPr lang="en-US" altLang="zh-CN" sz="1400" dirty="0">
                <a:latin typeface="微软雅黑" pitchFamily="34" charset="-122"/>
                <a:ea typeface="微软雅黑" pitchFamily="34" charset="-122"/>
              </a:rPr>
              <a:t> -l</a:t>
            </a:r>
          </a:p>
          <a:p>
            <a:pPr lvl="2"/>
            <a:r>
              <a:rPr lang="en-US" altLang="zh-CN" sz="1400" dirty="0">
                <a:latin typeface="微软雅黑" pitchFamily="34" charset="-122"/>
                <a:ea typeface="微软雅黑" pitchFamily="34" charset="-122"/>
              </a:rPr>
              <a:t>59 23 * * * </a:t>
            </a:r>
            <a:r>
              <a:rPr lang="en-US" altLang="zh-CN" sz="1400" dirty="0"/>
              <a:t>/</a:t>
            </a:r>
            <a:r>
              <a:rPr lang="en-US" altLang="zh-CN" sz="1400" dirty="0">
                <a:latin typeface="微软雅黑" pitchFamily="34" charset="-122"/>
                <a:ea typeface="微软雅黑" pitchFamily="34" charset="-122"/>
              </a:rPr>
              <a:t>bin/</a:t>
            </a:r>
            <a:r>
              <a:rPr lang="en-US" altLang="zh-CN" sz="1400" dirty="0" err="1">
                <a:latin typeface="微软雅黑" pitchFamily="34" charset="-122"/>
                <a:ea typeface="微软雅黑" pitchFamily="34" charset="-122"/>
              </a:rPr>
              <a:t>sh</a:t>
            </a:r>
            <a:r>
              <a:rPr lang="en-US" altLang="zh-CN" sz="1400" dirty="0">
                <a:latin typeface="微软雅黑" pitchFamily="34" charset="-122"/>
                <a:ea typeface="微软雅黑" pitchFamily="34" charset="-122"/>
              </a:rPr>
              <a:t> /home/</a:t>
            </a:r>
            <a:r>
              <a:rPr lang="en-US" altLang="zh-CN" sz="1400" dirty="0" err="1">
                <a:latin typeface="微软雅黑" pitchFamily="34" charset="-122"/>
                <a:ea typeface="微软雅黑" pitchFamily="34" charset="-122"/>
              </a:rPr>
              <a:t>gbase/sql/backup.sh</a:t>
            </a:r>
            <a:r>
              <a:rPr lang="en-US" altLang="zh-CN" sz="1400" dirty="0">
                <a:latin typeface="微软雅黑" pitchFamily="34" charset="-122"/>
                <a:ea typeface="微软雅黑" pitchFamily="34" charset="-122"/>
              </a:rPr>
              <a:t> &gt;/dev/null 2&gt;&amp;1</a:t>
            </a:r>
          </a:p>
          <a:p>
            <a:pPr lvl="1"/>
            <a:r>
              <a:rPr lang="zh-CN" altLang="en-US" sz="1400" b="1" dirty="0"/>
              <a:t>编辑当前用户的定时任务</a:t>
            </a:r>
            <a:endParaRPr lang="zh-CN" altLang="en-US" dirty="0"/>
          </a:p>
          <a:p>
            <a:pPr lvl="2"/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可以在编辑状态修改、删除、新增一些定时任务。注释一般用</a:t>
            </a:r>
            <a:r>
              <a:rPr lang="en-US" altLang="zh-CN" sz="1400" dirty="0">
                <a:latin typeface="微软雅黑" pitchFamily="34" charset="-122"/>
                <a:ea typeface="微软雅黑" pitchFamily="34" charset="-122"/>
              </a:rPr>
              <a:t>#</a:t>
            </a:r>
            <a:endParaRPr lang="zh-CN" altLang="en-US" sz="1400" dirty="0">
              <a:latin typeface="微软雅黑" pitchFamily="34" charset="-122"/>
              <a:ea typeface="微软雅黑" pitchFamily="34" charset="-122"/>
            </a:endParaRPr>
          </a:p>
          <a:p>
            <a:pPr lvl="2"/>
            <a:r>
              <a:rPr lang="en-US" altLang="zh-CN" sz="1400" dirty="0" err="1">
                <a:latin typeface="微软雅黑" pitchFamily="34" charset="-122"/>
                <a:ea typeface="微软雅黑" pitchFamily="34" charset="-122"/>
              </a:rPr>
              <a:t>crontab</a:t>
            </a:r>
            <a:r>
              <a:rPr lang="en-US" altLang="zh-CN" sz="1400" dirty="0">
                <a:latin typeface="微软雅黑" pitchFamily="34" charset="-122"/>
                <a:ea typeface="微软雅黑" pitchFamily="34" charset="-122"/>
              </a:rPr>
              <a:t> -e</a:t>
            </a:r>
          </a:p>
          <a:p>
            <a:pPr lvl="1"/>
            <a:endParaRPr lang="en-US" altLang="zh-CN" sz="1200" dirty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endParaRPr lang="zh-CN" altLang="en-US" sz="1400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7A5AB6F-CD07-488A-A1B3-7EEE4CCFC41B}" type="slidenum">
              <a:rPr lang="zh-CN" altLang="en-US" smtClean="0"/>
              <a:pPr>
                <a:defRPr/>
              </a:pPr>
              <a:t>4</a:t>
            </a:fld>
            <a:r>
              <a:rPr lang="en-US" altLang="zh-CN" dirty="0"/>
              <a:t>/10</a:t>
            </a:r>
            <a:endParaRPr lang="zh-CN" alt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 bwMode="auto">
          <a:xfrm>
            <a:off x="3339148" y="1914424"/>
            <a:ext cx="722312" cy="664210"/>
          </a:xfrm>
          <a:prstGeom prst="rect">
            <a:avLst/>
          </a:prstGeom>
          <a:solidFill>
            <a:srgbClr val="B5B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目录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 bwMode="auto">
          <a:xfrm>
            <a:off x="3339148" y="2849164"/>
            <a:ext cx="722312" cy="662940"/>
          </a:xfrm>
          <a:prstGeom prst="rect">
            <a:avLst/>
          </a:prstGeom>
          <a:solidFill>
            <a:srgbClr val="DE120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" name="矩形 4"/>
          <p:cNvSpPr/>
          <p:nvPr/>
        </p:nvSpPr>
        <p:spPr bwMode="auto">
          <a:xfrm>
            <a:off x="4202748" y="2849164"/>
            <a:ext cx="4570412" cy="662940"/>
          </a:xfrm>
          <a:prstGeom prst="rect">
            <a:avLst/>
          </a:prstGeom>
          <a:solidFill>
            <a:srgbClr val="DE120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6" name="矩形 5"/>
          <p:cNvSpPr/>
          <p:nvPr/>
        </p:nvSpPr>
        <p:spPr bwMode="auto">
          <a:xfrm>
            <a:off x="3339148" y="2578100"/>
            <a:ext cx="722312" cy="45719"/>
          </a:xfrm>
          <a:prstGeom prst="rect">
            <a:avLst/>
          </a:prstGeom>
          <a:solidFill>
            <a:srgbClr val="2020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7" name="矩形 6"/>
          <p:cNvSpPr/>
          <p:nvPr/>
        </p:nvSpPr>
        <p:spPr bwMode="auto">
          <a:xfrm>
            <a:off x="4202748" y="2578100"/>
            <a:ext cx="4570412" cy="45719"/>
          </a:xfrm>
          <a:prstGeom prst="rect">
            <a:avLst/>
          </a:prstGeom>
          <a:solidFill>
            <a:srgbClr val="2020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8" name="文本框 3"/>
          <p:cNvSpPr txBox="1">
            <a:spLocks noChangeArrowheads="1"/>
          </p:cNvSpPr>
          <p:nvPr/>
        </p:nvSpPr>
        <p:spPr bwMode="auto">
          <a:xfrm>
            <a:off x="3470385" y="2073245"/>
            <a:ext cx="441146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</a:t>
            </a:r>
          </a:p>
        </p:txBody>
      </p:sp>
      <p:sp>
        <p:nvSpPr>
          <p:cNvPr id="10" name="矩形 9"/>
          <p:cNvSpPr/>
          <p:nvPr/>
        </p:nvSpPr>
        <p:spPr bwMode="auto">
          <a:xfrm>
            <a:off x="4202748" y="1914424"/>
            <a:ext cx="4570412" cy="664210"/>
          </a:xfrm>
          <a:prstGeom prst="rect">
            <a:avLst/>
          </a:prstGeom>
          <a:solidFill>
            <a:srgbClr val="B5B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11" name="矩形 10"/>
          <p:cNvSpPr/>
          <p:nvPr/>
        </p:nvSpPr>
        <p:spPr bwMode="auto">
          <a:xfrm>
            <a:off x="3339148" y="3473450"/>
            <a:ext cx="722312" cy="45719"/>
          </a:xfrm>
          <a:prstGeom prst="rect">
            <a:avLst/>
          </a:prstGeom>
          <a:solidFill>
            <a:srgbClr val="5A565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12" name="矩形 11"/>
          <p:cNvSpPr/>
          <p:nvPr/>
        </p:nvSpPr>
        <p:spPr bwMode="auto">
          <a:xfrm>
            <a:off x="4202748" y="3473450"/>
            <a:ext cx="4570412" cy="45719"/>
          </a:xfrm>
          <a:prstGeom prst="rect">
            <a:avLst/>
          </a:prstGeom>
          <a:solidFill>
            <a:srgbClr val="5A565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13" name="文本框 48"/>
          <p:cNvSpPr txBox="1">
            <a:spLocks noChangeArrowheads="1"/>
          </p:cNvSpPr>
          <p:nvPr/>
        </p:nvSpPr>
        <p:spPr bwMode="auto">
          <a:xfrm>
            <a:off x="3470385" y="2968595"/>
            <a:ext cx="441146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</a:t>
            </a:r>
          </a:p>
        </p:txBody>
      </p:sp>
      <p:sp>
        <p:nvSpPr>
          <p:cNvPr id="24" name="文本框 55"/>
          <p:cNvSpPr txBox="1">
            <a:spLocks noChangeArrowheads="1"/>
          </p:cNvSpPr>
          <p:nvPr/>
        </p:nvSpPr>
        <p:spPr bwMode="auto">
          <a:xfrm>
            <a:off x="4378960" y="2080394"/>
            <a:ext cx="4236720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2000" b="1" kern="0" dirty="0">
                <a:solidFill>
                  <a:srgbClr val="000000"/>
                </a:solidFill>
              </a:rPr>
              <a:t> </a:t>
            </a:r>
            <a:r>
              <a:rPr lang="en-US" altLang="zh-CN" sz="2000" b="1" kern="0" dirty="0" err="1">
                <a:solidFill>
                  <a:srgbClr val="000000"/>
                </a:solidFill>
              </a:rPr>
              <a:t>crontab</a:t>
            </a:r>
            <a:r>
              <a:rPr lang="zh-CN" altLang="en-US" sz="2000" b="1" kern="0" dirty="0">
                <a:solidFill>
                  <a:srgbClr val="000000"/>
                </a:solidFill>
              </a:rPr>
              <a:t>定时任务        </a:t>
            </a:r>
            <a:endParaRPr lang="zh-CN" altLang="en-US" sz="2000" spc="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文本框 55"/>
          <p:cNvSpPr txBox="1">
            <a:spLocks noChangeArrowheads="1"/>
          </p:cNvSpPr>
          <p:nvPr/>
        </p:nvSpPr>
        <p:spPr bwMode="auto">
          <a:xfrm>
            <a:off x="4378960" y="2965584"/>
            <a:ext cx="4236720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360363" lvl="1" algn="ctr">
              <a:spcBef>
                <a:spcPct val="20000"/>
              </a:spcBef>
              <a:buClr>
                <a:srgbClr val="FD0000"/>
              </a:buClr>
              <a:defRPr/>
            </a:pPr>
            <a:r>
              <a:rPr lang="zh-CN" altLang="en-US" sz="2000" b="1" kern="0" dirty="0">
                <a:solidFill>
                  <a:srgbClr val="000000"/>
                </a:solidFill>
              </a:rPr>
              <a:t>备份脚本编写</a:t>
            </a:r>
            <a:endParaRPr lang="en-US" altLang="zh-CN" sz="2000" b="1" kern="0" dirty="0">
              <a:solidFill>
                <a:srgbClr val="000000"/>
              </a:solidFill>
            </a:endParaRPr>
          </a:p>
        </p:txBody>
      </p:sp>
      <p:sp>
        <p:nvSpPr>
          <p:cNvPr id="28" name="灯片编号占位符 2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7A5AB6F-CD07-488A-A1B3-7EEE4CCFC41B}" type="slidenum">
              <a:rPr lang="zh-CN" altLang="en-US" smtClean="0"/>
              <a:pPr>
                <a:defRPr/>
              </a:pPr>
              <a:t>5</a:t>
            </a:fld>
            <a:r>
              <a:rPr lang="en-US" altLang="zh-CN"/>
              <a:t>/10</a:t>
            </a:r>
            <a:endParaRPr lang="zh-CN" altLang="en-US" dirty="0"/>
          </a:p>
        </p:txBody>
      </p:sp>
      <p:sp>
        <p:nvSpPr>
          <p:cNvPr id="29" name="矩形 28"/>
          <p:cNvSpPr/>
          <p:nvPr/>
        </p:nvSpPr>
        <p:spPr bwMode="auto">
          <a:xfrm>
            <a:off x="3347855" y="3725825"/>
            <a:ext cx="722312" cy="664210"/>
          </a:xfrm>
          <a:prstGeom prst="rect">
            <a:avLst/>
          </a:prstGeom>
          <a:solidFill>
            <a:srgbClr val="B5B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30" name="矩形 29"/>
          <p:cNvSpPr/>
          <p:nvPr/>
        </p:nvSpPr>
        <p:spPr bwMode="auto">
          <a:xfrm>
            <a:off x="4211455" y="3725825"/>
            <a:ext cx="4570412" cy="664210"/>
          </a:xfrm>
          <a:prstGeom prst="rect">
            <a:avLst/>
          </a:prstGeom>
          <a:solidFill>
            <a:srgbClr val="B5B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31" name="矩形 30"/>
          <p:cNvSpPr/>
          <p:nvPr/>
        </p:nvSpPr>
        <p:spPr bwMode="auto">
          <a:xfrm>
            <a:off x="3347855" y="4344315"/>
            <a:ext cx="722312" cy="45719"/>
          </a:xfrm>
          <a:prstGeom prst="rect">
            <a:avLst/>
          </a:prstGeom>
          <a:solidFill>
            <a:srgbClr val="5A565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32" name="矩形 31"/>
          <p:cNvSpPr/>
          <p:nvPr/>
        </p:nvSpPr>
        <p:spPr bwMode="auto">
          <a:xfrm>
            <a:off x="4211455" y="4344315"/>
            <a:ext cx="4570412" cy="45719"/>
          </a:xfrm>
          <a:prstGeom prst="rect">
            <a:avLst/>
          </a:prstGeom>
          <a:solidFill>
            <a:srgbClr val="5A565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33" name="文本框 48"/>
          <p:cNvSpPr txBox="1">
            <a:spLocks noChangeArrowheads="1"/>
          </p:cNvSpPr>
          <p:nvPr/>
        </p:nvSpPr>
        <p:spPr bwMode="auto">
          <a:xfrm>
            <a:off x="3479092" y="3839460"/>
            <a:ext cx="441146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zh-CN" altLang="en-US"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</a:t>
            </a:r>
          </a:p>
        </p:txBody>
      </p:sp>
      <p:sp>
        <p:nvSpPr>
          <p:cNvPr id="34" name="文本框 55"/>
          <p:cNvSpPr txBox="1">
            <a:spLocks noChangeArrowheads="1"/>
          </p:cNvSpPr>
          <p:nvPr/>
        </p:nvSpPr>
        <p:spPr bwMode="auto">
          <a:xfrm>
            <a:off x="4387667" y="3836449"/>
            <a:ext cx="4236720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360363" lvl="1" algn="ctr">
              <a:spcBef>
                <a:spcPct val="20000"/>
              </a:spcBef>
              <a:buClr>
                <a:srgbClr val="FD0000"/>
              </a:buClr>
              <a:defRPr/>
            </a:pPr>
            <a:r>
              <a:rPr lang="en-US" altLang="zh-CN" sz="2000" b="1" kern="0" dirty="0" err="1">
                <a:solidFill>
                  <a:srgbClr val="000000"/>
                </a:solidFill>
              </a:rPr>
              <a:t>ontape</a:t>
            </a:r>
            <a:r>
              <a:rPr lang="zh-CN" altLang="en-US" sz="2000" b="1" kern="0" dirty="0">
                <a:solidFill>
                  <a:srgbClr val="000000"/>
                </a:solidFill>
              </a:rPr>
              <a:t>自动备份策略</a:t>
            </a:r>
            <a:endParaRPr lang="en-US" altLang="zh-CN" sz="2000" b="1" kern="0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200" kern="0" dirty="0">
                <a:solidFill>
                  <a:srgbClr val="000000"/>
                </a:solidFill>
              </a:rPr>
              <a:t>备份脚本编写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1400" dirty="0"/>
              <a:t>编写自动备份脚本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7A5AB6F-CD07-488A-A1B3-7EEE4CCFC41B}" type="slidenum">
              <a:rPr lang="zh-CN" altLang="en-US" smtClean="0"/>
              <a:pPr>
                <a:defRPr/>
              </a:pPr>
              <a:t>6</a:t>
            </a:fld>
            <a:r>
              <a:rPr lang="en-US" altLang="zh-CN" dirty="0"/>
              <a:t>/10</a:t>
            </a:r>
            <a:endParaRPr lang="zh-CN" altLang="en-US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1182914" y="1699380"/>
          <a:ext cx="8128000" cy="350520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812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微软雅黑" pitchFamily="34" charset="-122"/>
                          <a:ea typeface="微软雅黑" pitchFamily="34" charset="-122"/>
                        </a:rPr>
                        <a:t>. /home/</a:t>
                      </a:r>
                      <a:r>
                        <a:rPr lang="en-US" altLang="zh-CN" sz="1400" dirty="0" err="1">
                          <a:latin typeface="微软雅黑" pitchFamily="34" charset="-122"/>
                          <a:ea typeface="微软雅黑" pitchFamily="34" charset="-122"/>
                        </a:rPr>
                        <a:t>gbase/.bash_profile</a:t>
                      </a:r>
                      <a:endParaRPr lang="en-US" altLang="zh-CN" sz="1400" dirty="0">
                        <a:latin typeface="微软雅黑" pitchFamily="34" charset="-122"/>
                        <a:ea typeface="微软雅黑" pitchFamily="34" charset="-122"/>
                      </a:endParaRPr>
                    </a:p>
                    <a:p>
                      <a:r>
                        <a:rPr lang="en-US" altLang="zh-CN" sz="1400" dirty="0" err="1">
                          <a:latin typeface="微软雅黑" pitchFamily="34" charset="-122"/>
                          <a:ea typeface="微软雅黑" pitchFamily="34" charset="-122"/>
                        </a:rPr>
                        <a:t>onstat</a:t>
                      </a:r>
                      <a:r>
                        <a:rPr lang="en-US" altLang="zh-CN" sz="1400" dirty="0">
                          <a:latin typeface="微软雅黑" pitchFamily="34" charset="-122"/>
                          <a:ea typeface="微软雅黑" pitchFamily="34" charset="-122"/>
                        </a:rPr>
                        <a:t> - |</a:t>
                      </a:r>
                      <a:r>
                        <a:rPr lang="en-US" altLang="zh-CN" sz="1400" dirty="0" err="1">
                          <a:latin typeface="微软雅黑" pitchFamily="34" charset="-122"/>
                          <a:ea typeface="微软雅黑" pitchFamily="34" charset="-122"/>
                        </a:rPr>
                        <a:t>grep</a:t>
                      </a:r>
                      <a:r>
                        <a:rPr lang="en-US" altLang="zh-CN" sz="1400" dirty="0">
                          <a:latin typeface="微软雅黑" pitchFamily="34" charset="-122"/>
                          <a:ea typeface="微软雅黑" pitchFamily="34" charset="-122"/>
                        </a:rPr>
                        <a:t> "On-Line" &gt;/dev/null</a:t>
                      </a:r>
                    </a:p>
                    <a:p>
                      <a:r>
                        <a:rPr lang="en-US" altLang="zh-CN" sz="1400" dirty="0">
                          <a:latin typeface="微软雅黑" pitchFamily="34" charset="-122"/>
                          <a:ea typeface="微软雅黑" pitchFamily="34" charset="-122"/>
                        </a:rPr>
                        <a:t>if [ $? -ne 1 ]</a:t>
                      </a:r>
                    </a:p>
                    <a:p>
                      <a:r>
                        <a:rPr lang="en-US" altLang="zh-CN" sz="1400" dirty="0">
                          <a:latin typeface="微软雅黑" pitchFamily="34" charset="-122"/>
                          <a:ea typeface="微软雅黑" pitchFamily="34" charset="-122"/>
                        </a:rPr>
                        <a:t>then</a:t>
                      </a:r>
                    </a:p>
                    <a:p>
                      <a:r>
                        <a:rPr lang="en-US" altLang="zh-CN" sz="1400" dirty="0">
                          <a:latin typeface="微软雅黑" pitchFamily="34" charset="-122"/>
                          <a:ea typeface="微软雅黑" pitchFamily="34" charset="-122"/>
                        </a:rPr>
                        <a:t>DATE=`date +%</a:t>
                      </a:r>
                      <a:r>
                        <a:rPr lang="en-US" altLang="zh-CN" sz="1400" dirty="0" err="1">
                          <a:latin typeface="微软雅黑" pitchFamily="34" charset="-122"/>
                          <a:ea typeface="微软雅黑" pitchFamily="34" charset="-122"/>
                        </a:rPr>
                        <a:t>Y%m%d%H%M%S</a:t>
                      </a:r>
                      <a:r>
                        <a:rPr lang="en-US" altLang="zh-CN" sz="1400" dirty="0">
                          <a:latin typeface="微软雅黑" pitchFamily="34" charset="-122"/>
                          <a:ea typeface="微软雅黑" pitchFamily="34" charset="-122"/>
                        </a:rPr>
                        <a:t>`</a:t>
                      </a:r>
                    </a:p>
                    <a:p>
                      <a:r>
                        <a:rPr lang="en-US" altLang="zh-CN" sz="1400" dirty="0" err="1">
                          <a:latin typeface="微软雅黑" pitchFamily="34" charset="-122"/>
                          <a:ea typeface="微软雅黑" pitchFamily="34" charset="-122"/>
                        </a:rPr>
                        <a:t>cd</a:t>
                      </a:r>
                      <a:r>
                        <a:rPr lang="en-US" altLang="zh-CN" sz="1400" dirty="0">
                          <a:latin typeface="微软雅黑" pitchFamily="34" charset="-122"/>
                          <a:ea typeface="微软雅黑" pitchFamily="34" charset="-122"/>
                        </a:rPr>
                        <a:t> /home/</a:t>
                      </a:r>
                      <a:r>
                        <a:rPr lang="en-US" altLang="zh-CN" sz="1400" dirty="0" err="1">
                          <a:latin typeface="微软雅黑" pitchFamily="34" charset="-122"/>
                          <a:ea typeface="微软雅黑" pitchFamily="34" charset="-122"/>
                        </a:rPr>
                        <a:t>gbase</a:t>
                      </a:r>
                      <a:r>
                        <a:rPr lang="en-US" altLang="zh-CN" sz="1400" dirty="0">
                          <a:latin typeface="微软雅黑" pitchFamily="34" charset="-122"/>
                          <a:ea typeface="微软雅黑" pitchFamily="34" charset="-122"/>
                        </a:rPr>
                        <a:t>/backup/</a:t>
                      </a:r>
                    </a:p>
                    <a:p>
                      <a:r>
                        <a:rPr lang="en-US" altLang="zh-CN" sz="1400" dirty="0">
                          <a:latin typeface="微软雅黑" pitchFamily="34" charset="-122"/>
                          <a:ea typeface="微软雅黑" pitchFamily="34" charset="-122"/>
                        </a:rPr>
                        <a:t>tar -</a:t>
                      </a:r>
                      <a:r>
                        <a:rPr lang="en-US" altLang="zh-CN" sz="1400" dirty="0" err="1">
                          <a:latin typeface="微软雅黑" pitchFamily="34" charset="-122"/>
                          <a:ea typeface="微软雅黑" pitchFamily="34" charset="-122"/>
                        </a:rPr>
                        <a:t>cvf</a:t>
                      </a:r>
                      <a:r>
                        <a:rPr lang="en-US" altLang="zh-CN" sz="1400" dirty="0">
                          <a:latin typeface="微软雅黑" pitchFamily="34" charset="-122"/>
                          <a:ea typeface="微软雅黑" pitchFamily="34" charset="-122"/>
                        </a:rPr>
                        <a:t> /home/</a:t>
                      </a:r>
                      <a:r>
                        <a:rPr lang="en-US" altLang="zh-CN" sz="1400" dirty="0" err="1">
                          <a:latin typeface="微软雅黑" pitchFamily="34" charset="-122"/>
                          <a:ea typeface="微软雅黑" pitchFamily="34" charset="-122"/>
                        </a:rPr>
                        <a:t>gbase/tarfile</a:t>
                      </a:r>
                      <a:r>
                        <a:rPr lang="en-US" altLang="zh-CN" sz="1400" dirty="0">
                          <a:latin typeface="微软雅黑" pitchFamily="34" charset="-122"/>
                          <a:ea typeface="微软雅黑" pitchFamily="34" charset="-122"/>
                        </a:rPr>
                        <a:t>/${INFORMIXSERVER}.${DATE}.tar * &gt;/dev/null</a:t>
                      </a:r>
                    </a:p>
                    <a:p>
                      <a:r>
                        <a:rPr lang="en-US" altLang="zh-CN" sz="1400" dirty="0">
                          <a:latin typeface="微软雅黑" pitchFamily="34" charset="-122"/>
                          <a:ea typeface="微软雅黑" pitchFamily="34" charset="-122"/>
                        </a:rPr>
                        <a:t>echo "tar backup file for INFORMIXSERVER "$INFORMIXSERVER" start"</a:t>
                      </a:r>
                    </a:p>
                    <a:p>
                      <a:r>
                        <a:rPr lang="en-US" altLang="zh-CN" sz="1400" dirty="0">
                          <a:latin typeface="微软雅黑" pitchFamily="34" charset="-122"/>
                          <a:ea typeface="微软雅黑" pitchFamily="34" charset="-122"/>
                        </a:rPr>
                        <a:t>echo "Level 0 backup of "$INFORMIXSERVER" start"</a:t>
                      </a:r>
                    </a:p>
                    <a:p>
                      <a:r>
                        <a:rPr lang="en-US" altLang="zh-CN" sz="1400" dirty="0" err="1">
                          <a:latin typeface="微软雅黑" pitchFamily="34" charset="-122"/>
                          <a:ea typeface="微软雅黑" pitchFamily="34" charset="-122"/>
                        </a:rPr>
                        <a:t>rm</a:t>
                      </a:r>
                      <a:r>
                        <a:rPr lang="en-US" altLang="zh-CN" sz="1400" dirty="0">
                          <a:latin typeface="微软雅黑" pitchFamily="34" charset="-122"/>
                          <a:ea typeface="微软雅黑" pitchFamily="34" charset="-122"/>
                        </a:rPr>
                        <a:t> -</a:t>
                      </a:r>
                      <a:r>
                        <a:rPr lang="en-US" altLang="zh-CN" sz="1400" dirty="0" err="1">
                          <a:latin typeface="微软雅黑" pitchFamily="34" charset="-122"/>
                          <a:ea typeface="微软雅黑" pitchFamily="34" charset="-122"/>
                        </a:rPr>
                        <a:t>rf</a:t>
                      </a:r>
                      <a:r>
                        <a:rPr lang="en-US" altLang="zh-CN" sz="1400" dirty="0">
                          <a:latin typeface="微软雅黑" pitchFamily="34" charset="-122"/>
                          <a:ea typeface="微软雅黑" pitchFamily="34" charset="-122"/>
                        </a:rPr>
                        <a:t> /home/</a:t>
                      </a:r>
                      <a:r>
                        <a:rPr lang="en-US" altLang="zh-CN" sz="1400" dirty="0" err="1">
                          <a:latin typeface="微软雅黑" pitchFamily="34" charset="-122"/>
                          <a:ea typeface="微软雅黑" pitchFamily="34" charset="-122"/>
                        </a:rPr>
                        <a:t>gbase</a:t>
                      </a:r>
                      <a:r>
                        <a:rPr lang="en-US" altLang="zh-CN" sz="1400" dirty="0">
                          <a:latin typeface="微软雅黑" pitchFamily="34" charset="-122"/>
                          <a:ea typeface="微软雅黑" pitchFamily="34" charset="-122"/>
                        </a:rPr>
                        <a:t>/backup/*</a:t>
                      </a:r>
                    </a:p>
                    <a:p>
                      <a:r>
                        <a:rPr lang="en-US" altLang="zh-CN" sz="1400" dirty="0" err="1">
                          <a:latin typeface="微软雅黑" pitchFamily="34" charset="-122"/>
                          <a:ea typeface="微软雅黑" pitchFamily="34" charset="-122"/>
                        </a:rPr>
                        <a:t>ontape</a:t>
                      </a:r>
                      <a:r>
                        <a:rPr lang="en-US" altLang="zh-CN" sz="1400" dirty="0">
                          <a:latin typeface="微软雅黑" pitchFamily="34" charset="-122"/>
                          <a:ea typeface="微软雅黑" pitchFamily="34" charset="-122"/>
                        </a:rPr>
                        <a:t> -s -L 0 &lt;&lt;!</a:t>
                      </a:r>
                    </a:p>
                    <a:p>
                      <a:endParaRPr lang="en-US" altLang="zh-CN" sz="1400" dirty="0">
                        <a:latin typeface="微软雅黑" pitchFamily="34" charset="-122"/>
                        <a:ea typeface="微软雅黑" pitchFamily="34" charset="-122"/>
                      </a:endParaRPr>
                    </a:p>
                    <a:p>
                      <a:r>
                        <a:rPr lang="en-US" altLang="zh-CN" sz="1400" dirty="0">
                          <a:latin typeface="微软雅黑" pitchFamily="34" charset="-122"/>
                          <a:ea typeface="微软雅黑" pitchFamily="34" charset="-122"/>
                        </a:rPr>
                        <a:t>!</a:t>
                      </a:r>
                    </a:p>
                    <a:p>
                      <a:r>
                        <a:rPr lang="en-US" altLang="zh-CN" sz="1400" dirty="0">
                          <a:latin typeface="微软雅黑" pitchFamily="34" charset="-122"/>
                          <a:ea typeface="微软雅黑" pitchFamily="34" charset="-122"/>
                        </a:rPr>
                        <a:t>echo "Level 0 backup of "$INFORMIXSERVER" completed"</a:t>
                      </a:r>
                    </a:p>
                    <a:p>
                      <a:r>
                        <a:rPr lang="en-US" altLang="zh-CN" sz="1400" dirty="0">
                          <a:latin typeface="微软雅黑" pitchFamily="34" charset="-122"/>
                          <a:ea typeface="微软雅黑" pitchFamily="34" charset="-122"/>
                        </a:rPr>
                        <a:t>find /home/</a:t>
                      </a:r>
                      <a:r>
                        <a:rPr lang="en-US" altLang="zh-CN" sz="1400" dirty="0" err="1">
                          <a:latin typeface="微软雅黑" pitchFamily="34" charset="-122"/>
                          <a:ea typeface="微软雅黑" pitchFamily="34" charset="-122"/>
                        </a:rPr>
                        <a:t>gbase/tarfile</a:t>
                      </a:r>
                      <a:r>
                        <a:rPr lang="en-US" altLang="zh-CN" sz="1400" dirty="0">
                          <a:latin typeface="微软雅黑" pitchFamily="34" charset="-122"/>
                          <a:ea typeface="微软雅黑" pitchFamily="34" charset="-122"/>
                        </a:rPr>
                        <a:t>/ -</a:t>
                      </a:r>
                      <a:r>
                        <a:rPr lang="en-US" altLang="zh-CN" sz="1400" dirty="0" err="1">
                          <a:latin typeface="微软雅黑" pitchFamily="34" charset="-122"/>
                          <a:ea typeface="微软雅黑" pitchFamily="34" charset="-122"/>
                        </a:rPr>
                        <a:t>mtime</a:t>
                      </a:r>
                      <a:r>
                        <a:rPr lang="en-US" altLang="zh-CN" sz="1400" dirty="0">
                          <a:latin typeface="微软雅黑" pitchFamily="34" charset="-122"/>
                          <a:ea typeface="微软雅黑" pitchFamily="34" charset="-122"/>
                        </a:rPr>
                        <a:t> +7 -type f -name 'gbaseserver.30*' |</a:t>
                      </a:r>
                      <a:r>
                        <a:rPr lang="en-US" altLang="zh-CN" sz="1400" dirty="0" err="1">
                          <a:latin typeface="微软雅黑" pitchFamily="34" charset="-122"/>
                          <a:ea typeface="微软雅黑" pitchFamily="34" charset="-122"/>
                        </a:rPr>
                        <a:t>xargs</a:t>
                      </a:r>
                      <a:r>
                        <a:rPr lang="en-US" altLang="zh-CN" sz="1400" dirty="0">
                          <a:latin typeface="微软雅黑" pitchFamily="34" charset="-122"/>
                          <a:ea typeface="微软雅黑" pitchFamily="34" charset="-122"/>
                        </a:rPr>
                        <a:t> </a:t>
                      </a:r>
                      <a:r>
                        <a:rPr lang="en-US" altLang="zh-CN" sz="1400" dirty="0" err="1">
                          <a:latin typeface="微软雅黑" pitchFamily="34" charset="-122"/>
                          <a:ea typeface="微软雅黑" pitchFamily="34" charset="-122"/>
                        </a:rPr>
                        <a:t>rm</a:t>
                      </a:r>
                      <a:r>
                        <a:rPr lang="en-US" altLang="zh-CN" sz="1400" dirty="0">
                          <a:latin typeface="微软雅黑" pitchFamily="34" charset="-122"/>
                          <a:ea typeface="微软雅黑" pitchFamily="34" charset="-122"/>
                        </a:rPr>
                        <a:t> -</a:t>
                      </a:r>
                      <a:r>
                        <a:rPr lang="en-US" altLang="zh-CN" sz="1400" dirty="0" err="1">
                          <a:latin typeface="微软雅黑" pitchFamily="34" charset="-122"/>
                          <a:ea typeface="微软雅黑" pitchFamily="34" charset="-122"/>
                        </a:rPr>
                        <a:t>rf</a:t>
                      </a:r>
                      <a:endParaRPr lang="en-US" altLang="zh-CN" sz="1400" dirty="0">
                        <a:latin typeface="微软雅黑" pitchFamily="34" charset="-122"/>
                        <a:ea typeface="微软雅黑" pitchFamily="34" charset="-122"/>
                      </a:endParaRPr>
                    </a:p>
                    <a:p>
                      <a:r>
                        <a:rPr lang="en-US" altLang="zh-CN" sz="1400" dirty="0" err="1">
                          <a:latin typeface="微软雅黑" pitchFamily="34" charset="-122"/>
                          <a:ea typeface="微软雅黑" pitchFamily="34" charset="-122"/>
                        </a:rPr>
                        <a:t>fi</a:t>
                      </a:r>
                      <a:endParaRPr lang="zh-CN" altLang="en-US" sz="1400" dirty="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 bwMode="auto">
          <a:xfrm>
            <a:off x="1297912" y="5380730"/>
            <a:ext cx="1726755" cy="30777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rtlCol="0" anchor="b">
            <a:spAutoFit/>
          </a:bodyPr>
          <a:lstStyle/>
          <a:p>
            <a:pPr algn="ctr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zh-CN" altLang="en-US" sz="1400" kern="0" dirty="0"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保留</a:t>
            </a:r>
            <a:r>
              <a:rPr lang="en-US" altLang="zh-CN" sz="1400" kern="0" dirty="0"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7</a:t>
            </a:r>
            <a:r>
              <a:rPr lang="zh-CN" altLang="en-US" sz="1400" kern="0" dirty="0"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天的备份数据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矩形 28"/>
          <p:cNvSpPr/>
          <p:nvPr/>
        </p:nvSpPr>
        <p:spPr bwMode="auto">
          <a:xfrm>
            <a:off x="3347855" y="2811415"/>
            <a:ext cx="722312" cy="664210"/>
          </a:xfrm>
          <a:prstGeom prst="rect">
            <a:avLst/>
          </a:prstGeom>
          <a:solidFill>
            <a:srgbClr val="B5B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30" name="矩形 29"/>
          <p:cNvSpPr/>
          <p:nvPr/>
        </p:nvSpPr>
        <p:spPr bwMode="auto">
          <a:xfrm>
            <a:off x="4211455" y="2811415"/>
            <a:ext cx="4570412" cy="664210"/>
          </a:xfrm>
          <a:prstGeom prst="rect">
            <a:avLst/>
          </a:prstGeom>
          <a:solidFill>
            <a:srgbClr val="B5B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9" name="矩形 8"/>
          <p:cNvSpPr/>
          <p:nvPr/>
        </p:nvSpPr>
        <p:spPr bwMode="auto">
          <a:xfrm>
            <a:off x="3339148" y="1914424"/>
            <a:ext cx="722312" cy="664210"/>
          </a:xfrm>
          <a:prstGeom prst="rect">
            <a:avLst/>
          </a:prstGeom>
          <a:solidFill>
            <a:srgbClr val="B5B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目录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 bwMode="auto">
          <a:xfrm>
            <a:off x="3339148" y="3711322"/>
            <a:ext cx="722312" cy="662940"/>
          </a:xfrm>
          <a:prstGeom prst="rect">
            <a:avLst/>
          </a:prstGeom>
          <a:solidFill>
            <a:srgbClr val="DE120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" name="矩形 4"/>
          <p:cNvSpPr/>
          <p:nvPr/>
        </p:nvSpPr>
        <p:spPr bwMode="auto">
          <a:xfrm>
            <a:off x="4202748" y="3685196"/>
            <a:ext cx="4570412" cy="662940"/>
          </a:xfrm>
          <a:prstGeom prst="rect">
            <a:avLst/>
          </a:prstGeom>
          <a:solidFill>
            <a:srgbClr val="DE120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6" name="矩形 5"/>
          <p:cNvSpPr/>
          <p:nvPr/>
        </p:nvSpPr>
        <p:spPr bwMode="auto">
          <a:xfrm>
            <a:off x="3339148" y="2578100"/>
            <a:ext cx="722312" cy="45719"/>
          </a:xfrm>
          <a:prstGeom prst="rect">
            <a:avLst/>
          </a:prstGeom>
          <a:solidFill>
            <a:srgbClr val="2020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7" name="矩形 6"/>
          <p:cNvSpPr/>
          <p:nvPr/>
        </p:nvSpPr>
        <p:spPr bwMode="auto">
          <a:xfrm>
            <a:off x="4202748" y="2578100"/>
            <a:ext cx="4570412" cy="45719"/>
          </a:xfrm>
          <a:prstGeom prst="rect">
            <a:avLst/>
          </a:prstGeom>
          <a:solidFill>
            <a:srgbClr val="2020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8" name="文本框 3"/>
          <p:cNvSpPr txBox="1">
            <a:spLocks noChangeArrowheads="1"/>
          </p:cNvSpPr>
          <p:nvPr/>
        </p:nvSpPr>
        <p:spPr bwMode="auto">
          <a:xfrm>
            <a:off x="3470385" y="2073245"/>
            <a:ext cx="441146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</a:t>
            </a:r>
          </a:p>
        </p:txBody>
      </p:sp>
      <p:sp>
        <p:nvSpPr>
          <p:cNvPr id="10" name="矩形 9"/>
          <p:cNvSpPr/>
          <p:nvPr/>
        </p:nvSpPr>
        <p:spPr bwMode="auto">
          <a:xfrm>
            <a:off x="4202748" y="1914424"/>
            <a:ext cx="4570412" cy="664210"/>
          </a:xfrm>
          <a:prstGeom prst="rect">
            <a:avLst/>
          </a:prstGeom>
          <a:solidFill>
            <a:srgbClr val="B5B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11" name="矩形 10"/>
          <p:cNvSpPr/>
          <p:nvPr/>
        </p:nvSpPr>
        <p:spPr bwMode="auto">
          <a:xfrm>
            <a:off x="3339148" y="3473450"/>
            <a:ext cx="722312" cy="45719"/>
          </a:xfrm>
          <a:prstGeom prst="rect">
            <a:avLst/>
          </a:prstGeom>
          <a:solidFill>
            <a:srgbClr val="5A565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12" name="矩形 11"/>
          <p:cNvSpPr/>
          <p:nvPr/>
        </p:nvSpPr>
        <p:spPr bwMode="auto">
          <a:xfrm>
            <a:off x="4202748" y="3473450"/>
            <a:ext cx="4570412" cy="45719"/>
          </a:xfrm>
          <a:prstGeom prst="rect">
            <a:avLst/>
          </a:prstGeom>
          <a:solidFill>
            <a:srgbClr val="5A565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13" name="文本框 48"/>
          <p:cNvSpPr txBox="1">
            <a:spLocks noChangeArrowheads="1"/>
          </p:cNvSpPr>
          <p:nvPr/>
        </p:nvSpPr>
        <p:spPr bwMode="auto">
          <a:xfrm>
            <a:off x="3470385" y="2968595"/>
            <a:ext cx="441146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</a:t>
            </a:r>
          </a:p>
        </p:txBody>
      </p:sp>
      <p:sp>
        <p:nvSpPr>
          <p:cNvPr id="24" name="文本框 55"/>
          <p:cNvSpPr txBox="1">
            <a:spLocks noChangeArrowheads="1"/>
          </p:cNvSpPr>
          <p:nvPr/>
        </p:nvSpPr>
        <p:spPr bwMode="auto">
          <a:xfrm>
            <a:off x="4378960" y="2080394"/>
            <a:ext cx="4236720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2000" b="1" kern="0" dirty="0">
                <a:solidFill>
                  <a:srgbClr val="000000"/>
                </a:solidFill>
              </a:rPr>
              <a:t> </a:t>
            </a:r>
            <a:r>
              <a:rPr lang="en-US" altLang="zh-CN" sz="2000" b="1" kern="0" dirty="0" err="1">
                <a:solidFill>
                  <a:srgbClr val="000000"/>
                </a:solidFill>
              </a:rPr>
              <a:t>crontab</a:t>
            </a:r>
            <a:r>
              <a:rPr lang="zh-CN" altLang="en-US" sz="2000" b="1" kern="0" dirty="0">
                <a:solidFill>
                  <a:srgbClr val="000000"/>
                </a:solidFill>
              </a:rPr>
              <a:t>定时任务        </a:t>
            </a:r>
            <a:endParaRPr lang="zh-CN" altLang="en-US" sz="2000" spc="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文本框 55"/>
          <p:cNvSpPr txBox="1">
            <a:spLocks noChangeArrowheads="1"/>
          </p:cNvSpPr>
          <p:nvPr/>
        </p:nvSpPr>
        <p:spPr bwMode="auto">
          <a:xfrm>
            <a:off x="4378960" y="2965584"/>
            <a:ext cx="4236720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360363" lvl="1" algn="ctr">
              <a:spcBef>
                <a:spcPct val="20000"/>
              </a:spcBef>
              <a:buClr>
                <a:srgbClr val="FD0000"/>
              </a:buClr>
              <a:defRPr/>
            </a:pPr>
            <a:r>
              <a:rPr lang="zh-CN" altLang="en-US" sz="2000" b="1" kern="0" dirty="0">
                <a:solidFill>
                  <a:srgbClr val="000000"/>
                </a:solidFill>
              </a:rPr>
              <a:t>备份脚本编写</a:t>
            </a:r>
            <a:endParaRPr lang="en-US" altLang="zh-CN" sz="2000" b="1" kern="0" dirty="0">
              <a:solidFill>
                <a:srgbClr val="000000"/>
              </a:solidFill>
            </a:endParaRPr>
          </a:p>
        </p:txBody>
      </p:sp>
      <p:sp>
        <p:nvSpPr>
          <p:cNvPr id="28" name="灯片编号占位符 2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7A5AB6F-CD07-488A-A1B3-7EEE4CCFC41B}" type="slidenum">
              <a:rPr lang="zh-CN" altLang="en-US" smtClean="0"/>
              <a:pPr>
                <a:defRPr/>
              </a:pPr>
              <a:t>7</a:t>
            </a:fld>
            <a:r>
              <a:rPr lang="en-US" altLang="zh-CN"/>
              <a:t>/10</a:t>
            </a:r>
            <a:endParaRPr lang="zh-CN" altLang="en-US" dirty="0"/>
          </a:p>
        </p:txBody>
      </p:sp>
      <p:sp>
        <p:nvSpPr>
          <p:cNvPr id="31" name="矩形 30"/>
          <p:cNvSpPr/>
          <p:nvPr/>
        </p:nvSpPr>
        <p:spPr bwMode="auto">
          <a:xfrm>
            <a:off x="3347855" y="4344315"/>
            <a:ext cx="722312" cy="45719"/>
          </a:xfrm>
          <a:prstGeom prst="rect">
            <a:avLst/>
          </a:prstGeom>
          <a:solidFill>
            <a:srgbClr val="5A565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32" name="矩形 31"/>
          <p:cNvSpPr/>
          <p:nvPr/>
        </p:nvSpPr>
        <p:spPr bwMode="auto">
          <a:xfrm>
            <a:off x="4211455" y="4344315"/>
            <a:ext cx="4570412" cy="45719"/>
          </a:xfrm>
          <a:prstGeom prst="rect">
            <a:avLst/>
          </a:prstGeom>
          <a:solidFill>
            <a:srgbClr val="5A565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33" name="文本框 48"/>
          <p:cNvSpPr txBox="1">
            <a:spLocks noChangeArrowheads="1"/>
          </p:cNvSpPr>
          <p:nvPr/>
        </p:nvSpPr>
        <p:spPr bwMode="auto">
          <a:xfrm>
            <a:off x="3479092" y="3839460"/>
            <a:ext cx="441146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zh-CN" altLang="en-US"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</a:t>
            </a:r>
          </a:p>
        </p:txBody>
      </p:sp>
      <p:sp>
        <p:nvSpPr>
          <p:cNvPr id="34" name="文本框 55"/>
          <p:cNvSpPr txBox="1">
            <a:spLocks noChangeArrowheads="1"/>
          </p:cNvSpPr>
          <p:nvPr/>
        </p:nvSpPr>
        <p:spPr bwMode="auto">
          <a:xfrm>
            <a:off x="4387667" y="3836449"/>
            <a:ext cx="4236720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360363" lvl="1" algn="ctr">
              <a:spcBef>
                <a:spcPct val="20000"/>
              </a:spcBef>
              <a:buClr>
                <a:srgbClr val="FD0000"/>
              </a:buClr>
              <a:defRPr/>
            </a:pPr>
            <a:r>
              <a:rPr lang="en-US" altLang="zh-CN" sz="2000" b="1" kern="0" dirty="0" err="1">
                <a:solidFill>
                  <a:srgbClr val="000000"/>
                </a:solidFill>
              </a:rPr>
              <a:t>ontape</a:t>
            </a:r>
            <a:r>
              <a:rPr lang="zh-CN" altLang="en-US" sz="2000" b="1" kern="0" dirty="0">
                <a:solidFill>
                  <a:srgbClr val="000000"/>
                </a:solidFill>
              </a:rPr>
              <a:t>自动备份策略</a:t>
            </a:r>
            <a:endParaRPr lang="en-US" altLang="zh-CN" sz="2000" b="1" kern="0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ontape</a:t>
            </a:r>
            <a:r>
              <a:rPr lang="zh-CN" altLang="en-US" dirty="0"/>
              <a:t>自动备份策略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sz="1800" dirty="0"/>
              <a:t>修改</a:t>
            </a:r>
            <a:r>
              <a:rPr lang="en-US" altLang="zh-CN" sz="1800" dirty="0" err="1"/>
              <a:t>log_full.sh</a:t>
            </a:r>
            <a:r>
              <a:rPr lang="en-US" altLang="zh-CN" sz="1800" dirty="0"/>
              <a:t> </a:t>
            </a:r>
            <a:r>
              <a:rPr lang="zh-CN" altLang="en-US" sz="1800" dirty="0"/>
              <a:t>用于</a:t>
            </a:r>
            <a:r>
              <a:rPr lang="en-US" altLang="zh-CN" sz="1800" dirty="0" err="1"/>
              <a:t>ontape</a:t>
            </a:r>
            <a:r>
              <a:rPr lang="zh-CN" altLang="en-US" sz="1800" dirty="0"/>
              <a:t>自动备份逻辑日志</a:t>
            </a:r>
            <a:endParaRPr lang="en-US" altLang="zh-CN" sz="1800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7A5AB6F-CD07-488A-A1B3-7EEE4CCFC41B}" type="slidenum">
              <a:rPr lang="zh-CN" altLang="en-US" smtClean="0"/>
              <a:pPr>
                <a:defRPr/>
              </a:pPr>
              <a:t>8</a:t>
            </a:fld>
            <a:r>
              <a:rPr lang="en-US" altLang="zh-CN"/>
              <a:t>/10</a:t>
            </a:r>
            <a:endParaRPr lang="zh-CN" altLang="en-US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1195978" y="1763486"/>
          <a:ext cx="8128000" cy="435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2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959878">
                <a:tc>
                  <a:txBody>
                    <a:bodyPr/>
                    <a:lstStyle/>
                    <a:p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PROG=`</a:t>
                      </a:r>
                      <a:r>
                        <a:rPr lang="en-US" altLang="zh-CN" sz="1400" b="0" dirty="0" err="1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basename</a:t>
                      </a: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 $0`</a:t>
                      </a:r>
                    </a:p>
                    <a:p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USER_LIST=</a:t>
                      </a:r>
                      <a:r>
                        <a:rPr lang="en-US" altLang="zh-CN" sz="1400" b="0" dirty="0" err="1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informix</a:t>
                      </a:r>
                      <a:endParaRPr lang="en-US" altLang="zh-CN" sz="1400" b="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  <a:p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BACKUP_CMD=“</a:t>
                      </a:r>
                      <a:r>
                        <a:rPr lang="en-US" altLang="zh-CN" sz="1400" b="0" dirty="0" err="1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ontape</a:t>
                      </a:r>
                      <a:r>
                        <a:rPr lang="en-US" altLang="zh-CN" sz="1400" b="0" baseline="0" dirty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 –a -</a:t>
                      </a:r>
                      <a:r>
                        <a:rPr lang="en-US" altLang="zh-CN" sz="1400" b="0" baseline="0" dirty="0" err="1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dy</a:t>
                      </a: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"</a:t>
                      </a:r>
                    </a:p>
                    <a:p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EXIT_STATUS=0</a:t>
                      </a:r>
                    </a:p>
                    <a:p>
                      <a:endParaRPr lang="en-US" altLang="zh-CN" sz="1400" b="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  <a:p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EVENT_SEVERITY=$1</a:t>
                      </a:r>
                    </a:p>
                    <a:p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EVENT_CLASS=$2</a:t>
                      </a:r>
                    </a:p>
                    <a:p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EVENT_MSG="$3"</a:t>
                      </a:r>
                    </a:p>
                    <a:p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EVENT_ADD_TEXT="$4"</a:t>
                      </a:r>
                    </a:p>
                    <a:p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EVENT_FILE="$5"</a:t>
                      </a:r>
                    </a:p>
                    <a:p>
                      <a:endParaRPr lang="en-US" altLang="zh-CN" sz="1400" b="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  <a:p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case "$EVENT_CLASS" in</a:t>
                      </a:r>
                    </a:p>
                    <a:p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        23)</a:t>
                      </a:r>
                    </a:p>
                    <a:p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                # </a:t>
                      </a:r>
                      <a:r>
                        <a:rPr lang="en-US" altLang="zh-CN" sz="1400" b="0" dirty="0" err="1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onbar</a:t>
                      </a: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 assumes no operator is present,</a:t>
                      </a:r>
                    </a:p>
                    <a:p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                # so all messages are written to the activity</a:t>
                      </a:r>
                    </a:p>
                    <a:p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                # log and there shouldn't be any output, but</a:t>
                      </a:r>
                    </a:p>
                    <a:p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                # send everything to /dev/null just in case</a:t>
                      </a:r>
                    </a:p>
                    <a:p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                $BACKUP_CMD 2&gt;&amp;1 &gt;&gt; /dev/null</a:t>
                      </a:r>
                    </a:p>
                    <a:p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                EXIT_STATUS=$?</a:t>
                      </a:r>
                    </a:p>
                    <a:p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                ;;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ontape</a:t>
            </a:r>
            <a:r>
              <a:rPr lang="zh-CN" altLang="en-US" dirty="0"/>
              <a:t>自动备份策略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sz="1800" dirty="0"/>
              <a:t>修改</a:t>
            </a:r>
            <a:r>
              <a:rPr lang="en-US" altLang="zh-CN" sz="1800" dirty="0" err="1"/>
              <a:t>onconfig</a:t>
            </a:r>
            <a:r>
              <a:rPr lang="zh-CN" altLang="en-US" sz="1800" dirty="0"/>
              <a:t>调整自动备份逻辑日志参数</a:t>
            </a:r>
            <a:endParaRPr lang="en-US" altLang="zh-CN" sz="1800" dirty="0"/>
          </a:p>
          <a:p>
            <a:endParaRPr lang="en-US" altLang="zh-CN" sz="1800" dirty="0"/>
          </a:p>
          <a:p>
            <a:endParaRPr lang="en-US" altLang="zh-CN" sz="1800" dirty="0"/>
          </a:p>
          <a:p>
            <a:r>
              <a:rPr lang="zh-CN" altLang="en-US" sz="1800" dirty="0"/>
              <a:t>验证自动备份是否生效</a:t>
            </a:r>
            <a:endParaRPr lang="en-US" altLang="zh-CN" sz="1800" dirty="0"/>
          </a:p>
          <a:p>
            <a:pPr lvl="1"/>
            <a:r>
              <a:rPr lang="en-US" altLang="zh-CN" sz="1400" dirty="0" err="1"/>
              <a:t>onmode</a:t>
            </a:r>
            <a:r>
              <a:rPr lang="en-US" altLang="zh-CN" sz="1400" dirty="0"/>
              <a:t> –l</a:t>
            </a:r>
            <a:r>
              <a:rPr lang="zh-CN" altLang="en-US" sz="1400" dirty="0"/>
              <a:t>切换逻辑日志，查看</a:t>
            </a:r>
            <a:r>
              <a:rPr lang="en-US" altLang="zh-CN" sz="1400" dirty="0"/>
              <a:t>backup</a:t>
            </a:r>
            <a:r>
              <a:rPr lang="zh-CN" altLang="en-US" sz="1400" dirty="0"/>
              <a:t>目录下是否生成新的逻辑日志文件</a:t>
            </a:r>
            <a:endParaRPr lang="en-US" altLang="zh-CN" sz="1400" dirty="0"/>
          </a:p>
          <a:p>
            <a:pPr lvl="1"/>
            <a:endParaRPr lang="en-US" altLang="zh-CN" sz="1400" dirty="0"/>
          </a:p>
          <a:p>
            <a:endParaRPr lang="en-US" altLang="zh-CN" sz="1800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7A5AB6F-CD07-488A-A1B3-7EEE4CCFC41B}" type="slidenum">
              <a:rPr lang="zh-CN" altLang="en-US" smtClean="0"/>
              <a:pPr>
                <a:defRPr/>
              </a:pPr>
              <a:t>9</a:t>
            </a:fld>
            <a:r>
              <a:rPr lang="en-US" altLang="zh-CN"/>
              <a:t>/10</a:t>
            </a:r>
            <a:endParaRPr lang="zh-CN" altLang="en-US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1195978" y="1894116"/>
          <a:ext cx="8078651" cy="3526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786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2697">
                <a:tc>
                  <a:txBody>
                    <a:bodyPr/>
                    <a:lstStyle/>
                    <a:p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ALARMPROGRAM $INFORMIXDIR/etc/</a:t>
                      </a:r>
                      <a:r>
                        <a:rPr lang="en-US" altLang="zh-CN" sz="1400" b="0" dirty="0" err="1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log_full.sh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ontape</a:t>
            </a:r>
            <a:r>
              <a:rPr lang="zh-CN" altLang="en-US" dirty="0"/>
              <a:t>自动备份策略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sz="1800" dirty="0"/>
              <a:t>执行</a:t>
            </a:r>
            <a:r>
              <a:rPr lang="en-US" altLang="zh-CN" sz="1800" dirty="0" err="1"/>
              <a:t>backup.sh</a:t>
            </a:r>
            <a:r>
              <a:rPr lang="zh-CN" altLang="en-US" sz="1800" dirty="0"/>
              <a:t>，看是否会生成全量备份文件</a:t>
            </a:r>
            <a:endParaRPr lang="en-US" altLang="zh-CN" sz="1800" dirty="0"/>
          </a:p>
          <a:p>
            <a:endParaRPr lang="en-US" altLang="zh-CN" sz="1800" dirty="0"/>
          </a:p>
          <a:p>
            <a:endParaRPr lang="en-US" altLang="zh-CN" sz="1800" dirty="0"/>
          </a:p>
          <a:p>
            <a:r>
              <a:rPr lang="zh-CN" altLang="en-US" sz="1800" dirty="0"/>
              <a:t>验证</a:t>
            </a:r>
            <a:r>
              <a:rPr lang="en-US" altLang="zh-CN" sz="1800" dirty="0" err="1"/>
              <a:t>crontab</a:t>
            </a:r>
            <a:r>
              <a:rPr lang="en-US" altLang="zh-CN" sz="1800" dirty="0"/>
              <a:t> </a:t>
            </a:r>
            <a:r>
              <a:rPr lang="zh-CN" altLang="en-US" sz="1800" dirty="0"/>
              <a:t>是否到指定周期执行脚本</a:t>
            </a:r>
            <a:endParaRPr lang="en-US" altLang="zh-CN" sz="1800" dirty="0"/>
          </a:p>
          <a:p>
            <a:pPr lvl="1"/>
            <a:r>
              <a:rPr lang="zh-CN" altLang="en-US" sz="1200" dirty="0"/>
              <a:t>调整脚本执行周期为每</a:t>
            </a:r>
            <a:r>
              <a:rPr lang="en-US" altLang="zh-CN" sz="1200" dirty="0"/>
              <a:t>5</a:t>
            </a:r>
            <a:r>
              <a:rPr lang="zh-CN" altLang="en-US" sz="1200" dirty="0"/>
              <a:t>分钟执行一次</a:t>
            </a:r>
            <a:endParaRPr lang="en-US" altLang="zh-CN" sz="1200" dirty="0"/>
          </a:p>
          <a:p>
            <a:pPr lvl="1"/>
            <a:endParaRPr lang="en-US" altLang="zh-CN" sz="1200" dirty="0"/>
          </a:p>
          <a:p>
            <a:pPr lvl="1"/>
            <a:endParaRPr lang="en-US" altLang="zh-CN" sz="1200" dirty="0"/>
          </a:p>
          <a:p>
            <a:pPr lvl="1"/>
            <a:r>
              <a:rPr lang="zh-CN" altLang="en-US" sz="1200" dirty="0"/>
              <a:t>验证完成后修改为对应备份周期策略</a:t>
            </a:r>
            <a:endParaRPr lang="en-US" altLang="zh-CN" sz="1200" dirty="0"/>
          </a:p>
          <a:p>
            <a:pPr lvl="1"/>
            <a:endParaRPr lang="en-US" altLang="zh-CN" sz="1200" dirty="0"/>
          </a:p>
          <a:p>
            <a:pPr lvl="1"/>
            <a:endParaRPr lang="en-US" altLang="zh-CN" sz="1400" dirty="0"/>
          </a:p>
          <a:p>
            <a:endParaRPr lang="en-US" altLang="zh-CN" sz="1800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7A5AB6F-CD07-488A-A1B3-7EEE4CCFC41B}" type="slidenum">
              <a:rPr lang="zh-CN" altLang="en-US" smtClean="0"/>
              <a:pPr>
                <a:defRPr/>
              </a:pPr>
              <a:t>10</a:t>
            </a:fld>
            <a:r>
              <a:rPr lang="en-US" altLang="zh-CN"/>
              <a:t>/10</a:t>
            </a:r>
            <a:endParaRPr lang="zh-CN" altLang="en-US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1195978" y="1894116"/>
          <a:ext cx="8078651" cy="3526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786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2697">
                <a:tc>
                  <a:txBody>
                    <a:bodyPr/>
                    <a:lstStyle/>
                    <a:p>
                      <a:r>
                        <a:rPr lang="en-US" altLang="zh-CN" sz="1400" b="0" dirty="0" err="1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sh</a:t>
                      </a: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 </a:t>
                      </a:r>
                      <a:r>
                        <a:rPr lang="en-US" altLang="zh-CN" sz="1400" b="0" dirty="0" err="1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backup.sh</a:t>
                      </a:r>
                      <a:endParaRPr lang="en-US" altLang="zh-CN" sz="1400" b="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1182915" y="3149359"/>
          <a:ext cx="812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2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*/5 * * * * /bin/</a:t>
                      </a:r>
                      <a:r>
                        <a:rPr lang="en-US" altLang="zh-CN" sz="1400" b="0" dirty="0" err="1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sh</a:t>
                      </a: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 /home/</a:t>
                      </a:r>
                      <a:r>
                        <a:rPr lang="en-US" altLang="zh-CN" sz="1400" b="0" dirty="0" err="1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gbase/sql/backup.sh</a:t>
                      </a: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 &gt;&gt;/home/</a:t>
                      </a:r>
                      <a:r>
                        <a:rPr lang="en-US" altLang="zh-CN" sz="1400" b="0" dirty="0" err="1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gbase/sql/backup.log</a:t>
                      </a: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  2&gt;&amp;1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Thank you !</a:t>
            </a:r>
            <a:endParaRPr lang="zh-CN" alt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 bwMode="auto">
        <a:noFill/>
        <a:ln w="9525">
          <a:noFill/>
          <a:miter lim="800000"/>
        </a:ln>
      </a:spPr>
      <a:bodyPr anchor="b"/>
      <a:lstStyle>
        <a:defPPr algn="ctr">
          <a:spcBef>
            <a:spcPct val="20000"/>
          </a:spcBef>
          <a:buClr>
            <a:schemeClr val="hlink"/>
          </a:buClr>
          <a:buFont typeface="Wingdings" panose="05000000000000000000" pitchFamily="2" charset="2"/>
          <a:buNone/>
          <a:defRPr sz="3200" b="1" kern="0" dirty="0" smtClean="0">
            <a:solidFill>
              <a:srgbClr val="C00000"/>
            </a:solidFill>
            <a:latin typeface="微软雅黑" panose="020B0503020204020204" pitchFamily="34" charset="-122"/>
            <a:ea typeface="微软雅黑" panose="020B0503020204020204" pitchFamily="34" charset="-122"/>
            <a:cs typeface="+mj-cs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184</TotalTime>
  <Words>737</Words>
  <Application>Microsoft Office PowerPoint</Application>
  <PresentationFormat>宽屏</PresentationFormat>
  <Paragraphs>123</Paragraphs>
  <Slides>12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8" baseType="lpstr">
      <vt:lpstr>Calibri</vt:lpstr>
      <vt:lpstr>Arial</vt:lpstr>
      <vt:lpstr>Calibri Light</vt:lpstr>
      <vt:lpstr>微软雅黑</vt:lpstr>
      <vt:lpstr>Wingdings</vt:lpstr>
      <vt:lpstr>Office 主题</vt:lpstr>
      <vt:lpstr>GBase8s连续自动备份策略</vt:lpstr>
      <vt:lpstr>目标</vt:lpstr>
      <vt:lpstr>目录</vt:lpstr>
      <vt:lpstr>crontab定时任务</vt:lpstr>
      <vt:lpstr>crontab定时任务</vt:lpstr>
      <vt:lpstr>目录</vt:lpstr>
      <vt:lpstr>备份脚本编写</vt:lpstr>
      <vt:lpstr>目录</vt:lpstr>
      <vt:lpstr>ontape自动备份策略</vt:lpstr>
      <vt:lpstr>ontape自动备份策略</vt:lpstr>
      <vt:lpstr>ontape自动备份策略</vt:lpstr>
      <vt:lpstr>Thank you !</vt:lpstr>
    </vt:vector>
  </TitlesOfParts>
  <Company>China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2013-08-14T15:08:00Z</dcterms:created>
  <dc:creator>Gbase Market</dc:creator>
  <cp:lastModifiedBy>463145380@qq.com</cp:lastModifiedBy>
  <dcterms:modified xsi:type="dcterms:W3CDTF">2020-01-03T08:30:48Z</dcterms:modified>
  <cp:revision>1005</cp:revision>
  <dc:title>PowerPoint 演示文稿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2052-10.1.0.6749</vt:lpwstr>
  </property>
</Properties>
</file>