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400" r:id="rId2"/>
    <p:sldId id="435" r:id="rId3"/>
    <p:sldId id="401" r:id="rId4"/>
    <p:sldId id="433" r:id="rId5"/>
    <p:sldId id="443" r:id="rId6"/>
    <p:sldId id="449" r:id="rId7"/>
    <p:sldId id="403" r:id="rId8"/>
    <p:sldId id="404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45" r:id="rId17"/>
    <p:sldId id="413" r:id="rId18"/>
    <p:sldId id="414" r:id="rId19"/>
    <p:sldId id="415" r:id="rId20"/>
    <p:sldId id="416" r:id="rId21"/>
    <p:sldId id="419" r:id="rId22"/>
    <p:sldId id="420" r:id="rId23"/>
    <p:sldId id="423" r:id="rId24"/>
    <p:sldId id="424" r:id="rId25"/>
    <p:sldId id="425" r:id="rId26"/>
    <p:sldId id="426" r:id="rId27"/>
    <p:sldId id="427" r:id="rId28"/>
    <p:sldId id="428" r:id="rId29"/>
    <p:sldId id="429" r:id="rId30"/>
    <p:sldId id="430" r:id="rId31"/>
    <p:sldId id="431" r:id="rId32"/>
    <p:sldId id="434" r:id="rId33"/>
    <p:sldId id="446" r:id="rId34"/>
    <p:sldId id="450" r:id="rId35"/>
    <p:sldId id="451" r:id="rId36"/>
    <p:sldId id="452" r:id="rId37"/>
    <p:sldId id="447" r:id="rId38"/>
    <p:sldId id="439" r:id="rId39"/>
    <p:sldId id="442" r:id="rId40"/>
    <p:sldId id="453" r:id="rId41"/>
    <p:sldId id="454" r:id="rId42"/>
    <p:sldId id="455" r:id="rId43"/>
    <p:sldId id="456" r:id="rId44"/>
    <p:sldId id="432" r:id="rId45"/>
  </p:sldIdLst>
  <p:sldSz cx="12192000" cy="6858000"/>
  <p:notesSz cx="6858000" cy="9144000"/>
  <p:embeddedFontLst>
    <p:embeddedFont>
      <p:font typeface="微软雅黑" pitchFamily="34" charset="-122"/>
      <p:regular r:id="rId48"/>
      <p:bold r:id="rId49"/>
    </p:embeddedFont>
    <p:embeddedFont>
      <p:font typeface="Calibri" pitchFamily="34" charset="0"/>
      <p:regular r:id="rId50"/>
      <p:bold r:id="rId51"/>
      <p:italic r:id="rId52"/>
      <p:boldItalic r:id="rId53"/>
    </p:embeddedFont>
    <p:embeddedFont>
      <p:font typeface="Calibri Light" charset="0"/>
      <p:regular r:id="rId54"/>
      <p:italic r:id="rId55"/>
    </p:embeddedFont>
    <p:embeddedFont>
      <p:font typeface="Verdana" pitchFamily="34" charset="0"/>
      <p:regular r:id="rId56"/>
      <p:bold r:id="rId57"/>
      <p:italic r:id="rId58"/>
      <p:boldItalic r:id="rId59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094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pos="325">
          <p15:clr>
            <a:srgbClr val="A4A3A4"/>
          </p15:clr>
        </p15:guide>
        <p15:guide id="4" pos="7106">
          <p15:clr>
            <a:srgbClr val="A4A3A4"/>
          </p15:clr>
        </p15:guide>
        <p15:guide id="5" pos="189">
          <p15:clr>
            <a:srgbClr val="A4A3A4"/>
          </p15:clr>
        </p15:guide>
        <p15:guide id="6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E1208"/>
    <a:srgbClr val="B5B5B5"/>
    <a:srgbClr val="5A5656"/>
    <a:srgbClr val="85898F"/>
    <a:srgbClr val="DADEE6"/>
    <a:srgbClr val="494545"/>
    <a:srgbClr val="5A6783"/>
    <a:srgbClr val="F15B67"/>
    <a:srgbClr val="A1A1A1"/>
    <a:srgbClr val="3D485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3845" autoAdjust="0"/>
    <p:restoredTop sz="99882" autoAdjust="0"/>
  </p:normalViewPr>
  <p:slideViewPr>
    <p:cSldViewPr snapToGrid="0">
      <p:cViewPr varScale="1">
        <p:scale>
          <a:sx n="114" d="100"/>
          <a:sy n="114" d="100"/>
        </p:scale>
        <p:origin x="-228" y="-96"/>
      </p:cViewPr>
      <p:guideLst>
        <p:guide orient="horz" pos="1094"/>
        <p:guide orient="horz" pos="4065"/>
        <p:guide pos="325"/>
        <p:guide pos="7106"/>
        <p:guide pos="18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1884"/>
    </p:cViewPr>
  </p:sorterViewPr>
  <p:notesViewPr>
    <p:cSldViewPr snapToGrid="0">
      <p:cViewPr varScale="1">
        <p:scale>
          <a:sx n="83" d="100"/>
          <a:sy n="83" d="100"/>
        </p:scale>
        <p:origin x="-3192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slides/slide33.xml" Type="http://schemas.openxmlformats.org/officeDocument/2006/relationships/slide"/><Relationship Id="rId35" Target="slides/slide34.xml" Type="http://schemas.openxmlformats.org/officeDocument/2006/relationships/slide"/><Relationship Id="rId36" Target="slides/slide35.xml" Type="http://schemas.openxmlformats.org/officeDocument/2006/relationships/slide"/><Relationship Id="rId37" Target="slides/slide36.xml" Type="http://schemas.openxmlformats.org/officeDocument/2006/relationships/slide"/><Relationship Id="rId38" Target="slides/slide37.xml" Type="http://schemas.openxmlformats.org/officeDocument/2006/relationships/slide"/><Relationship Id="rId39" Target="slides/slide38.xml" Type="http://schemas.openxmlformats.org/officeDocument/2006/relationships/slide"/><Relationship Id="rId4" Target="slides/slide3.xml" Type="http://schemas.openxmlformats.org/officeDocument/2006/relationships/slide"/><Relationship Id="rId40" Target="slides/slide39.xml" Type="http://schemas.openxmlformats.org/officeDocument/2006/relationships/slide"/><Relationship Id="rId41" Target="slides/slide40.xml" Type="http://schemas.openxmlformats.org/officeDocument/2006/relationships/slide"/><Relationship Id="rId42" Target="slides/slide41.xml" Type="http://schemas.openxmlformats.org/officeDocument/2006/relationships/slide"/><Relationship Id="rId43" Target="slides/slide42.xml" Type="http://schemas.openxmlformats.org/officeDocument/2006/relationships/slide"/><Relationship Id="rId44" Target="slides/slide43.xml" Type="http://schemas.openxmlformats.org/officeDocument/2006/relationships/slide"/><Relationship Id="rId45" Target="slides/slide44.xml" Type="http://schemas.openxmlformats.org/officeDocument/2006/relationships/slide"/><Relationship Id="rId46" Target="notesMasters/notesMaster1.xml" Type="http://schemas.openxmlformats.org/officeDocument/2006/relationships/notesMaster"/><Relationship Id="rId47" Target="handoutMasters/handoutMaster1.xml" Type="http://schemas.openxmlformats.org/officeDocument/2006/relationships/handoutMaster"/><Relationship Id="rId48" Target="fonts/font1.fntdata" Type="http://schemas.openxmlformats.org/officeDocument/2006/relationships/font"/><Relationship Id="rId49" Target="fonts/font2.fntdata" Type="http://schemas.openxmlformats.org/officeDocument/2006/relationships/font"/><Relationship Id="rId5" Target="slides/slide4.xml" Type="http://schemas.openxmlformats.org/officeDocument/2006/relationships/slide"/><Relationship Id="rId50" Target="fonts/font3.fntdata" Type="http://schemas.openxmlformats.org/officeDocument/2006/relationships/font"/><Relationship Id="rId51" Target="fonts/font4.fntdata" Type="http://schemas.openxmlformats.org/officeDocument/2006/relationships/font"/><Relationship Id="rId52" Target="fonts/font5.fntdata" Type="http://schemas.openxmlformats.org/officeDocument/2006/relationships/font"/><Relationship Id="rId53" Target="fonts/font6.fntdata" Type="http://schemas.openxmlformats.org/officeDocument/2006/relationships/font"/><Relationship Id="rId54" Target="fonts/font7.fntdata" Type="http://schemas.openxmlformats.org/officeDocument/2006/relationships/font"/><Relationship Id="rId55" Target="fonts/font8.fntdata" Type="http://schemas.openxmlformats.org/officeDocument/2006/relationships/font"/><Relationship Id="rId56" Target="fonts/font9.fntdata" Type="http://schemas.openxmlformats.org/officeDocument/2006/relationships/font"/><Relationship Id="rId57" Target="fonts/font10.fntdata" Type="http://schemas.openxmlformats.org/officeDocument/2006/relationships/font"/><Relationship Id="rId58" Target="fonts/font11.fntdata" Type="http://schemas.openxmlformats.org/officeDocument/2006/relationships/font"/><Relationship Id="rId59" Target="fonts/font12.fntdata" Type="http://schemas.openxmlformats.org/officeDocument/2006/relationships/font"/><Relationship Id="rId6" Target="slides/slide5.xml" Type="http://schemas.openxmlformats.org/officeDocument/2006/relationships/slide"/><Relationship Id="rId60" Target="presProps.xml" Type="http://schemas.openxmlformats.org/officeDocument/2006/relationships/presProps"/><Relationship Id="rId61" Target="viewProps.xml" Type="http://schemas.openxmlformats.org/officeDocument/2006/relationships/viewProps"/><Relationship Id="rId62" Target="theme/theme1.xml" Type="http://schemas.openxmlformats.org/officeDocument/2006/relationships/theme"/><Relationship Id="rId63" Target="tableStyles.xml" Type="http://schemas.openxmlformats.org/officeDocument/2006/relationships/tableStyles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2019/9/16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5546056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6622AFC-370D-4D83-BC2C-E3B279A36771}" type="datetimeFigureOut">
              <a:rPr lang="zh-CN" altLang="en-US"/>
              <a:pPr>
                <a:defRPr/>
              </a:pPr>
              <a:t>2019/9/16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B37621B-8712-439F-AD62-D011FD133E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2816419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pPr>
                <a:defRPr/>
              </a:pPr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29693138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6.jpe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787C887-E0EA-48E6-9009-742CC8F3D7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240716" y="601711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380" kern="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8175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 userDrawn="1"/>
        </p:nvSpPr>
        <p:spPr bwMode="auto">
          <a:xfrm>
            <a:off x="227398" y="2690706"/>
            <a:ext cx="3288080" cy="323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500" b="1" spc="650" baseline="0" dirty="0" smtClean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让世界用上中国的数据库</a:t>
            </a:r>
            <a:endParaRPr lang="zh-CN" altLang="en-US" sz="1500" b="1" spc="650" baseline="0" dirty="0">
              <a:solidFill>
                <a:srgbClr val="49454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5506720" y="2395515"/>
            <a:ext cx="6461760" cy="56944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南大通用数据技术股份有限公司</a:t>
            </a:r>
            <a:endParaRPr lang="zh-CN" altLang="en-US" dirty="0"/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36148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300" kern="0" spc="0" baseline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300" kern="0" spc="0" baseline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3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3" descr="C:\Users\win\AppData\Roaming\Foxmail7\Temp-7648-20180621171322\Attach\GBase_LOGO-2018矢量.png"/>
          <p:cNvPicPr>
            <a:picLocks noChangeAspect="1" noChangeArrowheads="1"/>
          </p:cNvPicPr>
          <p:nvPr userDrawn="1"/>
        </p:nvPicPr>
        <p:blipFill>
          <a:blip r:embed="rId3" cstate="print"/>
          <a:srcRect t="20786" r="2139" b="25983"/>
          <a:stretch>
            <a:fillRect/>
          </a:stretch>
        </p:blipFill>
        <p:spPr bwMode="auto">
          <a:xfrm>
            <a:off x="321929" y="1992702"/>
            <a:ext cx="3288737" cy="68947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Title&amp;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标题文字</a:t>
            </a:r>
            <a:endParaRPr lang="zh-CN" altLang="en-US" dirty="0"/>
          </a:p>
        </p:txBody>
      </p:sp>
      <p:sp>
        <p:nvSpPr>
          <p:cNvPr id="4" name="TextBox 3"/>
          <p:cNvSpPr txBox="1"/>
          <p:nvPr userDrawn="1"/>
        </p:nvSpPr>
        <p:spPr bwMode="auto">
          <a:xfrm>
            <a:off x="5400000" y="6533909"/>
            <a:ext cx="43633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endParaRPr lang="zh-CN" altLang="en-US" sz="1600" b="0" kern="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Picture 2" descr="C:\Users\win\AppData\Roaming\Foxmail7\Temp-7648-20180621171322\Attach\GBase_LOGO_2018反白矢量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4254" y="6377731"/>
            <a:ext cx="1761048" cy="5725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Title&amp;段落文本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标题文字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755650" y="1248508"/>
            <a:ext cx="1071880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2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 smtClean="0"/>
              <a:t>第一级</a:t>
            </a:r>
          </a:p>
          <a:p>
            <a:pPr lvl="1"/>
            <a:r>
              <a:rPr lang="zh-CN" altLang="en-US" dirty="0" smtClean="0"/>
              <a:t>第二级</a:t>
            </a:r>
            <a:endParaRPr lang="zh-CN" altLang="en-US" dirty="0"/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5400000" y="6533909"/>
            <a:ext cx="43633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endParaRPr lang="zh-CN" altLang="en-US" sz="1600" b="0" kern="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Picture 2" descr="C:\Users\win\AppData\Roaming\Foxmail7\Temp-7648-20180621171322\Attach\GBase_LOGO_2018反白矢量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254" y="6377731"/>
            <a:ext cx="1761048" cy="5725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Title&amp;文字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标题文字</a:t>
            </a:r>
            <a:endParaRPr lang="zh-CN" altLang="en-US" dirty="0"/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77280" y="1248508"/>
            <a:ext cx="529717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2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 smtClean="0"/>
              <a:t>第一级</a:t>
            </a:r>
          </a:p>
          <a:p>
            <a:pPr lvl="1"/>
            <a:r>
              <a:rPr lang="zh-CN" altLang="en-US" dirty="0" smtClean="0"/>
              <a:t>第二级</a:t>
            </a:r>
            <a:endParaRPr lang="zh-CN" altLang="en-US" dirty="0"/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5400000" y="6533909"/>
            <a:ext cx="43633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‹#›</a:t>
            </a:fld>
            <a:endParaRPr lang="zh-CN" altLang="en-US" sz="1600" b="0" kern="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Picture 2" descr="C:\Users\win\AppData\Roaming\Foxmail7\Temp-7648-20180621171322\Attach\GBase_LOGO_2018反白矢量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4254" y="6377731"/>
            <a:ext cx="1761048" cy="5725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037516" y="605775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200" kern="0" spc="15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6143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</a:t>
            </a:r>
            <a:r>
              <a:rPr lang="zh-CN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201</a:t>
            </a:r>
            <a:r>
              <a:rPr lang="en-US" altLang="zh-CN" sz="1200" spc="100" dirty="0" smtClean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9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236371" y="3381035"/>
            <a:ext cx="7816361" cy="611845"/>
          </a:xfrm>
          <a:prstGeom prst="rect">
            <a:avLst/>
          </a:prstGeom>
          <a:ln w="15875">
            <a:noFill/>
            <a:prstDash val="solid"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5A67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Thank you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13796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200" kern="0" spc="0" baseline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200" kern="0" spc="0" baseline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2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 txBox="1"/>
          <p:nvPr userDrawn="1"/>
        </p:nvSpPr>
        <p:spPr>
          <a:xfrm>
            <a:off x="4445779" y="1516752"/>
            <a:ext cx="3189069" cy="1582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2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Q&amp;A</a:t>
            </a:r>
            <a:endParaRPr kumimoji="0" lang="zh-CN" altLang="en-US" sz="96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027" name="Picture 3" descr="C:\Users\win\AppData\Roaming\Foxmail7\Temp-7648-20180621171322\Attach\GBase_LOGO-2018矢量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08233" y="5281003"/>
            <a:ext cx="2692800" cy="103787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theme/theme1.xml" Type="http://schemas.openxmlformats.org/officeDocument/2006/relationships/theme"/><Relationship Id="rId7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6738"/>
            <a:ext cx="168275" cy="454025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B0604020202020204" pitchFamily="34" charset="0"/>
              </a:rPr>
              <a:t>GBase 8s</a:t>
            </a:r>
            <a:r>
              <a:rPr lang="zh-CN" altLang="en-US" dirty="0" smtClean="0">
                <a:latin typeface="Arial" panose="020B0604020202020204" pitchFamily="34" charset="0"/>
              </a:rPr>
              <a:t>安装与配置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388703" y="6563417"/>
            <a:ext cx="50687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D84502BE-93F0-4EA8-A8AA-6F5E8ED668D7}" type="slidenum">
              <a:rPr lang="zh-CN" altLang="en-US" sz="1200" kern="0" spc="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pPr algn="ctr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None/>
              </a:pPr>
              <a:t>0</a:t>
            </a:fld>
            <a:r>
              <a:rPr lang="en-US" altLang="zh-CN" sz="1200" kern="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/7</a:t>
            </a:r>
            <a:endParaRPr lang="zh-CN" altLang="en-US" sz="1200" kern="0" spc="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3339148" y="1331705"/>
            <a:ext cx="5434012" cy="662940"/>
            <a:chOff x="3339148" y="1331705"/>
            <a:chExt cx="5434012" cy="662940"/>
          </a:xfrm>
        </p:grpSpPr>
        <p:sp>
          <p:nvSpPr>
            <p:cNvPr id="3" name="矩形 2"/>
            <p:cNvSpPr/>
            <p:nvPr/>
          </p:nvSpPr>
          <p:spPr bwMode="auto">
            <a:xfrm>
              <a:off x="3339148" y="1331705"/>
              <a:ext cx="722312" cy="66294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4202748" y="1331705"/>
              <a:ext cx="4570412" cy="66294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3339148" y="1948925"/>
              <a:ext cx="7223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4202748" y="1948925"/>
              <a:ext cx="45704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3"/>
            <p:cNvSpPr txBox="1">
              <a:spLocks noChangeArrowheads="1"/>
            </p:cNvSpPr>
            <p:nvPr/>
          </p:nvSpPr>
          <p:spPr bwMode="auto">
            <a:xfrm>
              <a:off x="3470385" y="14440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23" name="文本框 55"/>
            <p:cNvSpPr txBox="1">
              <a:spLocks noChangeArrowheads="1"/>
            </p:cNvSpPr>
            <p:nvPr/>
          </p:nvSpPr>
          <p:spPr bwMode="auto">
            <a:xfrm>
              <a:off x="4378960" y="145121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软件版本说明及安装准备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339148" y="2342655"/>
            <a:ext cx="5434012" cy="664210"/>
            <a:chOff x="3339148" y="2225785"/>
            <a:chExt cx="5434012" cy="664210"/>
          </a:xfrm>
        </p:grpSpPr>
        <p:sp>
          <p:nvSpPr>
            <p:cNvPr id="8" name="矩形 7"/>
            <p:cNvSpPr/>
            <p:nvPr/>
          </p:nvSpPr>
          <p:spPr bwMode="auto">
            <a:xfrm>
              <a:off x="3339148" y="2225785"/>
              <a:ext cx="7223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02748" y="2225785"/>
              <a:ext cx="45704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3339148" y="284427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4202748" y="284427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文本框 48"/>
            <p:cNvSpPr txBox="1">
              <a:spLocks noChangeArrowheads="1"/>
            </p:cNvSpPr>
            <p:nvPr/>
          </p:nvSpPr>
          <p:spPr bwMode="auto">
            <a:xfrm>
              <a:off x="3470385" y="233942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  <p:sp>
          <p:nvSpPr>
            <p:cNvPr id="24" name="文本框 55"/>
            <p:cNvSpPr txBox="1">
              <a:spLocks noChangeArrowheads="1"/>
            </p:cNvSpPr>
            <p:nvPr/>
          </p:nvSpPr>
          <p:spPr bwMode="auto">
            <a:xfrm>
              <a:off x="4378960" y="233640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39148" y="3354875"/>
            <a:ext cx="5434012" cy="665480"/>
            <a:chOff x="3339148" y="3119865"/>
            <a:chExt cx="5434012" cy="665480"/>
          </a:xfrm>
        </p:grpSpPr>
        <p:sp>
          <p:nvSpPr>
            <p:cNvPr id="13" name="矩形 12"/>
            <p:cNvSpPr/>
            <p:nvPr/>
          </p:nvSpPr>
          <p:spPr bwMode="auto">
            <a:xfrm>
              <a:off x="3339148" y="3119865"/>
              <a:ext cx="7223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202748" y="3119865"/>
              <a:ext cx="45704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3339148" y="373962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202748" y="373962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54"/>
            <p:cNvSpPr txBox="1">
              <a:spLocks noChangeArrowheads="1"/>
            </p:cNvSpPr>
            <p:nvPr/>
          </p:nvSpPr>
          <p:spPr bwMode="auto">
            <a:xfrm>
              <a:off x="3470385" y="32347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25" name="文本框 55"/>
            <p:cNvSpPr txBox="1">
              <a:spLocks noChangeArrowheads="1"/>
            </p:cNvSpPr>
            <p:nvPr/>
          </p:nvSpPr>
          <p:spPr bwMode="auto">
            <a:xfrm>
              <a:off x="4378960" y="3242033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手工创建实例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339148" y="5372963"/>
            <a:ext cx="5434012" cy="656590"/>
            <a:chOff x="3339148" y="5372963"/>
            <a:chExt cx="5434012" cy="656590"/>
          </a:xfrm>
        </p:grpSpPr>
        <p:sp>
          <p:nvSpPr>
            <p:cNvPr id="18" name="矩形 1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卸载安装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339148" y="4368365"/>
            <a:ext cx="5434012" cy="656590"/>
            <a:chOff x="3339148" y="5372963"/>
            <a:chExt cx="5434012" cy="656590"/>
          </a:xfrm>
        </p:grpSpPr>
        <p:sp>
          <p:nvSpPr>
            <p:cNvPr id="38" name="矩形 3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43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快速安装脚本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软件版本说明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 bwMode="auto">
          <a:xfrm>
            <a:off x="674098" y="1851204"/>
            <a:ext cx="7146508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GBase8sV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8.8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_AEE_</a:t>
            </a:r>
            <a:r>
              <a:rPr lang="en-US" altLang="zh-CN" sz="2400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2.0.1A2_2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_</a:t>
            </a:r>
            <a:r>
              <a:rPr lang="en-US" altLang="zh-CN" sz="2400" dirty="0" smtClean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Kylin4_FT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.tar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GBase8sV</a:t>
            </a:r>
            <a:r>
              <a:rPr lang="en-US" altLang="zh-CN" sz="24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8.7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_</a:t>
            </a:r>
            <a:r>
              <a:rPr lang="en-US" altLang="zh-CN" sz="2400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3.0.0_1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_93e040_</a:t>
            </a:r>
            <a:r>
              <a:rPr lang="en-US" altLang="zh-CN" sz="2400" dirty="0" smtClean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RHEL6_x86_64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.tar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750997" y="3084758"/>
            <a:ext cx="6099747" cy="2954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按以下内容选择合适的软件包</a:t>
            </a:r>
            <a:endParaRPr lang="en-US" altLang="zh-CN" sz="28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主版本号：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8.7/8.8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子版本号：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详细的发行版本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2.0.1a2_2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3.0.0_1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编译环境：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编译该软件包的环境。安装环境应与此相同或者相近。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	YHKylin4_FT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表示是飞腾平台（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FT ARM64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）、银河麒麟系统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	RHEL6_x86_64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表示是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x86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架构（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64bit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）、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RHEL6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系统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	AIX5L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表示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IBM Power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架构、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AIX5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系统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安装前准备（以</a:t>
            </a:r>
            <a:r>
              <a:rPr lang="en-US" altLang="zh-CN" dirty="0" smtClean="0"/>
              <a:t>x86_64</a:t>
            </a:r>
            <a:r>
              <a:rPr lang="zh-CN" altLang="en-US" dirty="0" smtClean="0"/>
              <a:t>架构下的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为例）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5650" y="1139451"/>
            <a:ext cx="10718800" cy="4888767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设置主机名与网络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配置</a:t>
            </a:r>
            <a:r>
              <a:rPr lang="en-US" altLang="zh-CN" dirty="0" smtClean="0"/>
              <a:t>/etc/hosts</a:t>
            </a:r>
            <a:r>
              <a:rPr lang="zh-CN" altLang="en-US" dirty="0" smtClean="0"/>
              <a:t>，确认主机名</a:t>
            </a:r>
            <a:r>
              <a:rPr lang="en-US" altLang="zh-CN" dirty="0" smtClean="0"/>
              <a:t>hostname</a:t>
            </a:r>
            <a:r>
              <a:rPr lang="zh-CN" altLang="en-US" dirty="0" smtClean="0"/>
              <a:t>与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地址对应匹配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关闭</a:t>
            </a:r>
            <a:r>
              <a:rPr lang="en-US" altLang="zh-CN" dirty="0" err="1" smtClean="0"/>
              <a:t>selinux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临时关闭</a:t>
            </a:r>
            <a:r>
              <a:rPr lang="en-US" altLang="zh-CN" dirty="0" err="1" smtClean="0"/>
              <a:t>selinux</a:t>
            </a:r>
            <a:r>
              <a:rPr lang="zh-CN" altLang="en-US" dirty="0" smtClean="0"/>
              <a:t>，省却对数据库软件安装的影响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smtClean="0"/>
              <a:t>/etc/</a:t>
            </a:r>
            <a:r>
              <a:rPr lang="en-US" altLang="zh-CN" dirty="0" err="1" smtClean="0"/>
              <a:t>selinux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config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SELINUX=disabled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关闭或者配置防火墙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注：不同的系统，关闭方式不一样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如：</a:t>
            </a:r>
            <a:r>
              <a:rPr lang="en-US" altLang="zh-CN" dirty="0" smtClean="0"/>
              <a:t>RHEL6</a:t>
            </a:r>
            <a:r>
              <a:rPr lang="zh-CN" altLang="en-US" dirty="0" smtClean="0"/>
              <a:t>中</a:t>
            </a:r>
            <a:r>
              <a:rPr lang="en-US" altLang="zh-CN" dirty="0" smtClean="0"/>
              <a:t>service </a:t>
            </a:r>
            <a:r>
              <a:rPr lang="en-US" altLang="zh-CN" dirty="0" err="1" smtClean="0"/>
              <a:t>iptables</a:t>
            </a:r>
            <a:r>
              <a:rPr lang="en-US" altLang="zh-CN" dirty="0" smtClean="0"/>
              <a:t> stop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smtClean="0"/>
              <a:t>      RHEL7</a:t>
            </a:r>
            <a:r>
              <a:rPr lang="zh-CN" altLang="en-US" dirty="0" smtClean="0"/>
              <a:t>中</a:t>
            </a:r>
            <a:r>
              <a:rPr lang="en-US" altLang="zh-CN" dirty="0" err="1" smtClean="0"/>
              <a:t>systemctl</a:t>
            </a:r>
            <a:r>
              <a:rPr lang="en-US" altLang="zh-CN" dirty="0" smtClean="0"/>
              <a:t> stop </a:t>
            </a:r>
            <a:r>
              <a:rPr lang="en-US" altLang="zh-CN" dirty="0" err="1" smtClean="0"/>
              <a:t>firewalld</a:t>
            </a:r>
            <a:endParaRPr lang="zh-CN" altLang="en-US" dirty="0" smtClean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创建用户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5650" y="1139451"/>
            <a:ext cx="10718800" cy="4888767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创建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组及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用户，设置用户密码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使用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用户创建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组</a:t>
            </a:r>
            <a:endParaRPr lang="en-US" altLang="zh-CN" dirty="0" smtClean="0"/>
          </a:p>
          <a:p>
            <a:pPr lvl="2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err="1" smtClean="0"/>
              <a:t>groupadd</a:t>
            </a:r>
            <a:r>
              <a:rPr lang="en-US" altLang="zh-CN" dirty="0" smtClean="0"/>
              <a:t> -g 1000 </a:t>
            </a:r>
            <a:r>
              <a:rPr lang="en-US" altLang="zh-CN" dirty="0" err="1" smtClean="0"/>
              <a:t>gbasedbt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创建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pPr lvl="2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err="1" smtClean="0"/>
              <a:t>useradd</a:t>
            </a:r>
            <a:r>
              <a:rPr lang="en-US" altLang="zh-CN" dirty="0" smtClean="0"/>
              <a:t> -g </a:t>
            </a:r>
            <a:r>
              <a:rPr lang="en-US" altLang="zh-CN" dirty="0" err="1" smtClean="0"/>
              <a:t>gbasedbt</a:t>
            </a:r>
            <a:r>
              <a:rPr lang="en-US" altLang="zh-CN" dirty="0" smtClean="0"/>
              <a:t> -u 1000 -d /home/</a:t>
            </a:r>
            <a:r>
              <a:rPr lang="en-US" altLang="zh-CN" dirty="0" err="1" smtClean="0"/>
              <a:t>gbase</a:t>
            </a:r>
            <a:r>
              <a:rPr lang="en-US" altLang="zh-CN" dirty="0" smtClean="0"/>
              <a:t> -m -s /bin/bash </a:t>
            </a:r>
            <a:r>
              <a:rPr lang="en-US" altLang="zh-CN" dirty="0" err="1" smtClean="0"/>
              <a:t>gbasedbt</a:t>
            </a:r>
            <a:endParaRPr lang="en-US" altLang="zh-CN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设置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用户密码</a:t>
            </a:r>
            <a:endParaRPr lang="en-US" altLang="zh-CN" dirty="0" smtClean="0"/>
          </a:p>
          <a:p>
            <a:pPr lvl="2">
              <a:lnSpc>
                <a:spcPct val="150000"/>
              </a:lnSpc>
              <a:buClr>
                <a:srgbClr val="FF0000"/>
              </a:buClr>
            </a:pPr>
            <a:r>
              <a:rPr lang="en-US" altLang="zh-CN" dirty="0" err="1" smtClean="0"/>
              <a:t>passwd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gbasedbt</a:t>
            </a:r>
            <a:endParaRPr lang="en-US" altLang="zh-CN" dirty="0" smtClean="0"/>
          </a:p>
          <a:p>
            <a:pPr lvl="2">
              <a:lnSpc>
                <a:spcPct val="150000"/>
              </a:lnSpc>
              <a:buClr>
                <a:srgbClr val="FF0000"/>
              </a:buClr>
            </a:pPr>
            <a:r>
              <a:rPr lang="zh-CN" altLang="en-US" dirty="0" smtClean="0"/>
              <a:t>注：在</a:t>
            </a:r>
            <a:r>
              <a:rPr lang="en-US" altLang="zh-CN" dirty="0" smtClean="0"/>
              <a:t>2.0.1a2_2</a:t>
            </a:r>
            <a:r>
              <a:rPr lang="zh-CN" altLang="en-US" dirty="0" smtClean="0"/>
              <a:t>版本以上，密码需要符合密码复杂度要求（包含大、小写字母，数字且不小于</a:t>
            </a:r>
            <a:r>
              <a:rPr lang="en-US" altLang="zh-CN" dirty="0" smtClean="0"/>
              <a:t>8</a:t>
            </a:r>
            <a:r>
              <a:rPr lang="zh-CN" altLang="en-US" dirty="0" smtClean="0"/>
              <a:t>个字符）</a:t>
            </a:r>
            <a:endParaRPr lang="en-US" altLang="zh-CN" dirty="0" smtClean="0"/>
          </a:p>
          <a:p>
            <a:pPr lvl="2">
              <a:lnSpc>
                <a:spcPct val="150000"/>
              </a:lnSpc>
              <a:buClr>
                <a:srgbClr val="FF0000"/>
              </a:buClr>
            </a:pPr>
            <a:endParaRPr lang="en-US" altLang="zh-CN" dirty="0" smtClean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27" name="组合 35"/>
          <p:cNvGrpSpPr/>
          <p:nvPr/>
        </p:nvGrpSpPr>
        <p:grpSpPr>
          <a:xfrm>
            <a:off x="3339148" y="1331705"/>
            <a:ext cx="5434012" cy="662940"/>
            <a:chOff x="3339148" y="1331705"/>
            <a:chExt cx="5434012" cy="662940"/>
          </a:xfrm>
        </p:grpSpPr>
        <p:sp>
          <p:nvSpPr>
            <p:cNvPr id="3" name="矩形 2"/>
            <p:cNvSpPr/>
            <p:nvPr/>
          </p:nvSpPr>
          <p:spPr bwMode="auto">
            <a:xfrm>
              <a:off x="3339148" y="1331705"/>
              <a:ext cx="7223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4202748" y="1331705"/>
              <a:ext cx="45704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3339148" y="1948925"/>
              <a:ext cx="7223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4202748" y="1948925"/>
              <a:ext cx="45704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3"/>
            <p:cNvSpPr txBox="1">
              <a:spLocks noChangeArrowheads="1"/>
            </p:cNvSpPr>
            <p:nvPr/>
          </p:nvSpPr>
          <p:spPr bwMode="auto">
            <a:xfrm>
              <a:off x="3470385" y="14440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23" name="文本框 55"/>
            <p:cNvSpPr txBox="1">
              <a:spLocks noChangeArrowheads="1"/>
            </p:cNvSpPr>
            <p:nvPr/>
          </p:nvSpPr>
          <p:spPr bwMode="auto">
            <a:xfrm>
              <a:off x="4378960" y="145121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软件版本说明及安装准备</a:t>
              </a:r>
            </a:p>
          </p:txBody>
        </p:sp>
      </p:grpSp>
      <p:grpSp>
        <p:nvGrpSpPr>
          <p:cNvPr id="28" name="组合 34"/>
          <p:cNvGrpSpPr/>
          <p:nvPr/>
        </p:nvGrpSpPr>
        <p:grpSpPr>
          <a:xfrm>
            <a:off x="3339148" y="2342655"/>
            <a:ext cx="5434012" cy="664210"/>
            <a:chOff x="3339148" y="2225785"/>
            <a:chExt cx="5434012" cy="664210"/>
          </a:xfrm>
        </p:grpSpPr>
        <p:sp>
          <p:nvSpPr>
            <p:cNvPr id="8" name="矩形 7"/>
            <p:cNvSpPr/>
            <p:nvPr/>
          </p:nvSpPr>
          <p:spPr bwMode="auto">
            <a:xfrm>
              <a:off x="3339148" y="2225785"/>
              <a:ext cx="722312" cy="66421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02748" y="2225785"/>
              <a:ext cx="4570412" cy="66421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3339148" y="284427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4202748" y="284427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文本框 48"/>
            <p:cNvSpPr txBox="1">
              <a:spLocks noChangeArrowheads="1"/>
            </p:cNvSpPr>
            <p:nvPr/>
          </p:nvSpPr>
          <p:spPr bwMode="auto">
            <a:xfrm>
              <a:off x="3470385" y="233942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  <p:sp>
          <p:nvSpPr>
            <p:cNvPr id="24" name="文本框 55"/>
            <p:cNvSpPr txBox="1">
              <a:spLocks noChangeArrowheads="1"/>
            </p:cNvSpPr>
            <p:nvPr/>
          </p:nvSpPr>
          <p:spPr bwMode="auto">
            <a:xfrm>
              <a:off x="4378960" y="233640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33"/>
          <p:cNvGrpSpPr/>
          <p:nvPr/>
        </p:nvGrpSpPr>
        <p:grpSpPr>
          <a:xfrm>
            <a:off x="3339148" y="3354875"/>
            <a:ext cx="5434012" cy="665480"/>
            <a:chOff x="3339148" y="3119865"/>
            <a:chExt cx="5434012" cy="665480"/>
          </a:xfrm>
        </p:grpSpPr>
        <p:sp>
          <p:nvSpPr>
            <p:cNvPr id="13" name="矩形 12"/>
            <p:cNvSpPr/>
            <p:nvPr/>
          </p:nvSpPr>
          <p:spPr bwMode="auto">
            <a:xfrm>
              <a:off x="3339148" y="3119865"/>
              <a:ext cx="7223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202748" y="3119865"/>
              <a:ext cx="45704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3339148" y="373962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202748" y="373962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54"/>
            <p:cNvSpPr txBox="1">
              <a:spLocks noChangeArrowheads="1"/>
            </p:cNvSpPr>
            <p:nvPr/>
          </p:nvSpPr>
          <p:spPr bwMode="auto">
            <a:xfrm>
              <a:off x="3470385" y="32347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25" name="文本框 55"/>
            <p:cNvSpPr txBox="1">
              <a:spLocks noChangeArrowheads="1"/>
            </p:cNvSpPr>
            <p:nvPr/>
          </p:nvSpPr>
          <p:spPr bwMode="auto">
            <a:xfrm>
              <a:off x="4378960" y="3242033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手工创建实例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32"/>
          <p:cNvGrpSpPr/>
          <p:nvPr/>
        </p:nvGrpSpPr>
        <p:grpSpPr>
          <a:xfrm>
            <a:off x="3339148" y="5372963"/>
            <a:ext cx="5434012" cy="656590"/>
            <a:chOff x="3339148" y="5372963"/>
            <a:chExt cx="5434012" cy="656590"/>
          </a:xfrm>
        </p:grpSpPr>
        <p:sp>
          <p:nvSpPr>
            <p:cNvPr id="18" name="矩形 1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卸载安装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6"/>
          <p:cNvGrpSpPr/>
          <p:nvPr/>
        </p:nvGrpSpPr>
        <p:grpSpPr>
          <a:xfrm>
            <a:off x="3339148" y="4368365"/>
            <a:ext cx="5434012" cy="656590"/>
            <a:chOff x="3339148" y="5372963"/>
            <a:chExt cx="5434012" cy="656590"/>
          </a:xfrm>
        </p:grpSpPr>
        <p:sp>
          <p:nvSpPr>
            <p:cNvPr id="38" name="矩形 3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43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快速安装脚本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7453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5919178" y="4830491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28818" y="1248508"/>
            <a:ext cx="3419725" cy="4888767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在命令行状态下执行软件安装：</a:t>
            </a:r>
            <a:endParaRPr lang="en-US" altLang="zh-CN" dirty="0" smtClean="0"/>
          </a:p>
          <a:p>
            <a:r>
              <a:rPr lang="zh-CN" altLang="en-US" dirty="0" smtClean="0"/>
              <a:t>解压软件包</a:t>
            </a:r>
            <a:endParaRPr lang="en-US" altLang="zh-CN" dirty="0" smtClean="0"/>
          </a:p>
          <a:p>
            <a:r>
              <a:rPr lang="en-US" altLang="zh-CN" dirty="0" smtClean="0"/>
              <a:t>./</a:t>
            </a:r>
            <a:r>
              <a:rPr lang="en-US" altLang="zh-CN" dirty="0" err="1" smtClean="0"/>
              <a:t>ids_install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780337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直接连接符 3"/>
          <p:cNvCxnSpPr/>
          <p:nvPr/>
        </p:nvCxnSpPr>
        <p:spPr>
          <a:xfrm>
            <a:off x="5343788" y="6283354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28818" y="1248508"/>
            <a:ext cx="3436503" cy="4888767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开始安装：</a:t>
            </a:r>
            <a:endParaRPr lang="en-US" altLang="zh-CN" dirty="0" smtClean="0"/>
          </a:p>
          <a:p>
            <a:r>
              <a:rPr lang="zh-CN" altLang="en-US" dirty="0" smtClean="0"/>
              <a:t>开始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95929" y="1248508"/>
            <a:ext cx="3361003" cy="4888767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查看、接受协议</a:t>
            </a:r>
            <a:endParaRPr lang="en-US" altLang="zh-CN" dirty="0" smtClean="0"/>
          </a:p>
          <a:p>
            <a:r>
              <a:rPr lang="en-US" altLang="zh-CN" dirty="0" smtClean="0"/>
              <a:t>Y </a:t>
            </a:r>
            <a:r>
              <a:rPr lang="zh-CN" altLang="en-US" dirty="0" smtClean="0"/>
              <a:t>接受协议，继续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安装位置</a:t>
            </a:r>
            <a:endParaRPr lang="en-US" altLang="zh-CN" dirty="0" smtClean="0"/>
          </a:p>
          <a:p>
            <a:r>
              <a:rPr lang="zh-CN" altLang="en-US" dirty="0" smtClean="0"/>
              <a:t>使用默认的安装目录</a:t>
            </a:r>
            <a:r>
              <a:rPr lang="en-US" altLang="zh-CN" dirty="0" smtClean="0"/>
              <a:t>/opt/GBASE/</a:t>
            </a:r>
            <a:r>
              <a:rPr lang="en-US" altLang="zh-CN" dirty="0" err="1" smtClean="0"/>
              <a:t>gbase</a:t>
            </a:r>
            <a:endParaRPr lang="en-US" altLang="zh-CN" dirty="0" smtClean="0"/>
          </a:p>
          <a:p>
            <a:pPr>
              <a:buNone/>
            </a:pPr>
            <a:r>
              <a:rPr lang="zh-CN" altLang="en-US" sz="1800" dirty="0" smtClean="0">
                <a:solidFill>
                  <a:srgbClr val="FF0000"/>
                </a:solidFill>
              </a:rPr>
              <a:t>注：</a:t>
            </a:r>
            <a:r>
              <a:rPr lang="en-US" altLang="zh-CN" sz="1800" dirty="0" smtClean="0">
                <a:solidFill>
                  <a:srgbClr val="FF0000"/>
                </a:solidFill>
              </a:rPr>
              <a:t>/opt/GBASE</a:t>
            </a:r>
            <a:r>
              <a:rPr lang="zh-CN" altLang="en-US" sz="1800" dirty="0" smtClean="0">
                <a:solidFill>
                  <a:srgbClr val="FF0000"/>
                </a:solidFill>
              </a:rPr>
              <a:t>目录应当存在，否则会有提示父目录不存在，可先创建</a:t>
            </a:r>
            <a:r>
              <a:rPr lang="en-US" altLang="zh-CN" sz="1800" dirty="0" smtClean="0">
                <a:solidFill>
                  <a:srgbClr val="FF0000"/>
                </a:solidFill>
              </a:rPr>
              <a:t>/opt/GBASE</a:t>
            </a:r>
            <a:r>
              <a:rPr lang="zh-CN" altLang="en-US" sz="1800" dirty="0" smtClean="0">
                <a:solidFill>
                  <a:srgbClr val="FF0000"/>
                </a:solidFill>
              </a:rPr>
              <a:t>目录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dirty="0" smtClean="0"/>
          </a:p>
          <a:p>
            <a:r>
              <a:rPr lang="en-US" altLang="zh-CN" dirty="0" smtClean="0"/>
              <a:t>Y </a:t>
            </a:r>
            <a:r>
              <a:rPr lang="zh-CN" altLang="en-US" dirty="0" smtClean="0"/>
              <a:t>确认安装目录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4244829" y="6258186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7903828" y="4439173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126760" y="5875089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95930" y="1248508"/>
            <a:ext cx="3352613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选择安装方式</a:t>
            </a:r>
            <a:endParaRPr lang="en-US" altLang="zh-CN" dirty="0" smtClean="0"/>
          </a:p>
          <a:p>
            <a:r>
              <a:rPr lang="zh-CN" altLang="en-US" dirty="0" smtClean="0"/>
              <a:t>默认为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，典型安装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选择创建实例</a:t>
            </a:r>
            <a:endParaRPr lang="en-US" altLang="zh-CN" dirty="0" smtClean="0"/>
          </a:p>
          <a:p>
            <a:r>
              <a:rPr lang="zh-CN" altLang="en-US" dirty="0" smtClean="0"/>
              <a:t>默认为创建实例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9521504" y="3976381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9548069" y="6016304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4228052" y="3070371"/>
            <a:ext cx="2793534" cy="18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229450" y="5403909"/>
            <a:ext cx="2793534" cy="18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27963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70763" y="1248508"/>
            <a:ext cx="3377780" cy="4888767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指定用户密码</a:t>
            </a:r>
            <a:endParaRPr lang="en-US" altLang="zh-CN" dirty="0" smtClean="0"/>
          </a:p>
          <a:p>
            <a:r>
              <a:rPr lang="zh-CN" altLang="en-US" dirty="0" smtClean="0"/>
              <a:t>系统中无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用户，指定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用户密码，系统将自动创建用户</a:t>
            </a:r>
            <a:endParaRPr lang="en-US" altLang="zh-CN" dirty="0" smtClean="0"/>
          </a:p>
          <a:p>
            <a:pPr>
              <a:buNone/>
            </a:pPr>
            <a:r>
              <a:rPr lang="zh-CN" altLang="en-US" sz="2000" dirty="0" smtClean="0">
                <a:solidFill>
                  <a:srgbClr val="FF0000"/>
                </a:solidFill>
              </a:rPr>
              <a:t>注：若系统中有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2000" dirty="0" smtClean="0">
                <a:solidFill>
                  <a:srgbClr val="FF0000"/>
                </a:solidFill>
              </a:rPr>
              <a:t>用户，将会使用这个用户，建议事先创建好用户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选择用户数量</a:t>
            </a:r>
            <a:endParaRPr lang="en-US" altLang="zh-CN" dirty="0" smtClean="0"/>
          </a:p>
          <a:p>
            <a:r>
              <a:rPr lang="zh-CN" altLang="en-US" dirty="0" smtClean="0"/>
              <a:t>数据库的用户（系统将按其配置资源）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4061670" y="5395520"/>
            <a:ext cx="2793534" cy="18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833607" y="4127383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9908796" y="6276363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4035105" y="2491531"/>
            <a:ext cx="6702804" cy="2130803"/>
          </a:xfrm>
          <a:prstGeom prst="roundRect">
            <a:avLst>
              <a:gd name="adj" fmla="val 6431"/>
            </a:avLst>
          </a:prstGeom>
          <a:solidFill>
            <a:srgbClr val="92D050">
              <a:alpha val="20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10167457" y="1694576"/>
            <a:ext cx="1711354" cy="679508"/>
          </a:xfrm>
          <a:prstGeom prst="wedgeRectCallout">
            <a:avLst>
              <a:gd name="adj1" fmla="val -43427"/>
              <a:gd name="adj2" fmla="val 76014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rgbClr val="FF0000"/>
                </a:solidFill>
              </a:rPr>
              <a:t>若有</a:t>
            </a:r>
            <a:r>
              <a:rPr lang="en-US" altLang="zh-CN" sz="1400" dirty="0" err="1" smtClean="0">
                <a:solidFill>
                  <a:srgbClr val="FF0000"/>
                </a:solidFill>
              </a:rPr>
              <a:t>gbasedbt</a:t>
            </a:r>
            <a:r>
              <a:rPr lang="zh-CN" altLang="en-US" sz="1400" dirty="0" smtClean="0">
                <a:solidFill>
                  <a:srgbClr val="FF0000"/>
                </a:solidFill>
              </a:rPr>
              <a:t>用户，则无该段信息提示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79152" y="1248508"/>
            <a:ext cx="3344224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安装就绪</a:t>
            </a:r>
            <a:endParaRPr lang="en-US" altLang="zh-CN" dirty="0" smtClean="0"/>
          </a:p>
          <a:p>
            <a:r>
              <a:rPr lang="zh-CN" altLang="en-US" dirty="0" smtClean="0"/>
              <a:t>安装就绪，将安装在指定目录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初始化数据库</a:t>
            </a:r>
            <a:endParaRPr lang="en-US" altLang="zh-CN" dirty="0" smtClean="0"/>
          </a:p>
          <a:p>
            <a:r>
              <a:rPr lang="zh-CN" altLang="en-US" dirty="0" smtClean="0"/>
              <a:t>自动初始化数据库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981350" y="3263317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058249" y="6125360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87540" y="1248508"/>
            <a:ext cx="3377781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初始化完成</a:t>
            </a:r>
            <a:endParaRPr lang="en-US" altLang="zh-CN" dirty="0" smtClean="0"/>
          </a:p>
          <a:p>
            <a:r>
              <a:rPr lang="zh-CN" altLang="en-US" dirty="0" smtClean="0"/>
              <a:t>初始化完成，在指定的安装目录下，生成相应的数据库环境变量文件</a:t>
            </a:r>
            <a:endParaRPr lang="en-US" altLang="zh-CN" dirty="0" smtClean="0"/>
          </a:p>
          <a:p>
            <a:pPr>
              <a:buNone/>
            </a:pPr>
            <a:r>
              <a:rPr lang="zh-CN" altLang="en-US" sz="1400" dirty="0" smtClean="0">
                <a:solidFill>
                  <a:srgbClr val="FF0000"/>
                </a:solidFill>
              </a:rPr>
              <a:t>    自动初始化的服务名称是</a:t>
            </a:r>
            <a:r>
              <a:rPr lang="en-US" altLang="zh-CN" sz="1400" dirty="0" smtClean="0">
                <a:solidFill>
                  <a:srgbClr val="FF0000"/>
                </a:solidFill>
              </a:rPr>
              <a:t>ol_gbasedbt1210</a:t>
            </a:r>
            <a:r>
              <a:rPr lang="zh-CN" altLang="en-US" sz="1400" dirty="0" smtClean="0">
                <a:solidFill>
                  <a:srgbClr val="FF0000"/>
                </a:solidFill>
              </a:rPr>
              <a:t>，多次自动初始化的服务名称为</a:t>
            </a:r>
            <a:r>
              <a:rPr lang="en-US" altLang="zh-CN" sz="1400" dirty="0" smtClean="0">
                <a:solidFill>
                  <a:srgbClr val="FF0000"/>
                </a:solidFill>
              </a:rPr>
              <a:t>ol_gbasedbt1210_N(</a:t>
            </a:r>
            <a:r>
              <a:rPr lang="zh-CN" altLang="en-US" sz="1400" dirty="0" smtClean="0">
                <a:solidFill>
                  <a:srgbClr val="FF0000"/>
                </a:solidFill>
              </a:rPr>
              <a:t>为数字递增</a:t>
            </a:r>
            <a:r>
              <a:rPr lang="en-US" altLang="zh-CN" sz="1400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altLang="zh-CN" sz="1400" dirty="0" smtClean="0"/>
          </a:p>
          <a:p>
            <a:pPr>
              <a:buNone/>
            </a:pPr>
            <a:r>
              <a:rPr lang="zh-CN" altLang="en-US" dirty="0" smtClean="0"/>
              <a:t>确认完成</a:t>
            </a:r>
            <a:endParaRPr lang="en-US" altLang="zh-CN" dirty="0" smtClean="0"/>
          </a:p>
          <a:p>
            <a:r>
              <a:rPr lang="zh-CN" altLang="en-US" dirty="0" smtClean="0"/>
              <a:t>确认完成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6123963" y="5285063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4053281" y="3238150"/>
            <a:ext cx="2793534" cy="1300293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814969" y="2996267"/>
            <a:ext cx="130029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179151" y="1248508"/>
            <a:ext cx="3361003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完成安装指示</a:t>
            </a:r>
            <a:endParaRPr lang="en-US" altLang="zh-CN" dirty="0" smtClean="0"/>
          </a:p>
          <a:p>
            <a:r>
              <a:rPr lang="zh-CN" altLang="en-US" dirty="0" smtClean="0"/>
              <a:t>安装完成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确认安装及初始化</a:t>
            </a:r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加载指定的环境变量，通过数据库命令确认数据库已经安装及初始化完成。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878972" y="5134062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4028114" y="3565323"/>
            <a:ext cx="2793534" cy="461394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091805" y="5705912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187540" y="1248508"/>
            <a:ext cx="3377781" cy="4888767"/>
          </a:xfrm>
        </p:spPr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自动初始化的数据库服务名称</a:t>
            </a:r>
            <a:r>
              <a:rPr lang="en-US" altLang="zh-CN" dirty="0" smtClean="0"/>
              <a:t>GBASEDBTSERVER</a:t>
            </a:r>
            <a:r>
              <a:rPr lang="zh-CN" altLang="en-US" dirty="0" smtClean="0"/>
              <a:t>是</a:t>
            </a:r>
            <a:r>
              <a:rPr lang="en-US" altLang="zh-CN" dirty="0" smtClean="0"/>
              <a:t>ol_gbasedbt1210</a:t>
            </a:r>
          </a:p>
          <a:p>
            <a:r>
              <a:rPr lang="zh-CN" altLang="en-US" dirty="0" smtClean="0"/>
              <a:t>数据库服务名（端口号）是在</a:t>
            </a:r>
            <a:r>
              <a:rPr lang="en-US" altLang="zh-CN" dirty="0" smtClean="0"/>
              <a:t>/etc/services</a:t>
            </a:r>
            <a:r>
              <a:rPr lang="zh-CN" altLang="en-US" dirty="0" smtClean="0"/>
              <a:t>中注册的对应端口号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9555060" y="3800214"/>
            <a:ext cx="2114025" cy="654340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4002946" y="4967681"/>
            <a:ext cx="3052195" cy="761999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形状 6"/>
          <p:cNvCxnSpPr>
            <a:stCxn id="4" idx="2"/>
            <a:endCxn id="5" idx="3"/>
          </p:cNvCxnSpPr>
          <p:nvPr/>
        </p:nvCxnSpPr>
        <p:spPr>
          <a:xfrm rot="5400000">
            <a:off x="8386544" y="3123151"/>
            <a:ext cx="894127" cy="3556932"/>
          </a:xfrm>
          <a:prstGeom prst="curvedConnector2">
            <a:avLst/>
          </a:prstGeom>
          <a:ln w="12700">
            <a:solidFill>
              <a:srgbClr val="00B0F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3987567" y="5975759"/>
            <a:ext cx="3052195" cy="307596"/>
          </a:xfrm>
          <a:prstGeom prst="roundRect">
            <a:avLst>
              <a:gd name="adj" fmla="val 699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自动创建实例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27" name="组合 35"/>
          <p:cNvGrpSpPr/>
          <p:nvPr/>
        </p:nvGrpSpPr>
        <p:grpSpPr>
          <a:xfrm>
            <a:off x="3339148" y="1331705"/>
            <a:ext cx="5434012" cy="662940"/>
            <a:chOff x="3339148" y="1331705"/>
            <a:chExt cx="5434012" cy="662940"/>
          </a:xfrm>
        </p:grpSpPr>
        <p:sp>
          <p:nvSpPr>
            <p:cNvPr id="3" name="矩形 2"/>
            <p:cNvSpPr/>
            <p:nvPr/>
          </p:nvSpPr>
          <p:spPr bwMode="auto">
            <a:xfrm>
              <a:off x="3339148" y="1331705"/>
              <a:ext cx="7223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4202748" y="1331705"/>
              <a:ext cx="45704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3339148" y="1948925"/>
              <a:ext cx="7223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4202748" y="1948925"/>
              <a:ext cx="45704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3"/>
            <p:cNvSpPr txBox="1">
              <a:spLocks noChangeArrowheads="1"/>
            </p:cNvSpPr>
            <p:nvPr/>
          </p:nvSpPr>
          <p:spPr bwMode="auto">
            <a:xfrm>
              <a:off x="3470385" y="14440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23" name="文本框 55"/>
            <p:cNvSpPr txBox="1">
              <a:spLocks noChangeArrowheads="1"/>
            </p:cNvSpPr>
            <p:nvPr/>
          </p:nvSpPr>
          <p:spPr bwMode="auto">
            <a:xfrm>
              <a:off x="4378960" y="145121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软件版本说明及安装准备</a:t>
              </a:r>
            </a:p>
          </p:txBody>
        </p:sp>
      </p:grpSp>
      <p:grpSp>
        <p:nvGrpSpPr>
          <p:cNvPr id="28" name="组合 34"/>
          <p:cNvGrpSpPr/>
          <p:nvPr/>
        </p:nvGrpSpPr>
        <p:grpSpPr>
          <a:xfrm>
            <a:off x="3339148" y="2342655"/>
            <a:ext cx="5434012" cy="664210"/>
            <a:chOff x="3339148" y="2225785"/>
            <a:chExt cx="5434012" cy="664210"/>
          </a:xfrm>
        </p:grpSpPr>
        <p:sp>
          <p:nvSpPr>
            <p:cNvPr id="8" name="矩形 7"/>
            <p:cNvSpPr/>
            <p:nvPr/>
          </p:nvSpPr>
          <p:spPr bwMode="auto">
            <a:xfrm>
              <a:off x="3339148" y="2225785"/>
              <a:ext cx="7223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02748" y="2225785"/>
              <a:ext cx="45704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3339148" y="284427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4202748" y="284427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文本框 48"/>
            <p:cNvSpPr txBox="1">
              <a:spLocks noChangeArrowheads="1"/>
            </p:cNvSpPr>
            <p:nvPr/>
          </p:nvSpPr>
          <p:spPr bwMode="auto">
            <a:xfrm>
              <a:off x="3470385" y="233942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  <p:sp>
          <p:nvSpPr>
            <p:cNvPr id="24" name="文本框 55"/>
            <p:cNvSpPr txBox="1">
              <a:spLocks noChangeArrowheads="1"/>
            </p:cNvSpPr>
            <p:nvPr/>
          </p:nvSpPr>
          <p:spPr bwMode="auto">
            <a:xfrm>
              <a:off x="4378960" y="233640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33"/>
          <p:cNvGrpSpPr/>
          <p:nvPr/>
        </p:nvGrpSpPr>
        <p:grpSpPr>
          <a:xfrm>
            <a:off x="3339148" y="3354875"/>
            <a:ext cx="5434012" cy="665480"/>
            <a:chOff x="3339148" y="3119865"/>
            <a:chExt cx="5434012" cy="665480"/>
          </a:xfrm>
        </p:grpSpPr>
        <p:sp>
          <p:nvSpPr>
            <p:cNvPr id="13" name="矩形 12"/>
            <p:cNvSpPr/>
            <p:nvPr/>
          </p:nvSpPr>
          <p:spPr bwMode="auto">
            <a:xfrm>
              <a:off x="3339148" y="3119865"/>
              <a:ext cx="722312" cy="66548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202748" y="3119865"/>
              <a:ext cx="4570412" cy="66548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3339148" y="373962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202748" y="373962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54"/>
            <p:cNvSpPr txBox="1">
              <a:spLocks noChangeArrowheads="1"/>
            </p:cNvSpPr>
            <p:nvPr/>
          </p:nvSpPr>
          <p:spPr bwMode="auto">
            <a:xfrm>
              <a:off x="3470385" y="32347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25" name="文本框 55"/>
            <p:cNvSpPr txBox="1">
              <a:spLocks noChangeArrowheads="1"/>
            </p:cNvSpPr>
            <p:nvPr/>
          </p:nvSpPr>
          <p:spPr bwMode="auto">
            <a:xfrm>
              <a:off x="4378960" y="3242033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手工创建实例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32"/>
          <p:cNvGrpSpPr/>
          <p:nvPr/>
        </p:nvGrpSpPr>
        <p:grpSpPr>
          <a:xfrm>
            <a:off x="3339148" y="5372963"/>
            <a:ext cx="5434012" cy="656590"/>
            <a:chOff x="3339148" y="5372963"/>
            <a:chExt cx="5434012" cy="656590"/>
          </a:xfrm>
        </p:grpSpPr>
        <p:sp>
          <p:nvSpPr>
            <p:cNvPr id="18" name="矩形 1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卸载安装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6"/>
          <p:cNvGrpSpPr/>
          <p:nvPr/>
        </p:nvGrpSpPr>
        <p:grpSpPr>
          <a:xfrm>
            <a:off x="3339148" y="4368365"/>
            <a:ext cx="5434012" cy="656590"/>
            <a:chOff x="3339148" y="5372963"/>
            <a:chExt cx="5434012" cy="656590"/>
          </a:xfrm>
        </p:grpSpPr>
        <p:sp>
          <p:nvSpPr>
            <p:cNvPr id="38" name="矩形 3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43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快速安装脚本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7453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237874" y="1248508"/>
            <a:ext cx="3310669" cy="4888767"/>
          </a:xfrm>
        </p:spPr>
        <p:txBody>
          <a:bodyPr/>
          <a:lstStyle/>
          <a:p>
            <a:endParaRPr lang="en-US" altLang="zh-CN" sz="2000" dirty="0" smtClean="0"/>
          </a:p>
          <a:p>
            <a:pPr>
              <a:buNone/>
            </a:pPr>
            <a:r>
              <a:rPr lang="zh-CN" altLang="en-US" sz="2000" dirty="0" smtClean="0"/>
              <a:t>已经创建</a:t>
            </a:r>
            <a:r>
              <a:rPr lang="en-US" altLang="zh-CN" sz="2000" dirty="0" err="1" smtClean="0"/>
              <a:t>gbasedbt</a:t>
            </a:r>
            <a:r>
              <a:rPr lang="zh-CN" altLang="en-US" sz="2000" dirty="0" smtClean="0"/>
              <a:t>用户</a:t>
            </a: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r>
              <a:rPr lang="zh-CN" altLang="en-US" dirty="0" smtClean="0"/>
              <a:t>在命令行状态下执行软件安装：</a:t>
            </a:r>
            <a:endParaRPr lang="en-US" altLang="zh-CN" dirty="0" smtClean="0"/>
          </a:p>
          <a:p>
            <a:r>
              <a:rPr lang="zh-CN" altLang="en-US" dirty="0" smtClean="0"/>
              <a:t>解压软件包</a:t>
            </a:r>
            <a:endParaRPr lang="en-US" altLang="zh-CN" dirty="0" smtClean="0"/>
          </a:p>
          <a:p>
            <a:r>
              <a:rPr lang="en-US" altLang="zh-CN" dirty="0" smtClean="0"/>
              <a:t>./</a:t>
            </a:r>
            <a:r>
              <a:rPr lang="en-US" altLang="zh-CN" dirty="0" err="1" smtClean="0"/>
              <a:t>ids_install</a:t>
            </a:r>
            <a:endParaRPr lang="zh-CN" altLang="en-US" dirty="0" smtClean="0"/>
          </a:p>
          <a:p>
            <a:pPr>
              <a:buNone/>
            </a:pPr>
            <a:endParaRPr lang="zh-CN" altLang="en-US" sz="20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830350" y="4840448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29486" y="1248508"/>
            <a:ext cx="3293890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开始安装：</a:t>
            </a:r>
            <a:endParaRPr lang="en-US" altLang="zh-CN" dirty="0" smtClean="0"/>
          </a:p>
          <a:p>
            <a:r>
              <a:rPr lang="zh-CN" altLang="en-US" dirty="0" smtClean="0"/>
              <a:t>开始</a:t>
            </a:r>
          </a:p>
          <a:p>
            <a:pPr>
              <a:buNone/>
            </a:pP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780337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直接连接符 6"/>
          <p:cNvCxnSpPr/>
          <p:nvPr/>
        </p:nvCxnSpPr>
        <p:spPr>
          <a:xfrm>
            <a:off x="5343788" y="6283354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204318" y="1248508"/>
            <a:ext cx="3428115" cy="4888767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查看、接受协议</a:t>
            </a:r>
            <a:endParaRPr lang="en-US" altLang="zh-CN" dirty="0" smtClean="0"/>
          </a:p>
          <a:p>
            <a:r>
              <a:rPr lang="en-US" altLang="zh-CN" dirty="0" smtClean="0"/>
              <a:t>Y </a:t>
            </a:r>
            <a:r>
              <a:rPr lang="zh-CN" altLang="en-US" dirty="0" smtClean="0"/>
              <a:t>接受协议，继续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安装位置</a:t>
            </a:r>
            <a:endParaRPr lang="en-US" altLang="zh-CN" dirty="0" smtClean="0"/>
          </a:p>
          <a:p>
            <a:r>
              <a:rPr lang="zh-CN" altLang="en-US" dirty="0" smtClean="0"/>
              <a:t>使用默认安装目录</a:t>
            </a:r>
            <a:r>
              <a:rPr lang="en-US" altLang="zh-CN" dirty="0" smtClean="0"/>
              <a:t>/opt/GBASE/</a:t>
            </a:r>
            <a:r>
              <a:rPr lang="en-US" altLang="zh-CN" dirty="0" err="1" smtClean="0"/>
              <a:t>gbase</a:t>
            </a:r>
            <a:endParaRPr lang="en-US" altLang="zh-CN" dirty="0" smtClean="0"/>
          </a:p>
          <a:p>
            <a:pPr>
              <a:buNone/>
            </a:pPr>
            <a:r>
              <a:rPr lang="zh-CN" altLang="en-US" sz="1800" dirty="0" smtClean="0">
                <a:solidFill>
                  <a:srgbClr val="FF0000"/>
                </a:solidFill>
              </a:rPr>
              <a:t>注：</a:t>
            </a:r>
            <a:r>
              <a:rPr lang="en-US" altLang="zh-CN" sz="1800" dirty="0" smtClean="0">
                <a:solidFill>
                  <a:srgbClr val="FF0000"/>
                </a:solidFill>
              </a:rPr>
              <a:t>/opt/GBASE</a:t>
            </a:r>
            <a:r>
              <a:rPr lang="zh-CN" altLang="en-US" sz="1800" dirty="0" smtClean="0">
                <a:solidFill>
                  <a:srgbClr val="FF0000"/>
                </a:solidFill>
              </a:rPr>
              <a:t>目录应当存在，否则会有提示父目录不存在，可先创建</a:t>
            </a:r>
            <a:r>
              <a:rPr lang="en-US" altLang="zh-CN" sz="1800" dirty="0" smtClean="0">
                <a:solidFill>
                  <a:srgbClr val="FF0000"/>
                </a:solidFill>
              </a:rPr>
              <a:t>/opt/GBASE</a:t>
            </a:r>
            <a:r>
              <a:rPr lang="zh-CN" altLang="en-US" sz="1800" dirty="0" smtClean="0">
                <a:solidFill>
                  <a:srgbClr val="FF0000"/>
                </a:solidFill>
              </a:rPr>
              <a:t>目录</a:t>
            </a:r>
            <a:endParaRPr lang="en-US" altLang="zh-CN" sz="1800" dirty="0" smtClean="0">
              <a:solidFill>
                <a:srgbClr val="FF0000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07184" y="5444454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8449112" y="3994557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700631" y="5858311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29486" y="1248508"/>
            <a:ext cx="3302279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选择安装方式</a:t>
            </a:r>
            <a:endParaRPr lang="en-US" altLang="zh-CN" dirty="0" smtClean="0"/>
          </a:p>
          <a:p>
            <a:r>
              <a:rPr lang="zh-CN" altLang="en-US" dirty="0" smtClean="0"/>
              <a:t>默认为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，典型安装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选择</a:t>
            </a:r>
            <a:r>
              <a:rPr lang="zh-CN" altLang="en-US" b="1" dirty="0" smtClean="0">
                <a:solidFill>
                  <a:srgbClr val="FF0000"/>
                </a:solidFill>
              </a:rPr>
              <a:t>不创建</a:t>
            </a:r>
            <a:r>
              <a:rPr lang="zh-CN" altLang="en-US" dirty="0" smtClean="0"/>
              <a:t>实例</a:t>
            </a:r>
            <a:endParaRPr lang="en-US" altLang="zh-CN" dirty="0" smtClean="0"/>
          </a:p>
          <a:p>
            <a:r>
              <a:rPr lang="zh-CN" altLang="en-US" dirty="0" smtClean="0"/>
              <a:t>输入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/>
              <a:t>，不创建实例，将只安装数据库软件，实例需手工创建。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3993160" y="3095538"/>
            <a:ext cx="2793534" cy="18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994557" y="5545123"/>
            <a:ext cx="3075634" cy="18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700469" y="6000923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21097" y="1248508"/>
            <a:ext cx="3302279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安装软件摘要</a:t>
            </a:r>
            <a:endParaRPr lang="en-US" altLang="zh-CN" dirty="0" smtClean="0"/>
          </a:p>
          <a:p>
            <a:r>
              <a:rPr lang="zh-CN" altLang="en-US" dirty="0" smtClean="0"/>
              <a:t>确认安装摘要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6076424" y="6269371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21097" y="1248508"/>
            <a:ext cx="3302279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安装就绪</a:t>
            </a:r>
            <a:endParaRPr lang="en-US" altLang="zh-CN" dirty="0" smtClean="0"/>
          </a:p>
          <a:p>
            <a:r>
              <a:rPr lang="zh-CN" altLang="en-US" dirty="0" smtClean="0"/>
              <a:t>安装就绪，将安装在指定目录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完成安装指示</a:t>
            </a:r>
            <a:endParaRPr lang="en-US" altLang="zh-CN" dirty="0" smtClean="0"/>
          </a:p>
          <a:p>
            <a:r>
              <a:rPr lang="zh-CN" altLang="en-US" dirty="0" smtClean="0"/>
              <a:t>完成数据库软件安装，退出安装程序</a:t>
            </a:r>
            <a:endParaRPr lang="en-US" altLang="zh-CN" dirty="0" smtClean="0"/>
          </a:p>
        </p:txBody>
      </p:sp>
      <p:cxnSp>
        <p:nvCxnSpPr>
          <p:cNvPr id="9" name="直接连接符 8"/>
          <p:cNvCxnSpPr/>
          <p:nvPr/>
        </p:nvCxnSpPr>
        <p:spPr>
          <a:xfrm>
            <a:off x="5984147" y="2133599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990825" y="6277760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053280" y="4689447"/>
            <a:ext cx="2793534" cy="461394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-3</a:t>
            </a:r>
            <a:r>
              <a:rPr lang="zh-CN" altLang="en-US" dirty="0" smtClean="0"/>
              <a:t>个配置文件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04319" y="1248508"/>
            <a:ext cx="3327446" cy="4888767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配置文件</a:t>
            </a:r>
            <a:r>
              <a:rPr lang="en-US" altLang="zh-CN" dirty="0" smtClean="0"/>
              <a:t>1</a:t>
            </a:r>
          </a:p>
          <a:p>
            <a:r>
              <a:rPr lang="zh-CN" altLang="en-US" dirty="0" smtClean="0"/>
              <a:t>用户环境配置文件</a:t>
            </a:r>
            <a:r>
              <a:rPr lang="en-US" altLang="zh-CN" dirty="0" smtClean="0"/>
              <a:t>(.</a:t>
            </a:r>
            <a:r>
              <a:rPr lang="en-US" altLang="zh-CN" dirty="0" err="1" smtClean="0"/>
              <a:t>bash_profile</a:t>
            </a:r>
            <a:r>
              <a:rPr lang="en-US" altLang="zh-CN" dirty="0" smtClean="0"/>
              <a:t>)</a:t>
            </a:r>
          </a:p>
          <a:p>
            <a:pPr>
              <a:buNone/>
            </a:pPr>
            <a:r>
              <a:rPr lang="zh-CN" altLang="en-US" dirty="0" smtClean="0"/>
              <a:t>需包含以下环境变量</a:t>
            </a:r>
            <a:endParaRPr lang="en-US" altLang="zh-CN" dirty="0" smtClean="0"/>
          </a:p>
          <a:p>
            <a:pPr>
              <a:buNone/>
            </a:pPr>
            <a:r>
              <a:rPr lang="en-US" altLang="zh-CN" sz="1400" dirty="0" smtClean="0"/>
              <a:t>GBASEDBTSERVER</a:t>
            </a:r>
          </a:p>
          <a:p>
            <a:pPr>
              <a:buNone/>
            </a:pPr>
            <a:r>
              <a:rPr lang="en-US" altLang="zh-CN" sz="1400" dirty="0" smtClean="0"/>
              <a:t>GBASEDBTDIR</a:t>
            </a:r>
          </a:p>
          <a:p>
            <a:pPr>
              <a:buNone/>
            </a:pPr>
            <a:r>
              <a:rPr lang="en-US" altLang="zh-CN" sz="1400" dirty="0" smtClean="0"/>
              <a:t>ONCONFIG</a:t>
            </a:r>
          </a:p>
          <a:p>
            <a:pPr>
              <a:buNone/>
            </a:pPr>
            <a:r>
              <a:rPr lang="en-US" altLang="zh-CN" sz="1400" dirty="0" smtClean="0"/>
              <a:t>PATH</a:t>
            </a:r>
          </a:p>
          <a:p>
            <a:pPr>
              <a:buNone/>
            </a:pPr>
            <a:r>
              <a:rPr lang="zh-CN" altLang="en-US" sz="1600" dirty="0" smtClean="0"/>
              <a:t>可选</a:t>
            </a:r>
            <a:endParaRPr lang="en-US" altLang="zh-CN" sz="1600" dirty="0" smtClean="0"/>
          </a:p>
          <a:p>
            <a:pPr>
              <a:buNone/>
            </a:pPr>
            <a:r>
              <a:rPr lang="en-US" altLang="zh-CN" sz="1400" dirty="0" smtClean="0"/>
              <a:t>DB_LOCALE</a:t>
            </a:r>
          </a:p>
          <a:p>
            <a:pPr>
              <a:buNone/>
            </a:pPr>
            <a:r>
              <a:rPr lang="en-US" altLang="zh-CN" sz="1400" dirty="0" smtClean="0"/>
              <a:t>CLIENT_LOCALE</a:t>
            </a:r>
          </a:p>
          <a:p>
            <a:pPr>
              <a:buNone/>
            </a:pPr>
            <a:r>
              <a:rPr lang="en-US" altLang="zh-CN" sz="1400" dirty="0" smtClean="0"/>
              <a:t>GL_DATETIME</a:t>
            </a:r>
          </a:p>
          <a:p>
            <a:pPr>
              <a:buNone/>
            </a:pPr>
            <a:r>
              <a:rPr lang="en-US" altLang="zh-CN" sz="1400" dirty="0" smtClean="0"/>
              <a:t>DBDATE</a:t>
            </a:r>
          </a:p>
          <a:p>
            <a:pPr>
              <a:buNone/>
            </a:pPr>
            <a:endParaRPr lang="en-US" altLang="zh-CN" sz="2000" dirty="0" smtClean="0"/>
          </a:p>
        </p:txBody>
      </p:sp>
      <p:cxnSp>
        <p:nvCxnSpPr>
          <p:cNvPr id="4" name="直接连接符 3"/>
          <p:cNvCxnSpPr/>
          <p:nvPr/>
        </p:nvCxnSpPr>
        <p:spPr>
          <a:xfrm>
            <a:off x="5691930" y="4693639"/>
            <a:ext cx="151421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221096" y="1248508"/>
            <a:ext cx="3285502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配置文件</a:t>
            </a:r>
            <a:r>
              <a:rPr lang="en-US" altLang="zh-CN" dirty="0" smtClean="0"/>
              <a:t>2</a:t>
            </a:r>
          </a:p>
          <a:p>
            <a:r>
              <a:rPr lang="zh-CN" altLang="en-US" dirty="0" smtClean="0"/>
              <a:t>数据库配置文件（</a:t>
            </a:r>
            <a:r>
              <a:rPr lang="en-US" altLang="zh-CN" dirty="0" smtClean="0"/>
              <a:t>ONCONFIG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根据需要调整包括但不仅限于以下几个</a:t>
            </a:r>
            <a:endParaRPr lang="en-US" altLang="zh-CN" dirty="0" smtClean="0"/>
          </a:p>
          <a:p>
            <a:pPr>
              <a:buNone/>
            </a:pPr>
            <a:r>
              <a:rPr lang="en-US" altLang="zh-CN" sz="1600" dirty="0" smtClean="0"/>
              <a:t>ROOTPATH</a:t>
            </a:r>
          </a:p>
          <a:p>
            <a:pPr>
              <a:buNone/>
            </a:pPr>
            <a:r>
              <a:rPr lang="en-US" altLang="zh-CN" sz="1600" dirty="0" smtClean="0"/>
              <a:t>DBSERVERNAME</a:t>
            </a:r>
          </a:p>
          <a:p>
            <a:pPr>
              <a:buNone/>
            </a:pPr>
            <a:r>
              <a:rPr lang="en-US" altLang="zh-CN" sz="1600" dirty="0" smtClean="0"/>
              <a:t>LTAPEDEV</a:t>
            </a:r>
          </a:p>
          <a:p>
            <a:pPr>
              <a:buNone/>
            </a:pPr>
            <a:r>
              <a:rPr lang="zh-CN" altLang="en-US" sz="1600" dirty="0" smtClean="0"/>
              <a:t>建议调整</a:t>
            </a:r>
            <a:r>
              <a:rPr lang="en-US" altLang="zh-CN" sz="1600" dirty="0" smtClean="0"/>
              <a:t>CPU</a:t>
            </a:r>
            <a:r>
              <a:rPr lang="zh-CN" altLang="en-US" sz="1600" dirty="0" smtClean="0"/>
              <a:t>、内存等优化参数</a:t>
            </a:r>
            <a:endParaRPr lang="en-US" altLang="zh-CN" sz="1600" dirty="0" smtClean="0"/>
          </a:p>
          <a:p>
            <a:pPr>
              <a:buNone/>
            </a:pPr>
            <a:r>
              <a:rPr lang="en-US" altLang="zh-CN" sz="1600" dirty="0" smtClean="0"/>
              <a:t>SHM……</a:t>
            </a:r>
          </a:p>
          <a:p>
            <a:pPr>
              <a:buNone/>
            </a:pPr>
            <a:r>
              <a:rPr lang="en-US" altLang="zh-CN" sz="1600" dirty="0" smtClean="0"/>
              <a:t>BUFFPOOL……</a:t>
            </a:r>
            <a:endParaRPr lang="zh-CN" altLang="en-US" sz="16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826154" y="2118219"/>
            <a:ext cx="205949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237874" y="1248508"/>
            <a:ext cx="3386169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配置文件</a:t>
            </a:r>
            <a:r>
              <a:rPr lang="en-US" altLang="zh-CN" dirty="0" smtClean="0"/>
              <a:t>3</a:t>
            </a:r>
          </a:p>
          <a:p>
            <a:r>
              <a:rPr lang="en-US" altLang="zh-CN" dirty="0" smtClean="0"/>
              <a:t>SQLHOSTS</a:t>
            </a:r>
            <a:r>
              <a:rPr lang="zh-CN" altLang="en-US" dirty="0" smtClean="0"/>
              <a:t>配置文件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指定</a:t>
            </a:r>
            <a:r>
              <a:rPr lang="en-US" altLang="zh-CN" dirty="0" smtClean="0"/>
              <a:t>GBASEDBTSERVER</a:t>
            </a:r>
            <a:r>
              <a:rPr lang="zh-CN" altLang="en-US" dirty="0" smtClean="0"/>
              <a:t>对应的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地址及端口号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数据库文件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创建数据库使用的文件，注意属主、组及权限</a:t>
            </a:r>
            <a:endParaRPr lang="en-US" altLang="zh-CN" dirty="0" smtClean="0"/>
          </a:p>
          <a:p>
            <a:pPr>
              <a:buNone/>
            </a:pPr>
            <a:endParaRPr lang="zh-CN" altLang="en-US" dirty="0" smtClean="0"/>
          </a:p>
        </p:txBody>
      </p:sp>
      <p:cxnSp>
        <p:nvCxnSpPr>
          <p:cNvPr id="8" name="直接连接符 7"/>
          <p:cNvCxnSpPr/>
          <p:nvPr/>
        </p:nvCxnSpPr>
        <p:spPr>
          <a:xfrm>
            <a:off x="5826154" y="1975606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011336" y="3239548"/>
            <a:ext cx="4411211" cy="904613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140000" y="1198800"/>
            <a:ext cx="7819048" cy="531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79152" y="1248508"/>
            <a:ext cx="3402947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初始化数据库</a:t>
            </a:r>
            <a:endParaRPr lang="en-US" altLang="zh-CN" dirty="0" smtClean="0"/>
          </a:p>
          <a:p>
            <a:r>
              <a:rPr lang="zh-CN" altLang="en-US" dirty="0" smtClean="0"/>
              <a:t>手工初始化数据库</a:t>
            </a:r>
            <a:endParaRPr lang="en-US" altLang="zh-CN" dirty="0" smtClean="0"/>
          </a:p>
          <a:p>
            <a:pPr>
              <a:buNone/>
            </a:pPr>
            <a:r>
              <a:rPr lang="zh-CN" altLang="en-US" sz="2000" dirty="0" smtClean="0">
                <a:solidFill>
                  <a:srgbClr val="FF0000"/>
                </a:solidFill>
              </a:rPr>
              <a:t>   只有初始化时才使用</a:t>
            </a:r>
            <a:r>
              <a:rPr lang="en-US" altLang="zh-CN" sz="2000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i</a:t>
            </a:r>
            <a:r>
              <a:rPr lang="zh-CN" altLang="en-US" sz="2000" dirty="0" smtClean="0">
                <a:solidFill>
                  <a:srgbClr val="FF0000"/>
                </a:solidFill>
              </a:rPr>
              <a:t>参数，之后不再使用</a:t>
            </a:r>
            <a:r>
              <a:rPr lang="en-US" altLang="zh-CN" sz="2000" dirty="0" smtClean="0">
                <a:solidFill>
                  <a:srgbClr val="FF0000"/>
                </a:solidFill>
              </a:rPr>
              <a:t>-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i</a:t>
            </a:r>
            <a:r>
              <a:rPr lang="zh-CN" altLang="en-US" sz="2000" dirty="0" smtClean="0">
                <a:solidFill>
                  <a:srgbClr val="FF0000"/>
                </a:solidFill>
              </a:rPr>
              <a:t>参数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初始化数据库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826155" y="1740714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创建数据库空间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87540" y="1248508"/>
            <a:ext cx="3361003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创建空间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初始化后只有一个</a:t>
            </a:r>
            <a:r>
              <a:rPr lang="en-US" altLang="zh-CN" dirty="0" err="1" smtClean="0"/>
              <a:t>rootdbs</a:t>
            </a:r>
            <a:r>
              <a:rPr lang="zh-CN" altLang="en-US" dirty="0" smtClean="0"/>
              <a:t>空间，需要增加各个功能使用的相应的数据库空间</a:t>
            </a:r>
            <a:endParaRPr lang="en-US" altLang="zh-CN" dirty="0" smtClean="0"/>
          </a:p>
          <a:p>
            <a:r>
              <a:rPr lang="zh-CN" altLang="en-US" dirty="0" smtClean="0"/>
              <a:t>通过使用</a:t>
            </a:r>
            <a:r>
              <a:rPr lang="en-US" altLang="zh-CN" dirty="0" err="1" smtClean="0"/>
              <a:t>onspaces</a:t>
            </a:r>
            <a:r>
              <a:rPr lang="zh-CN" altLang="en-US" dirty="0" smtClean="0"/>
              <a:t>命令创建数据库空间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4137170" y="2258036"/>
            <a:ext cx="7699696" cy="1290508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929617" y="4846038"/>
            <a:ext cx="565557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897459" y="5552111"/>
            <a:ext cx="565557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221096" y="1248508"/>
            <a:ext cx="3319058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创建完数据空间，显示各个空间</a:t>
            </a:r>
            <a:endParaRPr lang="en-US" altLang="zh-CN" dirty="0" smtClean="0"/>
          </a:p>
        </p:txBody>
      </p:sp>
      <p:cxnSp>
        <p:nvCxnSpPr>
          <p:cNvPr id="6" name="直接连接符 5"/>
          <p:cNvCxnSpPr/>
          <p:nvPr/>
        </p:nvCxnSpPr>
        <p:spPr>
          <a:xfrm>
            <a:off x="5854116" y="1883327"/>
            <a:ext cx="600791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859711" y="2713837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8263156" y="3187817"/>
            <a:ext cx="620785" cy="964733"/>
          </a:xfrm>
          <a:prstGeom prst="roundRect">
            <a:avLst/>
          </a:prstGeom>
          <a:noFill/>
          <a:ln>
            <a:solidFill>
              <a:srgbClr val="DE12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27963" cy="5277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移动日志空间</a:t>
            </a:r>
            <a:r>
              <a:rPr lang="en-US" altLang="zh-CN" dirty="0" smtClean="0"/>
              <a:t>-</a:t>
            </a:r>
            <a:r>
              <a:rPr lang="zh-CN" altLang="en-US" dirty="0" smtClean="0"/>
              <a:t>物理日志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221096" y="1248508"/>
            <a:ext cx="3335836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移动物理日志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初始化后，物理日志位于</a:t>
            </a:r>
            <a:r>
              <a:rPr lang="en-US" altLang="zh-CN" dirty="0" err="1" smtClean="0"/>
              <a:t>rootdbs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r>
              <a:rPr lang="zh-CN" altLang="en-US" dirty="0" smtClean="0"/>
              <a:t>通过</a:t>
            </a:r>
            <a:r>
              <a:rPr lang="en-US" altLang="zh-CN" dirty="0" err="1" smtClean="0"/>
              <a:t>onparams</a:t>
            </a:r>
            <a:r>
              <a:rPr lang="zh-CN" altLang="en-US" dirty="0" smtClean="0"/>
              <a:t>命令将物理日志从</a:t>
            </a:r>
            <a:r>
              <a:rPr lang="en-US" altLang="zh-CN" dirty="0" err="1" smtClean="0"/>
              <a:t>rootdbs</a:t>
            </a:r>
            <a:r>
              <a:rPr lang="zh-CN" altLang="en-US" dirty="0" smtClean="0"/>
              <a:t>空间移动到独立的数据库空间里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994557" y="1813420"/>
            <a:ext cx="1751901" cy="250272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995956" y="6185481"/>
            <a:ext cx="1751901" cy="257264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798189" y="4587379"/>
            <a:ext cx="331225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1"/>
            <a:ext cx="7818437" cy="5285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70762" y="1248508"/>
            <a:ext cx="3377781" cy="4888767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移动、增加逻辑日志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初始化后，几个逻辑日志位于</a:t>
            </a:r>
            <a:r>
              <a:rPr lang="en-US" altLang="zh-CN" dirty="0" err="1" smtClean="0"/>
              <a:t>rootdbs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r>
              <a:rPr lang="zh-CN" altLang="en-US" dirty="0" smtClean="0"/>
              <a:t>通过</a:t>
            </a:r>
            <a:r>
              <a:rPr lang="en-US" altLang="zh-CN" dirty="0" err="1" smtClean="0"/>
              <a:t>onparams</a:t>
            </a:r>
            <a:r>
              <a:rPr lang="zh-CN" altLang="en-US" dirty="0" smtClean="0"/>
              <a:t>命令在</a:t>
            </a:r>
            <a:r>
              <a:rPr lang="en-US" altLang="zh-CN" dirty="0" err="1" smtClean="0"/>
              <a:t>llogdbs</a:t>
            </a:r>
            <a:r>
              <a:rPr lang="zh-CN" altLang="en-US" dirty="0" smtClean="0"/>
              <a:t>上增加新的逻辑日志文件，删除已经标记为</a:t>
            </a:r>
            <a:r>
              <a:rPr lang="en-US" altLang="zh-CN" dirty="0" smtClean="0"/>
              <a:t>”</a:t>
            </a:r>
            <a:r>
              <a:rPr lang="zh-CN" altLang="en-US" dirty="0" smtClean="0"/>
              <a:t>已备份</a:t>
            </a:r>
            <a:r>
              <a:rPr lang="en-US" altLang="zh-CN" dirty="0" smtClean="0"/>
              <a:t>”</a:t>
            </a:r>
            <a:r>
              <a:rPr lang="zh-CN" altLang="en-US" dirty="0" smtClean="0"/>
              <a:t>的位于</a:t>
            </a:r>
            <a:r>
              <a:rPr lang="en-US" altLang="zh-CN" dirty="0" err="1" smtClean="0"/>
              <a:t>rootdbs</a:t>
            </a:r>
            <a:r>
              <a:rPr lang="zh-CN" altLang="en-US" dirty="0" smtClean="0"/>
              <a:t>上的逻辑日志文件，达到移动逻辑日志的目的</a:t>
            </a:r>
          </a:p>
          <a:p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5907246" y="2178340"/>
            <a:ext cx="276697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897461" y="2607577"/>
            <a:ext cx="12303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051883" y="5773022"/>
            <a:ext cx="6828638" cy="426441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925422" y="1785456"/>
            <a:ext cx="276697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移动日志空间</a:t>
            </a:r>
            <a:r>
              <a:rPr lang="en-US" altLang="zh-CN" dirty="0" smtClean="0"/>
              <a:t>-</a:t>
            </a:r>
            <a:r>
              <a:rPr lang="zh-CN" altLang="en-US" dirty="0" smtClean="0"/>
              <a:t>逻辑日志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指定临时数据库空间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212707" y="1248508"/>
            <a:ext cx="3335836" cy="4888767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指定临时数据库空间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若不指定</a:t>
            </a:r>
            <a:r>
              <a:rPr lang="en-US" altLang="zh-CN" dirty="0" smtClean="0"/>
              <a:t>DBSPACETEMP</a:t>
            </a:r>
            <a:r>
              <a:rPr lang="zh-CN" altLang="en-US" dirty="0" smtClean="0"/>
              <a:t>，将使用</a:t>
            </a:r>
            <a:r>
              <a:rPr lang="en-US" altLang="zh-CN" dirty="0" err="1" smtClean="0"/>
              <a:t>rootdbs</a:t>
            </a:r>
            <a:r>
              <a:rPr lang="zh-CN" altLang="en-US" dirty="0" smtClean="0"/>
              <a:t>空间</a:t>
            </a:r>
            <a:endParaRPr lang="en-US" altLang="zh-CN" dirty="0" smtClean="0"/>
          </a:p>
          <a:p>
            <a:r>
              <a:rPr lang="zh-CN" altLang="en-US" dirty="0" smtClean="0"/>
              <a:t>通过</a:t>
            </a:r>
            <a:r>
              <a:rPr lang="en-US" altLang="zh-CN" dirty="0" err="1" smtClean="0"/>
              <a:t>onmode</a:t>
            </a:r>
            <a:r>
              <a:rPr lang="en-US" altLang="zh-CN" dirty="0" smtClean="0"/>
              <a:t> -</a:t>
            </a:r>
            <a:r>
              <a:rPr lang="en-US" altLang="zh-CN" dirty="0" err="1" smtClean="0"/>
              <a:t>wf</a:t>
            </a:r>
            <a:r>
              <a:rPr lang="zh-CN" altLang="en-US" dirty="0" smtClean="0"/>
              <a:t>命令指定数据库使用的临时数据库空间</a:t>
            </a:r>
          </a:p>
          <a:p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848523" y="5700318"/>
            <a:ext cx="252369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849922" y="5986941"/>
            <a:ext cx="252369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5929" y="1248508"/>
            <a:ext cx="3352614" cy="4888767"/>
          </a:xfrm>
        </p:spPr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手工初始化的数据库服务名称</a:t>
            </a:r>
            <a:r>
              <a:rPr lang="en-US" altLang="zh-CN" dirty="0" smtClean="0"/>
              <a:t>GBASEDBTSERVER</a:t>
            </a:r>
            <a:r>
              <a:rPr lang="zh-CN" altLang="en-US" dirty="0" smtClean="0"/>
              <a:t>是自己指定的名称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数据库服务名（端口号）是在</a:t>
            </a:r>
            <a:r>
              <a:rPr lang="en-US" altLang="zh-CN" dirty="0" err="1" smtClean="0"/>
              <a:t>sqlhosts</a:t>
            </a:r>
            <a:r>
              <a:rPr lang="zh-CN" altLang="en-US" dirty="0" smtClean="0"/>
              <a:t>中指定的端口号</a:t>
            </a:r>
          </a:p>
          <a:p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8885339" y="5259896"/>
            <a:ext cx="2129406" cy="167231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17595" y="5967758"/>
            <a:ext cx="3571620" cy="184037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典型安装</a:t>
            </a:r>
            <a:r>
              <a:rPr lang="en-US" altLang="zh-CN" dirty="0" smtClean="0"/>
              <a:t>-</a:t>
            </a:r>
            <a:r>
              <a:rPr lang="zh-CN" altLang="en-US" dirty="0" smtClean="0"/>
              <a:t>手工创建实例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显示侦听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27" name="组合 35"/>
          <p:cNvGrpSpPr/>
          <p:nvPr/>
        </p:nvGrpSpPr>
        <p:grpSpPr>
          <a:xfrm>
            <a:off x="3339148" y="1331705"/>
            <a:ext cx="5434012" cy="662940"/>
            <a:chOff x="3339148" y="1331705"/>
            <a:chExt cx="5434012" cy="662940"/>
          </a:xfrm>
        </p:grpSpPr>
        <p:sp>
          <p:nvSpPr>
            <p:cNvPr id="3" name="矩形 2"/>
            <p:cNvSpPr/>
            <p:nvPr/>
          </p:nvSpPr>
          <p:spPr bwMode="auto">
            <a:xfrm>
              <a:off x="3339148" y="1331705"/>
              <a:ext cx="7223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4202748" y="1331705"/>
              <a:ext cx="45704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3339148" y="1948925"/>
              <a:ext cx="7223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4202748" y="1948925"/>
              <a:ext cx="45704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3"/>
            <p:cNvSpPr txBox="1">
              <a:spLocks noChangeArrowheads="1"/>
            </p:cNvSpPr>
            <p:nvPr/>
          </p:nvSpPr>
          <p:spPr bwMode="auto">
            <a:xfrm>
              <a:off x="3470385" y="14440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23" name="文本框 55"/>
            <p:cNvSpPr txBox="1">
              <a:spLocks noChangeArrowheads="1"/>
            </p:cNvSpPr>
            <p:nvPr/>
          </p:nvSpPr>
          <p:spPr bwMode="auto">
            <a:xfrm>
              <a:off x="4378960" y="145121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软件版本说明及安装准备</a:t>
              </a:r>
            </a:p>
          </p:txBody>
        </p:sp>
      </p:grpSp>
      <p:grpSp>
        <p:nvGrpSpPr>
          <p:cNvPr id="28" name="组合 34"/>
          <p:cNvGrpSpPr/>
          <p:nvPr/>
        </p:nvGrpSpPr>
        <p:grpSpPr>
          <a:xfrm>
            <a:off x="3339148" y="2342655"/>
            <a:ext cx="5434012" cy="664210"/>
            <a:chOff x="3339148" y="2225785"/>
            <a:chExt cx="5434012" cy="664210"/>
          </a:xfrm>
        </p:grpSpPr>
        <p:sp>
          <p:nvSpPr>
            <p:cNvPr id="8" name="矩形 7"/>
            <p:cNvSpPr/>
            <p:nvPr/>
          </p:nvSpPr>
          <p:spPr bwMode="auto">
            <a:xfrm>
              <a:off x="3339148" y="2225785"/>
              <a:ext cx="7223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02748" y="2225785"/>
              <a:ext cx="45704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3339148" y="284427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4202748" y="284427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文本框 48"/>
            <p:cNvSpPr txBox="1">
              <a:spLocks noChangeArrowheads="1"/>
            </p:cNvSpPr>
            <p:nvPr/>
          </p:nvSpPr>
          <p:spPr bwMode="auto">
            <a:xfrm>
              <a:off x="3470385" y="233942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  <p:sp>
          <p:nvSpPr>
            <p:cNvPr id="24" name="文本框 55"/>
            <p:cNvSpPr txBox="1">
              <a:spLocks noChangeArrowheads="1"/>
            </p:cNvSpPr>
            <p:nvPr/>
          </p:nvSpPr>
          <p:spPr bwMode="auto">
            <a:xfrm>
              <a:off x="4378960" y="233640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33"/>
          <p:cNvGrpSpPr/>
          <p:nvPr/>
        </p:nvGrpSpPr>
        <p:grpSpPr>
          <a:xfrm>
            <a:off x="3339148" y="3354875"/>
            <a:ext cx="5434012" cy="665480"/>
            <a:chOff x="3339148" y="3119865"/>
            <a:chExt cx="5434012" cy="665480"/>
          </a:xfrm>
        </p:grpSpPr>
        <p:sp>
          <p:nvSpPr>
            <p:cNvPr id="13" name="矩形 12"/>
            <p:cNvSpPr/>
            <p:nvPr/>
          </p:nvSpPr>
          <p:spPr bwMode="auto">
            <a:xfrm>
              <a:off x="3339148" y="3119865"/>
              <a:ext cx="7223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202748" y="3119865"/>
              <a:ext cx="45704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3339148" y="373962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202748" y="373962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54"/>
            <p:cNvSpPr txBox="1">
              <a:spLocks noChangeArrowheads="1"/>
            </p:cNvSpPr>
            <p:nvPr/>
          </p:nvSpPr>
          <p:spPr bwMode="auto">
            <a:xfrm>
              <a:off x="3470385" y="32347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25" name="文本框 55"/>
            <p:cNvSpPr txBox="1">
              <a:spLocks noChangeArrowheads="1"/>
            </p:cNvSpPr>
            <p:nvPr/>
          </p:nvSpPr>
          <p:spPr bwMode="auto">
            <a:xfrm>
              <a:off x="4378960" y="3242033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手工创建实例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32"/>
          <p:cNvGrpSpPr/>
          <p:nvPr/>
        </p:nvGrpSpPr>
        <p:grpSpPr>
          <a:xfrm>
            <a:off x="3339148" y="5372963"/>
            <a:ext cx="5434012" cy="656590"/>
            <a:chOff x="3339148" y="5372963"/>
            <a:chExt cx="5434012" cy="656590"/>
          </a:xfrm>
        </p:grpSpPr>
        <p:sp>
          <p:nvSpPr>
            <p:cNvPr id="18" name="矩形 1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卸载安装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6"/>
          <p:cNvGrpSpPr/>
          <p:nvPr/>
        </p:nvGrpSpPr>
        <p:grpSpPr>
          <a:xfrm>
            <a:off x="3339148" y="4368365"/>
            <a:ext cx="5434012" cy="656590"/>
            <a:chOff x="3339148" y="5372963"/>
            <a:chExt cx="5434012" cy="656590"/>
          </a:xfrm>
        </p:grpSpPr>
        <p:sp>
          <p:nvSpPr>
            <p:cNvPr id="38" name="矩形 3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43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快速安装脚本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5928" y="1248508"/>
            <a:ext cx="3814010" cy="4888767"/>
          </a:xfrm>
        </p:spPr>
        <p:txBody>
          <a:bodyPr/>
          <a:lstStyle/>
          <a:p>
            <a:r>
              <a:rPr lang="zh-CN" altLang="en-US" dirty="0" smtClean="0"/>
              <a:t>不要创建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不解压缩</a:t>
            </a:r>
            <a:r>
              <a:rPr lang="en-US" altLang="zh-CN" dirty="0" smtClean="0"/>
              <a:t>GBase 8s</a:t>
            </a:r>
            <a:r>
              <a:rPr lang="zh-CN" altLang="en-US" dirty="0" smtClean="0"/>
              <a:t>软件安装包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用户执行安装</a:t>
            </a:r>
            <a:endParaRPr lang="en-US" altLang="zh-CN" dirty="0" smtClean="0"/>
          </a:p>
          <a:p>
            <a:pPr>
              <a:buNone/>
            </a:pPr>
            <a:r>
              <a:rPr lang="en-US" altLang="zh-CN" sz="2000" dirty="0" err="1" smtClean="0"/>
              <a:t>sh</a:t>
            </a:r>
            <a:r>
              <a:rPr lang="en-US" altLang="zh-CN" sz="2000" dirty="0" smtClean="0"/>
              <a:t> AutoInit_GBase8s.sh</a:t>
            </a:r>
          </a:p>
          <a:p>
            <a:pPr>
              <a:buNone/>
            </a:pPr>
            <a:endParaRPr lang="en-US" altLang="zh-CN" sz="2000" dirty="0" smtClean="0"/>
          </a:p>
          <a:p>
            <a:endParaRPr lang="en-US" altLang="zh-CN" dirty="0" smtClean="0"/>
          </a:p>
        </p:txBody>
      </p: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--</a:t>
            </a:r>
            <a:r>
              <a:rPr lang="zh-CN" altLang="en-US" dirty="0" smtClean="0"/>
              <a:t>快速安装脚本</a:t>
            </a:r>
            <a:r>
              <a:rPr lang="zh-CN" altLang="en-US" dirty="0" smtClean="0"/>
              <a:t>安装</a:t>
            </a:r>
            <a:r>
              <a:rPr lang="en-US" altLang="zh-CN" dirty="0" smtClean="0"/>
              <a:t>(</a:t>
            </a:r>
            <a:r>
              <a:rPr lang="zh-CN" altLang="en-US" dirty="0" smtClean="0"/>
              <a:t>适用</a:t>
            </a:r>
            <a:r>
              <a:rPr lang="en-US" altLang="zh-CN" dirty="0" smtClean="0"/>
              <a:t>RHEL/</a:t>
            </a:r>
            <a:r>
              <a:rPr lang="en-US" altLang="zh-CN" smtClean="0"/>
              <a:t>CentOS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Ubuntu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5806578" y="2562835"/>
            <a:ext cx="252369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5928" y="1248508"/>
            <a:ext cx="3814010" cy="4888767"/>
          </a:xfrm>
        </p:spPr>
        <p:txBody>
          <a:bodyPr/>
          <a:lstStyle/>
          <a:p>
            <a:r>
              <a:rPr lang="zh-CN" altLang="en-US" dirty="0" smtClean="0"/>
              <a:t>安装完成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安装过程中自动创建用户，同时会因为优化参数而重启几次数据库，最后的一次完成后，数据库处于可业务使用。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默认</a:t>
            </a:r>
            <a:r>
              <a:rPr lang="en-US" altLang="zh-CN" dirty="0" err="1" smtClean="0"/>
              <a:t>gbasedbt</a:t>
            </a:r>
            <a:r>
              <a:rPr lang="zh-CN" altLang="en-US" dirty="0" smtClean="0"/>
              <a:t>用户的密码是</a:t>
            </a:r>
            <a:r>
              <a:rPr lang="en-US" altLang="zh-CN" dirty="0" smtClean="0"/>
              <a:t>GBase123</a:t>
            </a:r>
          </a:p>
          <a:p>
            <a:endParaRPr lang="en-US" altLang="zh-CN" dirty="0" smtClean="0"/>
          </a:p>
          <a:p>
            <a:pPr>
              <a:buNone/>
            </a:pPr>
            <a:endParaRPr lang="en-US" altLang="zh-CN" sz="2000" dirty="0" smtClean="0"/>
          </a:p>
          <a:p>
            <a:endParaRPr lang="en-US" altLang="zh-CN" dirty="0" smtClean="0"/>
          </a:p>
        </p:txBody>
      </p: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--</a:t>
            </a:r>
            <a:r>
              <a:rPr lang="zh-CN" altLang="en-US" dirty="0" smtClean="0"/>
              <a:t>快速安装脚本安装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直接连接符 5"/>
          <p:cNvCxnSpPr/>
          <p:nvPr/>
        </p:nvCxnSpPr>
        <p:spPr>
          <a:xfrm>
            <a:off x="5622020" y="4433580"/>
            <a:ext cx="252369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5928" y="1248508"/>
            <a:ext cx="3814010" cy="4888767"/>
          </a:xfrm>
        </p:spPr>
        <p:txBody>
          <a:bodyPr/>
          <a:lstStyle/>
          <a:p>
            <a:r>
              <a:rPr lang="zh-CN" altLang="en-US" dirty="0" smtClean="0"/>
              <a:t>数据库侦听使用</a:t>
            </a:r>
            <a:r>
              <a:rPr lang="en-US" altLang="zh-CN" dirty="0" smtClean="0"/>
              <a:t>9088</a:t>
            </a:r>
            <a:r>
              <a:rPr lang="zh-CN" altLang="en-US" dirty="0" smtClean="0"/>
              <a:t>端口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数据库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、内存通过系统资源计算而来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en-US" altLang="zh-CN" sz="2000" dirty="0" smtClean="0"/>
          </a:p>
          <a:p>
            <a:endParaRPr lang="en-US" altLang="zh-CN" dirty="0" smtClean="0"/>
          </a:p>
        </p:txBody>
      </p: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执行安装</a:t>
            </a:r>
            <a:r>
              <a:rPr lang="en-US" altLang="zh-CN" dirty="0" smtClean="0"/>
              <a:t>--</a:t>
            </a:r>
            <a:r>
              <a:rPr lang="zh-CN" altLang="en-US" dirty="0" smtClean="0"/>
              <a:t>快速安装脚本安装</a:t>
            </a:r>
            <a:endParaRPr lang="zh-CN" alt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圆角矩形 7"/>
          <p:cNvSpPr/>
          <p:nvPr/>
        </p:nvSpPr>
        <p:spPr>
          <a:xfrm>
            <a:off x="4135773" y="4337108"/>
            <a:ext cx="6828638" cy="285224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841995" y="3104853"/>
            <a:ext cx="2350473" cy="192020"/>
          </a:xfrm>
          <a:prstGeom prst="roundRect">
            <a:avLst>
              <a:gd name="adj" fmla="val 6990"/>
            </a:avLst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663965" y="1841382"/>
            <a:ext cx="252369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623418" y="4267198"/>
            <a:ext cx="252369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27" name="组合 35"/>
          <p:cNvGrpSpPr/>
          <p:nvPr/>
        </p:nvGrpSpPr>
        <p:grpSpPr>
          <a:xfrm>
            <a:off x="3339148" y="1331705"/>
            <a:ext cx="5434012" cy="662940"/>
            <a:chOff x="3339148" y="1331705"/>
            <a:chExt cx="5434012" cy="662940"/>
          </a:xfrm>
        </p:grpSpPr>
        <p:sp>
          <p:nvSpPr>
            <p:cNvPr id="3" name="矩形 2"/>
            <p:cNvSpPr/>
            <p:nvPr/>
          </p:nvSpPr>
          <p:spPr bwMode="auto">
            <a:xfrm>
              <a:off x="3339148" y="1331705"/>
              <a:ext cx="7223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 bwMode="auto">
            <a:xfrm>
              <a:off x="4202748" y="1331705"/>
              <a:ext cx="4570412" cy="662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 bwMode="auto">
            <a:xfrm>
              <a:off x="3339148" y="1948925"/>
              <a:ext cx="7223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4202748" y="1948925"/>
              <a:ext cx="4570412" cy="45719"/>
            </a:xfrm>
            <a:prstGeom prst="rect">
              <a:avLst/>
            </a:prstGeom>
            <a:solidFill>
              <a:srgbClr val="2020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3"/>
            <p:cNvSpPr txBox="1">
              <a:spLocks noChangeArrowheads="1"/>
            </p:cNvSpPr>
            <p:nvPr/>
          </p:nvSpPr>
          <p:spPr bwMode="auto">
            <a:xfrm>
              <a:off x="3470385" y="14440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</a:p>
          </p:txBody>
        </p:sp>
        <p:sp>
          <p:nvSpPr>
            <p:cNvPr id="23" name="文本框 55"/>
            <p:cNvSpPr txBox="1">
              <a:spLocks noChangeArrowheads="1"/>
            </p:cNvSpPr>
            <p:nvPr/>
          </p:nvSpPr>
          <p:spPr bwMode="auto">
            <a:xfrm>
              <a:off x="4378960" y="145121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软件版本说明及安装准备</a:t>
              </a:r>
            </a:p>
          </p:txBody>
        </p:sp>
      </p:grpSp>
      <p:grpSp>
        <p:nvGrpSpPr>
          <p:cNvPr id="28" name="组合 34"/>
          <p:cNvGrpSpPr/>
          <p:nvPr/>
        </p:nvGrpSpPr>
        <p:grpSpPr>
          <a:xfrm>
            <a:off x="3339148" y="2342655"/>
            <a:ext cx="5434012" cy="664210"/>
            <a:chOff x="3339148" y="2225785"/>
            <a:chExt cx="5434012" cy="664210"/>
          </a:xfrm>
        </p:grpSpPr>
        <p:sp>
          <p:nvSpPr>
            <p:cNvPr id="8" name="矩形 7"/>
            <p:cNvSpPr/>
            <p:nvPr/>
          </p:nvSpPr>
          <p:spPr bwMode="auto">
            <a:xfrm>
              <a:off x="3339148" y="2225785"/>
              <a:ext cx="7223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4202748" y="2225785"/>
              <a:ext cx="4570412" cy="66421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3339148" y="284427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4202748" y="284427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2" name="文本框 48"/>
            <p:cNvSpPr txBox="1">
              <a:spLocks noChangeArrowheads="1"/>
            </p:cNvSpPr>
            <p:nvPr/>
          </p:nvSpPr>
          <p:spPr bwMode="auto">
            <a:xfrm>
              <a:off x="3470385" y="233942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</a:p>
          </p:txBody>
        </p:sp>
        <p:sp>
          <p:nvSpPr>
            <p:cNvPr id="24" name="文本框 55"/>
            <p:cNvSpPr txBox="1">
              <a:spLocks noChangeArrowheads="1"/>
            </p:cNvSpPr>
            <p:nvPr/>
          </p:nvSpPr>
          <p:spPr bwMode="auto">
            <a:xfrm>
              <a:off x="4378960" y="2336409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33"/>
          <p:cNvGrpSpPr/>
          <p:nvPr/>
        </p:nvGrpSpPr>
        <p:grpSpPr>
          <a:xfrm>
            <a:off x="3339148" y="3354875"/>
            <a:ext cx="5434012" cy="665480"/>
            <a:chOff x="3339148" y="3119865"/>
            <a:chExt cx="5434012" cy="665480"/>
          </a:xfrm>
        </p:grpSpPr>
        <p:sp>
          <p:nvSpPr>
            <p:cNvPr id="13" name="矩形 12"/>
            <p:cNvSpPr/>
            <p:nvPr/>
          </p:nvSpPr>
          <p:spPr bwMode="auto">
            <a:xfrm>
              <a:off x="3339148" y="3119865"/>
              <a:ext cx="7223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4202748" y="3119865"/>
              <a:ext cx="4570412" cy="66548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3339148" y="3739625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4202748" y="3739625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54"/>
            <p:cNvSpPr txBox="1">
              <a:spLocks noChangeArrowheads="1"/>
            </p:cNvSpPr>
            <p:nvPr/>
          </p:nvSpPr>
          <p:spPr bwMode="auto">
            <a:xfrm>
              <a:off x="3470385" y="3234770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</a:p>
          </p:txBody>
        </p:sp>
        <p:sp>
          <p:nvSpPr>
            <p:cNvPr id="25" name="文本框 55"/>
            <p:cNvSpPr txBox="1">
              <a:spLocks noChangeArrowheads="1"/>
            </p:cNvSpPr>
            <p:nvPr/>
          </p:nvSpPr>
          <p:spPr bwMode="auto">
            <a:xfrm>
              <a:off x="4378960" y="3242033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典型安装</a:t>
              </a:r>
              <a:r>
                <a:rPr lang="en-US" altLang="zh-CN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手工创建实例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32"/>
          <p:cNvGrpSpPr/>
          <p:nvPr/>
        </p:nvGrpSpPr>
        <p:grpSpPr>
          <a:xfrm>
            <a:off x="3339148" y="5372963"/>
            <a:ext cx="5434012" cy="656590"/>
            <a:chOff x="3339148" y="5372963"/>
            <a:chExt cx="5434012" cy="656590"/>
          </a:xfrm>
        </p:grpSpPr>
        <p:sp>
          <p:nvSpPr>
            <p:cNvPr id="18" name="矩形 1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DE12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卸载安装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6"/>
          <p:cNvGrpSpPr/>
          <p:nvPr/>
        </p:nvGrpSpPr>
        <p:grpSpPr>
          <a:xfrm>
            <a:off x="3339148" y="4368365"/>
            <a:ext cx="5434012" cy="656590"/>
            <a:chOff x="3339148" y="5372963"/>
            <a:chExt cx="5434012" cy="656590"/>
          </a:xfrm>
        </p:grpSpPr>
        <p:sp>
          <p:nvSpPr>
            <p:cNvPr id="38" name="矩形 37"/>
            <p:cNvSpPr/>
            <p:nvPr/>
          </p:nvSpPr>
          <p:spPr bwMode="auto">
            <a:xfrm>
              <a:off x="3339148" y="5372963"/>
              <a:ext cx="7223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4202748" y="5372963"/>
              <a:ext cx="4570412" cy="65659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3339148" y="5983833"/>
              <a:ext cx="7223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4202748" y="5983833"/>
              <a:ext cx="4570412" cy="45719"/>
            </a:xfrm>
            <a:prstGeom prst="rect">
              <a:avLst/>
            </a:prstGeom>
            <a:solidFill>
              <a:srgbClr val="5A56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文本框 60"/>
            <p:cNvSpPr txBox="1">
              <a:spLocks noChangeArrowheads="1"/>
            </p:cNvSpPr>
            <p:nvPr/>
          </p:nvSpPr>
          <p:spPr bwMode="auto">
            <a:xfrm>
              <a:off x="3470385" y="5478978"/>
              <a:ext cx="441146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</a:p>
          </p:txBody>
        </p:sp>
        <p:sp>
          <p:nvSpPr>
            <p:cNvPr id="43" name="文本框 55"/>
            <p:cNvSpPr txBox="1">
              <a:spLocks noChangeArrowheads="1"/>
            </p:cNvSpPr>
            <p:nvPr/>
          </p:nvSpPr>
          <p:spPr bwMode="auto">
            <a:xfrm>
              <a:off x="4378960" y="5476081"/>
              <a:ext cx="423672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spc="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快速安装脚本</a:t>
              </a:r>
              <a:endParaRPr lang="zh-CN" altLang="en-US" sz="20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37874" y="1248508"/>
            <a:ext cx="3361003" cy="4888767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在数据库关闭的情况下，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使用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用户在命令行状态下执行软件卸载：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目录为</a:t>
            </a:r>
            <a:r>
              <a:rPr lang="en-US" altLang="zh-CN" sz="2000" dirty="0" smtClean="0"/>
              <a:t>$GBASEDBTDIR/uninstall/</a:t>
            </a:r>
            <a:r>
              <a:rPr lang="en-US" altLang="zh-CN" sz="2000" dirty="0" err="1" smtClean="0"/>
              <a:t>uninstall_ids</a:t>
            </a:r>
            <a:endParaRPr lang="en-US" altLang="zh-CN" dirty="0" smtClean="0"/>
          </a:p>
          <a:p>
            <a:pPr>
              <a:buNone/>
            </a:pPr>
            <a:r>
              <a:rPr lang="en-US" altLang="zh-CN" sz="1800" dirty="0" smtClean="0"/>
              <a:t>  ./</a:t>
            </a:r>
            <a:r>
              <a:rPr lang="en-US" altLang="zh-CN" sz="1800" dirty="0" err="1" smtClean="0"/>
              <a:t>uninstallids</a:t>
            </a:r>
            <a:endParaRPr lang="en-US" altLang="zh-CN" sz="1800" dirty="0" smtClean="0"/>
          </a:p>
          <a:p>
            <a:pPr>
              <a:buNone/>
            </a:pPr>
            <a:r>
              <a:rPr lang="zh-CN" altLang="en-US" sz="1800" dirty="0" smtClean="0"/>
              <a:t>  注：不同版本的界面可能不一样</a:t>
            </a:r>
            <a:endParaRPr lang="en-US" altLang="zh-CN" sz="1800" dirty="0" smtClean="0"/>
          </a:p>
          <a:p>
            <a:pPr>
              <a:buNone/>
            </a:pPr>
            <a:endParaRPr lang="en-US" altLang="zh-CN" sz="1800" dirty="0" smtClean="0"/>
          </a:p>
          <a:p>
            <a:r>
              <a:rPr lang="zh-CN" altLang="en-US" dirty="0" smtClean="0"/>
              <a:t>确认卸载的目录</a:t>
            </a:r>
            <a:endParaRPr lang="en-US" altLang="zh-CN" dirty="0" smtClean="0"/>
          </a:p>
          <a:p>
            <a:endParaRPr lang="zh-CN" altLang="en-US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5658374" y="1858160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88946" y="3679969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卸载软件</a:t>
            </a:r>
            <a:r>
              <a:rPr lang="en-US" altLang="zh-CN" smtClean="0"/>
              <a:t>-</a:t>
            </a:r>
            <a:r>
              <a:rPr lang="zh-CN" altLang="en-US" smtClean="0"/>
              <a:t>无</a:t>
            </a:r>
            <a:r>
              <a:rPr lang="zh-CN" altLang="en-US" dirty="0" smtClean="0"/>
              <a:t>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0000" y="1198800"/>
            <a:ext cx="7818437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71431" y="1248508"/>
            <a:ext cx="3335835" cy="4888767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清理</a:t>
            </a:r>
            <a:r>
              <a:rPr lang="en-US" altLang="zh-CN" dirty="0" smtClean="0"/>
              <a:t>$GBASEDBTDIR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r>
              <a:rPr lang="zh-CN" altLang="en-US" dirty="0" smtClean="0"/>
              <a:t>删除</a:t>
            </a:r>
            <a:r>
              <a:rPr lang="en-US" altLang="zh-CN" dirty="0" smtClean="0"/>
              <a:t>gbase8s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完成卸载及清理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5567493" y="6121165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卸载软件</a:t>
            </a:r>
            <a:r>
              <a:rPr lang="en-US" altLang="zh-CN" dirty="0" smtClean="0"/>
              <a:t>-</a:t>
            </a:r>
            <a:r>
              <a:rPr lang="zh-CN" altLang="en-US" dirty="0" smtClean="0"/>
              <a:t>无交互方式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37874" y="1248508"/>
            <a:ext cx="3361003" cy="4888767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在命令行状态下执行软件卸载：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目录为</a:t>
            </a:r>
            <a:r>
              <a:rPr lang="en-US" altLang="zh-CN" sz="2000" dirty="0" smtClean="0"/>
              <a:t>$GBASEDBTDIR/uninstall/</a:t>
            </a:r>
            <a:r>
              <a:rPr lang="en-US" altLang="zh-CN" sz="2000" dirty="0" err="1" smtClean="0"/>
              <a:t>uninstall_ids</a:t>
            </a:r>
            <a:endParaRPr lang="en-US" altLang="zh-CN" dirty="0" smtClean="0"/>
          </a:p>
          <a:p>
            <a:r>
              <a:rPr lang="en-US" altLang="zh-CN" dirty="0" smtClean="0"/>
              <a:t>./</a:t>
            </a:r>
            <a:r>
              <a:rPr lang="en-US" altLang="zh-CN" dirty="0" err="1" smtClean="0"/>
              <a:t>uninstallids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确认卸载的目录</a:t>
            </a:r>
            <a:endParaRPr lang="zh-CN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2800" y="1404000"/>
            <a:ext cx="8540001" cy="5126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直接连接符 7"/>
          <p:cNvCxnSpPr/>
          <p:nvPr/>
        </p:nvCxnSpPr>
        <p:spPr>
          <a:xfrm>
            <a:off x="5532539" y="2562835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382935" y="5240321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卸载软件</a:t>
            </a:r>
            <a:r>
              <a:rPr lang="en-US" altLang="zh-CN" dirty="0" smtClean="0"/>
              <a:t>-</a:t>
            </a:r>
            <a:r>
              <a:rPr lang="zh-CN" altLang="en-US" dirty="0" smtClean="0"/>
              <a:t>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88209" y="1256897"/>
            <a:ext cx="3285501" cy="4888767"/>
          </a:xfrm>
        </p:spPr>
        <p:txBody>
          <a:bodyPr/>
          <a:lstStyle/>
          <a:p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选择删除 数据库软件及所有数据库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2800" y="1404000"/>
            <a:ext cx="8533334" cy="51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直接连接符 4"/>
          <p:cNvCxnSpPr/>
          <p:nvPr/>
        </p:nvCxnSpPr>
        <p:spPr>
          <a:xfrm>
            <a:off x="8537196" y="4191697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卸载软件</a:t>
            </a:r>
            <a:r>
              <a:rPr lang="en-US" altLang="zh-CN" dirty="0" smtClean="0"/>
              <a:t>-</a:t>
            </a:r>
            <a:r>
              <a:rPr lang="zh-CN" altLang="en-US" dirty="0" smtClean="0"/>
              <a:t>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53984" y="1248508"/>
            <a:ext cx="5297170" cy="4888767"/>
          </a:xfrm>
        </p:spPr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卸载完成</a:t>
            </a:r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2800" y="1404000"/>
            <a:ext cx="8533334" cy="51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卸载软件</a:t>
            </a:r>
            <a:r>
              <a:rPr lang="en-US" altLang="zh-CN" dirty="0" smtClean="0"/>
              <a:t>-</a:t>
            </a:r>
            <a:r>
              <a:rPr lang="zh-CN" altLang="en-US" dirty="0" smtClean="0"/>
              <a:t>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271431" y="1248508"/>
            <a:ext cx="3335835" cy="4888767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清理</a:t>
            </a:r>
            <a:r>
              <a:rPr lang="en-US" altLang="zh-CN" dirty="0" smtClean="0"/>
              <a:t>$GBASEDBTDIR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r>
              <a:rPr lang="zh-CN" altLang="en-US" dirty="0" smtClean="0"/>
              <a:t>删除</a:t>
            </a:r>
            <a:r>
              <a:rPr lang="en-US" altLang="zh-CN" dirty="0" smtClean="0"/>
              <a:t>gbase8s</a:t>
            </a:r>
            <a:r>
              <a:rPr lang="zh-CN" altLang="en-US" dirty="0" smtClean="0"/>
              <a:t>目录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完成卸载及清理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2800" y="1404000"/>
            <a:ext cx="8533334" cy="51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直接连接符 4"/>
          <p:cNvCxnSpPr/>
          <p:nvPr/>
        </p:nvCxnSpPr>
        <p:spPr>
          <a:xfrm>
            <a:off x="4921541" y="3562523"/>
            <a:ext cx="130029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3"/>
          <p:cNvSpPr>
            <a:spLocks noGrp="1"/>
          </p:cNvSpPr>
          <p:nvPr>
            <p:ph type="title"/>
          </p:nvPr>
        </p:nvSpPr>
        <p:spPr>
          <a:xfrm>
            <a:off x="275491" y="538406"/>
            <a:ext cx="11207263" cy="481500"/>
          </a:xfrm>
        </p:spPr>
        <p:txBody>
          <a:bodyPr/>
          <a:lstStyle/>
          <a:p>
            <a:r>
              <a:rPr lang="zh-CN" altLang="en-US" dirty="0" smtClean="0"/>
              <a:t>卸载软件</a:t>
            </a:r>
            <a:r>
              <a:rPr lang="en-US" altLang="zh-CN" dirty="0" smtClean="0"/>
              <a:t>-</a:t>
            </a:r>
            <a:r>
              <a:rPr lang="zh-CN" altLang="en-US" dirty="0" smtClean="0"/>
              <a:t>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 You!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wrap="none" rtlCol="0" anchor="b">
        <a:spAutoFit/>
      </a:bodyPr>
      <a:lstStyle>
        <a:defPPr>
          <a:lnSpc>
            <a:spcPct val="150000"/>
          </a:lnSpc>
          <a:defRPr sz="2400" dirty="0" smtClean="0"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1382</Words>
  <Application>Microsoft Office PowerPoint</Application>
  <PresentationFormat>自定义</PresentationFormat>
  <Paragraphs>304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2" baseType="lpstr">
      <vt:lpstr>Arial</vt:lpstr>
      <vt:lpstr>宋体</vt:lpstr>
      <vt:lpstr>微软雅黑</vt:lpstr>
      <vt:lpstr>Wingdings</vt:lpstr>
      <vt:lpstr>Calibri</vt:lpstr>
      <vt:lpstr>Calibri Light</vt:lpstr>
      <vt:lpstr>Verdana</vt:lpstr>
      <vt:lpstr>Office 主题</vt:lpstr>
      <vt:lpstr>GBase 8s安装与配置</vt:lpstr>
      <vt:lpstr>目录</vt:lpstr>
      <vt:lpstr>软件版本说明</vt:lpstr>
      <vt:lpstr>安装前准备（以x86_64架构下的Linux为例）</vt:lpstr>
      <vt:lpstr>创建用户</vt:lpstr>
      <vt:lpstr>目录</vt:lpstr>
      <vt:lpstr>执行安装-典型安装-自动创建实例</vt:lpstr>
      <vt:lpstr>执行安装-典型安装-自动创建实例</vt:lpstr>
      <vt:lpstr>执行安装-典型安装-自动创建实例</vt:lpstr>
      <vt:lpstr>执行安装-典型安装-自动创建实例</vt:lpstr>
      <vt:lpstr>执行安装-典型安装-自动创建实例</vt:lpstr>
      <vt:lpstr>执行安装-典型安装-自动创建实例</vt:lpstr>
      <vt:lpstr>执行安装-典型安装-自动创建实例</vt:lpstr>
      <vt:lpstr>执行安装-典型安装-自动创建实例</vt:lpstr>
      <vt:lpstr>执行安装-典型安装-自动创建实例</vt:lpstr>
      <vt:lpstr>目录</vt:lpstr>
      <vt:lpstr>执行安装-典型安装-手工创建实例</vt:lpstr>
      <vt:lpstr>执行安装-典型安装-手工创建实例</vt:lpstr>
      <vt:lpstr>执行安装-典型安装-手工创建实例</vt:lpstr>
      <vt:lpstr>执行安装-典型安装-手工创建实例</vt:lpstr>
      <vt:lpstr>执行安装-典型安装-手工创建实例</vt:lpstr>
      <vt:lpstr>幻灯片 21</vt:lpstr>
      <vt:lpstr>执行安装-典型安装-手工创建实例-3个配置文件</vt:lpstr>
      <vt:lpstr>幻灯片 23</vt:lpstr>
      <vt:lpstr>幻灯片 24</vt:lpstr>
      <vt:lpstr>执行安装-典型安装-手工创建实例-初始化数据库</vt:lpstr>
      <vt:lpstr>执行安装-典型安装-手工创建实例-创建数据库空间</vt:lpstr>
      <vt:lpstr>幻灯片 27</vt:lpstr>
      <vt:lpstr>执行安装-典型安装-手工创建实例-移动日志空间-物理日志</vt:lpstr>
      <vt:lpstr>执行安装-典型安装-手工创建实例-移动日志空间-逻辑日志</vt:lpstr>
      <vt:lpstr>执行安装-典型安装-手工创建实例-指定临时数据库空间</vt:lpstr>
      <vt:lpstr>执行安装-典型安装-手工创建实例-显示侦听</vt:lpstr>
      <vt:lpstr>目录</vt:lpstr>
      <vt:lpstr>执行安装--快速安装脚本安装(适用RHEL/CentOS/Ubuntu)</vt:lpstr>
      <vt:lpstr>执行安装--快速安装脚本安装</vt:lpstr>
      <vt:lpstr>执行安装--快速安装脚本安装</vt:lpstr>
      <vt:lpstr>目录</vt:lpstr>
      <vt:lpstr>卸载软件-无交互方式</vt:lpstr>
      <vt:lpstr>卸载软件-无交互方式</vt:lpstr>
      <vt:lpstr>卸载软件-交互方式</vt:lpstr>
      <vt:lpstr>卸载软件-交互方式</vt:lpstr>
      <vt:lpstr>卸载软件-交互方式</vt:lpstr>
      <vt:lpstr>卸载软件-交互方式</vt:lpstr>
      <vt:lpstr>Thank You!</vt:lpstr>
    </vt:vector>
  </TitlesOfParts>
  <Company>China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2013-08-14T15:08:00Z</dcterms:created>
  <dc:creator>Gbase Market</dc:creator>
  <cp:lastModifiedBy>LJQ</cp:lastModifiedBy>
  <dcterms:modified xsi:type="dcterms:W3CDTF">2019-09-16T09:28:19Z</dcterms:modified>
  <cp:revision>1231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